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Giới thiệu: sách viết cho người chưa từng dùng AI. Mỗi bài đọc trong 5 phút, có câu lệnh sao chép nguyên văn và phiên bản đổi sẵn cho 3 cấp học.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nhóm việc tương ứng 4 buổi thực hành: Buổi 1 kỹ thuật câu lệnh, Buổi 2 kiểm tra đánh giá, Buổi 3 đa phương tiện, Buổi 4 Deep Research và chatbot.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Nhấn mạnh: bộ tài liệu được đối chiếu với văn bản pháp luật và hướng dẫn chuyên môn hiện hành. Sách là tài liệu tham khảo, không thay thế văn bản gốc.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Vòng làm việc Hỏi, Đọc, Sửa, Kiểm. Nhấn mạnh bước Kiểm: AI có thể bịa số liệu và nguồn. Sách phần A1.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Sáu vị trí cần biết trên màn hình trò chuyện với AI. Cho học viên mở chatgpt.com hoặc gemini.google.com và tìm đủ 6 vị trí. Sách phần A2.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Sáu mảnh ghép của câu lệnh tốt, tách từ câu lệnh mẫu về quang hợp. Sách phần A3.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B trong sách, bài B1 đến B7.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Bốn kỹ thuật từ dễ đến đủ. Cho học viên thử lần lượt 4 câu lệnh gốc trên cùng một chủ đề của lớp mình.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Đánh giá prompt: đối chiếu 6 mảnh ghép, thiếu gì thêm nấy. Các cụm tô vàng là mảnh ghép được bổ sung. Sách bài B5.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TPACK: điền đủ 3 dòng CK, PK, TK trong câu lệnh. Sách bài B7.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C trong sách, bài C1 đến C9.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Câu lệnh dài chia 4 ngăn có tiêu đề #. Dấu ## đặt tên cho từng tài liệu đính kèm. Sách bài C5.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Dán nguyên văn định nghĩa 4 mức độ nhận thức vào câu lệnh để AI phân loại câu hỏi đúng. Sách bài C6.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 kẻ sẵn bảng tiêu chí 4 mức, giáo viên duyệt. Sách bài C7.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D trong sách, bài D1 đến D8.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Chọn công cụ theo sản phẩm. Tên nút có thể thay đổi, hướng dẫn học viên tìm theo chức năng.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Công thức tạo ảnh: Nội dung + Phong cách. Thử cùng một nội dung với Pixar, Anime, Ghibli. Sách bài D1, D2.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Phần E trong sách, bài E1 đến E6.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Deep Research: giao đề bài, duyệt kế hoạch, chờ báo cáo, tự mở từng link để kiểm chứng. Sách bài E1, E2.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Tạo trợ giảng ảo 4 bước. Câu quan trọng nhất: không đưa ra ngay đáp án. Sách bài E4, E5.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Khung năng lực AI cho giáo viên của UNESCO: 5 lĩnh vực, 3 cấp độ. Sách phần F1.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 màu đèn trước khi dán thông tin vào AI. Nhấn mạnh: không đưa thông tin cá nhân học sinh. Sách phần F2.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Gợi ý bắt đầu theo cấp học. Bảng tra đầy đủ ở Phụ lục P1 của sách.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Kết thúc: giao bài tập về nhà là chạy 1 câu lệnh cho bài dạy tuần này và mang kết quả đến buổi sau.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1000" kern="0" dirty="0">
                <a:solidFill>
                  <a:srgbClr val="A67C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SỔ TAY THỰC HÀNH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dirty="0">
                <a:solidFill>
                  <a:srgbClr val="F7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Dạy cùng AI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3317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Từ câu lệnh đầu tiên đến trợ giảng ảo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931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600" kern="0" dirty="0">
                <a:solidFill>
                  <a:srgbClr val="F7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Dành cho giáo viên Mầm non · Tiểu học · THCS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343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Không cần biết trước về AI. Làm theo từng bước là dùng được.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Sau cuốn sách, thầy cô tự làm được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874520" cy="3108960"/>
          </a:xfrm>
          <a:prstGeom prst="roundRect">
            <a:avLst>
              <a:gd name="adj" fmla="val 1463"/>
            </a:avLst>
          </a:prstGeom>
          <a:solidFill>
            <a:srgbClr val="F7F5F0"/>
          </a:solidFill>
          <a:ln w="9525">
            <a:solidFill>
              <a:srgbClr val="CFCAC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rgbClr val="F7F5F0"/>
          </a:solidFill>
          <a:ln w="9525">
            <a:solidFill>
              <a:srgbClr val="A67C3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bài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315468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Giáo án góc trạm, STEM, bài giảng 10 slide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606040" y="1371600"/>
            <a:ext cx="1874520" cy="3108960"/>
          </a:xfrm>
          <a:prstGeom prst="roundRect">
            <a:avLst>
              <a:gd name="adj" fmla="val 1463"/>
            </a:avLst>
          </a:prstGeom>
          <a:solidFill>
            <a:srgbClr val="F7F5F0"/>
          </a:solidFill>
          <a:ln w="9525">
            <a:solidFill>
              <a:srgbClr val="CFCAC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34640" y="1600200"/>
            <a:ext cx="548640" cy="548640"/>
          </a:xfrm>
          <a:prstGeom prst="ellipse">
            <a:avLst/>
          </a:prstGeom>
          <a:solidFill>
            <a:srgbClr val="F7F5F0"/>
          </a:solidFill>
          <a:ln w="9525">
            <a:solidFill>
              <a:srgbClr val="A67C3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8346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 đề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2834640" y="315468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Tự luận, trắc nghiệm theo ma trận, rubric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663440" y="1371600"/>
            <a:ext cx="1874520" cy="3108960"/>
          </a:xfrm>
          <a:prstGeom prst="roundRect">
            <a:avLst>
              <a:gd name="adj" fmla="val 1463"/>
            </a:avLst>
          </a:prstGeom>
          <a:solidFill>
            <a:srgbClr val="F7F5F0"/>
          </a:solidFill>
          <a:ln w="9525">
            <a:solidFill>
              <a:srgbClr val="CFCAC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92040" y="1600200"/>
            <a:ext cx="548640" cy="548640"/>
          </a:xfrm>
          <a:prstGeom prst="ellipse">
            <a:avLst/>
          </a:prstGeom>
          <a:solidFill>
            <a:srgbClr val="F7F5F0"/>
          </a:solidFill>
          <a:ln w="9525">
            <a:solidFill>
              <a:srgbClr val="A67C3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920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489204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Làm học liệu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4892040" y="315468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Ảnh, trò chơi, truyện tranh, bài hát, giọng đọc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720840" y="1371600"/>
            <a:ext cx="1874520" cy="3108960"/>
          </a:xfrm>
          <a:prstGeom prst="roundRect">
            <a:avLst>
              <a:gd name="adj" fmla="val 1463"/>
            </a:avLst>
          </a:prstGeom>
          <a:solidFill>
            <a:srgbClr val="1B1F24"/>
          </a:solidFill>
          <a:ln w="9525">
            <a:solidFill>
              <a:srgbClr val="1B1F2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949440" y="1600200"/>
            <a:ext cx="548640" cy="548640"/>
          </a:xfrm>
          <a:prstGeom prst="ellipse">
            <a:avLst/>
          </a:prstGeom>
          <a:solidFill>
            <a:srgbClr val="1B1F24"/>
          </a:solidFill>
          <a:ln w="9525">
            <a:solidFill>
              <a:srgbClr val="A67C3D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494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949440" y="23774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7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Tạo trợ giảng</a:t>
            </a:r>
            <a:endParaRPr lang="en-US" sz="1900" dirty="0"/>
          </a:p>
        </p:txBody>
      </p:sp>
      <p:sp>
        <p:nvSpPr>
          <p:cNvPr id="22" name="Text 20"/>
          <p:cNvSpPr txBox="1"/>
          <p:nvPr/>
        </p:nvSpPr>
        <p:spPr>
          <a:xfrm>
            <a:off x="6949440" y="315468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7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Chatbot ôn tập không đưa đáp án ngay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800" kern="0" dirty="0">
                <a:solidFill>
                  <a:srgbClr val="A67C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CĂN CỨ BIÊN SOẠN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Dựa trên văn bản 2025-2026, hướng tới 2030</a:t>
            </a:r>
            <a:endParaRPr lang="en-US" sz="26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046720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2468880"/>
                <a:gridCol w="27432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Chiến lược quốc gia về AI đến 2030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67C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QĐ 1671/QĐ-TTg · 28/8/2026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F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 là năng lực cốt lõi quốc gia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Phát triển nhân lực AI đến 2030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67C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QĐ 1528/QĐ-TTg · 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F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Nâng năng lực AI của người lao động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Đột phá phát triển giáo dục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67C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NQ 71-NQ/TW · 22/8/2025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F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Mục tiêu giáo dục đến 2030, 2045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Luật Trí tuệ nhân tạo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67C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134/2025/QH15 · hiệu lực 01/3/2026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F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 người quyết định, gắn nhãn nội dung 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Luật Bảo vệ dữ liệu cá nhân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67C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91/2025/QH15 · hiệu lực 01/1/2026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F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Không đưa dữ liệu học sinh vào 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Khung năng lực số cho người học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67C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TT 02/2025/TT-BGDĐT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F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Học sinh dùng AI an toàn, trung thực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1F24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Hướng dẫn dùng AI dạy học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A67C3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CV 2250 · CV 5835 (2025)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B1F24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Bồi dưỡng giáo viên ứng dụng 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0" marR="54864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CFCAC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43434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B6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Danh mục đầy đủ 17 văn bản: trang 4 của sách. Dưới tên mỗi bài có dòng CĂN CỨ.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Vòng làm việc Hỏi, Đọc, Sửa, Kiể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áu vị trí cần biết trên màn hình trò chuyện với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áu mảnh ghép của câu lệnh tốt, tách từ câu lệnh mẫu về quang hợ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1005840"/>
            <a:ext cx="2926080" cy="2926080"/>
          </a:xfrm>
          <a:prstGeom prst="ellipse">
            <a:avLst/>
          </a:prstGeom>
          <a:solidFill>
            <a:srgbClr val="F7F5F0"/>
          </a:solidFill>
          <a:ln w="12700">
            <a:solidFill>
              <a:srgbClr val="A67C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035040" y="10058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i="1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0" kern="0" dirty="0">
                <a:solidFill>
                  <a:srgbClr val="A67C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BUỔI 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Kỹ thuật viết câu lệnh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Zero-shot · Nhập vai · Đảo ngược · Kết hợp nhiều yếu tố · TPACK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ốn kỹ thuật từ dễ đến đủ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Đánh giá prompt: đối chiếu 6 mảnh ghép, thiếu gì thêm nấ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PACK: điền đủ 3 dòng CK, PK, TK trong câu lện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1005840"/>
            <a:ext cx="2926080" cy="2926080"/>
          </a:xfrm>
          <a:prstGeom prst="ellipse">
            <a:avLst/>
          </a:prstGeom>
          <a:solidFill>
            <a:srgbClr val="F7F5F0"/>
          </a:solidFill>
          <a:ln w="12700">
            <a:solidFill>
              <a:srgbClr val="A67C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035040" y="10058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i="1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0" kern="0" dirty="0">
                <a:solidFill>
                  <a:srgbClr val="A67C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BUỔI 2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Kế hoạch bài dạy và kiểm tra đánh giá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trạm · STEM · Đề tự luận · Trắc nghiệm theo ma trận · Rubric · Overleaf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âu lệnh dài chia 4 ngăn có tiêu đề #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án nguyên văn định nghĩa 4 mức độ nhận thức vào câu lệnh để AI phân loại câu hỏi đú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AI kẻ sẵn bảng tiêu chí 4 mức, giáo viên duyệ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1005840"/>
            <a:ext cx="2926080" cy="2926080"/>
          </a:xfrm>
          <a:prstGeom prst="ellipse">
            <a:avLst/>
          </a:prstGeom>
          <a:solidFill>
            <a:srgbClr val="F7F5F0"/>
          </a:solidFill>
          <a:ln w="12700">
            <a:solidFill>
              <a:srgbClr val="A67C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035040" y="10058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i="1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0" kern="0" dirty="0">
                <a:solidFill>
                  <a:srgbClr val="A67C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BUỔI 3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Sản phẩm đa phương tiện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Ảnh · Trò chơi · Truyện tranh · Bài hát · Giọng đọc · Hội thoại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họn công cụ theo sản phẩ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ông thức tạo ảnh: Nội dung + Phong cá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035040" y="1005840"/>
            <a:ext cx="2926080" cy="2926080"/>
          </a:xfrm>
          <a:prstGeom prst="ellipse">
            <a:avLst/>
          </a:prstGeom>
          <a:solidFill>
            <a:srgbClr val="F7F5F0"/>
          </a:solidFill>
          <a:ln w="12700">
            <a:solidFill>
              <a:srgbClr val="A67C3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035040" y="1005840"/>
            <a:ext cx="29260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0" i="1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800" kern="0" dirty="0">
                <a:solidFill>
                  <a:srgbClr val="A67C3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BUỔI 4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4592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dirty="0">
                <a:solidFill>
                  <a:srgbClr val="1B1F2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Deep Research và trợ lý chatbot</a:t>
            </a:r>
            <a:endParaRPr lang="en-US" sz="3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29184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B1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Báo cáo có nguồn · Kiểm chứng thông tin · Gem · Poe · Magic School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eep Research: giao đề bài, duyệt kế hoạch, chờ báo cáo, tự mở từng link để kiểm chứ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Tạo trợ giảng ảo 4 bướ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Khung năng lực AI cho giáo viên của UNESCO: 5 lĩnh vực, 3 cấp độ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Ba màu đèn trước khi dán thông tin vào AI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Gợi ý bắt đầu theo cấp học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B1F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54864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7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Bắt đầu ngay hôm nay với một câu lệnh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548640" y="1554480"/>
            <a:ext cx="8046720" cy="1371600"/>
          </a:xfrm>
          <a:prstGeom prst="rect">
            <a:avLst/>
          </a:prstGeom>
          <a:solidFill>
            <a:srgbClr val="1B1F24"/>
          </a:solidFill>
          <a:ln w="9525">
            <a:solidFill>
              <a:srgbClr val="A67C3D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554480"/>
            <a:ext cx="7498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7F5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 tôi gợi ý bài giảng về chủ đề [bài thầy cô dạy tuần này] cho học sinh [lớp mấy].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918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A67C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Hỏi  ·  Đọc  ·  Sửa  ·  Kiểm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0233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7F5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Mọi câu lệnh trong khóa học có sẵn trong sách Dạy cùng AI và Thư viện câu lệnh đi kèm.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Dạy cùng AI</dc:title>
  <dc:subject>PptxGenJS Presentation</dc:subject>
  <dc:creator>PptxGenJS</dc:creator>
  <cp:lastModifiedBy>PptxGenJS</cp:lastModifiedBy>
  <cp:revision>1</cp:revision>
  <dcterms:created xsi:type="dcterms:W3CDTF">2026-09-30T04:41:01Z</dcterms:created>
  <dcterms:modified xsi:type="dcterms:W3CDTF">2026-09-30T04:41:01Z</dcterms:modified>
</cp:coreProperties>
</file>