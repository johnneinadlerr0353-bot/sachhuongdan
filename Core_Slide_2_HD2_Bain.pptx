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8595B"/>
              </a:solidFill>
            </c:spPr>
          </c:dPt>
          <c:dPt>
            <c:idx val="1"/>
            <c:spPr>
              <a:solidFill>
                <a:srgbClr val="58595B"/>
              </a:solidFill>
            </c:spPr>
          </c:dPt>
          <c:dPt>
            <c:idx val="2"/>
            <c:spPr>
              <a:solidFill>
                <a:srgbClr val="58595B"/>
              </a:solidFill>
            </c:spPr>
          </c:dPt>
          <c:dPt>
            <c:idx val="3"/>
            <c:spPr>
              <a:solidFill>
                <a:srgbClr val="CC0000"/>
              </a:solidFill>
            </c:spPr>
          </c:dPt>
          <c:dPt>
            <c:idx val="4"/>
            <c:spPr>
              <a:solidFill>
                <a:srgbClr val="CC0000"/>
              </a:solidFill>
            </c:spPr>
          </c:dPt>
          <c:dLbls>
            <c:dLbl>
              <c:idx val="0"/>
              <c:tx>
                <c:rich>
                  <a:bodyPr/>
                  <a:lstStyle/>
                  <a:p>
                    <a:r>
                      <a:rPr sz="1200" b="1">
                        <a:solidFill>
                          <a:srgbClr val="262626"/>
                        </a:solidFill>
                      </a:rPr>
                      <a:t>3,88</a:t>
                    </a:r>
                  </a:p>
                </c:rich>
              </c:tx>
              <c:dLblPos val="outEnd"/>
              <c:showLegendKey val="0"/>
              <c:showVal val="1"/>
              <c:showCatName val="0"/>
              <c:showSerName val="0"/>
              <c:showPercent val="0"/>
              <c:showBubbleSize val="0"/>
            </c:dLbl>
            <c:dLbl>
              <c:idx val="1"/>
              <c:tx>
                <c:rich>
                  <a:bodyPr/>
                  <a:lstStyle/>
                  <a:p>
                    <a:r>
                      <a:rPr sz="1200" b="1">
                        <a:solidFill>
                          <a:srgbClr val="262626"/>
                        </a:solidFill>
                      </a:rPr>
                      <a:t>3,75</a:t>
                    </a:r>
                  </a:p>
                </c:rich>
              </c:tx>
              <c:dLblPos val="outEnd"/>
              <c:showLegendKey val="0"/>
              <c:showVal val="1"/>
              <c:showCatName val="0"/>
              <c:showSerName val="0"/>
              <c:showPercent val="0"/>
              <c:showBubbleSize val="0"/>
            </c:dLbl>
            <c:dLbl>
              <c:idx val="2"/>
              <c:tx>
                <c:rich>
                  <a:bodyPr/>
                  <a:lstStyle/>
                  <a:p>
                    <a:r>
                      <a:rPr sz="1200" b="1">
                        <a:solidFill>
                          <a:srgbClr val="262626"/>
                        </a:solidFill>
                      </a:rPr>
                      <a:t>3,74</a:t>
                    </a:r>
                  </a:p>
                </c:rich>
              </c:tx>
              <c:dLblPos val="outEnd"/>
              <c:showLegendKey val="0"/>
              <c:showVal val="1"/>
              <c:showCatName val="0"/>
              <c:showSerName val="0"/>
              <c:showPercent val="0"/>
              <c:showBubbleSize val="0"/>
            </c:dLbl>
            <c:dLbl>
              <c:idx val="3"/>
              <c:tx>
                <c:rich>
                  <a:bodyPr/>
                  <a:lstStyle/>
                  <a:p>
                    <a:r>
                      <a:rPr sz="1200" b="1">
                        <a:solidFill>
                          <a:srgbClr val="262626"/>
                        </a:solidFill>
                      </a:rPr>
                      <a:t>3,41</a:t>
                    </a:r>
                  </a:p>
                </c:rich>
              </c:tx>
              <c:dLblPos val="outEnd"/>
              <c:showLegendKey val="0"/>
              <c:showVal val="1"/>
              <c:showCatName val="0"/>
              <c:showSerName val="0"/>
              <c:showPercent val="0"/>
              <c:showBubbleSize val="0"/>
            </c:dLbl>
            <c:dLbl>
              <c:idx val="4"/>
              <c:tx>
                <c:rich>
                  <a:bodyPr/>
                  <a:lstStyle/>
                  <a:p>
                    <a:r>
                      <a:rPr sz="1200" b="1">
                        <a:solidFill>
                          <a:srgbClr val="262626"/>
                        </a:solidFill>
                      </a:rPr>
                      <a:t>3,36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Sự hữu ích (HI)</c:v>
                </c:pt>
                <c:pt idx="1">
                  <c:v>Ý định sử dụng (YD)</c:v>
                </c:pt>
                <c:pt idx="2">
                  <c:v>Sự dễ sử dụng (SD)</c:v>
                </c:pt>
                <c:pt idx="3">
                  <c:v>Niềm tin (NT)</c:v>
                </c:pt>
                <c:pt idx="4">
                  <c:v>Ảnh hưởng xã hội (XH)</c:v>
                </c:pt>
              </c:strCache>
            </c:strRef>
          </c:cat>
          <c:val>
            <c:numRef>
              <c:f>Sheet1!$B$2:$B$6</c:f>
              <c:numCache>
                <c:formatCode>General</c:formatCode>
                <c:ptCount val="5"/>
                <c:pt idx="0">
                  <c:v>3.877</c:v>
                </c:pt>
                <c:pt idx="1">
                  <c:v>3.751</c:v>
                </c:pt>
                <c:pt idx="2">
                  <c:v>3.74</c:v>
                </c:pt>
                <c:pt idx="3">
                  <c:v>3.408</c:v>
                </c:pt>
                <c:pt idx="4">
                  <c:v>3.362</c:v>
                </c:pt>
              </c:numCache>
            </c:numRef>
          </c:val>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5.0"/>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Pt>
            <c:idx val="3"/>
            <c:spPr>
              <a:solidFill>
                <a:srgbClr val="58595B"/>
              </a:solidFill>
            </c:spPr>
          </c:dPt>
          <c:dLbls>
            <c:dLbl>
              <c:idx val="0"/>
              <c:tx>
                <c:rich>
                  <a:bodyPr/>
                  <a:lstStyle/>
                  <a:p>
                    <a:r>
                      <a:rPr sz="1200" b="1">
                        <a:solidFill>
                          <a:srgbClr val="262626"/>
                        </a:solidFill>
                      </a:rPr>
                      <a:t>0,587</a:t>
                    </a:r>
                  </a:p>
                </c:rich>
              </c:tx>
              <c:dLblPos val="outEnd"/>
              <c:showLegendKey val="0"/>
              <c:showVal val="1"/>
              <c:showCatName val="0"/>
              <c:showSerName val="0"/>
              <c:showPercent val="0"/>
              <c:showBubbleSize val="0"/>
            </c:dLbl>
            <c:dLbl>
              <c:idx val="1"/>
              <c:tx>
                <c:rich>
                  <a:bodyPr/>
                  <a:lstStyle/>
                  <a:p>
                    <a:r>
                      <a:rPr sz="1200" b="1">
                        <a:solidFill>
                          <a:srgbClr val="262626"/>
                        </a:solidFill>
                      </a:rPr>
                      <a:t>0,538</a:t>
                    </a:r>
                  </a:p>
                </c:rich>
              </c:tx>
              <c:dLblPos val="outEnd"/>
              <c:showLegendKey val="0"/>
              <c:showVal val="1"/>
              <c:showCatName val="0"/>
              <c:showSerName val="0"/>
              <c:showPercent val="0"/>
              <c:showBubbleSize val="0"/>
            </c:dLbl>
            <c:dLbl>
              <c:idx val="2"/>
              <c:tx>
                <c:rich>
                  <a:bodyPr/>
                  <a:lstStyle/>
                  <a:p>
                    <a:r>
                      <a:rPr sz="1200" b="1">
                        <a:solidFill>
                          <a:srgbClr val="262626"/>
                        </a:solidFill>
                      </a:rPr>
                      <a:t>0,469</a:t>
                    </a:r>
                  </a:p>
                </c:rich>
              </c:tx>
              <c:dLblPos val="outEnd"/>
              <c:showLegendKey val="0"/>
              <c:showVal val="1"/>
              <c:showCatName val="0"/>
              <c:showSerName val="0"/>
              <c:showPercent val="0"/>
              <c:showBubbleSize val="0"/>
            </c:dLbl>
            <c:dLbl>
              <c:idx val="3"/>
              <c:tx>
                <c:rich>
                  <a:bodyPr/>
                  <a:lstStyle/>
                  <a:p>
                    <a:r>
                      <a:rPr sz="1200" b="1">
                        <a:solidFill>
                          <a:srgbClr val="262626"/>
                        </a:solidFill>
                      </a:rPr>
                      <a:t>0,356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Sự hữu ích (HI)</c:v>
                </c:pt>
                <c:pt idx="1">
                  <c:v>Niềm tin (NT)</c:v>
                </c:pt>
                <c:pt idx="2">
                  <c:v>Ảnh hưởng xã hội (XH)</c:v>
                </c:pt>
                <c:pt idx="3">
                  <c:v>Sự dễ sử dụng (SD)</c:v>
                </c:pt>
              </c:strCache>
            </c:strRef>
          </c:cat>
          <c:val>
            <c:numRef>
              <c:f>Sheet1!$B$2:$B$5</c:f>
              <c:numCache>
                <c:formatCode>General</c:formatCode>
                <c:ptCount val="4"/>
                <c:pt idx="0">
                  <c:v>0.587</c:v>
                </c:pt>
                <c:pt idx="1">
                  <c:v>0.538</c:v>
                </c:pt>
                <c:pt idx="2">
                  <c:v>0.469</c:v>
                </c:pt>
                <c:pt idx="3">
                  <c:v>0.356</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Pt>
            <c:idx val="3"/>
            <c:spPr>
              <a:solidFill>
                <a:srgbClr val="FFFFFF"/>
              </a:solidFill>
              <a:ln w="19050">
                <a:solidFill>
                  <a:srgbClr val="9E9E9E"/>
                </a:solidFill>
              </a:ln>
            </c:spPr>
          </c:dPt>
          <c:dLbls>
            <c:dLbl>
              <c:idx val="0"/>
              <c:tx>
                <c:rich>
                  <a:bodyPr/>
                  <a:lstStyle/>
                  <a:p>
                    <a:r>
                      <a:rPr sz="1200" b="1">
                        <a:solidFill>
                          <a:srgbClr val="262626"/>
                        </a:solidFill>
                      </a:rPr>
                      <a:t>0,394</a:t>
                    </a:r>
                  </a:p>
                </c:rich>
              </c:tx>
              <c:dLblPos val="outEnd"/>
              <c:showLegendKey val="0"/>
              <c:showVal val="1"/>
              <c:showCatName val="0"/>
              <c:showSerName val="0"/>
              <c:showPercent val="0"/>
              <c:showBubbleSize val="0"/>
            </c:dLbl>
            <c:dLbl>
              <c:idx val="1"/>
              <c:tx>
                <c:rich>
                  <a:bodyPr/>
                  <a:lstStyle/>
                  <a:p>
                    <a:r>
                      <a:rPr sz="1200" b="1">
                        <a:solidFill>
                          <a:srgbClr val="262626"/>
                        </a:solidFill>
                      </a:rPr>
                      <a:t>0,328</a:t>
                    </a:r>
                  </a:p>
                </c:rich>
              </c:tx>
              <c:dLblPos val="outEnd"/>
              <c:showLegendKey val="0"/>
              <c:showVal val="1"/>
              <c:showCatName val="0"/>
              <c:showSerName val="0"/>
              <c:showPercent val="0"/>
              <c:showBubbleSize val="0"/>
            </c:dLbl>
            <c:dLbl>
              <c:idx val="2"/>
              <c:tx>
                <c:rich>
                  <a:bodyPr/>
                  <a:lstStyle/>
                  <a:p>
                    <a:r>
                      <a:rPr sz="1200" b="1">
                        <a:solidFill>
                          <a:srgbClr val="262626"/>
                        </a:solidFill>
                      </a:rPr>
                      <a:t>0,227</a:t>
                    </a:r>
                  </a:p>
                </c:rich>
              </c:tx>
              <c:dLblPos val="outEnd"/>
              <c:showLegendKey val="0"/>
              <c:showVal val="1"/>
              <c:showCatName val="0"/>
              <c:showSerName val="0"/>
              <c:showPercent val="0"/>
              <c:showBubbleSize val="0"/>
            </c:dLbl>
            <c:dLbl>
              <c:idx val="3"/>
              <c:tx>
                <c:rich>
                  <a:bodyPr/>
                  <a:lstStyle/>
                  <a:p>
                    <a:r>
                      <a:rPr sz="1200" b="1">
                        <a:solidFill>
                          <a:srgbClr val="262626"/>
                        </a:solidFill>
                      </a:rPr>
                      <a:t>0,064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Sự hữu ích (HI)</c:v>
                </c:pt>
                <c:pt idx="1">
                  <c:v>Niềm tin (NT)</c:v>
                </c:pt>
                <c:pt idx="2">
                  <c:v>Ảnh hưởng xã hội (XH)</c:v>
                </c:pt>
                <c:pt idx="3">
                  <c:v>Sự dễ sử dụng (SD)</c:v>
                </c:pt>
              </c:strCache>
            </c:strRef>
          </c:cat>
          <c:val>
            <c:numRef>
              <c:f>Sheet1!$B$2:$B$5</c:f>
              <c:numCache>
                <c:formatCode>General</c:formatCode>
                <c:ptCount val="4"/>
                <c:pt idx="0">
                  <c:v>0.394</c:v>
                </c:pt>
                <c:pt idx="1">
                  <c:v>0.328</c:v>
                </c:pt>
                <c:pt idx="2">
                  <c:v>0.227</c:v>
                </c:pt>
                <c:pt idx="3">
                  <c:v>0.064</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0.5"/>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CC0000"/>
              </a:solidFill>
            </c:spPr>
          </c:dPt>
          <c:dPt>
            <c:idx val="1"/>
            <c:spPr>
              <a:solidFill>
                <a:srgbClr val="58595B"/>
              </a:solidFill>
            </c:spPr>
          </c:dPt>
          <c:dPt>
            <c:idx val="2"/>
            <c:spPr>
              <a:solidFill>
                <a:srgbClr val="58595B"/>
              </a:solidFill>
            </c:spPr>
          </c:dPt>
          <c:dLbls>
            <c:dLbl>
              <c:idx val="0"/>
              <c:tx>
                <c:rich>
                  <a:bodyPr/>
                  <a:lstStyle/>
                  <a:p>
                    <a:r>
                      <a:rPr sz="1200" b="1">
                        <a:solidFill>
                          <a:srgbClr val="262626"/>
                        </a:solidFill>
                      </a:rPr>
                      <a:t>42,9%</a:t>
                    </a:r>
                  </a:p>
                </c:rich>
              </c:tx>
              <c:dLblPos val="outEnd"/>
              <c:showLegendKey val="0"/>
              <c:showVal val="1"/>
              <c:showCatName val="0"/>
              <c:showSerName val="0"/>
              <c:showPercent val="0"/>
              <c:showBubbleSize val="0"/>
            </c:dLbl>
            <c:dLbl>
              <c:idx val="1"/>
              <c:tx>
                <c:rich>
                  <a:bodyPr/>
                  <a:lstStyle/>
                  <a:p>
                    <a:r>
                      <a:rPr sz="1200" b="1">
                        <a:solidFill>
                          <a:srgbClr val="262626"/>
                        </a:solidFill>
                      </a:rPr>
                      <a:t>31,6%</a:t>
                    </a:r>
                  </a:p>
                </c:rich>
              </c:tx>
              <c:dLblPos val="outEnd"/>
              <c:showLegendKey val="0"/>
              <c:showVal val="1"/>
              <c:showCatName val="0"/>
              <c:showSerName val="0"/>
              <c:showPercent val="0"/>
              <c:showBubbleSize val="0"/>
            </c:dLbl>
            <c:dLbl>
              <c:idx val="2"/>
              <c:tx>
                <c:rich>
                  <a:bodyPr/>
                  <a:lstStyle/>
                  <a:p>
                    <a:r>
                      <a:rPr sz="1200" b="1">
                        <a:solidFill>
                          <a:srgbClr val="262626"/>
                        </a:solidFill>
                      </a:rPr>
                      <a:t>25,5%</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Thời gian chờ đợi (TG)</c:v>
                </c:pt>
                <c:pt idx="1">
                  <c:v>Thủ tục giấy tờ (TT)</c:v>
                </c:pt>
                <c:pt idx="2">
                  <c:v>Thái độ nhân viên (TD)</c:v>
                </c:pt>
              </c:strCache>
            </c:strRef>
          </c:cat>
          <c:val>
            <c:numRef>
              <c:f>Sheet1!$B$2:$B$4</c:f>
              <c:numCache>
                <c:formatCode>General</c:formatCode>
                <c:ptCount val="3"/>
                <c:pt idx="0">
                  <c:v>42.9</c:v>
                </c:pt>
                <c:pt idx="1">
                  <c:v>31.6</c:v>
                </c:pt>
                <c:pt idx="2">
                  <c:v>25.5</c:v>
                </c:pt>
              </c:numCache>
            </c:numRef>
          </c:val>
        </c:ser>
        <c:dLbls>
          <c:numFmt formatCode="0.0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D9D9D9"/>
            </a:solidFill>
          </a:ln>
        </c:spPr>
        <c:txPr>
          <a:bodyPr/>
          <a:lstStyle/>
          <a:p>
            <a:pPr>
              <a:defRPr sz="1150"/>
            </a:pPr>
          </a:p>
        </c:txPr>
        <c:crossAx val="-2113994440"/>
        <c:crosses val="autoZero"/>
        <c:auto val="1"/>
        <c:lblAlgn val="ctr"/>
        <c:lblOffset val="100"/>
        <c:noMultiLvlLbl val="0"/>
      </c:catAx>
      <c:valAx>
        <c:axId val="-2113994440"/>
        <c:scaling>
          <c:max val="55.0"/>
          <c:min val="0.0"/>
        </c:scaling>
        <c:delete/>
        <c:axPos val="b"/>
        <c:majorTickMark val="out"/>
        <c:minorTickMark val="none"/>
        <c:tickLblPos val="nextTo"/>
        <c:crossAx val="-2068027336"/>
        <c:crosses val="autoZero"/>
      </c:valAx>
    </c:plotArea>
    <c:dispBlanksAs val="gap"/>
  </c:chart>
  <c:txPr>
    <a:bodyPr/>
    <a:lstStyle/>
    <a:p>
      <a:pPr>
        <a:defRPr sz="1100">
          <a:solidFill>
            <a:srgbClr val="58595B"/>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14400"/>
            <a:ext cx="10058400" cy="365760"/>
          </a:xfrm>
          <a:prstGeom prst="rect">
            <a:avLst/>
          </a:prstGeom>
          <a:noFill/>
        </p:spPr>
        <p:txBody>
          <a:bodyPr wrap="square" lIns="45720" rIns="45720" tIns="27432" bIns="27432" anchor="t">
            <a:spAutoFit/>
          </a:bodyPr>
          <a:lstStyle/>
          <a:p>
            <a:pPr algn="l"/>
            <a:r>
              <a:rPr sz="1200" b="1" i="0">
                <a:solidFill>
                  <a:srgbClr val="9E9E9E"/>
                </a:solidFill>
                <a:latin typeface="Arial"/>
              </a:rPr>
              <a:t>CORE SLIDE 2 | HƯỚNG DẪN VIẾT KHÓA LUẬN TỐT NGHIỆP</a:t>
            </a:r>
          </a:p>
        </p:txBody>
      </p:sp>
      <p:sp>
        <p:nvSpPr>
          <p:cNvPr id="5" name="TextBox 4"/>
          <p:cNvSpPr txBox="1"/>
          <p:nvPr/>
        </p:nvSpPr>
        <p:spPr>
          <a:xfrm>
            <a:off x="914400" y="1463040"/>
            <a:ext cx="10332720" cy="2011680"/>
          </a:xfrm>
          <a:prstGeom prst="rect">
            <a:avLst/>
          </a:prstGeom>
          <a:noFill/>
        </p:spPr>
        <p:txBody>
          <a:bodyPr wrap="square" lIns="45720" rIns="45720" tIns="27432" bIns="27432" anchor="t">
            <a:spAutoFit/>
          </a:bodyPr>
          <a:lstStyle/>
          <a:p>
            <a:pPr algn="l"/>
            <a:r>
              <a:rPr sz="4000" b="1" i="0">
                <a:solidFill>
                  <a:srgbClr val="262626"/>
                </a:solidFill>
                <a:latin typeface="Arial"/>
              </a:rPr>
              <a:t>Từ câu hỏi nghiên cứu đến buổi bảo vệ: viết khóa luận như một chuỗi logic khép kín</a:t>
            </a:r>
          </a:p>
        </p:txBody>
      </p:sp>
      <p:cxnSp>
        <p:nvCxnSpPr>
          <p:cNvPr id="6" name="Connector 5"/>
          <p:cNvCxnSpPr/>
          <p:nvPr/>
        </p:nvCxnSpPr>
        <p:spPr>
          <a:xfrm>
            <a:off x="914400" y="3657600"/>
            <a:ext cx="182880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14400" y="3840480"/>
            <a:ext cx="10058400" cy="1097280"/>
          </a:xfrm>
          <a:prstGeom prst="rect">
            <a:avLst/>
          </a:prstGeom>
          <a:noFill/>
        </p:spPr>
        <p:txBody>
          <a:bodyPr wrap="square" lIns="45720" rIns="45720" tIns="27432" bIns="27432" anchor="t">
            <a:spAutoFit/>
          </a:bodyPr>
          <a:lstStyle/>
          <a:p>
            <a:pPr algn="l"/>
            <a:r>
              <a:rPr sz="1800" b="0" i="0">
                <a:solidFill>
                  <a:srgbClr val="58595B"/>
                </a:solidFill>
                <a:latin typeface="Arial"/>
              </a:rPr>
              <a:t>Đi theo đúng trình tự của cuốn sách: Phần mở đầu, Chương 1 đến Chương 5, Kết luận, hoàn thiện, nộp và bảo vệ. Thực hành với đề tài Ngân hàng X và Trường Tiểu học Y (dữ liệu giả định).</a:t>
            </a:r>
          </a:p>
        </p:txBody>
      </p:sp>
      <p:sp>
        <p:nvSpPr>
          <p:cNvPr id="8" name="TextBox 7"/>
          <p:cNvSpPr txBox="1"/>
          <p:nvPr/>
        </p:nvSpPr>
        <p:spPr>
          <a:xfrm>
            <a:off x="914400" y="6035040"/>
            <a:ext cx="10058400" cy="365760"/>
          </a:xfrm>
          <a:prstGeom prst="rect">
            <a:avLst/>
          </a:prstGeom>
          <a:noFill/>
        </p:spPr>
        <p:txBody>
          <a:bodyPr wrap="square" lIns="45720" rIns="45720" tIns="27432" bIns="27432" anchor="t">
            <a:spAutoFit/>
          </a:bodyPr>
          <a:lstStyle/>
          <a:p>
            <a:pPr algn="l"/>
            <a:r>
              <a:rPr sz="1100" b="0" i="0">
                <a:solidFill>
                  <a:srgbClr val="9E9E9E"/>
                </a:solidFill>
                <a:latin typeface="Arial"/>
              </a:rPr>
              <a:t>Nguồn: Hướng dẫn Chuyên đề và Khóa luận tốt nghiệp; ba file Excel thực hành đi kèm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LỘ TRÌNH BUỔI HỌC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Buổi học đi qua bảy phần, đúng theo thứ tự các em sẽ viết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phần có cùng một khuôn: vai trò, cấu trúc, cách viết từng mục, lỗi thường gặp và cách tự kiểm tra.</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a:t>
            </a:r>
          </a:p>
        </p:txBody>
      </p:sp>
      <p:sp>
        <p:nvSpPr>
          <p:cNvPr id="11" name="TextBox 10"/>
          <p:cNvSpPr txBox="1"/>
          <p:nvPr/>
        </p:nvSpPr>
        <p:spPr>
          <a:xfrm>
            <a:off x="457200" y="178308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01</a:t>
            </a:r>
          </a:p>
        </p:txBody>
      </p:sp>
      <p:sp>
        <p:nvSpPr>
          <p:cNvPr id="12" name="TextBox 11"/>
          <p:cNvSpPr txBox="1"/>
          <p:nvPr/>
        </p:nvSpPr>
        <p:spPr>
          <a:xfrm>
            <a:off x="1280160" y="178308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Bức tranh chung</a:t>
            </a:r>
          </a:p>
        </p:txBody>
      </p:sp>
      <p:sp>
        <p:nvSpPr>
          <p:cNvPr id="13" name="TextBox 12"/>
          <p:cNvSpPr txBox="1"/>
          <p:nvPr/>
        </p:nvSpPr>
        <p:spPr>
          <a:xfrm>
            <a:off x="5577840" y="178308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Nguyên tắc xuyên suốt, hai đề tài ví dụ, ba file Excel</a:t>
            </a:r>
          </a:p>
        </p:txBody>
      </p:sp>
      <p:sp>
        <p:nvSpPr>
          <p:cNvPr id="14" name="TextBox 13"/>
          <p:cNvSpPr txBox="1"/>
          <p:nvPr/>
        </p:nvSpPr>
        <p:spPr>
          <a:xfrm>
            <a:off x="10607040" y="178308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8 phút</a:t>
            </a:r>
          </a:p>
        </p:txBody>
      </p:sp>
      <p:cxnSp>
        <p:nvCxnSpPr>
          <p:cNvPr id="15" name="Connector 14"/>
          <p:cNvCxnSpPr/>
          <p:nvPr/>
        </p:nvCxnSpPr>
        <p:spPr>
          <a:xfrm>
            <a:off x="457200" y="233172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57200" y="233172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02</a:t>
            </a:r>
          </a:p>
        </p:txBody>
      </p:sp>
      <p:sp>
        <p:nvSpPr>
          <p:cNvPr id="17" name="TextBox 16"/>
          <p:cNvSpPr txBox="1"/>
          <p:nvPr/>
        </p:nvSpPr>
        <p:spPr>
          <a:xfrm>
            <a:off x="1280160" y="233172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Phần mở đầu và Chương 1</a:t>
            </a:r>
          </a:p>
        </p:txBody>
      </p:sp>
      <p:sp>
        <p:nvSpPr>
          <p:cNvPr id="18" name="TextBox 17"/>
          <p:cNvSpPr txBox="1"/>
          <p:nvPr/>
        </p:nvSpPr>
        <p:spPr>
          <a:xfrm>
            <a:off x="5577840" y="233172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Bảy mục, mô hình phễu, mục tiêu, câu hỏi, phạm vi</a:t>
            </a:r>
          </a:p>
        </p:txBody>
      </p:sp>
      <p:sp>
        <p:nvSpPr>
          <p:cNvPr id="19" name="TextBox 18"/>
          <p:cNvSpPr txBox="1"/>
          <p:nvPr/>
        </p:nvSpPr>
        <p:spPr>
          <a:xfrm>
            <a:off x="10607040" y="233172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22 phút</a:t>
            </a:r>
          </a:p>
        </p:txBody>
      </p:sp>
      <p:cxnSp>
        <p:nvCxnSpPr>
          <p:cNvPr id="20" name="Connector 19"/>
          <p:cNvCxnSpPr/>
          <p:nvPr/>
        </p:nvCxnSpPr>
        <p:spPr>
          <a:xfrm>
            <a:off x="457200" y="288036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288036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03</a:t>
            </a:r>
          </a:p>
        </p:txBody>
      </p:sp>
      <p:sp>
        <p:nvSpPr>
          <p:cNvPr id="22" name="TextBox 21"/>
          <p:cNvSpPr txBox="1"/>
          <p:nvPr/>
        </p:nvSpPr>
        <p:spPr>
          <a:xfrm>
            <a:off x="1280160" y="288036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2: Lý thuyết và mô hình</a:t>
            </a:r>
          </a:p>
        </p:txBody>
      </p:sp>
      <p:sp>
        <p:nvSpPr>
          <p:cNvPr id="23" name="TextBox 22"/>
          <p:cNvSpPr txBox="1"/>
          <p:nvPr/>
        </p:nvSpPr>
        <p:spPr>
          <a:xfrm>
            <a:off x="5577840" y="288036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Tổng hợp tài liệu, khoảng trống nghiên cứu, giả thuyết</a:t>
            </a:r>
          </a:p>
        </p:txBody>
      </p:sp>
      <p:sp>
        <p:nvSpPr>
          <p:cNvPr id="24" name="TextBox 23"/>
          <p:cNvSpPr txBox="1"/>
          <p:nvPr/>
        </p:nvSpPr>
        <p:spPr>
          <a:xfrm>
            <a:off x="10607040" y="288036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20 phút</a:t>
            </a:r>
          </a:p>
        </p:txBody>
      </p:sp>
      <p:cxnSp>
        <p:nvCxnSpPr>
          <p:cNvPr id="25" name="Connector 24"/>
          <p:cNvCxnSpPr/>
          <p:nvPr/>
        </p:nvCxnSpPr>
        <p:spPr>
          <a:xfrm>
            <a:off x="457200" y="342900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342900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04</a:t>
            </a:r>
          </a:p>
        </p:txBody>
      </p:sp>
      <p:sp>
        <p:nvSpPr>
          <p:cNvPr id="27" name="TextBox 26"/>
          <p:cNvSpPr txBox="1"/>
          <p:nvPr/>
        </p:nvSpPr>
        <p:spPr>
          <a:xfrm>
            <a:off x="1280160" y="342900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3: Phương pháp</a:t>
            </a:r>
          </a:p>
        </p:txBody>
      </p:sp>
      <p:sp>
        <p:nvSpPr>
          <p:cNvPr id="28" name="TextBox 27"/>
          <p:cNvSpPr txBox="1"/>
          <p:nvPr/>
        </p:nvSpPr>
        <p:spPr>
          <a:xfrm>
            <a:off x="5577840" y="342900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Mẫu, bảng hỏi, làm sạch dữ liệu, Cronbach, hồi quy trên Excel</a:t>
            </a:r>
          </a:p>
        </p:txBody>
      </p:sp>
      <p:sp>
        <p:nvSpPr>
          <p:cNvPr id="29" name="TextBox 28"/>
          <p:cNvSpPr txBox="1"/>
          <p:nvPr/>
        </p:nvSpPr>
        <p:spPr>
          <a:xfrm>
            <a:off x="10607040" y="342900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28 phút</a:t>
            </a:r>
          </a:p>
        </p:txBody>
      </p:sp>
      <p:cxnSp>
        <p:nvCxnSpPr>
          <p:cNvPr id="30" name="Connector 29"/>
          <p:cNvCxnSpPr/>
          <p:nvPr/>
        </p:nvCxnSpPr>
        <p:spPr>
          <a:xfrm>
            <a:off x="457200" y="397763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57200" y="3977639"/>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05</a:t>
            </a:r>
          </a:p>
        </p:txBody>
      </p:sp>
      <p:sp>
        <p:nvSpPr>
          <p:cNvPr id="32" name="TextBox 31"/>
          <p:cNvSpPr txBox="1"/>
          <p:nvPr/>
        </p:nvSpPr>
        <p:spPr>
          <a:xfrm>
            <a:off x="1280160" y="3977639"/>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4: Kết quả và thảo luận</a:t>
            </a:r>
          </a:p>
        </p:txBody>
      </p:sp>
      <p:sp>
        <p:nvSpPr>
          <p:cNvPr id="33" name="TextBox 32"/>
          <p:cNvSpPr txBox="1"/>
          <p:nvPr/>
        </p:nvSpPr>
        <p:spPr>
          <a:xfrm>
            <a:off x="5577840" y="3977639"/>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Diễn giải bảng, kiểm định giả thuyết, kết quả bất ngờ</a:t>
            </a:r>
          </a:p>
        </p:txBody>
      </p:sp>
      <p:sp>
        <p:nvSpPr>
          <p:cNvPr id="34" name="TextBox 33"/>
          <p:cNvSpPr txBox="1"/>
          <p:nvPr/>
        </p:nvSpPr>
        <p:spPr>
          <a:xfrm>
            <a:off x="10607040" y="3977639"/>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28 phút</a:t>
            </a:r>
          </a:p>
        </p:txBody>
      </p:sp>
      <p:cxnSp>
        <p:nvCxnSpPr>
          <p:cNvPr id="35" name="Connector 34"/>
          <p:cNvCxnSpPr/>
          <p:nvPr/>
        </p:nvCxnSpPr>
        <p:spPr>
          <a:xfrm>
            <a:off x="457200" y="452627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57200" y="452628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06</a:t>
            </a:r>
          </a:p>
        </p:txBody>
      </p:sp>
      <p:sp>
        <p:nvSpPr>
          <p:cNvPr id="37" name="TextBox 36"/>
          <p:cNvSpPr txBox="1"/>
          <p:nvPr/>
        </p:nvSpPr>
        <p:spPr>
          <a:xfrm>
            <a:off x="1280160" y="452628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Chương 5 và Kết luận</a:t>
            </a:r>
          </a:p>
        </p:txBody>
      </p:sp>
      <p:sp>
        <p:nvSpPr>
          <p:cNvPr id="38" name="TextBox 37"/>
          <p:cNvSpPr txBox="1"/>
          <p:nvPr/>
        </p:nvSpPr>
        <p:spPr>
          <a:xfrm>
            <a:off x="5577840" y="452628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Trả lời câu hỏi, ma trận ưu tiên, hàm ý, hạn chế</a:t>
            </a:r>
          </a:p>
        </p:txBody>
      </p:sp>
      <p:sp>
        <p:nvSpPr>
          <p:cNvPr id="39" name="TextBox 38"/>
          <p:cNvSpPr txBox="1"/>
          <p:nvPr/>
        </p:nvSpPr>
        <p:spPr>
          <a:xfrm>
            <a:off x="10607040" y="452628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18 phút</a:t>
            </a:r>
          </a:p>
        </p:txBody>
      </p:sp>
      <p:cxnSp>
        <p:nvCxnSpPr>
          <p:cNvPr id="40" name="Connector 39"/>
          <p:cNvCxnSpPr/>
          <p:nvPr/>
        </p:nvCxnSpPr>
        <p:spPr>
          <a:xfrm>
            <a:off x="457200" y="5074920"/>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457200" y="5074920"/>
            <a:ext cx="731520" cy="548640"/>
          </a:xfrm>
          <a:prstGeom prst="rect">
            <a:avLst/>
          </a:prstGeom>
          <a:noFill/>
        </p:spPr>
        <p:txBody>
          <a:bodyPr wrap="square" lIns="45720" rIns="45720" tIns="27432" bIns="27432" anchor="ctr">
            <a:spAutoFit/>
          </a:bodyPr>
          <a:lstStyle/>
          <a:p>
            <a:pPr algn="l"/>
            <a:r>
              <a:rPr sz="2000" b="1" i="0">
                <a:solidFill>
                  <a:srgbClr val="CC0000"/>
                </a:solidFill>
                <a:latin typeface="Arial"/>
              </a:rPr>
              <a:t>07</a:t>
            </a:r>
          </a:p>
        </p:txBody>
      </p:sp>
      <p:sp>
        <p:nvSpPr>
          <p:cNvPr id="42" name="TextBox 41"/>
          <p:cNvSpPr txBox="1"/>
          <p:nvPr/>
        </p:nvSpPr>
        <p:spPr>
          <a:xfrm>
            <a:off x="1280160" y="5074920"/>
            <a:ext cx="4206240" cy="548640"/>
          </a:xfrm>
          <a:prstGeom prst="rect">
            <a:avLst/>
          </a:prstGeom>
          <a:noFill/>
        </p:spPr>
        <p:txBody>
          <a:bodyPr wrap="square" lIns="45720" rIns="45720" tIns="27432" bIns="27432" anchor="ctr">
            <a:spAutoFit/>
          </a:bodyPr>
          <a:lstStyle/>
          <a:p>
            <a:pPr algn="l"/>
            <a:r>
              <a:rPr sz="1450" b="1" i="0">
                <a:solidFill>
                  <a:srgbClr val="262626"/>
                </a:solidFill>
                <a:latin typeface="Arial"/>
              </a:rPr>
              <a:t>Hoàn thiện, nộp và bảo vệ</a:t>
            </a:r>
          </a:p>
        </p:txBody>
      </p:sp>
      <p:sp>
        <p:nvSpPr>
          <p:cNvPr id="43" name="TextBox 42"/>
          <p:cNvSpPr txBox="1"/>
          <p:nvPr/>
        </p:nvSpPr>
        <p:spPr>
          <a:xfrm>
            <a:off x="5577840" y="5074920"/>
            <a:ext cx="4937760" cy="548640"/>
          </a:xfrm>
          <a:prstGeom prst="rect">
            <a:avLst/>
          </a:prstGeom>
          <a:noFill/>
        </p:spPr>
        <p:txBody>
          <a:bodyPr wrap="square" lIns="45720" rIns="45720" tIns="27432" bIns="27432" anchor="ctr">
            <a:spAutoFit/>
          </a:bodyPr>
          <a:lstStyle/>
          <a:p>
            <a:pPr algn="l"/>
            <a:r>
              <a:rPr sz="1200" b="0" i="0">
                <a:solidFill>
                  <a:srgbClr val="58595B"/>
                </a:solidFill>
                <a:latin typeface="Arial"/>
              </a:rPr>
              <a:t>Tài liệu tham khảo, trình bày, trùng lặp, Hội đồng</a:t>
            </a:r>
          </a:p>
        </p:txBody>
      </p:sp>
      <p:sp>
        <p:nvSpPr>
          <p:cNvPr id="44" name="TextBox 43"/>
          <p:cNvSpPr txBox="1"/>
          <p:nvPr/>
        </p:nvSpPr>
        <p:spPr>
          <a:xfrm>
            <a:off x="10607040" y="5074920"/>
            <a:ext cx="1124712" cy="548640"/>
          </a:xfrm>
          <a:prstGeom prst="rect">
            <a:avLst/>
          </a:prstGeom>
          <a:noFill/>
        </p:spPr>
        <p:txBody>
          <a:bodyPr wrap="square" lIns="45720" rIns="45720" tIns="27432" bIns="27432" anchor="ctr">
            <a:spAutoFit/>
          </a:bodyPr>
          <a:lstStyle/>
          <a:p>
            <a:pPr algn="r"/>
            <a:r>
              <a:rPr sz="1200" b="0" i="0">
                <a:solidFill>
                  <a:srgbClr val="9E9E9E"/>
                </a:solidFill>
                <a:latin typeface="Arial"/>
              </a:rPr>
              <a:t>16 phút</a:t>
            </a:r>
          </a:p>
        </p:txBody>
      </p:sp>
      <p:cxnSp>
        <p:nvCxnSpPr>
          <p:cNvPr id="45" name="Connector 44"/>
          <p:cNvCxnSpPr/>
          <p:nvPr/>
        </p:nvCxnSpPr>
        <p:spPr>
          <a:xfrm>
            <a:off x="457200" y="5623559"/>
            <a:ext cx="1127455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01</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Bức tranh chung</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Khóa luận là một chuỗi năm chương, chương trước giao sản phẩm cho chương sau</a:t>
            </a:r>
          </a:p>
        </p:txBody>
      </p:sp>
      <p:sp>
        <p:nvSpPr>
          <p:cNvPr id="7" name="TextBox 6"/>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8 phút | 3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NGUYÊN TẮC XUYÊN SUỐT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chữ "khớp" là thước đo mà Hội đồng dùng để đọc cả cuốn khóa luận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kết quả khớp giả thuyết, mọi kết luận khớp câu hỏi, mọi con số khớp file dữ liệu.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mục Kiểm tra trước khi nộp</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Chương 4 khớp Chương 2</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kết quả ở Chương 4 phải trả lời đúng các giả thuyết đã đặt ra ở Chương 2.</a:t>
            </a:r>
          </a:p>
          <a:p>
            <a:pPr algn="l">
              <a:spcBef>
                <a:spcPts val="630"/>
              </a:spcBef>
            </a:pPr>
          </a:p>
          <a:p>
            <a:pPr algn="l">
              <a:spcBef>
                <a:spcPts val="630"/>
              </a:spcBef>
            </a:pPr>
            <a:r>
              <a:rPr sz="1400" b="0" i="0">
                <a:solidFill>
                  <a:srgbClr val="58595B"/>
                </a:solidFill>
                <a:latin typeface="Arial"/>
              </a:rPr>
              <a:t>Mô hình có bốn mũi tên thì Chương 4 kết luận đủ bốn giả thuyết, không thêm, không bớt.</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Chương 5 khớp Chương 1</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kết luận ở Chương 5 phải trả lời đúng câu hỏi nghiên cứu đã đặt ra ở Chương 1.</a:t>
            </a:r>
          </a:p>
          <a:p>
            <a:pPr algn="l">
              <a:spcBef>
                <a:spcPts val="630"/>
              </a:spcBef>
            </a:pPr>
          </a:p>
          <a:p>
            <a:pPr algn="l">
              <a:spcBef>
                <a:spcPts val="630"/>
              </a:spcBef>
            </a:pPr>
            <a:r>
              <a:rPr sz="1400" b="0" i="0">
                <a:solidFill>
                  <a:srgbClr val="58595B"/>
                </a:solidFill>
                <a:latin typeface="Arial"/>
              </a:rPr>
              <a:t>Người chấm đặt trang đầu và trang cuối cạnh nhau để đối chiếu.</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Con số khớp file dữ liệu</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Mọi con số trong bài phải tìm lại được trong file Excel.</a:t>
            </a:r>
          </a:p>
          <a:p>
            <a:pPr algn="l">
              <a:spcBef>
                <a:spcPts val="630"/>
              </a:spcBef>
            </a:pPr>
          </a:p>
          <a:p>
            <a:pPr algn="l">
              <a:spcBef>
                <a:spcPts val="630"/>
              </a:spcBef>
            </a:pPr>
            <a:r>
              <a:rPr sz="1400" b="0" i="0">
                <a:solidFill>
                  <a:srgbClr val="58595B"/>
                </a:solidFill>
                <a:latin typeface="Arial"/>
              </a:rPr>
              <a:t>Tóm tắt ghi 53,5% trong khi Chương 4 ghi 53,7% là đủ để Hội đồng nghi ngờ độ chính xác của cả bài.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CHUỖI NĂM CHƯƠNG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chương nhận một sản phẩm từ chương trước và giao một sản phẩm cho chương sau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Ba chương đầu là lời hứa; Chương 4 và Chương 5 là phần thực hiện lời hứa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Hình 24 và phần mở đầu Chương 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a:t>
            </a:r>
          </a:p>
        </p:txBody>
      </p:sp>
      <p:sp>
        <p:nvSpPr>
          <p:cNvPr id="11" name="Pentagon 10"/>
          <p:cNvSpPr/>
          <p:nvPr/>
        </p:nvSpPr>
        <p:spPr>
          <a:xfrm>
            <a:off x="457200" y="1783080"/>
            <a:ext cx="2364638" cy="731520"/>
          </a:xfrm>
          <a:prstGeom prst="homePlat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1</a:t>
            </a:r>
          </a:p>
        </p:txBody>
      </p:sp>
      <p:sp>
        <p:nvSpPr>
          <p:cNvPr id="12" name="TextBox 11"/>
          <p:cNvSpPr txBox="1"/>
          <p:nvPr/>
        </p:nvSpPr>
        <p:spPr>
          <a:xfrm>
            <a:off x="56692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vấn đề gì cần nghiên cứu và vì sao?</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bộ câu hỏi nghiên cứu rõ ràng.</a:t>
            </a:r>
          </a:p>
        </p:txBody>
      </p:sp>
      <p:sp>
        <p:nvSpPr>
          <p:cNvPr id="13" name="Chevron 12"/>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2</a:t>
            </a:r>
          </a:p>
        </p:txBody>
      </p:sp>
      <p:sp>
        <p:nvSpPr>
          <p:cNvPr id="14" name="TextBox 13"/>
          <p:cNvSpPr txBox="1"/>
          <p:nvPr/>
        </p:nvSpPr>
        <p:spPr>
          <a:xfrm>
            <a:off x="282183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dựa vào lý thuyết nào để dự đoán câu trả lời?</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mô hình và các giả thuyết.</a:t>
            </a:r>
          </a:p>
        </p:txBody>
      </p:sp>
      <p:cxnSp>
        <p:nvCxnSpPr>
          <p:cNvPr id="15" name="Connector 14"/>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96702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3</a:t>
            </a:r>
          </a:p>
        </p:txBody>
      </p:sp>
      <p:sp>
        <p:nvSpPr>
          <p:cNvPr id="17" name="TextBox 16"/>
          <p:cNvSpPr txBox="1"/>
          <p:nvPr/>
        </p:nvSpPr>
        <p:spPr>
          <a:xfrm>
            <a:off x="507674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kiểm tra dự đoán đó bằng cách nào?</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kế hoạch thu thập và phân tích dữ liệu.</a:t>
            </a:r>
          </a:p>
        </p:txBody>
      </p:sp>
      <p:cxnSp>
        <p:nvCxnSpPr>
          <p:cNvPr id="18" name="Connector 17"/>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722193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4</a:t>
            </a:r>
          </a:p>
        </p:txBody>
      </p:sp>
      <p:sp>
        <p:nvSpPr>
          <p:cNvPr id="20" name="TextBox 19"/>
          <p:cNvSpPr txBox="1"/>
          <p:nvPr/>
        </p:nvSpPr>
        <p:spPr>
          <a:xfrm>
            <a:off x="733165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dữ liệu nói gì?</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bảng kết quả kiểm định từng giả thuyết.</a:t>
            </a:r>
          </a:p>
        </p:txBody>
      </p:sp>
      <p:cxnSp>
        <p:nvCxnSpPr>
          <p:cNvPr id="21" name="Connector 20"/>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Chương 5</a:t>
            </a:r>
          </a:p>
        </p:txBody>
      </p:sp>
      <p:sp>
        <p:nvSpPr>
          <p:cNvPr id="23" name="TextBox 22"/>
          <p:cNvSpPr txBox="1"/>
          <p:nvPr/>
        </p:nvSpPr>
        <p:spPr>
          <a:xfrm>
            <a:off x="958656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Hỏi:</a:t>
            </a:r>
            <a:r>
              <a:rPr sz="1350" b="0" i="0">
                <a:solidFill>
                  <a:srgbClr val="58595B"/>
                </a:solidFill>
                <a:latin typeface="Arial"/>
              </a:rPr>
              <a:t> ta học được gì và nên làm gì?</a:t>
            </a:r>
          </a:p>
          <a:p>
            <a:pPr algn="l">
              <a:spcBef>
                <a:spcPts val="607"/>
              </a:spcBef>
            </a:pPr>
          </a:p>
          <a:p>
            <a:pPr algn="l">
              <a:spcBef>
                <a:spcPts val="607"/>
              </a:spcBef>
            </a:pPr>
            <a:r>
              <a:rPr sz="1350" b="1" i="0">
                <a:solidFill>
                  <a:srgbClr val="58595B"/>
                </a:solidFill>
                <a:latin typeface="Arial"/>
              </a:rPr>
              <a:t>Giao:</a:t>
            </a:r>
            <a:r>
              <a:rPr sz="1350" b="0" i="0">
                <a:solidFill>
                  <a:srgbClr val="58595B"/>
                </a:solidFill>
                <a:latin typeface="Arial"/>
              </a:rPr>
              <a:t> câu trả lời, hàm ý, hạn chế.</a:t>
            </a:r>
          </a:p>
        </p:txBody>
      </p:sp>
      <p:cxnSp>
        <p:nvCxnSpPr>
          <p:cNvPr id="24" name="Connector 23"/>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BỨC TRANH CHUNG | HAI ĐỀ TÀI VÍ DỤ</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Hai đề tài giả định đi xuyên suốt sách, mỗi con số đều mở lại được trong file Excel</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ví dụ sư phạm, không phải số liệu thật: các em học cách làm rồi làm lại trên dữ liệu của mình.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nói đầu); Bảng 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a:t>
            </a:r>
          </a:p>
        </p:txBody>
      </p:sp>
      <p:graphicFrame>
        <p:nvGraphicFramePr>
          <p:cNvPr id="11" name="Table 10"/>
          <p:cNvGraphicFramePr>
            <a:graphicFrameLocks noGrp="1"/>
          </p:cNvGraphicFramePr>
          <p:nvPr/>
        </p:nvGraphicFramePr>
        <p:xfrm>
          <a:off x="457200" y="1783080"/>
          <a:ext cx="11274551" cy="3483864"/>
        </p:xfrm>
        <a:graphic>
          <a:graphicData uri="http://schemas.openxmlformats.org/drawingml/2006/table">
            <a:tbl>
              <a:tblPr firstRow="1" bandRow="1">
                <a:tableStyleId>{5C22544A-7EE6-4342-B048-85BDC9FD1C3A}</a:tableStyleId>
              </a:tblPr>
              <a:tblGrid>
                <a:gridCol w="1768557"/>
                <a:gridCol w="4752997"/>
                <a:gridCol w="4752997"/>
              </a:tblGrid>
              <a:tr h="411480">
                <a:tc>
                  <a:txBody>
                    <a:bodyPr wrap="square"/>
                    <a:lstStyle/>
                    <a:p>
                      <a:pPr algn="l"/>
                    </a:p>
                  </a:txBody>
                  <a:tcPr marL="73152" marR="73152" marT="27432" marB="27432" anchor="ctr">
                    <a:solidFill>
                      <a:srgbClr val="262626"/>
                    </a:solidFill>
                  </a:tcPr>
                </a:tc>
                <a:tc>
                  <a:txBody>
                    <a:bodyPr wrap="square"/>
                    <a:lstStyle/>
                    <a:p>
                      <a:pPr algn="l"/>
                      <a:r>
                        <a:rPr sz="1150" b="1">
                          <a:solidFill>
                            <a:srgbClr val="FFFFFF"/>
                          </a:solidFill>
                          <a:latin typeface="Arial"/>
                        </a:rPr>
                        <a:t>Đề tài 1: Ngân hàng X</a:t>
                      </a:r>
                    </a:p>
                  </a:txBody>
                  <a:tcPr marL="73152" marR="73152" marT="27432" marB="27432" anchor="ctr">
                    <a:solidFill>
                      <a:srgbClr val="262626"/>
                    </a:solidFill>
                  </a:tcPr>
                </a:tc>
                <a:tc>
                  <a:txBody>
                    <a:bodyPr wrap="square"/>
                    <a:lstStyle/>
                    <a:p>
                      <a:pPr algn="l"/>
                      <a:r>
                        <a:rPr sz="1150" b="1">
                          <a:solidFill>
                            <a:srgbClr val="FFFFFF"/>
                          </a:solidFill>
                          <a:latin typeface="Arial"/>
                        </a:rPr>
                        <a:t>Đề tài 2: Trường Tiểu học Y</a:t>
                      </a:r>
                    </a:p>
                  </a:txBody>
                  <a:tcPr marL="73152" marR="73152" marT="27432" marB="27432" anchor="ctr">
                    <a:solidFill>
                      <a:srgbClr val="262626"/>
                    </a:solidFill>
                  </a:tcPr>
                </a:tc>
              </a:tr>
              <a:tr h="512064">
                <a:tc>
                  <a:txBody>
                    <a:bodyPr wrap="square"/>
                    <a:lstStyle/>
                    <a:p>
                      <a:pPr algn="l"/>
                      <a:r>
                        <a:rPr sz="1150" b="0">
                          <a:solidFill>
                            <a:srgbClr val="262626"/>
                          </a:solidFill>
                          <a:latin typeface="Arial"/>
                        </a:rPr>
                        <a:t>Tên đề tài</a:t>
                      </a:r>
                    </a:p>
                  </a:txBody>
                  <a:tcPr marL="73152" marR="73152" marT="27432" marB="27432" anchor="ctr">
                    <a:solidFill>
                      <a:srgbClr val="FFFFFF"/>
                    </a:solidFill>
                  </a:tcPr>
                </a:tc>
                <a:tc>
                  <a:txBody>
                    <a:bodyPr wrap="square"/>
                    <a:lstStyle/>
                    <a:p>
                      <a:pPr algn="l"/>
                      <a:r>
                        <a:rPr sz="1150" b="0">
                          <a:solidFill>
                            <a:srgbClr val="262626"/>
                          </a:solidFill>
                          <a:latin typeface="Arial"/>
                        </a:rPr>
                        <a:t>Các yếu tố ảnh hưởng đến ý định sử dụng dịch vụ ngân hàng số của khách hàng cá nhân</a:t>
                      </a:r>
                    </a:p>
                  </a:txBody>
                  <a:tcPr marL="73152" marR="73152" marT="27432" marB="27432" anchor="ctr">
                    <a:solidFill>
                      <a:srgbClr val="FFFFFF"/>
                    </a:solidFill>
                  </a:tcPr>
                </a:tc>
                <a:tc>
                  <a:txBody>
                    <a:bodyPr wrap="square"/>
                    <a:lstStyle/>
                    <a:p>
                      <a:pPr algn="l"/>
                      <a:r>
                        <a:rPr sz="1150" b="0">
                          <a:solidFill>
                            <a:srgbClr val="262626"/>
                          </a:solidFill>
                          <a:latin typeface="Arial"/>
                        </a:rPr>
                        <a:t>Các yếu tố ảnh hưởng đến mức độ hài lòng của phụ huynh đối với dịch vụ hành chính</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Biến độc lập</a:t>
                      </a:r>
                    </a:p>
                  </a:txBody>
                  <a:tcPr marL="73152" marR="73152" marT="27432" marB="27432" anchor="ctr">
                    <a:solidFill>
                      <a:srgbClr val="F3F3F3"/>
                    </a:solidFill>
                  </a:tcPr>
                </a:tc>
                <a:tc>
                  <a:txBody>
                    <a:bodyPr wrap="square"/>
                    <a:lstStyle/>
                    <a:p>
                      <a:pPr algn="l"/>
                      <a:r>
                        <a:rPr sz="1150" b="0">
                          <a:solidFill>
                            <a:srgbClr val="262626"/>
                          </a:solidFill>
                          <a:latin typeface="Arial"/>
                        </a:rPr>
                        <a:t>Sự hữu ích (HI), sự dễ sử dụng (SD), niềm tin (NT), ảnh hưởng xã hội (XH)</a:t>
                      </a:r>
                    </a:p>
                  </a:txBody>
                  <a:tcPr marL="73152" marR="73152" marT="27432" marB="27432" anchor="ctr">
                    <a:solidFill>
                      <a:srgbClr val="F3F3F3"/>
                    </a:solidFill>
                  </a:tcPr>
                </a:tc>
                <a:tc>
                  <a:txBody>
                    <a:bodyPr wrap="square"/>
                    <a:lstStyle/>
                    <a:p>
                      <a:pPr algn="l"/>
                      <a:r>
                        <a:rPr sz="1150" b="0">
                          <a:solidFill>
                            <a:srgbClr val="262626"/>
                          </a:solidFill>
                          <a:latin typeface="Arial"/>
                        </a:rPr>
                        <a:t>Cơ sở vật chất (CSVC), thái độ nhân viên (TDNV), quy trình hành chính (QTHC)</a:t>
                      </a:r>
                    </a:p>
                  </a:txBody>
                  <a:tcPr marL="73152" marR="73152" marT="27432" marB="27432" anchor="ctr">
                    <a:solidFill>
                      <a:srgbClr val="F3F3F3"/>
                    </a:solidFill>
                  </a:tcPr>
                </a:tc>
              </a:tr>
              <a:tr h="512064">
                <a:tc>
                  <a:txBody>
                    <a:bodyPr wrap="square"/>
                    <a:lstStyle/>
                    <a:p>
                      <a:pPr algn="l"/>
                      <a:r>
                        <a:rPr sz="1150" b="0">
                          <a:solidFill>
                            <a:srgbClr val="262626"/>
                          </a:solidFill>
                          <a:latin typeface="Arial"/>
                        </a:rPr>
                        <a:t>Biến phụ thuộc</a:t>
                      </a:r>
                    </a:p>
                  </a:txBody>
                  <a:tcPr marL="73152" marR="73152" marT="27432" marB="27432" anchor="ctr">
                    <a:solidFill>
                      <a:srgbClr val="FFFFFF"/>
                    </a:solidFill>
                  </a:tcPr>
                </a:tc>
                <a:tc>
                  <a:txBody>
                    <a:bodyPr wrap="square"/>
                    <a:lstStyle/>
                    <a:p>
                      <a:pPr algn="l"/>
                      <a:r>
                        <a:rPr sz="1150" b="0">
                          <a:solidFill>
                            <a:srgbClr val="262626"/>
                          </a:solidFill>
                          <a:latin typeface="Arial"/>
                        </a:rPr>
                        <a:t>Ý định sử dụng (YD)</a:t>
                      </a:r>
                    </a:p>
                  </a:txBody>
                  <a:tcPr marL="73152" marR="73152" marT="27432" marB="27432" anchor="ctr">
                    <a:solidFill>
                      <a:srgbClr val="FFFFFF"/>
                    </a:solidFill>
                  </a:tcPr>
                </a:tc>
                <a:tc>
                  <a:txBody>
                    <a:bodyPr wrap="square"/>
                    <a:lstStyle/>
                    <a:p>
                      <a:pPr algn="l"/>
                      <a:r>
                        <a:rPr sz="1150" b="0">
                          <a:solidFill>
                            <a:srgbClr val="262626"/>
                          </a:solidFill>
                          <a:latin typeface="Arial"/>
                        </a:rPr>
                        <a:t>Sự hài lòng của phụ huynh (HL)</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Lý thuyết nền</a:t>
                      </a:r>
                    </a:p>
                  </a:txBody>
                  <a:tcPr marL="73152" marR="73152" marT="27432" marB="27432" anchor="ctr">
                    <a:solidFill>
                      <a:srgbClr val="F3F3F3"/>
                    </a:solidFill>
                  </a:tcPr>
                </a:tc>
                <a:tc>
                  <a:txBody>
                    <a:bodyPr wrap="square"/>
                    <a:lstStyle/>
                    <a:p>
                      <a:pPr algn="l"/>
                      <a:r>
                        <a:rPr sz="1150" b="0">
                          <a:solidFill>
                            <a:srgbClr val="262626"/>
                          </a:solidFill>
                          <a:latin typeface="Arial"/>
                        </a:rPr>
                        <a:t>TAM, lý thuyết cam kết và niềm tin, TPB</a:t>
                      </a:r>
                    </a:p>
                  </a:txBody>
                  <a:tcPr marL="73152" marR="73152" marT="27432" marB="27432" anchor="ctr">
                    <a:solidFill>
                      <a:srgbClr val="F3F3F3"/>
                    </a:solidFill>
                  </a:tcPr>
                </a:tc>
                <a:tc>
                  <a:txBody>
                    <a:bodyPr wrap="square"/>
                    <a:lstStyle/>
                    <a:p>
                      <a:pPr algn="l"/>
                      <a:r>
                        <a:rPr sz="1150" b="0">
                          <a:solidFill>
                            <a:srgbClr val="262626"/>
                          </a:solidFill>
                          <a:latin typeface="Arial"/>
                        </a:rPr>
                        <a:t>SERVQUAL</a:t>
                      </a:r>
                    </a:p>
                  </a:txBody>
                  <a:tcPr marL="73152" marR="73152" marT="27432" marB="27432" anchor="ctr">
                    <a:solidFill>
                      <a:srgbClr val="F3F3F3"/>
                    </a:solidFill>
                  </a:tcPr>
                </a:tc>
              </a:tr>
              <a:tr h="512064">
                <a:tc>
                  <a:txBody>
                    <a:bodyPr wrap="square"/>
                    <a:lstStyle/>
                    <a:p>
                      <a:pPr algn="l"/>
                      <a:r>
                        <a:rPr sz="1150" b="0">
                          <a:solidFill>
                            <a:srgbClr val="262626"/>
                          </a:solidFill>
                          <a:latin typeface="Arial"/>
                        </a:rPr>
                        <a:t>Dữ liệu</a:t>
                      </a:r>
                    </a:p>
                  </a:txBody>
                  <a:tcPr marL="73152" marR="73152" marT="27432" marB="27432" anchor="ctr">
                    <a:solidFill>
                      <a:srgbClr val="FFFFFF"/>
                    </a:solidFill>
                  </a:tcPr>
                </a:tc>
                <a:tc>
                  <a:txBody>
                    <a:bodyPr wrap="square"/>
                    <a:lstStyle/>
                    <a:p>
                      <a:pPr algn="l"/>
                      <a:r>
                        <a:rPr sz="1150" b="0">
                          <a:solidFill>
                            <a:srgbClr val="262626"/>
                          </a:solidFill>
                          <a:latin typeface="Arial"/>
                        </a:rPr>
                        <a:t>165 phiếu thô, 150 phiếu hợp lệ, 19 câu</a:t>
                      </a:r>
                    </a:p>
                  </a:txBody>
                  <a:tcPr marL="73152" marR="73152" marT="27432" marB="27432" anchor="ctr">
                    <a:solidFill>
                      <a:srgbClr val="FFFFFF"/>
                    </a:solidFill>
                  </a:tcPr>
                </a:tc>
                <a:tc>
                  <a:txBody>
                    <a:bodyPr wrap="square"/>
                    <a:lstStyle/>
                    <a:p>
                      <a:pPr algn="l"/>
                      <a:r>
                        <a:rPr sz="1150" b="0">
                          <a:solidFill>
                            <a:srgbClr val="262626"/>
                          </a:solidFill>
                          <a:latin typeface="Arial"/>
                        </a:rPr>
                        <a:t>131 phiếu thô, 120 phiếu hợp lệ, 16 câu</a:t>
                      </a:r>
                    </a:p>
                  </a:txBody>
                  <a:tcPr marL="73152" marR="73152" marT="27432" marB="27432" anchor="ctr">
                    <a:solidFill>
                      <a:srgbClr val="FFFFFF"/>
                    </a:solidFill>
                  </a:tcPr>
                </a:tc>
              </a:tr>
              <a:tr h="512064">
                <a:tc>
                  <a:txBody>
                    <a:bodyPr wrap="square"/>
                    <a:lstStyle/>
                    <a:p>
                      <a:pPr algn="l"/>
                      <a:r>
                        <a:rPr sz="1150" b="0">
                          <a:solidFill>
                            <a:srgbClr val="262626"/>
                          </a:solidFill>
                          <a:latin typeface="Arial"/>
                        </a:rPr>
                        <a:t>File Excel</a:t>
                      </a:r>
                    </a:p>
                  </a:txBody>
                  <a:tcPr marL="73152" marR="73152" marT="27432" marB="27432" anchor="ctr">
                    <a:solidFill>
                      <a:srgbClr val="F3F3F3"/>
                    </a:solidFill>
                  </a:tcPr>
                </a:tc>
                <a:tc>
                  <a:txBody>
                    <a:bodyPr wrap="square"/>
                    <a:lstStyle/>
                    <a:p>
                      <a:pPr algn="l"/>
                      <a:r>
                        <a:rPr sz="1150" b="0">
                          <a:solidFill>
                            <a:srgbClr val="262626"/>
                          </a:solidFill>
                          <a:latin typeface="Arial"/>
                        </a:rPr>
                        <a:t>2.Chapter_2_and_Chapter_3_Practice
3.Chapter_4_and_Chapter_5_Practice_NH_X</a:t>
                      </a:r>
                    </a:p>
                  </a:txBody>
                  <a:tcPr marL="73152" marR="73152" marT="27432" marB="27432" anchor="ctr">
                    <a:solidFill>
                      <a:srgbClr val="F3F3F3"/>
                    </a:solidFill>
                  </a:tcPr>
                </a:tc>
                <a:tc>
                  <a:txBody>
                    <a:bodyPr wrap="square"/>
                    <a:lstStyle/>
                    <a:p>
                      <a:pPr algn="l"/>
                      <a:r>
                        <a:rPr sz="1150" b="0">
                          <a:solidFill>
                            <a:srgbClr val="262626"/>
                          </a:solidFill>
                          <a:latin typeface="Arial"/>
                        </a:rPr>
                        <a:t>3.Chapter_4_and_Chapter_5_Practice_Truong_Y</a:t>
                      </a:r>
                    </a:p>
                  </a:txBody>
                  <a:tcPr marL="73152" marR="73152" marT="27432" marB="27432" anchor="ctr">
                    <a:solidFill>
                      <a:srgbClr val="F3F3F3"/>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02</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Phần mở đầu và Chương 1</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Tấm bản đồ của khóa luận: nghiên cứu làm gì, vì sao và bằng cách nào</a:t>
            </a:r>
          </a:p>
        </p:txBody>
      </p:sp>
      <p:sp>
        <p:nvSpPr>
          <p:cNvPr id="7" name="TextBox 6"/>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22 phút | 9 slide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NGƯỜI CHẤM ĐỌC GÌ</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Người chấm đọc phần mở đầu để kiểm tra vấn đề có thật và các mục có khớp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Phần mở đầu chỉ được 1,5 trên 10 điểm nhưng một lỗi ở đây kéo điểm của mọi chương phía sau xuống theo.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1.2 đến 1.4 và Hình 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8</a:t>
            </a:r>
          </a:p>
        </p:txBody>
      </p:sp>
      <p:sp>
        <p:nvSpPr>
          <p:cNvPr id="11" name="Oval 10"/>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Vấn đề có thật và có ý nghĩa?</a:t>
            </a:r>
            <a:r>
              <a:rPr sz="1300" b="0" i="0">
                <a:solidFill>
                  <a:srgbClr val="58595B"/>
                </a:solidFill>
                <a:latin typeface="Arial"/>
              </a:rPr>
              <a:t>  Một câu "ngân hàng số đang phát triển mạnh" chưa phải là vấn đề.</a:t>
            </a:r>
          </a:p>
        </p:txBody>
      </p:sp>
      <p:cxnSp>
        <p:nvCxnSpPr>
          <p:cNvPr id="13" name="Connector 12"/>
          <p:cNvCxnSpPr/>
          <p:nvPr/>
        </p:nvCxnSpPr>
        <p:spPr>
          <a:xfrm>
            <a:off x="960120" y="236829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46887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42316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Mục tiêu, câu hỏi và vấn đề có khớp nhau?</a:t>
            </a:r>
            <a:r>
              <a:rPr sz="1300" b="0" i="0">
                <a:solidFill>
                  <a:srgbClr val="58595B"/>
                </a:solidFill>
                <a:latin typeface="Arial"/>
              </a:rPr>
              <a:t>  Mục tiêu tổng quát phải giải quyết đúng vấn đề đã nêu.</a:t>
            </a:r>
          </a:p>
        </p:txBody>
      </p:sp>
      <p:cxnSp>
        <p:nvCxnSpPr>
          <p:cNvPr id="16" name="Connector 15"/>
          <p:cNvCxnSpPr/>
          <p:nvPr/>
        </p:nvCxnSpPr>
        <p:spPr>
          <a:xfrm>
            <a:off x="960120" y="300837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10896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06324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Phạm vi rõ và làm được trong thời gian cho phép?</a:t>
            </a:r>
            <a:r>
              <a:rPr sz="1300" b="0" i="0">
                <a:solidFill>
                  <a:srgbClr val="58595B"/>
                </a:solidFill>
                <a:latin typeface="Arial"/>
              </a:rPr>
              <a:t>  Phạm vi quá rộng là nguyên nhân chính khiến đề tài rủi ro.</a:t>
            </a:r>
          </a:p>
        </p:txBody>
      </p:sp>
      <p:cxnSp>
        <p:nvCxnSpPr>
          <p:cNvPr id="19" name="Connector 18"/>
          <p:cNvCxnSpPr/>
          <p:nvPr/>
        </p:nvCxnSpPr>
        <p:spPr>
          <a:xfrm>
            <a:off x="960120" y="364845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3749039"/>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370332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Phương pháp trả lời được câu hỏi?</a:t>
            </a:r>
            <a:r>
              <a:rPr sz="1300" b="0" i="0">
                <a:solidFill>
                  <a:srgbClr val="58595B"/>
                </a:solidFill>
                <a:latin typeface="Arial"/>
              </a:rPr>
              <a:t>  Mỗi câu hỏi phải có một con đường để đi tới câu trả lời.</a:t>
            </a:r>
          </a:p>
        </p:txBody>
      </p:sp>
      <p:cxnSp>
        <p:nvCxnSpPr>
          <p:cNvPr id="22" name="Connector 21"/>
          <p:cNvCxnSpPr/>
          <p:nvPr/>
        </p:nvCxnSpPr>
        <p:spPr>
          <a:xfrm>
            <a:off x="960120" y="428853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38912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34340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Văn phong khách quan, có dẫn nguồn?</a:t>
            </a:r>
            <a:r>
              <a:rPr sz="1300" b="0" i="0">
                <a:solidFill>
                  <a:srgbClr val="58595B"/>
                </a:solidFill>
                <a:latin typeface="Arial"/>
              </a:rPr>
              <a:t>  Thiếu nguồn có thể bị xem là có hiện tượng đạo văn.</a:t>
            </a:r>
          </a:p>
        </p:txBody>
      </p:sp>
      <p:cxnSp>
        <p:nvCxnSpPr>
          <p:cNvPr id="25" name="Connector 24"/>
          <p:cNvCxnSpPr/>
          <p:nvPr/>
        </p:nvCxnSpPr>
        <p:spPr>
          <a:xfrm>
            <a:off x="960120" y="4928616"/>
            <a:ext cx="5257800"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200" y="5029200"/>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6</a:t>
            </a:r>
          </a:p>
        </p:txBody>
      </p:sp>
      <p:sp>
        <p:nvSpPr>
          <p:cNvPr id="27" name="TextBox 26"/>
          <p:cNvSpPr txBox="1"/>
          <p:nvPr/>
        </p:nvSpPr>
        <p:spPr>
          <a:xfrm>
            <a:off x="960120" y="4983480"/>
            <a:ext cx="5212080" cy="640080"/>
          </a:xfrm>
          <a:prstGeom prst="rect">
            <a:avLst/>
          </a:prstGeom>
          <a:noFill/>
        </p:spPr>
        <p:txBody>
          <a:bodyPr wrap="square" lIns="45720" rIns="45720" tIns="27432" bIns="27432" anchor="t">
            <a:spAutoFit/>
          </a:bodyPr>
          <a:lstStyle/>
          <a:p>
            <a:pPr algn="l"/>
            <a:r>
              <a:rPr sz="1300" b="1" i="0">
                <a:solidFill>
                  <a:srgbClr val="58595B"/>
                </a:solidFill>
                <a:latin typeface="Arial"/>
              </a:rPr>
              <a:t>Đề tài có trùng với nghiên cứu trước?</a:t>
            </a:r>
            <a:r>
              <a:rPr sz="1300" b="0" i="0">
                <a:solidFill>
                  <a:srgbClr val="58595B"/>
                </a:solidFill>
                <a:latin typeface="Arial"/>
              </a:rPr>
              <a:t>  Khoảng trống phải được nêu có giới hạn phạm vi tìm kiếm.</a:t>
            </a:r>
          </a:p>
        </p:txBody>
      </p:sp>
      <p:sp>
        <p:nvSpPr>
          <p:cNvPr id="28" name="Rectangle 27"/>
          <p:cNvSpPr/>
          <p:nvPr/>
        </p:nvSpPr>
        <p:spPr>
          <a:xfrm>
            <a:off x="6437376" y="2342803"/>
            <a:ext cx="5321808" cy="27210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02_p393.png"/>
          <p:cNvPicPr>
            <a:picLocks noChangeAspect="1"/>
          </p:cNvPicPr>
          <p:nvPr/>
        </p:nvPicPr>
        <p:blipFill>
          <a:blip r:embed="rId2"/>
          <a:stretch>
            <a:fillRect/>
          </a:stretch>
        </p:blipFill>
        <p:spPr>
          <a:xfrm>
            <a:off x="6492240" y="2397667"/>
            <a:ext cx="5212080" cy="261130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THỨ TỰ CÁC MỤC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Thứ tự bảy mục phản ánh logic nhân quả: vấn đề quyết định mục tiêu, mục tiêu quyết định câu hỏi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viết khác thứ tự trình bày: viết mục tiêu và câu hỏi trước, viết kết cấu sau cùng.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2.3 đến 2.5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9</a:t>
            </a:r>
          </a:p>
        </p:txBody>
      </p:sp>
      <p:sp>
        <p:nvSpPr>
          <p:cNvPr id="11" name="Pentagon 10"/>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Vấn đề</a:t>
            </a:r>
          </a:p>
        </p:txBody>
      </p:sp>
      <p:sp>
        <p:nvSpPr>
          <p:cNvPr id="12" name="TextBox 11"/>
          <p:cNvSpPr txBox="1"/>
          <p:nvPr/>
        </p:nvSpPr>
        <p:spPr>
          <a:xfrm>
            <a:off x="56692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Bối cảnh rộng, thu hẹp về vấn đề cụ thể của đơn vị, rồi đến khoảng trống.</a:t>
            </a:r>
          </a:p>
        </p:txBody>
      </p:sp>
      <p:sp>
        <p:nvSpPr>
          <p:cNvPr id="13" name="Chevron 12"/>
          <p:cNvSpPr/>
          <p:nvPr/>
        </p:nvSpPr>
        <p:spPr>
          <a:xfrm>
            <a:off x="2336292"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Mục tiêu</a:t>
            </a:r>
          </a:p>
        </p:txBody>
      </p:sp>
      <p:sp>
        <p:nvSpPr>
          <p:cNvPr id="14" name="TextBox 13"/>
          <p:cNvSpPr txBox="1"/>
          <p:nvPr/>
        </p:nvSpPr>
        <p:spPr>
          <a:xfrm>
            <a:off x="2446020"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Điều nghiên cứu muốn đạt được để giải quyết vấn đề.</a:t>
            </a:r>
          </a:p>
        </p:txBody>
      </p:sp>
      <p:cxnSp>
        <p:nvCxnSpPr>
          <p:cNvPr id="15" name="Connector 14"/>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215384"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Câu hỏi</a:t>
            </a:r>
          </a:p>
        </p:txBody>
      </p:sp>
      <p:sp>
        <p:nvSpPr>
          <p:cNvPr id="17" name="TextBox 16"/>
          <p:cNvSpPr txBox="1"/>
          <p:nvPr/>
        </p:nvSpPr>
        <p:spPr>
          <a:xfrm>
            <a:off x="4325112"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tiêu viết lại thành điều trả lời được bằng dữ liệu.</a:t>
            </a:r>
          </a:p>
        </p:txBody>
      </p:sp>
      <p:cxnSp>
        <p:nvCxnSpPr>
          <p:cNvPr id="18" name="Connector 17"/>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Phạm vi</a:t>
            </a:r>
          </a:p>
        </p:txBody>
      </p:sp>
      <p:sp>
        <p:nvSpPr>
          <p:cNvPr id="20" name="TextBox 19"/>
          <p:cNvSpPr txBox="1"/>
          <p:nvPr/>
        </p:nvSpPr>
        <p:spPr>
          <a:xfrm>
            <a:off x="6204204"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Nghiên cứu cái gì, lấy dữ liệu từ ai, ở đâu, khi nào.</a:t>
            </a:r>
          </a:p>
        </p:txBody>
      </p:sp>
      <p:cxnSp>
        <p:nvCxnSpPr>
          <p:cNvPr id="21" name="Connector 20"/>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Phương pháp</a:t>
            </a:r>
          </a:p>
        </p:txBody>
      </p:sp>
      <p:sp>
        <p:nvSpPr>
          <p:cNvPr id="23" name="TextBox 22"/>
          <p:cNvSpPr txBox="1"/>
          <p:nvPr/>
        </p:nvSpPr>
        <p:spPr>
          <a:xfrm>
            <a:off x="8083296"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Con đường trả lời từng câu hỏi.</a:t>
            </a:r>
          </a:p>
        </p:txBody>
      </p:sp>
      <p:cxnSp>
        <p:nvCxnSpPr>
          <p:cNvPr id="24" name="Connector 23"/>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9852660"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Ý nghĩa và kết cấu</a:t>
            </a:r>
          </a:p>
        </p:txBody>
      </p:sp>
      <p:sp>
        <p:nvSpPr>
          <p:cNvPr id="26" name="TextBox 25"/>
          <p:cNvSpPr txBox="1"/>
          <p:nvPr/>
        </p:nvSpPr>
        <p:spPr>
          <a:xfrm>
            <a:off x="996238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Ai được lợi; chương nào trả lời câu hỏi nào.</a:t>
            </a:r>
          </a:p>
        </p:txBody>
      </p:sp>
      <p:cxnSp>
        <p:nvCxnSpPr>
          <p:cNvPr id="27" name="Connector 26"/>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LÝ DO CHỌN ĐỀ TÀI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Lý do chọn đề tài là một lập luận hình phễu, không phải bài giới thiệu ngành</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Thiếu câu "Mặc dù... vẫn... Hệ quả là... Hiện chưa rõ..." thì người đọc không biết nghiên cứu sẽ tìm hiểu điều gì.</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3.1, Hình 5 và Hình 6; Creswell và Creswell (2018, tr. 164)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10</a:t>
            </a:r>
          </a:p>
        </p:txBody>
      </p:sp>
      <p:sp>
        <p:nvSpPr>
          <p:cNvPr id="11" name="Rectangle 10"/>
          <p:cNvSpPr/>
          <p:nvPr/>
        </p:nvSpPr>
        <p:spPr>
          <a:xfrm>
            <a:off x="402336" y="2083308"/>
            <a:ext cx="6144768" cy="324002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6_p454.png"/>
          <p:cNvPicPr>
            <a:picLocks noChangeAspect="1"/>
          </p:cNvPicPr>
          <p:nvPr/>
        </p:nvPicPr>
        <p:blipFill>
          <a:blip r:embed="rId2"/>
          <a:stretch>
            <a:fillRect/>
          </a:stretch>
        </p:blipFill>
        <p:spPr>
          <a:xfrm>
            <a:off x="457200" y="2138172"/>
            <a:ext cx="6035040" cy="3130295"/>
          </a:xfrm>
          <a:prstGeom prst="rect">
            <a:avLst/>
          </a:prstGeom>
        </p:spPr>
      </p:pic>
      <p:sp>
        <p:nvSpPr>
          <p:cNvPr id="13" name="TextBox 12"/>
          <p:cNvSpPr txBox="1"/>
          <p:nvPr/>
        </p:nvSpPr>
        <p:spPr>
          <a:xfrm>
            <a:off x="6812279" y="1783080"/>
            <a:ext cx="491947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ĐOẠN THEO BỐN TẦNG PHỄU</a:t>
            </a:r>
          </a:p>
        </p:txBody>
      </p:sp>
      <p:cxnSp>
        <p:nvCxnSpPr>
          <p:cNvPr id="14" name="Connector 13"/>
          <p:cNvCxnSpPr/>
          <p:nvPr/>
        </p:nvCxnSpPr>
        <p:spPr>
          <a:xfrm>
            <a:off x="6812279" y="2103120"/>
            <a:ext cx="49194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8122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223759" y="21945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bối cảnh:</a:t>
            </a:r>
            <a:r>
              <a:rPr sz="1250" b="0" i="0">
                <a:solidFill>
                  <a:srgbClr val="58595B"/>
                </a:solidFill>
                <a:latin typeface="Arial"/>
              </a:rPr>
              <a:t> xu hướng hoặc chính sách, một đến hai số liệu có nguồn; đi từ quốc gia, ngành về tổ chức.</a:t>
            </a:r>
          </a:p>
        </p:txBody>
      </p:sp>
      <p:sp>
        <p:nvSpPr>
          <p:cNvPr id="17" name="Oval 16"/>
          <p:cNvSpPr/>
          <p:nvPr/>
        </p:nvSpPr>
        <p:spPr>
          <a:xfrm>
            <a:off x="68122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223759" y="30518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vấn đề:</a:t>
            </a:r>
            <a:r>
              <a:rPr sz="1250" b="0" i="0">
                <a:solidFill>
                  <a:srgbClr val="58595B"/>
                </a:solidFill>
                <a:latin typeface="Arial"/>
              </a:rPr>
              <a:t> "Mặc dù [điều đã làm], [đối tượng] vẫn [điều đang xảy ra, có số liệu]. Hệ quả là [ảnh hưởng]. Hiện chưa rõ [điều cần giải thích]."</a:t>
            </a:r>
          </a:p>
        </p:txBody>
      </p:sp>
      <p:sp>
        <p:nvSpPr>
          <p:cNvPr id="19" name="Oval 18"/>
          <p:cNvSpPr/>
          <p:nvPr/>
        </p:nvSpPr>
        <p:spPr>
          <a:xfrm>
            <a:off x="68122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223759" y="390906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khoảng trống</a:t>
            </a:r>
            <a:r>
              <a:rPr sz="1250" b="0" i="0">
                <a:solidFill>
                  <a:srgbClr val="58595B"/>
                </a:solidFill>
                <a:latin typeface="Arial"/>
              </a:rPr>
              <a:t> (nếu khoa yêu cầu): tóm lược nhóm nghiên cứu trước, chỉ ra điều còn thiếu.</a:t>
            </a:r>
          </a:p>
        </p:txBody>
      </p:sp>
      <p:sp>
        <p:nvSpPr>
          <p:cNvPr id="21" name="Oval 20"/>
          <p:cNvSpPr/>
          <p:nvPr/>
        </p:nvSpPr>
        <p:spPr>
          <a:xfrm>
            <a:off x="68122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223759" y="4766310"/>
            <a:ext cx="4507992" cy="857250"/>
          </a:xfrm>
          <a:prstGeom prst="rect">
            <a:avLst/>
          </a:prstGeom>
          <a:noFill/>
        </p:spPr>
        <p:txBody>
          <a:bodyPr wrap="square" lIns="45720" rIns="45720" tIns="27432" bIns="27432" anchor="t">
            <a:spAutoFit/>
          </a:bodyPr>
          <a:lstStyle/>
          <a:p>
            <a:pPr algn="l"/>
            <a:r>
              <a:rPr sz="1250" b="1" i="0">
                <a:solidFill>
                  <a:srgbClr val="58595B"/>
                </a:solidFill>
                <a:latin typeface="Arial"/>
              </a:rPr>
              <a:t>Đoạn tuyên bố đề tài:</a:t>
            </a:r>
            <a:r>
              <a:rPr sz="1250" b="0" i="0">
                <a:solidFill>
                  <a:srgbClr val="58595B"/>
                </a:solidFill>
                <a:latin typeface="Arial"/>
              </a:rPr>
              <a:t> nối vấn đề và khoảng trống với tên đề tài.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CÂU NÊU VẤN ĐỀ</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Câu nêu vấn đề đạt phải có đối tượng, số liệu có nguồn, hệ quả và điều còn chưa rõ</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Người chấm cần biết vấn đề của ai, ở đâu, lớn cỡ nào và điều gì chưa được giải thích.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11</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"Ngân hàng số là xu hướng tất yếu nên cần được phát triển."</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"Mặc dù Ngân hàng X đã triển khai ứng dụng ngân hàng số từ năm [năm], [tỷ lệ] khách hàng cá nhân vẫn chưa kích hoạt ứng dụng (Ngân hàng X, [năm]). Hệ quả là số giao dịch tại quầy chưa giảm như kế hoạch. Hiện chưa rõ yếu tố nào ảnh hưởng đến ý định sử dụng của nhóm khách hàng này."</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Đi thẳng từ nhận định chung đến "cần được phát triển"; không nói vấn đề của ai, ở đâu, điều gì chưa rõ.</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số liệu, không có nguồn; "xu hướng tất yếu" là khẳng định không kiểm chứng được.</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văn phong.</a:t>
            </a:r>
            <a:r>
              <a:rPr sz="1200" b="0" i="0">
                <a:solidFill>
                  <a:srgbClr val="58595B"/>
                </a:solidFill>
                <a:latin typeface="Arial"/>
              </a:rPr>
              <a:t> "Tất yếu", "cần được phát triển" mang tính khẩu hiệu, không phải cách viết khách quan.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MỤC TIÊU VÀ CÂU HỎI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mục tiêu cụ thể bắt đầu bằng một động từ hành động và ghép đúng một câu hỏi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Làm xong tất cả mục tiêu cụ thể thì mục tiêu tổng quát phải đạt được; số câu hỏi bằng số mục tiêu cụ thể.</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3.2 và 3.3; Creswell và Creswell (2018, tr. 184)</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12</a:t>
            </a:r>
          </a:p>
        </p:txBody>
      </p:sp>
      <p:graphicFrame>
        <p:nvGraphicFramePr>
          <p:cNvPr id="11" name="Table 10"/>
          <p:cNvGraphicFramePr>
            <a:graphicFrameLocks noGrp="1"/>
          </p:cNvGraphicFramePr>
          <p:nvPr/>
        </p:nvGraphicFramePr>
        <p:xfrm>
          <a:off x="457200" y="1783080"/>
          <a:ext cx="8412478" cy="3017520"/>
        </p:xfrm>
        <a:graphic>
          <a:graphicData uri="http://schemas.openxmlformats.org/drawingml/2006/table">
            <a:tbl>
              <a:tblPr firstRow="1" bandRow="1">
                <a:tableStyleId>{5C22544A-7EE6-4342-B048-85BDC9FD1C3A}</a:tableStyleId>
              </a:tblPr>
              <a:tblGrid>
                <a:gridCol w="3333246"/>
                <a:gridCol w="1745986"/>
                <a:gridCol w="3333246"/>
              </a:tblGrid>
              <a:tr h="411480">
                <a:tc>
                  <a:txBody>
                    <a:bodyPr wrap="square"/>
                    <a:lstStyle/>
                    <a:p>
                      <a:pPr algn="l"/>
                      <a:r>
                        <a:rPr sz="1150" b="1">
                          <a:solidFill>
                            <a:srgbClr val="FFFFFF"/>
                          </a:solidFill>
                          <a:latin typeface="Arial"/>
                        </a:rPr>
                        <a:t>Mục tiêu cụ thể (động từ + biến + đối tượng + bối cảnh)</a:t>
                      </a:r>
                    </a:p>
                  </a:txBody>
                  <a:tcPr marL="73152" marR="73152" marT="27432" marB="27432" anchor="ctr">
                    <a:solidFill>
                      <a:srgbClr val="262626"/>
                    </a:solidFill>
                  </a:tcPr>
                </a:tc>
                <a:tc>
                  <a:txBody>
                    <a:bodyPr wrap="square"/>
                    <a:lstStyle/>
                    <a:p>
                      <a:pPr algn="l"/>
                      <a:r>
                        <a:rPr sz="1150" b="1">
                          <a:solidFill>
                            <a:srgbClr val="FFFFFF"/>
                          </a:solidFill>
                          <a:latin typeface="Arial"/>
                        </a:rPr>
                        <a:t>Đổi động từ thành từ để hỏi</a:t>
                      </a:r>
                    </a:p>
                  </a:txBody>
                  <a:tcPr marL="73152" marR="73152" marT="27432" marB="27432" anchor="ctr">
                    <a:solidFill>
                      <a:srgbClr val="262626"/>
                    </a:solidFill>
                  </a:tcPr>
                </a:tc>
                <a:tc>
                  <a:txBody>
                    <a:bodyPr wrap="square"/>
                    <a:lstStyle/>
                    <a:p>
                      <a:pPr algn="l"/>
                      <a:r>
                        <a:rPr sz="1150" b="1">
                          <a:solidFill>
                            <a:srgbClr val="FFFFFF"/>
                          </a:solidFill>
                          <a:latin typeface="Arial"/>
                        </a:rPr>
                        <a:t>Câu hỏi nghiên cứu</a:t>
                      </a:r>
                    </a:p>
                  </a:txBody>
                  <a:tcPr marL="73152" marR="73152" marT="27432" marB="27432" anchor="ctr">
                    <a:solidFill>
                      <a:srgbClr val="262626"/>
                    </a:solidFill>
                  </a:tcPr>
                </a:tc>
              </a:tr>
              <a:tr h="868680">
                <a:tc>
                  <a:txBody>
                    <a:bodyPr wrap="square"/>
                    <a:lstStyle/>
                    <a:p>
                      <a:pPr algn="l"/>
                      <a:r>
                        <a:rPr sz="1150" b="0">
                          <a:solidFill>
                            <a:srgbClr val="262626"/>
                          </a:solidFill>
                          <a:latin typeface="Arial"/>
                        </a:rPr>
                        <a:t>(1) </a:t>
                      </a:r>
                      <a:r>
                        <a:rPr sz="1150" b="1">
                          <a:solidFill>
                            <a:srgbClr val="262626"/>
                          </a:solidFill>
                          <a:latin typeface="Arial"/>
                        </a:rPr>
                        <a:t>Xác định</a:t>
                      </a:r>
                      <a:r>
                        <a:rPr sz="1150" b="0">
                          <a:solidFill>
                            <a:srgbClr val="262626"/>
                          </a:solidFill>
                          <a:latin typeface="Arial"/>
                        </a:rPr>
                        <a:t> các yếu tố ảnh hưởng đến ý định sử dụng dịch vụ ngân hàng số của khách hàng cá nhân tại Ngân hàng X</a:t>
                      </a:r>
                    </a:p>
                  </a:txBody>
                  <a:tcPr marL="73152" marR="73152" marT="27432" marB="27432" anchor="ctr">
                    <a:solidFill>
                      <a:srgbClr val="FFFFFF"/>
                    </a:solidFill>
                  </a:tcPr>
                </a:tc>
                <a:tc>
                  <a:txBody>
                    <a:bodyPr wrap="square"/>
                    <a:lstStyle/>
                    <a:p>
                      <a:pPr algn="l"/>
                      <a:r>
                        <a:rPr sz="1150" b="0">
                          <a:solidFill>
                            <a:srgbClr val="262626"/>
                          </a:solidFill>
                          <a:latin typeface="Arial"/>
                        </a:rPr>
                        <a:t>"xác định" thành "những yếu tố nào"</a:t>
                      </a:r>
                    </a:p>
                  </a:txBody>
                  <a:tcPr marL="73152" marR="73152" marT="27432" marB="27432" anchor="ctr">
                    <a:solidFill>
                      <a:srgbClr val="FFFFFF"/>
                    </a:solidFill>
                  </a:tcPr>
                </a:tc>
                <a:tc>
                  <a:txBody>
                    <a:bodyPr wrap="square"/>
                    <a:lstStyle/>
                    <a:p>
                      <a:pPr algn="l"/>
                      <a:r>
                        <a:rPr sz="1150" b="0">
                          <a:solidFill>
                            <a:srgbClr val="262626"/>
                          </a:solidFill>
                          <a:latin typeface="Arial"/>
                        </a:rPr>
                        <a:t>(1) Những yếu tố nào ảnh hưởng đến ý định sử dụng dịch vụ ngân hàng số của khách hàng cá nhân tại Ngân hàng X?</a:t>
                      </a:r>
                    </a:p>
                  </a:txBody>
                  <a:tcPr marL="73152" marR="73152" marT="27432" marB="27432" anchor="ctr">
                    <a:solidFill>
                      <a:srgbClr val="FFFFFF"/>
                    </a:solidFill>
                  </a:tcPr>
                </a:tc>
              </a:tr>
              <a:tr h="868680">
                <a:tc>
                  <a:txBody>
                    <a:bodyPr wrap="square"/>
                    <a:lstStyle/>
                    <a:p>
                      <a:pPr algn="l"/>
                      <a:r>
                        <a:rPr sz="1150" b="0">
                          <a:solidFill>
                            <a:srgbClr val="262626"/>
                          </a:solidFill>
                          <a:latin typeface="Arial"/>
                        </a:rPr>
                        <a:t>(2) </a:t>
                      </a:r>
                      <a:r>
                        <a:rPr sz="1150" b="1">
                          <a:solidFill>
                            <a:srgbClr val="262626"/>
                          </a:solidFill>
                          <a:latin typeface="Arial"/>
                        </a:rPr>
                        <a:t>Đo lường</a:t>
                      </a:r>
                      <a:r>
                        <a:rPr sz="1150" b="0">
                          <a:solidFill>
                            <a:srgbClr val="262626"/>
                          </a:solidFill>
                          <a:latin typeface="Arial"/>
                        </a:rPr>
                        <a:t> mức độ ảnh hưởng của từng yếu tố</a:t>
                      </a:r>
                    </a:p>
                  </a:txBody>
                  <a:tcPr marL="73152" marR="73152" marT="27432" marB="27432" anchor="ctr">
                    <a:solidFill>
                      <a:srgbClr val="F3F3F3"/>
                    </a:solidFill>
                  </a:tcPr>
                </a:tc>
                <a:tc>
                  <a:txBody>
                    <a:bodyPr wrap="square"/>
                    <a:lstStyle/>
                    <a:p>
                      <a:pPr algn="l"/>
                      <a:r>
                        <a:rPr sz="1150" b="0">
                          <a:solidFill>
                            <a:srgbClr val="262626"/>
                          </a:solidFill>
                          <a:latin typeface="Arial"/>
                        </a:rPr>
                        <a:t>"đo lường" thành "mức độ... như thế nào"</a:t>
                      </a:r>
                    </a:p>
                  </a:txBody>
                  <a:tcPr marL="73152" marR="73152" marT="27432" marB="27432" anchor="ctr">
                    <a:solidFill>
                      <a:srgbClr val="F3F3F3"/>
                    </a:solidFill>
                  </a:tcPr>
                </a:tc>
                <a:tc>
                  <a:txBody>
                    <a:bodyPr wrap="square"/>
                    <a:lstStyle/>
                    <a:p>
                      <a:pPr algn="l"/>
                      <a:r>
                        <a:rPr sz="1150" b="0">
                          <a:solidFill>
                            <a:srgbClr val="262626"/>
                          </a:solidFill>
                          <a:latin typeface="Arial"/>
                        </a:rPr>
                        <a:t>(2) Mức độ ảnh hưởng của từng yếu tố như thế nào?</a:t>
                      </a:r>
                    </a:p>
                  </a:txBody>
                  <a:tcPr marL="73152" marR="73152" marT="27432" marB="27432" anchor="ctr">
                    <a:solidFill>
                      <a:srgbClr val="F3F3F3"/>
                    </a:solidFill>
                  </a:tcPr>
                </a:tc>
              </a:tr>
              <a:tr h="868680">
                <a:tc>
                  <a:txBody>
                    <a:bodyPr wrap="square"/>
                    <a:lstStyle/>
                    <a:p>
                      <a:pPr algn="l"/>
                      <a:r>
                        <a:rPr sz="1150" b="0">
                          <a:solidFill>
                            <a:srgbClr val="262626"/>
                          </a:solidFill>
                          <a:latin typeface="Arial"/>
                        </a:rPr>
                        <a:t>(3) </a:t>
                      </a:r>
                      <a:r>
                        <a:rPr sz="1150" b="1">
                          <a:solidFill>
                            <a:srgbClr val="262626"/>
                          </a:solidFill>
                          <a:latin typeface="Arial"/>
                        </a:rPr>
                        <a:t>Đề xuất</a:t>
                      </a:r>
                      <a:r>
                        <a:rPr sz="1150" b="0">
                          <a:solidFill>
                            <a:srgbClr val="262626"/>
                          </a:solidFill>
                          <a:latin typeface="Arial"/>
                        </a:rPr>
                        <a:t> hàm ý quản trị giúp Ngân hàng X tăng tỷ lệ khách hàng sử dụng dịch vụ</a:t>
                      </a:r>
                    </a:p>
                  </a:txBody>
                  <a:tcPr marL="73152" marR="73152" marT="27432" marB="27432" anchor="ctr">
                    <a:solidFill>
                      <a:srgbClr val="FFFFFF"/>
                    </a:solidFill>
                  </a:tcPr>
                </a:tc>
                <a:tc>
                  <a:txBody>
                    <a:bodyPr wrap="square"/>
                    <a:lstStyle/>
                    <a:p>
                      <a:pPr algn="l"/>
                      <a:r>
                        <a:rPr sz="1150" b="0">
                          <a:solidFill>
                            <a:srgbClr val="262626"/>
                          </a:solidFill>
                          <a:latin typeface="Arial"/>
                        </a:rPr>
                        <a:t>"đề xuất" thành "những hàm ý nào"</a:t>
                      </a:r>
                    </a:p>
                  </a:txBody>
                  <a:tcPr marL="73152" marR="73152" marT="27432" marB="27432" anchor="ctr">
                    <a:solidFill>
                      <a:srgbClr val="FFFFFF"/>
                    </a:solidFill>
                  </a:tcPr>
                </a:tc>
                <a:tc>
                  <a:txBody>
                    <a:bodyPr wrap="square"/>
                    <a:lstStyle/>
                    <a:p>
                      <a:pPr algn="l"/>
                      <a:r>
                        <a:rPr sz="1150" b="0">
                          <a:solidFill>
                            <a:srgbClr val="262626"/>
                          </a:solidFill>
                          <a:latin typeface="Arial"/>
                        </a:rPr>
                        <a:t>(3) Những hàm ý quản trị nào giúp Ngân hàng X tăng tỷ lệ khách hàng sử dụng dịch vụ?</a:t>
                      </a:r>
                    </a:p>
                  </a:txBody>
                  <a:tcPr marL="73152" marR="73152" marT="27432" marB="27432" anchor="ctr">
                    <a:solidFill>
                      <a:srgbClr val="FFFFFF"/>
                    </a:solidFill>
                  </a:tcPr>
                </a:tc>
              </a:tr>
            </a:tbl>
          </a:graphicData>
        </a:graphic>
      </p:graphicFrame>
      <p:sp>
        <p:nvSpPr>
          <p:cNvPr id="12" name="TextBox 11"/>
          <p:cNvSpPr txBox="1"/>
          <p:nvPr/>
        </p:nvSpPr>
        <p:spPr>
          <a:xfrm>
            <a:off x="9144000" y="1783080"/>
            <a:ext cx="2587752" cy="274320"/>
          </a:xfrm>
          <a:prstGeom prst="rect">
            <a:avLst/>
          </a:prstGeom>
          <a:noFill/>
        </p:spPr>
        <p:txBody>
          <a:bodyPr wrap="square" lIns="45720" rIns="45720" tIns="27432" bIns="27432" anchor="t">
            <a:spAutoFit/>
          </a:bodyPr>
          <a:lstStyle/>
          <a:p>
            <a:pPr algn="l"/>
            <a:r>
              <a:rPr sz="1000" b="1" i="0">
                <a:solidFill>
                  <a:srgbClr val="CC0000"/>
                </a:solidFill>
                <a:latin typeface="Arial"/>
              </a:rPr>
              <a:t>ĐỘNG TỪ HÀNH ĐỘNG</a:t>
            </a:r>
          </a:p>
        </p:txBody>
      </p:sp>
      <p:cxnSp>
        <p:nvCxnSpPr>
          <p:cNvPr id="13" name="Connector 12"/>
          <p:cNvCxnSpPr/>
          <p:nvPr/>
        </p:nvCxnSpPr>
        <p:spPr>
          <a:xfrm>
            <a:off x="9144000" y="2103120"/>
            <a:ext cx="25877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0" y="2167128"/>
            <a:ext cx="2587752" cy="3383280"/>
          </a:xfrm>
          <a:prstGeom prst="rect">
            <a:avLst/>
          </a:prstGeom>
          <a:noFill/>
        </p:spPr>
        <p:txBody>
          <a:bodyPr wrap="square" lIns="45720" rIns="45720" tIns="27432" bIns="27432" anchor="t">
            <a:spAutoFit/>
          </a:bodyPr>
          <a:lstStyle/>
          <a:p>
            <a:pPr algn="l"/>
            <a:r>
              <a:rPr sz="1200" b="1" i="0">
                <a:solidFill>
                  <a:srgbClr val="58595B"/>
                </a:solidFill>
                <a:latin typeface="Arial"/>
              </a:rPr>
              <a:t>Nên dùng:</a:t>
            </a:r>
            <a:r>
              <a:rPr sz="1200" b="0" i="0">
                <a:solidFill>
                  <a:srgbClr val="58595B"/>
                </a:solidFill>
                <a:latin typeface="Arial"/>
              </a:rPr>
              <a:t> xác định, đo lường, kiểm định, so sánh, đánh giá, phân tích, đề xuất.</a:t>
            </a:r>
          </a:p>
          <a:p>
            <a:pPr algn="l">
              <a:spcBef>
                <a:spcPts val="540"/>
              </a:spcBef>
            </a:pPr>
          </a:p>
          <a:p>
            <a:pPr algn="l">
              <a:spcBef>
                <a:spcPts val="540"/>
              </a:spcBef>
            </a:pPr>
            <a:r>
              <a:rPr sz="1200" b="1" i="0">
                <a:solidFill>
                  <a:srgbClr val="58595B"/>
                </a:solidFill>
                <a:latin typeface="Arial"/>
              </a:rPr>
              <a:t>Nên tránh:</a:t>
            </a:r>
            <a:r>
              <a:rPr sz="1200" b="0" i="0">
                <a:solidFill>
                  <a:srgbClr val="58595B"/>
                </a:solidFill>
                <a:latin typeface="Arial"/>
              </a:rPr>
              <a:t> "nghiên cứu về" (không nói làm gì); "nâng cao", "hoàn thiện", "góp phần" (không đo được, là việc của tổ chức).</a:t>
            </a:r>
          </a:p>
          <a:p>
            <a:pPr algn="l">
              <a:spcBef>
                <a:spcPts val="540"/>
              </a:spcBef>
            </a:pPr>
          </a:p>
          <a:p>
            <a:pPr algn="l">
              <a:spcBef>
                <a:spcPts val="540"/>
              </a:spcBef>
            </a:pPr>
            <a:r>
              <a:rPr sz="1200" b="1" i="0">
                <a:solidFill>
                  <a:srgbClr val="58595B"/>
                </a:solidFill>
                <a:latin typeface="Arial"/>
              </a:rPr>
              <a:t>Đủ khi:</a:t>
            </a:r>
            <a:r>
              <a:rPr sz="1200" b="0" i="0">
                <a:solidFill>
                  <a:srgbClr val="58595B"/>
                </a:solidFill>
                <a:latin typeface="Arial"/>
              </a:rPr>
              <a:t> một mục tiêu tổng quát, hai đến bốn mục tiêu cụ thể cộng lại thành mục tiêu tổng quát.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ĐỐI TƯỢNG VÀ PHẠM VI</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Đối tượng nghiên cứu là điều cần tìm hiểu; đối tượng khảo sát là người cung cấp dữ liệu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Tự hỏi "nghiên cứu tìm hiểu điều gì?" để viết đối tượng nghiên cứu và "ai trả lời bảng hỏi?" để viết đối tượng khảo sát.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3.4 và Hình 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13</a:t>
            </a:r>
          </a:p>
        </p:txBody>
      </p:sp>
      <p:sp>
        <p:nvSpPr>
          <p:cNvPr id="11" name="Rectangle 10"/>
          <p:cNvSpPr/>
          <p:nvPr/>
        </p:nvSpPr>
        <p:spPr>
          <a:xfrm>
            <a:off x="402336" y="2612136"/>
            <a:ext cx="6327648" cy="21823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0_p520.png"/>
          <p:cNvPicPr>
            <a:picLocks noChangeAspect="1"/>
          </p:cNvPicPr>
          <p:nvPr/>
        </p:nvPicPr>
        <p:blipFill>
          <a:blip r:embed="rId2"/>
          <a:stretch>
            <a:fillRect/>
          </a:stretch>
        </p:blipFill>
        <p:spPr>
          <a:xfrm>
            <a:off x="457200" y="2667000"/>
            <a:ext cx="6217920" cy="2072640"/>
          </a:xfrm>
          <a:prstGeom prst="rect">
            <a:avLst/>
          </a:prstGeom>
        </p:spPr>
      </p:pic>
      <p:sp>
        <p:nvSpPr>
          <p:cNvPr id="13" name="TextBox 12"/>
          <p:cNvSpPr txBox="1"/>
          <p:nvPr/>
        </p:nvSpPr>
        <p:spPr>
          <a:xfrm>
            <a:off x="6995159" y="1783080"/>
            <a:ext cx="473659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ĐIỀU PHẢI CÓ</a:t>
            </a:r>
          </a:p>
        </p:txBody>
      </p:sp>
      <p:cxnSp>
        <p:nvCxnSpPr>
          <p:cNvPr id="14" name="Connector 13"/>
          <p:cNvCxnSpPr/>
          <p:nvPr/>
        </p:nvCxnSpPr>
        <p:spPr>
          <a:xfrm>
            <a:off x="6995159" y="2103120"/>
            <a:ext cx="473659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9515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06640" y="219456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Đối tượng nghiên cứu:</a:t>
            </a:r>
            <a:r>
              <a:rPr sz="1250" b="0" i="0">
                <a:solidFill>
                  <a:srgbClr val="58595B"/>
                </a:solidFill>
                <a:latin typeface="Arial"/>
              </a:rPr>
              <a:t> các yếu tố ảnh hưởng đến ý định sử dụng dịch vụ ngân hàng số.</a:t>
            </a:r>
          </a:p>
        </p:txBody>
      </p:sp>
      <p:sp>
        <p:nvSpPr>
          <p:cNvPr id="17" name="Oval 16"/>
          <p:cNvSpPr/>
          <p:nvPr/>
        </p:nvSpPr>
        <p:spPr>
          <a:xfrm>
            <a:off x="699515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06640" y="305181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Đối tượng khảo sát:</a:t>
            </a:r>
            <a:r>
              <a:rPr sz="1250" b="0" i="0">
                <a:solidFill>
                  <a:srgbClr val="58595B"/>
                </a:solidFill>
                <a:latin typeface="Arial"/>
              </a:rPr>
              <a:t> khách hàng cá nhân từ 18 tuổi, có tài khoản tại Ngân hàng X và chưa kích hoạt ứng dụng.</a:t>
            </a:r>
          </a:p>
        </p:txBody>
      </p:sp>
      <p:sp>
        <p:nvSpPr>
          <p:cNvPr id="19" name="Oval 18"/>
          <p:cNvSpPr/>
          <p:nvPr/>
        </p:nvSpPr>
        <p:spPr>
          <a:xfrm>
            <a:off x="699515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06640" y="390906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Ba chiều phạm vi:</a:t>
            </a:r>
            <a:r>
              <a:rPr sz="1250" b="0" i="0">
                <a:solidFill>
                  <a:srgbClr val="58595B"/>
                </a:solidFill>
                <a:latin typeface="Arial"/>
              </a:rPr>
              <a:t> nội dung, không gian, thời gian; không viết "hiện nay", không đưa giai đoạn vào tên đề tài.</a:t>
            </a:r>
          </a:p>
        </p:txBody>
      </p:sp>
      <p:sp>
        <p:nvSpPr>
          <p:cNvPr id="21" name="Oval 20"/>
          <p:cNvSpPr/>
          <p:nvPr/>
        </p:nvSpPr>
        <p:spPr>
          <a:xfrm>
            <a:off x="699515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06640" y="4766310"/>
            <a:ext cx="4325112" cy="857250"/>
          </a:xfrm>
          <a:prstGeom prst="rect">
            <a:avLst/>
          </a:prstGeom>
          <a:noFill/>
        </p:spPr>
        <p:txBody>
          <a:bodyPr wrap="square" lIns="45720" rIns="45720" tIns="27432" bIns="27432" anchor="t">
            <a:spAutoFit/>
          </a:bodyPr>
          <a:lstStyle/>
          <a:p>
            <a:pPr algn="l"/>
            <a:r>
              <a:rPr sz="1250" b="1" i="0">
                <a:solidFill>
                  <a:srgbClr val="58595B"/>
                </a:solidFill>
                <a:latin typeface="Arial"/>
              </a:rPr>
              <a:t>Ít nhất một điều không xem xét:</a:t>
            </a:r>
            <a:r>
              <a:rPr sz="1250" b="0" i="0">
                <a:solidFill>
                  <a:srgbClr val="58595B"/>
                </a:solidFill>
                <a:latin typeface="Arial"/>
              </a:rPr>
              <a:t> ví dụ không xem xét hành vi sử dụng thực tế.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 PHƯƠNG PHÁP, Ý NGHĨA, KẾT CẤU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Ba mục cuối đều bị trừ điểm vì cùng một lỗi: viết chung chung, đúng với mọi đề tài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Một câu đúng với gần như mọi đề tài thì không nói được điều gì riêng về đề tài đang viết.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3.5 đến 3.7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Phương pháp</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"Đề tài sử dụng các phương pháp phân tích, tổng hợp, so sánh, thống kê, quy nạp, diễn dịch."</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một đoạn nêu cách tiếp cận, nguồn dữ liệu, cách chọn mẫu và kỹ thuật trả lời từng câu hỏi.</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Ý nghĩa</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"Đề tài có ý nghĩa khoa học và thực tiễn to lớn."</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gọi tên người được lợi và việc họ dùng kết quả để làm; dùng cách nói dự kiến như "cung cấp", "giúp xác định".</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Kết cấu</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1" i="0">
                <a:solidFill>
                  <a:srgbClr val="58595B"/>
                </a:solidFill>
                <a:latin typeface="Arial"/>
              </a:rPr>
              <a:t>Chưa đạt:</a:t>
            </a:r>
            <a:r>
              <a:rPr sz="1350" b="0" i="0">
                <a:solidFill>
                  <a:srgbClr val="58595B"/>
                </a:solidFill>
                <a:latin typeface="Arial"/>
              </a:rPr>
              <a:t> "Chương 1: Giới thiệu. Chương 2: Lý thuyết..."</a:t>
            </a:r>
          </a:p>
          <a:p>
            <a:pPr algn="l">
              <a:spcBef>
                <a:spcPts val="607"/>
              </a:spcBef>
            </a:pPr>
          </a:p>
          <a:p>
            <a:pPr algn="l">
              <a:spcBef>
                <a:spcPts val="607"/>
              </a:spcBef>
            </a:pPr>
            <a:r>
              <a:rPr sz="1350" b="1" i="0">
                <a:solidFill>
                  <a:srgbClr val="58595B"/>
                </a:solidFill>
                <a:latin typeface="Arial"/>
              </a:rPr>
              <a:t>Đạt:</a:t>
            </a:r>
            <a:r>
              <a:rPr sz="1350" b="0" i="0">
                <a:solidFill>
                  <a:srgbClr val="58595B"/>
                </a:solidFill>
                <a:latin typeface="Arial"/>
              </a:rPr>
              <a:t> mỗi chương có tên đúng mục lục, một câu nhiệm vụ và cho thấy chương đó trả lời câu hỏi nào.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1 | QUAN HỆ VỚI PHẦN MỞ ĐẦU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1 không chép lại phần mở đầu mà bổ sung số liệu, lý do lựa chọn và tiểu mục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đặt ra ở Chương 1 là sợi chỉ xuyên suốt: nếu Chương 1 thay đổi, các chương sau phải được rà lại.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1, mục 1.2, 1.3, 3 và Hình 16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15</a:t>
            </a:r>
          </a:p>
        </p:txBody>
      </p:sp>
      <p:sp>
        <p:nvSpPr>
          <p:cNvPr id="11" name="Rectangle 10"/>
          <p:cNvSpPr/>
          <p:nvPr/>
        </p:nvSpPr>
        <p:spPr>
          <a:xfrm>
            <a:off x="402336" y="2998215"/>
            <a:ext cx="5961888" cy="141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16_p711.png"/>
          <p:cNvPicPr>
            <a:picLocks noChangeAspect="1"/>
          </p:cNvPicPr>
          <p:nvPr/>
        </p:nvPicPr>
        <p:blipFill>
          <a:blip r:embed="rId2"/>
          <a:stretch>
            <a:fillRect/>
          </a:stretch>
        </p:blipFill>
        <p:spPr>
          <a:xfrm>
            <a:off x="457200" y="3053079"/>
            <a:ext cx="5852160" cy="1300480"/>
          </a:xfrm>
          <a:prstGeom prst="rect">
            <a:avLst/>
          </a:prstGeom>
        </p:spPr>
      </p:pic>
      <p:sp>
        <p:nvSpPr>
          <p:cNvPr id="13" name="TextBox 12"/>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CHƯƠNG 1 BỔ SUNG GÌ</a:t>
            </a:r>
          </a:p>
        </p:txBody>
      </p:sp>
      <p:cxnSp>
        <p:nvCxnSpPr>
          <p:cNvPr id="14" name="Connector 13"/>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040880" y="21945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Mục 1.1</a:t>
            </a:r>
            <a:r>
              <a:rPr sz="1250" b="0" i="0">
                <a:solidFill>
                  <a:srgbClr val="58595B"/>
                </a:solidFill>
                <a:latin typeface="Arial"/>
              </a:rPr>
              <a:t> chia ba tiểu mục: bối cảnh; thực trạng và vấn đề tại đơn vị; khảo lược và khoảng trống.</a:t>
            </a:r>
          </a:p>
        </p:txBody>
      </p:sp>
      <p:sp>
        <p:nvSpPr>
          <p:cNvPr id="17" name="Oval 16"/>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040880" y="30518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Mục 1.4</a:t>
            </a:r>
            <a:r>
              <a:rPr sz="1250" b="0" i="0">
                <a:solidFill>
                  <a:srgbClr val="58595B"/>
                </a:solidFill>
                <a:latin typeface="Arial"/>
              </a:rPr>
              <a:t> thêm điều kiện chọn đối tượng khảo sát, lý do chọn địa bàn và hai loại thời gian.</a:t>
            </a:r>
          </a:p>
        </p:txBody>
      </p:sp>
      <p:sp>
        <p:nvSpPr>
          <p:cNvPr id="19" name="Oval 18"/>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040880" y="39090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Mục 1.5</a:t>
            </a:r>
            <a:r>
              <a:rPr sz="1250" b="0" i="0">
                <a:solidFill>
                  <a:srgbClr val="58595B"/>
                </a:solidFill>
                <a:latin typeface="Arial"/>
              </a:rPr>
              <a:t> thêm quy trình các bước và tên kỹ thuật cho từng câu hỏi; chi tiết hẹn ở Chương 3.</a:t>
            </a:r>
          </a:p>
        </p:txBody>
      </p:sp>
      <p:sp>
        <p:nvSpPr>
          <p:cNvPr id="21" name="Oval 20"/>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040880" y="47663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Kết luận chương</a:t>
            </a:r>
            <a:r>
              <a:rPr sz="1250" b="0" i="0">
                <a:solidFill>
                  <a:srgbClr val="58595B"/>
                </a:solidFill>
                <a:latin typeface="Arial"/>
              </a:rPr>
              <a:t> tóm lược rồi dẫn sang Chương 2, không lặp nguyên văn đoạn giới thiệu.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PHẦN MỞ ĐẦU VÀ CHƯƠNG 1 | VĂN PHONG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từ cảm tính hoặc mơ hồ được thay bằng một con số có nguồn hoặc một việc cụ thể</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Để dữ liệu và lập luận lên tiếng thay cho cảm xúc của người viết.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Phần mở đầu, mục 4.1 đến 4.4; Creswell và Creswell (2018, tr. 139)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16</a:t>
            </a:r>
          </a:p>
        </p:txBody>
      </p:sp>
      <p:graphicFrame>
        <p:nvGraphicFramePr>
          <p:cNvPr id="11" name="Table 10"/>
          <p:cNvGraphicFramePr>
            <a:graphicFrameLocks noGrp="1"/>
          </p:cNvGraphicFramePr>
          <p:nvPr/>
        </p:nvGraphicFramePr>
        <p:xfrm>
          <a:off x="457200" y="1783080"/>
          <a:ext cx="7315199" cy="3264408"/>
        </p:xfrm>
        <a:graphic>
          <a:graphicData uri="http://schemas.openxmlformats.org/drawingml/2006/table">
            <a:tbl>
              <a:tblPr firstRow="1" bandRow="1">
                <a:tableStyleId>{5C22544A-7EE6-4342-B048-85BDC9FD1C3A}</a:tableStyleId>
              </a:tblPr>
              <a:tblGrid>
                <a:gridCol w="3483428"/>
                <a:gridCol w="3831771"/>
              </a:tblGrid>
              <a:tr h="411480">
                <a:tc>
                  <a:txBody>
                    <a:bodyPr wrap="square"/>
                    <a:lstStyle/>
                    <a:p>
                      <a:pPr algn="l"/>
                      <a:r>
                        <a:rPr sz="1200" b="1">
                          <a:solidFill>
                            <a:srgbClr val="FFFFFF"/>
                          </a:solidFill>
                          <a:latin typeface="Arial"/>
                        </a:rPr>
                        <a:t>Cách viết cần tránh</a:t>
                      </a:r>
                    </a:p>
                  </a:txBody>
                  <a:tcPr marL="73152" marR="73152" marT="27432" marB="27432" anchor="ctr">
                    <a:solidFill>
                      <a:srgbClr val="262626"/>
                    </a:solidFill>
                  </a:tcPr>
                </a:tc>
                <a:tc>
                  <a:txBody>
                    <a:bodyPr wrap="square"/>
                    <a:lstStyle/>
                    <a:p>
                      <a:pPr algn="l"/>
                      <a:r>
                        <a:rPr sz="1200" b="1">
                          <a:solidFill>
                            <a:srgbClr val="FFFFFF"/>
                          </a:solidFill>
                          <a:latin typeface="Arial"/>
                        </a:rPr>
                        <a:t>Thay bằng</a:t>
                      </a:r>
                    </a:p>
                  </a:txBody>
                  <a:tcPr marL="73152" marR="73152" marT="27432" marB="27432" anchor="ctr">
                    <a:solidFill>
                      <a:srgbClr val="262626"/>
                    </a:solidFill>
                  </a:tcPr>
                </a:tc>
              </a:tr>
              <a:tr h="475488">
                <a:tc>
                  <a:txBody>
                    <a:bodyPr wrap="square"/>
                    <a:lstStyle/>
                    <a:p>
                      <a:pPr algn="l"/>
                      <a:r>
                        <a:rPr sz="1200" b="0">
                          <a:solidFill>
                            <a:srgbClr val="262626"/>
                          </a:solidFill>
                          <a:latin typeface="Arial"/>
                        </a:rPr>
                        <a:t>"vô cùng quan trọng", "cực kỳ cần thiết"</a:t>
                      </a:r>
                    </a:p>
                  </a:txBody>
                  <a:tcPr marL="73152" marR="73152" marT="27432" marB="27432" anchor="ctr">
                    <a:solidFill>
                      <a:srgbClr val="FFFFFF"/>
                    </a:solidFill>
                  </a:tcPr>
                </a:tc>
                <a:tc>
                  <a:txBody>
                    <a:bodyPr wrap="square"/>
                    <a:lstStyle/>
                    <a:p>
                      <a:pPr algn="l"/>
                      <a:r>
                        <a:rPr sz="1200" b="0">
                          <a:solidFill>
                            <a:srgbClr val="262626"/>
                          </a:solidFill>
                          <a:latin typeface="Arial"/>
                        </a:rPr>
                        <a:t>Vai trò cụ thể kèm số liệu có nguồn</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"rất nhiều", "phần lớn"</a:t>
                      </a:r>
                    </a:p>
                  </a:txBody>
                  <a:tcPr marL="73152" marR="73152" marT="27432" marB="27432" anchor="ctr">
                    <a:solidFill>
                      <a:srgbClr val="F3F3F3"/>
                    </a:solidFill>
                  </a:tcPr>
                </a:tc>
                <a:tc>
                  <a:txBody>
                    <a:bodyPr wrap="square"/>
                    <a:lstStyle/>
                    <a:p>
                      <a:pPr algn="l"/>
                      <a:r>
                        <a:rPr sz="1200" b="0">
                          <a:solidFill>
                            <a:srgbClr val="262626"/>
                          </a:solidFill>
                          <a:latin typeface="Arial"/>
                        </a:rPr>
                        <a:t>Con số có nguồn</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"ai cũng biết", "hiển nhiên"</a:t>
                      </a:r>
                    </a:p>
                  </a:txBody>
                  <a:tcPr marL="73152" marR="73152" marT="27432" marB="27432" anchor="ctr">
                    <a:solidFill>
                      <a:srgbClr val="FFFFFF"/>
                    </a:solidFill>
                  </a:tcPr>
                </a:tc>
                <a:tc>
                  <a:txBody>
                    <a:bodyPr wrap="square"/>
                    <a:lstStyle/>
                    <a:p>
                      <a:pPr algn="l"/>
                      <a:r>
                        <a:rPr sz="1200" b="0">
                          <a:solidFill>
                            <a:srgbClr val="262626"/>
                          </a:solidFill>
                          <a:latin typeface="Arial"/>
                        </a:rPr>
                        <a:t>Dẫn nguồn hoặc bỏ câu</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"chắc chắn sẽ"</a:t>
                      </a:r>
                    </a:p>
                  </a:txBody>
                  <a:tcPr marL="73152" marR="73152" marT="27432" marB="27432" anchor="ctr">
                    <a:solidFill>
                      <a:srgbClr val="F3F3F3"/>
                    </a:solidFill>
                  </a:tcPr>
                </a:tc>
                <a:tc>
                  <a:txBody>
                    <a:bodyPr wrap="square"/>
                    <a:lstStyle/>
                    <a:p>
                      <a:pPr algn="l"/>
                      <a:r>
                        <a:rPr sz="1200" b="0">
                          <a:solidFill>
                            <a:srgbClr val="262626"/>
                          </a:solidFill>
                          <a:latin typeface="Arial"/>
                        </a:rPr>
                        <a:t>"dự kiến"</a:t>
                      </a:r>
                    </a:p>
                  </a:txBody>
                  <a:tcPr marL="73152" marR="73152" marT="27432" marB="27432" anchor="ctr">
                    <a:solidFill>
                      <a:srgbClr val="F3F3F3"/>
                    </a:solidFill>
                  </a:tcPr>
                </a:tc>
              </a:tr>
              <a:tr h="475488">
                <a:tc>
                  <a:txBody>
                    <a:bodyPr wrap="square"/>
                    <a:lstStyle/>
                    <a:p>
                      <a:pPr algn="l"/>
                      <a:r>
                        <a:rPr sz="1200" b="0">
                          <a:solidFill>
                            <a:srgbClr val="262626"/>
                          </a:solidFill>
                          <a:latin typeface="Arial"/>
                        </a:rPr>
                        <a:t>"chưa có ai nghiên cứu"</a:t>
                      </a:r>
                    </a:p>
                  </a:txBody>
                  <a:tcPr marL="73152" marR="73152" marT="27432" marB="27432" anchor="ctr">
                    <a:solidFill>
                      <a:srgbClr val="FFFFFF"/>
                    </a:solidFill>
                  </a:tcPr>
                </a:tc>
                <a:tc>
                  <a:txBody>
                    <a:bodyPr wrap="square"/>
                    <a:lstStyle/>
                    <a:p>
                      <a:pPr algn="l"/>
                      <a:r>
                        <a:rPr sz="1200" b="0">
                          <a:solidFill>
                            <a:srgbClr val="262626"/>
                          </a:solidFill>
                          <a:latin typeface="Arial"/>
                        </a:rPr>
                        <a:t>"trong phạm vi tài liệu tác giả tiếp cận được, chưa tìm thấy..."</a:t>
                      </a:r>
                    </a:p>
                  </a:txBody>
                  <a:tcPr marL="73152" marR="73152" marT="27432" marB="27432" anchor="ctr">
                    <a:solidFill>
                      <a:srgbClr val="FFFFFF"/>
                    </a:solidFill>
                  </a:tcPr>
                </a:tc>
              </a:tr>
              <a:tr h="475488">
                <a:tc>
                  <a:txBody>
                    <a:bodyPr wrap="square"/>
                    <a:lstStyle/>
                    <a:p>
                      <a:pPr algn="l"/>
                      <a:r>
                        <a:rPr sz="1200" b="0">
                          <a:solidFill>
                            <a:srgbClr val="262626"/>
                          </a:solidFill>
                          <a:latin typeface="Arial"/>
                        </a:rPr>
                        <a:t>"em thích", "em đam mê"; "tôi", "em", "chúng tôi"</a:t>
                      </a:r>
                    </a:p>
                  </a:txBody>
                  <a:tcPr marL="73152" marR="73152" marT="27432" marB="27432" anchor="ctr">
                    <a:solidFill>
                      <a:srgbClr val="F3F3F3"/>
                    </a:solidFill>
                  </a:tcPr>
                </a:tc>
                <a:tc>
                  <a:txBody>
                    <a:bodyPr wrap="square"/>
                    <a:lstStyle/>
                    <a:p>
                      <a:pPr algn="l"/>
                      <a:r>
                        <a:rPr sz="1200" b="0">
                          <a:solidFill>
                            <a:srgbClr val="262626"/>
                          </a:solidFill>
                          <a:latin typeface="Arial"/>
                        </a:rPr>
                        <a:t>Bỏ; dùng "nghiên cứu này", "khóa luận", "tác giả"</a:t>
                      </a:r>
                    </a:p>
                  </a:txBody>
                  <a:tcPr marL="73152" marR="73152" marT="27432" marB="27432" anchor="ctr">
                    <a:solidFill>
                      <a:srgbClr val="F3F3F3"/>
                    </a:solidFill>
                  </a:tcPr>
                </a:tc>
              </a:tr>
            </a:tbl>
          </a:graphicData>
        </a:graphic>
      </p:graphicFrame>
      <p:sp>
        <p:nvSpPr>
          <p:cNvPr id="12" name="TextBox 11"/>
          <p:cNvSpPr txBox="1"/>
          <p:nvPr/>
        </p:nvSpPr>
        <p:spPr>
          <a:xfrm>
            <a:off x="8046720" y="1783080"/>
            <a:ext cx="3685031" cy="274320"/>
          </a:xfrm>
          <a:prstGeom prst="rect">
            <a:avLst/>
          </a:prstGeom>
          <a:noFill/>
        </p:spPr>
        <p:txBody>
          <a:bodyPr wrap="square" lIns="45720" rIns="45720" tIns="27432" bIns="27432" anchor="t">
            <a:spAutoFit/>
          </a:bodyPr>
          <a:lstStyle/>
          <a:p>
            <a:pPr algn="l"/>
            <a:r>
              <a:rPr sz="1000" b="1" i="0">
                <a:solidFill>
                  <a:srgbClr val="CC0000"/>
                </a:solidFill>
                <a:latin typeface="Arial"/>
              </a:rPr>
              <a:t>BA QUY TẮC HÀNH VĂN</a:t>
            </a:r>
          </a:p>
        </p:txBody>
      </p:sp>
      <p:cxnSp>
        <p:nvCxnSpPr>
          <p:cNvPr id="13" name="Connector 12"/>
          <p:cNvCxnSpPr/>
          <p:nvPr/>
        </p:nvCxnSpPr>
        <p:spPr>
          <a:xfrm>
            <a:off x="8046720" y="2103120"/>
            <a:ext cx="36850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046720" y="2167128"/>
            <a:ext cx="3685031" cy="3383280"/>
          </a:xfrm>
          <a:prstGeom prst="rect">
            <a:avLst/>
          </a:prstGeom>
          <a:noFill/>
        </p:spPr>
        <p:txBody>
          <a:bodyPr wrap="square" lIns="45720" rIns="45720" tIns="27432" bIns="27432" anchor="t">
            <a:spAutoFit/>
          </a:bodyPr>
          <a:lstStyle/>
          <a:p>
            <a:pPr algn="l"/>
            <a:r>
              <a:rPr sz="1200" b="0" i="0">
                <a:solidFill>
                  <a:srgbClr val="58595B"/>
                </a:solidFill>
                <a:latin typeface="Arial"/>
              </a:rPr>
              <a:t>Câu ngắn khoảng </a:t>
            </a:r>
            <a:r>
              <a:rPr sz="1200" b="1" i="0">
                <a:solidFill>
                  <a:srgbClr val="58595B"/>
                </a:solidFill>
                <a:latin typeface="Arial"/>
              </a:rPr>
              <a:t>15 đến 20 từ</a:t>
            </a:r>
            <a:r>
              <a:rPr sz="1200" b="0" i="0">
                <a:solidFill>
                  <a:srgbClr val="58595B"/>
                </a:solidFill>
                <a:latin typeface="Arial"/>
              </a:rPr>
              <a:t>; câu trên 30 từ tách làm hai.</a:t>
            </a:r>
          </a:p>
          <a:p>
            <a:pPr algn="l">
              <a:spcBef>
                <a:spcPts val="540"/>
              </a:spcBef>
            </a:pPr>
          </a:p>
          <a:p>
            <a:pPr algn="l">
              <a:spcBef>
                <a:spcPts val="540"/>
              </a:spcBef>
            </a:pPr>
            <a:r>
              <a:rPr sz="1200" b="0" i="0">
                <a:solidFill>
                  <a:srgbClr val="58595B"/>
                </a:solidFill>
                <a:latin typeface="Arial"/>
              </a:rPr>
              <a:t>Mỗi đoạn một ý; câu sau móc vào từ khóa của câu trước (</a:t>
            </a:r>
            <a:r>
              <a:rPr sz="1200" b="1" i="0">
                <a:solidFill>
                  <a:srgbClr val="58595B"/>
                </a:solidFill>
                <a:latin typeface="Arial"/>
              </a:rPr>
              <a:t>hook-and-eye</a:t>
            </a:r>
            <a:r>
              <a:rPr sz="1200" b="0" i="0">
                <a:solidFill>
                  <a:srgbClr val="58595B"/>
                </a:solidFill>
                <a:latin typeface="Arial"/>
              </a:rPr>
              <a:t>).</a:t>
            </a:r>
          </a:p>
          <a:p>
            <a:pPr algn="l">
              <a:spcBef>
                <a:spcPts val="540"/>
              </a:spcBef>
            </a:pPr>
          </a:p>
          <a:p>
            <a:pPr algn="l">
              <a:spcBef>
                <a:spcPts val="540"/>
              </a:spcBef>
            </a:pPr>
            <a:r>
              <a:rPr sz="1200" b="0" i="0">
                <a:solidFill>
                  <a:srgbClr val="58595B"/>
                </a:solidFill>
                <a:latin typeface="Arial"/>
              </a:rPr>
              <a:t>Trích dẫn (Tác giả, Năm); từ ba tác giả trở lên ghi "và cộng sự" ngay lần đầu; trích nguyên văn phải có số trang.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03</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2: Cơ sở lý thuyết và mô hình</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Dựa vào lý thuyết nào để dự đoán câu trả lời? Sản phẩm là mô hình và các giả thuyết</a:t>
            </a:r>
          </a:p>
        </p:txBody>
      </p:sp>
      <p:sp>
        <p:nvSpPr>
          <p:cNvPr id="7" name="TextBox 6"/>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20 phút | 8 slide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2 đi theo một chiều duy nhất: từ khái niệm đến giả thuyết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Với mỗi tài liệu định đưa vào, tự hỏi: nguồn này giúp mình chọn biến nào, viết giả thuyết nào hoặc chỉ ra khoảng trống nào?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1 và 2, Hình 25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18</a:t>
            </a:r>
          </a:p>
        </p:txBody>
      </p:sp>
      <p:sp>
        <p:nvSpPr>
          <p:cNvPr id="11" name="Pentagon 10"/>
          <p:cNvSpPr/>
          <p:nvPr/>
        </p:nvSpPr>
        <p:spPr>
          <a:xfrm>
            <a:off x="457200" y="1783080"/>
            <a:ext cx="1988820"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Khái niệm</a:t>
            </a:r>
          </a:p>
        </p:txBody>
      </p:sp>
      <p:sp>
        <p:nvSpPr>
          <p:cNvPr id="12" name="TextBox 11"/>
          <p:cNvSpPr txBox="1"/>
          <p:nvPr/>
        </p:nvSpPr>
        <p:spPr>
          <a:xfrm>
            <a:off x="56692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2.1.1</a:t>
            </a:r>
          </a:p>
          <a:p>
            <a:pPr algn="l">
              <a:spcBef>
                <a:spcPts val="562"/>
              </a:spcBef>
            </a:pPr>
            <a:r>
              <a:rPr sz="1250" b="0" i="0">
                <a:solidFill>
                  <a:srgbClr val="58595B"/>
                </a:solidFill>
                <a:latin typeface="Arial"/>
              </a:rPr>
              <a:t>Định nghĩa có nguồn, có so sánh, có định nghĩa riêng cho đề tài.</a:t>
            </a:r>
          </a:p>
        </p:txBody>
      </p:sp>
      <p:sp>
        <p:nvSpPr>
          <p:cNvPr id="13" name="Chevron 12"/>
          <p:cNvSpPr/>
          <p:nvPr/>
        </p:nvSpPr>
        <p:spPr>
          <a:xfrm>
            <a:off x="2336292"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Nghiên cứu trước</a:t>
            </a:r>
          </a:p>
        </p:txBody>
      </p:sp>
      <p:sp>
        <p:nvSpPr>
          <p:cNvPr id="14" name="TextBox 13"/>
          <p:cNvSpPr txBox="1"/>
          <p:nvPr/>
        </p:nvSpPr>
        <p:spPr>
          <a:xfrm>
            <a:off x="2446020"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2.1.2</a:t>
            </a:r>
          </a:p>
          <a:p>
            <a:pPr algn="l">
              <a:spcBef>
                <a:spcPts val="562"/>
              </a:spcBef>
            </a:pPr>
            <a:r>
              <a:rPr sz="1250" b="0" i="0">
                <a:solidFill>
                  <a:srgbClr val="58595B"/>
                </a:solidFill>
                <a:latin typeface="Arial"/>
              </a:rPr>
              <a:t>Gom theo nhóm chủ đề, so sánh, chỉ ra điểm chưa thống nhất.</a:t>
            </a:r>
          </a:p>
        </p:txBody>
      </p:sp>
      <p:cxnSp>
        <p:nvCxnSpPr>
          <p:cNvPr id="15" name="Connector 14"/>
          <p:cNvCxnSpPr/>
          <p:nvPr/>
        </p:nvCxnSpPr>
        <p:spPr>
          <a:xfrm>
            <a:off x="2354580"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4215384"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Khoảng trống</a:t>
            </a:r>
          </a:p>
        </p:txBody>
      </p:sp>
      <p:sp>
        <p:nvSpPr>
          <p:cNvPr id="17" name="TextBox 16"/>
          <p:cNvSpPr txBox="1"/>
          <p:nvPr/>
        </p:nvSpPr>
        <p:spPr>
          <a:xfrm>
            <a:off x="4325112"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2.1.3</a:t>
            </a:r>
          </a:p>
          <a:p>
            <a:pPr algn="l">
              <a:spcBef>
                <a:spcPts val="562"/>
              </a:spcBef>
            </a:pPr>
            <a:r>
              <a:rPr sz="1250" b="0" i="0">
                <a:solidFill>
                  <a:srgbClr val="58595B"/>
                </a:solidFill>
                <a:latin typeface="Arial"/>
              </a:rPr>
              <a:t>Điều nghiên cứu trước chưa làm, chứng minh bằng tài liệu.</a:t>
            </a:r>
          </a:p>
        </p:txBody>
      </p:sp>
      <p:cxnSp>
        <p:nvCxnSpPr>
          <p:cNvPr id="18" name="Connector 17"/>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6094476"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Lý thuyết nền</a:t>
            </a:r>
          </a:p>
        </p:txBody>
      </p:sp>
      <p:sp>
        <p:nvSpPr>
          <p:cNvPr id="20" name="TextBox 19"/>
          <p:cNvSpPr txBox="1"/>
          <p:nvPr/>
        </p:nvSpPr>
        <p:spPr>
          <a:xfrm>
            <a:off x="6204204"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2.2.1</a:t>
            </a:r>
          </a:p>
          <a:p>
            <a:pPr algn="l">
              <a:spcBef>
                <a:spcPts val="562"/>
              </a:spcBef>
            </a:pPr>
            <a:r>
              <a:rPr sz="1250" b="0" i="0">
                <a:solidFill>
                  <a:srgbClr val="58595B"/>
                </a:solidFill>
                <a:latin typeface="Arial"/>
              </a:rPr>
              <a:t>Giải thích vì sao các biến có quan hệ.</a:t>
            </a:r>
          </a:p>
        </p:txBody>
      </p:sp>
      <p:cxnSp>
        <p:nvCxnSpPr>
          <p:cNvPr id="21" name="Connector 20"/>
          <p:cNvCxnSpPr/>
          <p:nvPr/>
        </p:nvCxnSpPr>
        <p:spPr>
          <a:xfrm>
            <a:off x="6112764"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2" name="Chevron 21"/>
          <p:cNvSpPr/>
          <p:nvPr/>
        </p:nvSpPr>
        <p:spPr>
          <a:xfrm>
            <a:off x="7973568" y="1783080"/>
            <a:ext cx="1988820"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Mô hình</a:t>
            </a:r>
          </a:p>
        </p:txBody>
      </p:sp>
      <p:sp>
        <p:nvSpPr>
          <p:cNvPr id="23" name="TextBox 22"/>
          <p:cNvSpPr txBox="1"/>
          <p:nvPr/>
        </p:nvSpPr>
        <p:spPr>
          <a:xfrm>
            <a:off x="8083296"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2.2.2 và 2.2.3</a:t>
            </a:r>
          </a:p>
          <a:p>
            <a:pPr algn="l">
              <a:spcBef>
                <a:spcPts val="562"/>
              </a:spcBef>
            </a:pPr>
            <a:r>
              <a:rPr sz="1250" b="0" i="0">
                <a:solidFill>
                  <a:srgbClr val="58595B"/>
                </a:solidFill>
                <a:latin typeface="Arial"/>
              </a:rPr>
              <a:t>Bản vẽ quan hệ; mỗi mũi tên một giả thuyết.</a:t>
            </a:r>
          </a:p>
        </p:txBody>
      </p:sp>
      <p:cxnSp>
        <p:nvCxnSpPr>
          <p:cNvPr id="24" name="Connector 23"/>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5" name="Chevron 24"/>
          <p:cNvSpPr/>
          <p:nvPr/>
        </p:nvSpPr>
        <p:spPr>
          <a:xfrm>
            <a:off x="9852660" y="1783080"/>
            <a:ext cx="1988820"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150" b="1" i="0">
                <a:solidFill>
                  <a:srgbClr val="FFFFFF"/>
                </a:solidFill>
                <a:latin typeface="Arial"/>
              </a:rPr>
              <a:t>Giả thuyết</a:t>
            </a:r>
          </a:p>
        </p:txBody>
      </p:sp>
      <p:sp>
        <p:nvSpPr>
          <p:cNvPr id="26" name="TextBox 25"/>
          <p:cNvSpPr txBox="1"/>
          <p:nvPr/>
        </p:nvSpPr>
        <p:spPr>
          <a:xfrm>
            <a:off x="9962388" y="2697480"/>
            <a:ext cx="1650492" cy="2880360"/>
          </a:xfrm>
          <a:prstGeom prst="rect">
            <a:avLst/>
          </a:prstGeom>
          <a:noFill/>
        </p:spPr>
        <p:txBody>
          <a:bodyPr wrap="square" lIns="45720" rIns="45720" tIns="27432" bIns="27432" anchor="t">
            <a:spAutoFit/>
          </a:bodyPr>
          <a:lstStyle/>
          <a:p>
            <a:pPr algn="l"/>
            <a:r>
              <a:rPr sz="1250" b="0" i="0">
                <a:solidFill>
                  <a:srgbClr val="58595B"/>
                </a:solidFill>
                <a:latin typeface="Arial"/>
              </a:rPr>
              <a:t>Mục 2.3</a:t>
            </a:r>
          </a:p>
          <a:p>
            <a:pPr algn="l">
              <a:spcBef>
                <a:spcPts val="562"/>
              </a:spcBef>
            </a:pPr>
            <a:r>
              <a:rPr sz="1250" b="0" i="0">
                <a:solidFill>
                  <a:srgbClr val="58595B"/>
                </a:solidFill>
                <a:latin typeface="Arial"/>
              </a:rPr>
              <a:t>Dự đoán có chiều, có căn cứ, kiểm định được.</a:t>
            </a:r>
          </a:p>
        </p:txBody>
      </p:sp>
      <p:cxnSp>
        <p:nvCxnSpPr>
          <p:cNvPr id="27" name="Connector 26"/>
          <p:cNvCxnSpPr/>
          <p:nvPr/>
        </p:nvCxnSpPr>
        <p:spPr>
          <a:xfrm>
            <a:off x="987094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KHÁI NIỆM NỀN TẢNG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Định nghĩa khái niệm quyết định câu hỏi khảo sát ở Chương 3, nên không được tự đặt theo cảm nhận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Định nghĩa có ba ý cụ thể thì đo được bằng ba đến bốn câu hỏi; định nghĩa vòng tròn thì Chương 3 không có căn cứ để viết câu hỏi.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19</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"Sự hữu ích là khi khách hàng thấy dịch vụ có ích. Ngân hàng số là ngân hàng trên điện thoại. Niềm tin là khi khách hàng tin ngân hàng. Các khái niệm này rất quen thuộc với mọi người."</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"Theo Davis (1989), sự hữu ích là mức độ một người tin rằng sử dụng một hệ thống cụ thể sẽ nâng cao hiệu quả công việc của họ. Venkatesh và cộng sự (2003) dùng khái niệm kỳ vọng hiệu quả với nội dung gần tương tự... Trong nghiên cứu này, sự hữu ích được hiểu là mức độ khách hàng cá nhân tin rằng dịch vụ ngân hàng số giúp họ giao dịch nhanh hơn, tiết kiệm chi phí và quản lý tài chính tốt hơn."</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Định nghĩa vòng tròn: dùng chính từ cần định nghĩa ("hữu ích là có ích"); người đọc không biết đo bằng cách nào.</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trích dẫn; định nghĩa là cảm nhận cá nhân.</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văn phong.</a:t>
            </a:r>
            <a:r>
              <a:rPr sz="1200" b="0" i="0">
                <a:solidFill>
                  <a:srgbClr val="58595B"/>
                </a:solidFill>
                <a:latin typeface="Arial"/>
              </a:rPr>
              <a:t> Câu cuối khẳng định chung chung, không có giá trị học thuật.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TỔNG QUAN NGHIÊN CỨU TRƯỚC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Tổng hợp khác liệt kê ở chủ ngữ: chủ ngữ là ý tưởng, tên tác giả nằm trong ngoặc cuối câu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Trước mỗi đoạn, điền ba ô "Giống nhau ở...", "Khác nhau ở...", "Có thể vì..."; chưa điền được thì đọc thêm tài liệu.</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2.1.2, mục 4 và Hình 31</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20</a:t>
            </a:r>
          </a:p>
        </p:txBody>
      </p:sp>
      <p:sp>
        <p:nvSpPr>
          <p:cNvPr id="11" name="Rectangle 10"/>
          <p:cNvSpPr/>
          <p:nvPr/>
        </p:nvSpPr>
        <p:spPr>
          <a:xfrm>
            <a:off x="402336" y="2344050"/>
            <a:ext cx="6510528" cy="271853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31_p1183.png"/>
          <p:cNvPicPr>
            <a:picLocks noChangeAspect="1"/>
          </p:cNvPicPr>
          <p:nvPr/>
        </p:nvPicPr>
        <p:blipFill>
          <a:blip r:embed="rId2"/>
          <a:stretch>
            <a:fillRect/>
          </a:stretch>
        </p:blipFill>
        <p:spPr>
          <a:xfrm>
            <a:off x="457200" y="2398914"/>
            <a:ext cx="6400800" cy="2608810"/>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NĂM BƯỚC TỔNG HỢP</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Gom nhóm</a:t>
            </a:r>
            <a:r>
              <a:rPr sz="1250" b="0" i="0">
                <a:solidFill>
                  <a:srgbClr val="58595B"/>
                </a:solidFill>
                <a:latin typeface="Arial"/>
              </a:rPr>
              <a:t> tài liệu theo chủ đề bằng ma trận tổng hợp.</a:t>
            </a:r>
          </a:p>
        </p:txBody>
      </p:sp>
      <p:sp>
        <p:nvSpPr>
          <p:cNvPr id="17" name="Oval 16"/>
          <p:cNvSpPr/>
          <p:nvPr/>
        </p:nvSpPr>
        <p:spPr>
          <a:xfrm>
            <a:off x="7178040" y="28986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28803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Tìm điểm chung</a:t>
            </a:r>
            <a:r>
              <a:rPr sz="1250" b="0" i="0">
                <a:solidFill>
                  <a:srgbClr val="58595B"/>
                </a:solidFill>
                <a:latin typeface="Arial"/>
              </a:rPr>
              <a:t> của mỗi nhóm và viết thành câu chủ đề.</a:t>
            </a:r>
          </a:p>
        </p:txBody>
      </p:sp>
      <p:sp>
        <p:nvSpPr>
          <p:cNvPr id="19" name="Oval 18"/>
          <p:cNvSpPr/>
          <p:nvPr/>
        </p:nvSpPr>
        <p:spPr>
          <a:xfrm>
            <a:off x="7178040" y="35844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35661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So sánh, đối chiếu:</a:t>
            </a:r>
            <a:r>
              <a:rPr sz="1250" b="0" i="0">
                <a:solidFill>
                  <a:srgbClr val="58595B"/>
                </a:solidFill>
                <a:latin typeface="Arial"/>
              </a:rPr>
              <a:t> khác nhau ở kết quả, bối cảnh hay phương pháp.</a:t>
            </a:r>
          </a:p>
        </p:txBody>
      </p:sp>
      <p:sp>
        <p:nvSpPr>
          <p:cNvPr id="21" name="Oval 20"/>
          <p:cNvSpPr/>
          <p:nvPr/>
        </p:nvSpPr>
        <p:spPr>
          <a:xfrm>
            <a:off x="7178040" y="42702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589519" y="42519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Giải thích mâu thuẫn</a:t>
            </a:r>
            <a:r>
              <a:rPr sz="1250" b="0" i="0">
                <a:solidFill>
                  <a:srgbClr val="58595B"/>
                </a:solidFill>
                <a:latin typeface="Arial"/>
              </a:rPr>
              <a:t> bằng cách giải thích có thể có, dùng chữ "có thể".</a:t>
            </a:r>
          </a:p>
        </p:txBody>
      </p:sp>
      <p:sp>
        <p:nvSpPr>
          <p:cNvPr id="23" name="Oval 22"/>
          <p:cNvSpPr/>
          <p:nvPr/>
        </p:nvSpPr>
        <p:spPr>
          <a:xfrm>
            <a:off x="7178040" y="49560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7589519" y="4937760"/>
            <a:ext cx="4142232" cy="685800"/>
          </a:xfrm>
          <a:prstGeom prst="rect">
            <a:avLst/>
          </a:prstGeom>
          <a:noFill/>
        </p:spPr>
        <p:txBody>
          <a:bodyPr wrap="square" lIns="45720" rIns="45720" tIns="27432" bIns="27432" anchor="t">
            <a:spAutoFit/>
          </a:bodyPr>
          <a:lstStyle/>
          <a:p>
            <a:pPr algn="l"/>
            <a:r>
              <a:rPr sz="1250" b="1" i="0">
                <a:solidFill>
                  <a:srgbClr val="58595B"/>
                </a:solidFill>
                <a:latin typeface="Arial"/>
              </a:rPr>
              <a:t>Chỉ ra điều còn thiếu:</a:t>
            </a:r>
            <a:r>
              <a:rPr sz="1250" b="0" i="0">
                <a:solidFill>
                  <a:srgbClr val="58595B"/>
                </a:solidFill>
                <a:latin typeface="Arial"/>
              </a:rPr>
              <a:t> nguyên liệu cho khoảng trống ở mục 2.1.3.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CÔNG CỤ ĐỌC TÀI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Ma trận tổng hợp trên Excel biến 20 bài báo rời rạc thành các nhóm chủ đề nhìn thấy được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Vẽ bản đồ tài liệu trước khi viết: gom nghiên cứu thành nhóm và chỉ ra vị trí còn trống mà đề tài sẽ lấp vào.</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4, Hình 26 và Hình 32; Creswell và Creswell (2018, tr. 76)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21</a:t>
            </a:r>
          </a:p>
        </p:txBody>
      </p:sp>
      <p:sp>
        <p:nvSpPr>
          <p:cNvPr id="11" name="Rectangle 10"/>
          <p:cNvSpPr/>
          <p:nvPr/>
        </p:nvSpPr>
        <p:spPr>
          <a:xfrm>
            <a:off x="402336" y="2502500"/>
            <a:ext cx="7059168" cy="24016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32_p1187.png"/>
          <p:cNvPicPr>
            <a:picLocks noChangeAspect="1"/>
          </p:cNvPicPr>
          <p:nvPr/>
        </p:nvPicPr>
        <p:blipFill>
          <a:blip r:embed="rId2"/>
          <a:stretch>
            <a:fillRect/>
          </a:stretch>
        </p:blipFill>
        <p:spPr>
          <a:xfrm>
            <a:off x="457200" y="2557364"/>
            <a:ext cx="6949440" cy="2291911"/>
          </a:xfrm>
          <a:prstGeom prst="rect">
            <a:avLst/>
          </a:prstGeom>
        </p:spPr>
      </p:pic>
      <p:sp>
        <p:nvSpPr>
          <p:cNvPr id="13" name="TextBox 12"/>
          <p:cNvSpPr txBox="1"/>
          <p:nvPr/>
        </p:nvSpPr>
        <p:spPr>
          <a:xfrm>
            <a:off x="7726679" y="1783080"/>
            <a:ext cx="400507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DÙNG MA TRẬN</a:t>
            </a:r>
          </a:p>
        </p:txBody>
      </p:sp>
      <p:cxnSp>
        <p:nvCxnSpPr>
          <p:cNvPr id="14" name="Connector 13"/>
          <p:cNvCxnSpPr/>
          <p:nvPr/>
        </p:nvCxnSpPr>
        <p:spPr>
          <a:xfrm>
            <a:off x="7726679" y="2103120"/>
            <a:ext cx="4005073"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726679"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8138159" y="2194560"/>
            <a:ext cx="3593592" cy="857250"/>
          </a:xfrm>
          <a:prstGeom prst="rect">
            <a:avLst/>
          </a:prstGeom>
          <a:noFill/>
        </p:spPr>
        <p:txBody>
          <a:bodyPr wrap="square" lIns="45720" rIns="45720" tIns="27432" bIns="27432" anchor="t">
            <a:spAutoFit/>
          </a:bodyPr>
          <a:lstStyle/>
          <a:p>
            <a:pPr algn="l"/>
            <a:r>
              <a:rPr sz="1250" b="0" i="0">
                <a:solidFill>
                  <a:srgbClr val="58595B"/>
                </a:solidFill>
                <a:latin typeface="Arial"/>
              </a:rPr>
              <a:t>Mỗi </a:t>
            </a:r>
            <a:r>
              <a:rPr sz="1250" b="1" i="0">
                <a:solidFill>
                  <a:srgbClr val="58595B"/>
                </a:solidFill>
                <a:latin typeface="Arial"/>
              </a:rPr>
              <a:t>hàng</a:t>
            </a:r>
            <a:r>
              <a:rPr sz="1250" b="0" i="0">
                <a:solidFill>
                  <a:srgbClr val="58595B"/>
                </a:solidFill>
                <a:latin typeface="Arial"/>
              </a:rPr>
              <a:t> là một tài liệu; ghi ngay khi đọc xong.</a:t>
            </a:r>
          </a:p>
        </p:txBody>
      </p:sp>
      <p:sp>
        <p:nvSpPr>
          <p:cNvPr id="17" name="Oval 16"/>
          <p:cNvSpPr/>
          <p:nvPr/>
        </p:nvSpPr>
        <p:spPr>
          <a:xfrm>
            <a:off x="7726679"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8138159" y="3051810"/>
            <a:ext cx="3593592" cy="857250"/>
          </a:xfrm>
          <a:prstGeom prst="rect">
            <a:avLst/>
          </a:prstGeom>
          <a:noFill/>
        </p:spPr>
        <p:txBody>
          <a:bodyPr wrap="square" lIns="45720" rIns="45720" tIns="27432" bIns="27432" anchor="t">
            <a:spAutoFit/>
          </a:bodyPr>
          <a:lstStyle/>
          <a:p>
            <a:pPr algn="l"/>
            <a:r>
              <a:rPr sz="1250" b="0" i="0">
                <a:solidFill>
                  <a:srgbClr val="58595B"/>
                </a:solidFill>
                <a:latin typeface="Arial"/>
              </a:rPr>
              <a:t>Mỗi </a:t>
            </a:r>
            <a:r>
              <a:rPr sz="1250" b="1" i="0">
                <a:solidFill>
                  <a:srgbClr val="58595B"/>
                </a:solidFill>
                <a:latin typeface="Arial"/>
              </a:rPr>
              <a:t>cột</a:t>
            </a:r>
            <a:r>
              <a:rPr sz="1250" b="0" i="0">
                <a:solidFill>
                  <a:srgbClr val="58595B"/>
                </a:solidFill>
                <a:latin typeface="Arial"/>
              </a:rPr>
              <a:t> là một câu hỏi khi đọc: bối cảnh, lý thuyết nền, biến, phương pháp, kết quả chính, nhóm chủ đề.</a:t>
            </a:r>
          </a:p>
        </p:txBody>
      </p:sp>
      <p:sp>
        <p:nvSpPr>
          <p:cNvPr id="19" name="Oval 18"/>
          <p:cNvSpPr/>
          <p:nvPr/>
        </p:nvSpPr>
        <p:spPr>
          <a:xfrm>
            <a:off x="7726679"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8138159" y="3909060"/>
            <a:ext cx="3593592" cy="857250"/>
          </a:xfrm>
          <a:prstGeom prst="rect">
            <a:avLst/>
          </a:prstGeom>
          <a:noFill/>
        </p:spPr>
        <p:txBody>
          <a:bodyPr wrap="square" lIns="45720" rIns="45720" tIns="27432" bIns="27432" anchor="t">
            <a:spAutoFit/>
          </a:bodyPr>
          <a:lstStyle/>
          <a:p>
            <a:pPr algn="l"/>
            <a:r>
              <a:rPr sz="1250" b="0" i="0">
                <a:solidFill>
                  <a:srgbClr val="58595B"/>
                </a:solidFill>
                <a:latin typeface="Arial"/>
              </a:rPr>
              <a:t>Khi có </a:t>
            </a:r>
            <a:r>
              <a:rPr sz="1250" b="1" i="0">
                <a:solidFill>
                  <a:srgbClr val="58595B"/>
                </a:solidFill>
                <a:latin typeface="Arial"/>
              </a:rPr>
              <a:t>15 đến 20 hàng</a:t>
            </a:r>
            <a:r>
              <a:rPr sz="1250" b="0" i="0">
                <a:solidFill>
                  <a:srgbClr val="58595B"/>
                </a:solidFill>
                <a:latin typeface="Arial"/>
              </a:rPr>
              <a:t>: chọn dòng tiêu đề, Data &gt; Filter, lọc cột "Nhóm chủ đề".</a:t>
            </a:r>
          </a:p>
        </p:txBody>
      </p:sp>
      <p:sp>
        <p:nvSpPr>
          <p:cNvPr id="21" name="Oval 20"/>
          <p:cNvSpPr/>
          <p:nvPr/>
        </p:nvSpPr>
        <p:spPr>
          <a:xfrm>
            <a:off x="7726679"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8138159" y="4766310"/>
            <a:ext cx="3593592" cy="857250"/>
          </a:xfrm>
          <a:prstGeom prst="rect">
            <a:avLst/>
          </a:prstGeom>
          <a:noFill/>
        </p:spPr>
        <p:txBody>
          <a:bodyPr wrap="square" lIns="45720" rIns="45720" tIns="27432" bIns="27432" anchor="t">
            <a:spAutoFit/>
          </a:bodyPr>
          <a:lstStyle/>
          <a:p>
            <a:pPr algn="l"/>
            <a:r>
              <a:rPr sz="1250" b="0" i="0">
                <a:solidFill>
                  <a:srgbClr val="58595B"/>
                </a:solidFill>
                <a:latin typeface="Arial"/>
              </a:rPr>
              <a:t>Nhìn dọc cột </a:t>
            </a:r>
            <a:r>
              <a:rPr sz="1250" b="1" i="0">
                <a:solidFill>
                  <a:srgbClr val="58595B"/>
                </a:solidFill>
                <a:latin typeface="Arial"/>
              </a:rPr>
              <a:t>"Kết quả chính"</a:t>
            </a:r>
            <a:r>
              <a:rPr sz="1250" b="0" i="0">
                <a:solidFill>
                  <a:srgbClr val="58595B"/>
                </a:solidFill>
                <a:latin typeface="Arial"/>
              </a:rPr>
              <a:t> của một nhóm để thấy điểm giống và điểm khác.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KHOẢNG TRỐNG NGHIÊN CỨU (RESEARCH GAP)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Khoảng trống nghiên cứu phải được chứng minh bằng chính các nghiên cứu vừa tổng hợp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viết "chưa có ai nghiên cứu"; viết "trong các tài liệu mà tác giả tiếp cận được, chưa có nghiên cứu nào xem xét...".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2.1.3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22</a:t>
            </a:r>
          </a:p>
        </p:txBody>
      </p:sp>
      <p:sp>
        <p:nvSpPr>
          <p:cNvPr id="11" name="Rectangle 10"/>
          <p:cNvSpPr/>
          <p:nvPr/>
        </p:nvSpPr>
        <p:spPr>
          <a:xfrm>
            <a:off x="457200" y="1783080"/>
            <a:ext cx="2612898"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1: bối cảnh</a:t>
            </a:r>
          </a:p>
        </p:txBody>
      </p:sp>
      <p:sp>
        <p:nvSpPr>
          <p:cNvPr id="14" name="TextBox 13"/>
          <p:cNvSpPr txBox="1"/>
          <p:nvPr/>
        </p:nvSpPr>
        <p:spPr>
          <a:xfrm>
            <a:off x="457200"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có nghiên cứu trong một bối cảnh cụ thể.</a:t>
            </a:r>
          </a:p>
          <a:p>
            <a:pPr algn="l">
              <a:spcBef>
                <a:spcPts val="607"/>
              </a:spcBef>
            </a:pPr>
          </a:p>
          <a:p>
            <a:pPr algn="l">
              <a:spcBef>
                <a:spcPts val="607"/>
              </a:spcBef>
            </a:pPr>
            <a:r>
              <a:rPr sz="1350" b="1" i="0">
                <a:solidFill>
                  <a:srgbClr val="58595B"/>
                </a:solidFill>
                <a:latin typeface="Arial"/>
              </a:rPr>
              <a:t>An toàn cho khóa luận đại học.</a:t>
            </a:r>
          </a:p>
        </p:txBody>
      </p:sp>
      <p:sp>
        <p:nvSpPr>
          <p:cNvPr id="15" name="Rectangle 14"/>
          <p:cNvSpPr/>
          <p:nvPr/>
        </p:nvSpPr>
        <p:spPr>
          <a:xfrm>
            <a:off x="3344418"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34441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3847337"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2: biến</a:t>
            </a:r>
          </a:p>
        </p:txBody>
      </p:sp>
      <p:sp>
        <p:nvSpPr>
          <p:cNvPr id="18" name="TextBox 17"/>
          <p:cNvSpPr txBox="1"/>
          <p:nvPr/>
        </p:nvSpPr>
        <p:spPr>
          <a:xfrm>
            <a:off x="3344418"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xem xét một biến hoặc một tổ hợp biến.</a:t>
            </a:r>
          </a:p>
        </p:txBody>
      </p:sp>
      <p:sp>
        <p:nvSpPr>
          <p:cNvPr id="19" name="Rectangle 18"/>
          <p:cNvSpPr/>
          <p:nvPr/>
        </p:nvSpPr>
        <p:spPr>
          <a:xfrm>
            <a:off x="6231636"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231636"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6734555"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3: phương pháp, đối tượng</a:t>
            </a:r>
          </a:p>
        </p:txBody>
      </p:sp>
      <p:sp>
        <p:nvSpPr>
          <p:cNvPr id="22" name="TextBox 21"/>
          <p:cNvSpPr txBox="1"/>
          <p:nvPr/>
        </p:nvSpPr>
        <p:spPr>
          <a:xfrm>
            <a:off x="6231636"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Chưa dùng một phương pháp hoặc một nhóm đối tượng.</a:t>
            </a:r>
          </a:p>
        </p:txBody>
      </p:sp>
      <p:sp>
        <p:nvSpPr>
          <p:cNvPr id="23" name="Rectangle 22"/>
          <p:cNvSpPr/>
          <p:nvPr/>
        </p:nvSpPr>
        <p:spPr>
          <a:xfrm>
            <a:off x="9118854" y="1783080"/>
            <a:ext cx="2612898"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11885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5" name="TextBox 24"/>
          <p:cNvSpPr txBox="1"/>
          <p:nvPr/>
        </p:nvSpPr>
        <p:spPr>
          <a:xfrm>
            <a:off x="9621774" y="1938528"/>
            <a:ext cx="2109978" cy="502920"/>
          </a:xfrm>
          <a:prstGeom prst="rect">
            <a:avLst/>
          </a:prstGeom>
          <a:noFill/>
        </p:spPr>
        <p:txBody>
          <a:bodyPr wrap="square" lIns="45720" rIns="45720" tIns="27432" bIns="27432" anchor="ctr">
            <a:spAutoFit/>
          </a:bodyPr>
          <a:lstStyle/>
          <a:p>
            <a:pPr algn="l"/>
            <a:r>
              <a:rPr sz="1500" b="1" i="0">
                <a:solidFill>
                  <a:srgbClr val="262626"/>
                </a:solidFill>
                <a:latin typeface="Arial"/>
              </a:rPr>
              <a:t>Loại 4: mâu thuẫn</a:t>
            </a:r>
          </a:p>
        </p:txBody>
      </p:sp>
      <p:sp>
        <p:nvSpPr>
          <p:cNvPr id="26" name="TextBox 25"/>
          <p:cNvSpPr txBox="1"/>
          <p:nvPr/>
        </p:nvSpPr>
        <p:spPr>
          <a:xfrm>
            <a:off x="9118854" y="2560320"/>
            <a:ext cx="2612898" cy="3017520"/>
          </a:xfrm>
          <a:prstGeom prst="rect">
            <a:avLst/>
          </a:prstGeom>
          <a:noFill/>
        </p:spPr>
        <p:txBody>
          <a:bodyPr wrap="square" lIns="45720" rIns="45720" tIns="27432" bIns="27432" anchor="t">
            <a:spAutoFit/>
          </a:bodyPr>
          <a:lstStyle/>
          <a:p>
            <a:pPr algn="l"/>
            <a:r>
              <a:rPr sz="1350" b="0" i="0">
                <a:solidFill>
                  <a:srgbClr val="58595B"/>
                </a:solidFill>
                <a:latin typeface="Arial"/>
              </a:rPr>
              <a:t>Kết quả các nghiên cứu còn mâu thuẫn.</a:t>
            </a:r>
          </a:p>
          <a:p>
            <a:pPr algn="l">
              <a:spcBef>
                <a:spcPts val="607"/>
              </a:spcBef>
            </a:pPr>
          </a:p>
          <a:p>
            <a:pPr algn="l">
              <a:spcBef>
                <a:spcPts val="607"/>
              </a:spcBef>
            </a:pPr>
            <a:r>
              <a:rPr sz="1350" b="1" i="0">
                <a:solidFill>
                  <a:srgbClr val="58595B"/>
                </a:solidFill>
                <a:latin typeface="Arial"/>
              </a:rPr>
              <a:t>An toàn cho khóa luận đại học.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LÝ THUYẾT NỀN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biến trong mô hình phải truy ngược được về một lý thuyết gốc có tác giả và năm</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TAM giải thích đặc điểm công nghệ nhưng chưa giải thích rủi ro và người xung quanh, nên mô hình bổ sung NT và XH từ hai lý thuyết khác.</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2.2.1 và Hình 27</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23</a:t>
            </a:r>
          </a:p>
        </p:txBody>
      </p:sp>
      <p:sp>
        <p:nvSpPr>
          <p:cNvPr id="12" name="Rectangle 11"/>
          <p:cNvSpPr/>
          <p:nvPr/>
        </p:nvSpPr>
        <p:spPr>
          <a:xfrm>
            <a:off x="9052560" y="3291840"/>
            <a:ext cx="2651760" cy="10972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400" b="1" i="0">
                <a:solidFill>
                  <a:srgbClr val="FFFFFF"/>
                </a:solidFill>
                <a:latin typeface="Arial"/>
              </a:rPr>
              <a:t>Ý định sử dụng (YD)</a:t>
            </a:r>
          </a:p>
        </p:txBody>
      </p:sp>
      <p:sp>
        <p:nvSpPr>
          <p:cNvPr id="13" name="TextBox 12"/>
          <p:cNvSpPr txBox="1"/>
          <p:nvPr/>
        </p:nvSpPr>
        <p:spPr>
          <a:xfrm>
            <a:off x="457200" y="1737360"/>
            <a:ext cx="3657600" cy="274320"/>
          </a:xfrm>
          <a:prstGeom prst="rect">
            <a:avLst/>
          </a:prstGeom>
          <a:noFill/>
        </p:spPr>
        <p:txBody>
          <a:bodyPr wrap="square" lIns="45720" rIns="45720" tIns="27432" bIns="27432" anchor="t">
            <a:spAutoFit/>
          </a:bodyPr>
          <a:lstStyle/>
          <a:p>
            <a:pPr algn="l"/>
            <a:r>
              <a:rPr sz="1000" b="1" i="0">
                <a:solidFill>
                  <a:srgbClr val="9E9E9E"/>
                </a:solidFill>
                <a:latin typeface="Arial"/>
              </a:rPr>
              <a:t>LÝ THUYẾT NỀN</a:t>
            </a:r>
          </a:p>
        </p:txBody>
      </p:sp>
      <p:sp>
        <p:nvSpPr>
          <p:cNvPr id="14" name="TextBox 13"/>
          <p:cNvSpPr txBox="1"/>
          <p:nvPr/>
        </p:nvSpPr>
        <p:spPr>
          <a:xfrm>
            <a:off x="4572000" y="1737360"/>
            <a:ext cx="3657600" cy="274320"/>
          </a:xfrm>
          <a:prstGeom prst="rect">
            <a:avLst/>
          </a:prstGeom>
          <a:noFill/>
        </p:spPr>
        <p:txBody>
          <a:bodyPr wrap="square" lIns="45720" rIns="45720" tIns="27432" bIns="27432" anchor="t">
            <a:spAutoFit/>
          </a:bodyPr>
          <a:lstStyle/>
          <a:p>
            <a:pPr algn="l"/>
            <a:r>
              <a:rPr sz="1000" b="1" i="0">
                <a:solidFill>
                  <a:srgbClr val="9E9E9E"/>
                </a:solidFill>
                <a:latin typeface="Arial"/>
              </a:rPr>
              <a:t>BIẾN ĐỘC LẬP VÀ GIẢ THUYẾT</a:t>
            </a:r>
          </a:p>
        </p:txBody>
      </p:sp>
      <p:sp>
        <p:nvSpPr>
          <p:cNvPr id="15" name="Rectangle 14"/>
          <p:cNvSpPr/>
          <p:nvPr/>
        </p:nvSpPr>
        <p:spPr>
          <a:xfrm>
            <a:off x="457200" y="213055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TAM</a:t>
            </a:r>
            <a:r>
              <a:rPr sz="1150" b="0" i="0">
                <a:solidFill>
                  <a:srgbClr val="262626"/>
                </a:solidFill>
                <a:latin typeface="Arial"/>
              </a:rPr>
              <a:t> (Davis, 1989): hai niềm tin quyết định việc chấp nhận công nghệ</a:t>
            </a:r>
          </a:p>
        </p:txBody>
      </p:sp>
      <p:cxnSp>
        <p:nvCxnSpPr>
          <p:cNvPr id="16" name="Connector 15"/>
          <p:cNvCxnSpPr/>
          <p:nvPr/>
        </p:nvCxnSpPr>
        <p:spPr>
          <a:xfrm>
            <a:off x="4069080" y="250317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4572000" y="213055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Sự hữu ích (HI)</a:t>
            </a:r>
          </a:p>
        </p:txBody>
      </p:sp>
      <p:cxnSp>
        <p:nvCxnSpPr>
          <p:cNvPr id="18" name="Connector 17"/>
          <p:cNvCxnSpPr/>
          <p:nvPr/>
        </p:nvCxnSpPr>
        <p:spPr>
          <a:xfrm>
            <a:off x="7635240" y="2503170"/>
            <a:ext cx="1371600" cy="133731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955279" y="289750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H1</a:t>
            </a:r>
          </a:p>
        </p:txBody>
      </p:sp>
      <p:sp>
        <p:nvSpPr>
          <p:cNvPr id="20" name="Rectangle 19"/>
          <p:cNvSpPr/>
          <p:nvPr/>
        </p:nvSpPr>
        <p:spPr>
          <a:xfrm>
            <a:off x="457200" y="302209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TAM</a:t>
            </a:r>
            <a:r>
              <a:rPr sz="1150" b="0" i="0">
                <a:solidFill>
                  <a:srgbClr val="262626"/>
                </a:solidFill>
                <a:latin typeface="Arial"/>
              </a:rPr>
              <a:t> (Davis, 1989)</a:t>
            </a:r>
          </a:p>
        </p:txBody>
      </p:sp>
      <p:cxnSp>
        <p:nvCxnSpPr>
          <p:cNvPr id="21" name="Connector 20"/>
          <p:cNvCxnSpPr/>
          <p:nvPr/>
        </p:nvCxnSpPr>
        <p:spPr>
          <a:xfrm>
            <a:off x="4069080" y="339471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4572000" y="302209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Sự dễ sử dụng (SD)</a:t>
            </a:r>
          </a:p>
        </p:txBody>
      </p:sp>
      <p:cxnSp>
        <p:nvCxnSpPr>
          <p:cNvPr id="23" name="Connector 22"/>
          <p:cNvCxnSpPr/>
          <p:nvPr/>
        </p:nvCxnSpPr>
        <p:spPr>
          <a:xfrm>
            <a:off x="7635240" y="3394710"/>
            <a:ext cx="1371600" cy="44577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79" y="334327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H2</a:t>
            </a:r>
          </a:p>
        </p:txBody>
      </p:sp>
      <p:sp>
        <p:nvSpPr>
          <p:cNvPr id="25" name="Rectangle 24"/>
          <p:cNvSpPr/>
          <p:nvPr/>
        </p:nvSpPr>
        <p:spPr>
          <a:xfrm>
            <a:off x="457200" y="391363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Lý thuyết cam kết và niềm tin</a:t>
            </a:r>
            <a:r>
              <a:rPr sz="1150" b="0" i="0">
                <a:solidFill>
                  <a:srgbClr val="262626"/>
                </a:solidFill>
                <a:latin typeface="Arial"/>
              </a:rPr>
              <a:t> (Morgan và Hunt, 1994)</a:t>
            </a:r>
          </a:p>
        </p:txBody>
      </p:sp>
      <p:cxnSp>
        <p:nvCxnSpPr>
          <p:cNvPr id="26" name="Connector 25"/>
          <p:cNvCxnSpPr/>
          <p:nvPr/>
        </p:nvCxnSpPr>
        <p:spPr>
          <a:xfrm>
            <a:off x="4069080" y="428625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4572000" y="391363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Niềm tin (NT)</a:t>
            </a:r>
          </a:p>
        </p:txBody>
      </p:sp>
      <p:cxnSp>
        <p:nvCxnSpPr>
          <p:cNvPr id="28" name="Connector 27"/>
          <p:cNvCxnSpPr/>
          <p:nvPr/>
        </p:nvCxnSpPr>
        <p:spPr>
          <a:xfrm flipV="1">
            <a:off x="7635240" y="3840480"/>
            <a:ext cx="1371600" cy="44577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955279" y="378904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H3</a:t>
            </a:r>
          </a:p>
        </p:txBody>
      </p:sp>
      <p:sp>
        <p:nvSpPr>
          <p:cNvPr id="30" name="Rectangle 29"/>
          <p:cNvSpPr/>
          <p:nvPr/>
        </p:nvSpPr>
        <p:spPr>
          <a:xfrm>
            <a:off x="457200" y="4805172"/>
            <a:ext cx="3566160" cy="745236"/>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150" b="1" i="0">
                <a:solidFill>
                  <a:srgbClr val="262626"/>
                </a:solidFill>
                <a:latin typeface="Arial"/>
              </a:rPr>
              <a:t>Thuyết hành vi có kế hoạch</a:t>
            </a:r>
            <a:r>
              <a:rPr sz="1150" b="0" i="0">
                <a:solidFill>
                  <a:srgbClr val="262626"/>
                </a:solidFill>
                <a:latin typeface="Arial"/>
              </a:rPr>
              <a:t>, chuẩn chủ quan (Ajzen, 1991)</a:t>
            </a:r>
          </a:p>
        </p:txBody>
      </p:sp>
      <p:cxnSp>
        <p:nvCxnSpPr>
          <p:cNvPr id="31" name="Connector 30"/>
          <p:cNvCxnSpPr/>
          <p:nvPr/>
        </p:nvCxnSpPr>
        <p:spPr>
          <a:xfrm>
            <a:off x="4069080" y="5177790"/>
            <a:ext cx="457200" cy="0"/>
          </a:xfrm>
          <a:prstGeom prst="line">
            <a:avLst/>
          </a:prstGeom>
          <a:ln w="15875">
            <a:solidFill>
              <a:srgbClr val="9E9E9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4572000" y="4805172"/>
            <a:ext cx="3017520" cy="745236"/>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Ảnh hưởng xã hội (XH)</a:t>
            </a:r>
          </a:p>
        </p:txBody>
      </p:sp>
      <p:cxnSp>
        <p:nvCxnSpPr>
          <p:cNvPr id="33" name="Connector 32"/>
          <p:cNvCxnSpPr/>
          <p:nvPr/>
        </p:nvCxnSpPr>
        <p:spPr>
          <a:xfrm flipV="1">
            <a:off x="7635240" y="3840480"/>
            <a:ext cx="1371600" cy="1337310"/>
          </a:xfrm>
          <a:prstGeom prst="line">
            <a:avLst/>
          </a:prstGeom>
          <a:ln w="19050">
            <a:solidFill>
              <a:srgbClr val="CC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955279" y="4234815"/>
            <a:ext cx="548640" cy="274320"/>
          </a:xfrm>
          <a:prstGeom prst="rect">
            <a:avLst/>
          </a:prstGeom>
          <a:noFill/>
        </p:spPr>
        <p:txBody>
          <a:bodyPr wrap="square" lIns="45720" rIns="45720" tIns="27432" bIns="27432" anchor="t">
            <a:spAutoFit/>
          </a:bodyPr>
          <a:lstStyle/>
          <a:p>
            <a:pPr algn="l"/>
            <a:r>
              <a:rPr sz="1100" b="1" i="0">
                <a:solidFill>
                  <a:srgbClr val="CC0000"/>
                </a:solidFill>
                <a:latin typeface="Arial"/>
              </a:rPr>
              <a:t>H4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MÔ HÌNH NGHIÊN CỨU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Mô hình giữ 3 đến 5 biến độc lập vì mỗi biến thêm vào làm tăng câu hỏi, cỡ mẫu và thời gian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Quy ước vẽ: biến độc lập bên trái, biến phụ thuộc bên phải, mũi tên một chiều có ghi mã giả thuyết.</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2.2.2, mục 5, Hình 28; Creswell và Creswell (2018, tr. 97 đến 98)</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24</a:t>
            </a:r>
          </a:p>
        </p:txBody>
      </p:sp>
      <p:sp>
        <p:nvSpPr>
          <p:cNvPr id="11" name="Rectangle 10"/>
          <p:cNvSpPr/>
          <p:nvPr/>
        </p:nvSpPr>
        <p:spPr>
          <a:xfrm>
            <a:off x="402336" y="2597727"/>
            <a:ext cx="5961888" cy="221118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8_p1063.png"/>
          <p:cNvPicPr>
            <a:picLocks noChangeAspect="1"/>
          </p:cNvPicPr>
          <p:nvPr/>
        </p:nvPicPr>
        <p:blipFill>
          <a:blip r:embed="rId2"/>
          <a:stretch>
            <a:fillRect/>
          </a:stretch>
        </p:blipFill>
        <p:spPr>
          <a:xfrm>
            <a:off x="457200" y="2652591"/>
            <a:ext cx="5852160" cy="2101457"/>
          </a:xfrm>
          <a:prstGeom prst="rect">
            <a:avLst/>
          </a:prstGeom>
        </p:spPr>
      </p:pic>
      <p:sp>
        <p:nvSpPr>
          <p:cNvPr id="13" name="TextBox 12"/>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KHÔNG VẼ 10 BIẾN</a:t>
            </a:r>
          </a:p>
        </p:txBody>
      </p:sp>
      <p:cxnSp>
        <p:nvCxnSpPr>
          <p:cNvPr id="14" name="Connector 13"/>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040880" y="21945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10 biến</a:t>
            </a:r>
            <a:r>
              <a:rPr sz="1250" b="0" i="0">
                <a:solidFill>
                  <a:srgbClr val="58595B"/>
                </a:solidFill>
                <a:latin typeface="Arial"/>
              </a:rPr>
              <a:t> cần khoảng 40 câu hỏi; theo quy tắc 5 quan sát mỗi câu, cỡ mẫu tối thiểu tăng lên khoảng 200 phiếu.</a:t>
            </a:r>
          </a:p>
        </p:txBody>
      </p:sp>
      <p:sp>
        <p:nvSpPr>
          <p:cNvPr id="17" name="Oval 16"/>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040880" y="30518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Bảng hỏi dài</a:t>
            </a:r>
            <a:r>
              <a:rPr sz="1250" b="0" i="0">
                <a:solidFill>
                  <a:srgbClr val="58595B"/>
                </a:solidFill>
                <a:latin typeface="Arial"/>
              </a:rPr>
              <a:t> làm người trả lời mệt và trả lời qua loa.</a:t>
            </a:r>
          </a:p>
        </p:txBody>
      </p:sp>
      <p:sp>
        <p:nvSpPr>
          <p:cNvPr id="19" name="Oval 18"/>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040880" y="39090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Lọc biến theo ba tiêu chí:</a:t>
            </a:r>
            <a:r>
              <a:rPr sz="1250" b="0" i="0">
                <a:solidFill>
                  <a:srgbClr val="58595B"/>
                </a:solidFill>
                <a:latin typeface="Arial"/>
              </a:rPr>
              <a:t> có lý thuyết hỗ trợ; liên quan đến khoảng trống; đo được trong thời gian cho phép.</a:t>
            </a:r>
          </a:p>
        </p:txBody>
      </p:sp>
      <p:sp>
        <p:nvSpPr>
          <p:cNvPr id="21" name="Oval 20"/>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040880" y="47663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Viết một câu cho biến bị loại:</a:t>
            </a:r>
            <a:r>
              <a:rPr sz="1250" b="0" i="0">
                <a:solidFill>
                  <a:srgbClr val="58595B"/>
                </a:solidFill>
                <a:latin typeface="Arial"/>
              </a:rPr>
              <a:t> chi phí bị loại vì Ngân hàng X miễn phí giao dịch trên ứng dụng.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2 | GIẢ THUYẾT</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Giả thuyết có chiều thì kiểm định được, vì người đọc biết trước kết quả nào là trái với dự đoán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Bốn thành phần: mã hiệu, biến độc lập, chiều tác động, biến phụ thuộc; đi kèm đoạn căn cứ gồm lý thuyết, nghiên cứu thực nghiệm và bối cảnh.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2, mục 2.3.1, mục 6 và Hình 34</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25</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"H1: Cơ sở vật chất ảnh hưởng đến sự hài lòng. H2: Thái độ nhân viên ảnh hưởng đến sự hài lòng. H3: Quy trình hành chính ảnh hưởng đến sự hài lòng."</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"Theo mô hình SERVQUAL, phương tiện hữu hình là một trong năm thành phần tạo nên chất lượng dịch vụ (Parasuraman và cộng sự, 1988)... Từ các lập luận trên, giả thuyết H1 được phát biểu như sau. H1: Cơ sở vật chất có tác động cùng chiều đến sự hài lòng của phụ huynh đối với dịch vụ hành chính tại Trường Tiểu học Y."</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logic.</a:t>
            </a:r>
            <a:r>
              <a:rPr sz="1200" b="0" i="0">
                <a:solidFill>
                  <a:srgbClr val="58595B"/>
                </a:solidFill>
                <a:latin typeface="Arial"/>
              </a:rPr>
              <a:t> Không nói chiều tác động; kết quả nào cũng có thể xem là "ảnh hưởng", kể cả hệ số âm.</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Về bằng chứng.</a:t>
            </a:r>
            <a:r>
              <a:rPr sz="1200" b="0" i="0">
                <a:solidFill>
                  <a:srgbClr val="58595B"/>
                </a:solidFill>
                <a:latin typeface="Arial"/>
              </a:rPr>
              <a:t> Không có lý thuyết hay nghiên cứu trước đi kèm.</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Ở Chương 4 không có tiêu chí để kết luận giả thuyết được ủng hộ hay không.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04</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3: Phương pháp nghiên cứu</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Kiểm tra dự đoán của Chương 2 bằng cách nào? Sản phẩm là kế hoạch có lý do cho từng lựa chọn</a:t>
            </a:r>
          </a:p>
        </p:txBody>
      </p:sp>
      <p:sp>
        <p:nvSpPr>
          <p:cNvPr id="7" name="TextBox 6"/>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28 phút | 12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SỢI CHỈ NỐI BA CHƯƠNG</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biến trong mô hình trở thành một nhóm câu hỏi, một biến đại diện và một hệ số được kiểm định</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Chương 3 phải viết đủ chi tiết để người khác làm lại được nghiên cứu; sau mỗi lựa chọn có một câu "Phương pháp này được chọn vì...".</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1 và Bảng 10</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27</a:t>
            </a:r>
          </a:p>
        </p:txBody>
      </p:sp>
      <p:graphicFrame>
        <p:nvGraphicFramePr>
          <p:cNvPr id="12" name="Table 11"/>
          <p:cNvGraphicFramePr>
            <a:graphicFrameLocks noGrp="1"/>
          </p:cNvGraphicFramePr>
          <p:nvPr/>
        </p:nvGraphicFramePr>
        <p:xfrm>
          <a:off x="457200" y="1783080"/>
          <a:ext cx="7589519" cy="2697480"/>
        </p:xfrm>
        <a:graphic>
          <a:graphicData uri="http://schemas.openxmlformats.org/drawingml/2006/table">
            <a:tbl>
              <a:tblPr firstRow="1" bandRow="1">
                <a:tableStyleId>{5C22544A-7EE6-4342-B048-85BDC9FD1C3A}</a:tableStyleId>
              </a:tblPr>
              <a:tblGrid>
                <a:gridCol w="2108200"/>
                <a:gridCol w="1546013"/>
                <a:gridCol w="2108200"/>
                <a:gridCol w="1827106"/>
              </a:tblGrid>
              <a:tr h="411480">
                <a:tc>
                  <a:txBody>
                    <a:bodyPr wrap="square"/>
                    <a:lstStyle/>
                    <a:p>
                      <a:pPr algn="l"/>
                      <a:r>
                        <a:rPr sz="1200" b="1">
                          <a:solidFill>
                            <a:srgbClr val="FFFFFF"/>
                          </a:solidFill>
                          <a:latin typeface="Arial"/>
                        </a:rPr>
                        <a:t>Biến trong mô hình (Chương 2)</a:t>
                      </a:r>
                    </a:p>
                  </a:txBody>
                  <a:tcPr marL="73152" marR="73152" marT="27432" marB="27432" anchor="ctr">
                    <a:solidFill>
                      <a:srgbClr val="262626"/>
                    </a:solidFill>
                  </a:tcPr>
                </a:tc>
                <a:tc>
                  <a:txBody>
                    <a:bodyPr wrap="square"/>
                    <a:lstStyle/>
                    <a:p>
                      <a:pPr algn="l"/>
                      <a:r>
                        <a:rPr sz="1200" b="1">
                          <a:solidFill>
                            <a:srgbClr val="FFFFFF"/>
                          </a:solidFill>
                          <a:latin typeface="Arial"/>
                        </a:rPr>
                        <a:t>Câu hỏi (Chương 3)</a:t>
                      </a:r>
                    </a:p>
                  </a:txBody>
                  <a:tcPr marL="73152" marR="73152" marT="27432" marB="27432" anchor="ctr">
                    <a:solidFill>
                      <a:srgbClr val="262626"/>
                    </a:solidFill>
                  </a:tcPr>
                </a:tc>
                <a:tc>
                  <a:txBody>
                    <a:bodyPr wrap="square"/>
                    <a:lstStyle/>
                    <a:p>
                      <a:pPr algn="l"/>
                      <a:r>
                        <a:rPr sz="1200" b="1">
                          <a:solidFill>
                            <a:srgbClr val="FFFFFF"/>
                          </a:solidFill>
                          <a:latin typeface="Arial"/>
                        </a:rPr>
                        <a:t>Biến đại diện</a:t>
                      </a:r>
                    </a:p>
                  </a:txBody>
                  <a:tcPr marL="73152" marR="73152" marT="27432" marB="27432" anchor="ctr">
                    <a:solidFill>
                      <a:srgbClr val="262626"/>
                    </a:solidFill>
                  </a:tcPr>
                </a:tc>
                <a:tc>
                  <a:txBody>
                    <a:bodyPr wrap="square"/>
                    <a:lstStyle/>
                    <a:p>
                      <a:pPr algn="l"/>
                      <a:r>
                        <a:rPr sz="1200" b="1">
                          <a:solidFill>
                            <a:srgbClr val="FFFFFF"/>
                          </a:solidFill>
                          <a:latin typeface="Arial"/>
                        </a:rPr>
                        <a:t>Kiểm định (Chương 4)</a:t>
                      </a:r>
                    </a:p>
                  </a:txBody>
                  <a:tcPr marL="73152" marR="73152" marT="27432" marB="27432" anchor="ctr">
                    <a:solidFill>
                      <a:srgbClr val="262626"/>
                    </a:solidFill>
                  </a:tcPr>
                </a:tc>
              </a:tr>
              <a:tr h="457200">
                <a:tc>
                  <a:txBody>
                    <a:bodyPr wrap="square"/>
                    <a:lstStyle/>
                    <a:p>
                      <a:pPr algn="l"/>
                      <a:r>
                        <a:rPr sz="1200" b="0">
                          <a:solidFill>
                            <a:srgbClr val="262626"/>
                          </a:solidFill>
                          <a:latin typeface="Arial"/>
                        </a:rPr>
                        <a:t>Sự hữu ích</a:t>
                      </a:r>
                    </a:p>
                  </a:txBody>
                  <a:tcPr marL="73152" marR="73152" marT="27432" marB="27432" anchor="ctr">
                    <a:solidFill>
                      <a:srgbClr val="FFFFFF"/>
                    </a:solidFill>
                  </a:tcPr>
                </a:tc>
                <a:tc>
                  <a:txBody>
                    <a:bodyPr wrap="square"/>
                    <a:lstStyle/>
                    <a:p>
                      <a:pPr algn="l"/>
                      <a:r>
                        <a:rPr sz="1200" b="0">
                          <a:solidFill>
                            <a:srgbClr val="262626"/>
                          </a:solidFill>
                          <a:latin typeface="Arial"/>
                        </a:rPr>
                        <a:t>HI1 đến HI4</a:t>
                      </a:r>
                    </a:p>
                  </a:txBody>
                  <a:tcPr marL="73152" marR="73152" marT="27432" marB="27432" anchor="ctr">
                    <a:solidFill>
                      <a:srgbClr val="FFFFFF"/>
                    </a:solidFill>
                  </a:tcPr>
                </a:tc>
                <a:tc>
                  <a:txBody>
                    <a:bodyPr wrap="square"/>
                    <a:lstStyle/>
                    <a:p>
                      <a:pPr algn="l"/>
                      <a:r>
                        <a:rPr sz="1200" b="0">
                          <a:solidFill>
                            <a:srgbClr val="262626"/>
                          </a:solidFill>
                          <a:latin typeface="Arial"/>
                        </a:rPr>
                        <a:t>HI = AVERAGE(HI1:HI4)</a:t>
                      </a:r>
                    </a:p>
                  </a:txBody>
                  <a:tcPr marL="73152" marR="73152" marT="27432" marB="27432" anchor="ctr">
                    <a:solidFill>
                      <a:srgbClr val="FFFFFF"/>
                    </a:solidFill>
                  </a:tcPr>
                </a:tc>
                <a:tc>
                  <a:txBody>
                    <a:bodyPr wrap="square"/>
                    <a:lstStyle/>
                    <a:p>
                      <a:pPr algn="l"/>
                      <a:r>
                        <a:rPr sz="1200" b="0">
                          <a:solidFill>
                            <a:srgbClr val="262626"/>
                          </a:solidFill>
                          <a:latin typeface="Arial"/>
                        </a:rPr>
                        <a:t>H1: hệ số của HI</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Sự dễ sử dụng</a:t>
                      </a:r>
                    </a:p>
                  </a:txBody>
                  <a:tcPr marL="73152" marR="73152" marT="27432" marB="27432" anchor="ctr">
                    <a:solidFill>
                      <a:srgbClr val="F3F3F3"/>
                    </a:solidFill>
                  </a:tcPr>
                </a:tc>
                <a:tc>
                  <a:txBody>
                    <a:bodyPr wrap="square"/>
                    <a:lstStyle/>
                    <a:p>
                      <a:pPr algn="l"/>
                      <a:r>
                        <a:rPr sz="1200" b="0">
                          <a:solidFill>
                            <a:srgbClr val="262626"/>
                          </a:solidFill>
                          <a:latin typeface="Arial"/>
                        </a:rPr>
                        <a:t>SD1 đến SD4</a:t>
                      </a:r>
                    </a:p>
                  </a:txBody>
                  <a:tcPr marL="73152" marR="73152" marT="27432" marB="27432" anchor="ctr">
                    <a:solidFill>
                      <a:srgbClr val="F3F3F3"/>
                    </a:solidFill>
                  </a:tcPr>
                </a:tc>
                <a:tc>
                  <a:txBody>
                    <a:bodyPr wrap="square"/>
                    <a:lstStyle/>
                    <a:p>
                      <a:pPr algn="l"/>
                      <a:r>
                        <a:rPr sz="1200" b="0">
                          <a:solidFill>
                            <a:srgbClr val="262626"/>
                          </a:solidFill>
                          <a:latin typeface="Arial"/>
                        </a:rPr>
                        <a:t>SD</a:t>
                      </a:r>
                    </a:p>
                  </a:txBody>
                  <a:tcPr marL="73152" marR="73152" marT="27432" marB="27432" anchor="ctr">
                    <a:solidFill>
                      <a:srgbClr val="F3F3F3"/>
                    </a:solidFill>
                  </a:tcPr>
                </a:tc>
                <a:tc>
                  <a:txBody>
                    <a:bodyPr wrap="square"/>
                    <a:lstStyle/>
                    <a:p>
                      <a:pPr algn="l"/>
                      <a:r>
                        <a:rPr sz="1200" b="0">
                          <a:solidFill>
                            <a:srgbClr val="262626"/>
                          </a:solidFill>
                          <a:latin typeface="Arial"/>
                        </a:rPr>
                        <a:t>H2: hệ số của SD</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Niềm tin</a:t>
                      </a:r>
                    </a:p>
                  </a:txBody>
                  <a:tcPr marL="73152" marR="73152" marT="27432" marB="27432" anchor="ctr">
                    <a:solidFill>
                      <a:srgbClr val="FFFFFF"/>
                    </a:solidFill>
                  </a:tcPr>
                </a:tc>
                <a:tc>
                  <a:txBody>
                    <a:bodyPr wrap="square"/>
                    <a:lstStyle/>
                    <a:p>
                      <a:pPr algn="l"/>
                      <a:r>
                        <a:rPr sz="1200" b="0">
                          <a:solidFill>
                            <a:srgbClr val="262626"/>
                          </a:solidFill>
                          <a:latin typeface="Arial"/>
                        </a:rPr>
                        <a:t>NT1 đến NT4</a:t>
                      </a:r>
                    </a:p>
                  </a:txBody>
                  <a:tcPr marL="73152" marR="73152" marT="27432" marB="27432" anchor="ctr">
                    <a:solidFill>
                      <a:srgbClr val="FFFFFF"/>
                    </a:solidFill>
                  </a:tcPr>
                </a:tc>
                <a:tc>
                  <a:txBody>
                    <a:bodyPr wrap="square"/>
                    <a:lstStyle/>
                    <a:p>
                      <a:pPr algn="l"/>
                      <a:r>
                        <a:rPr sz="1200" b="0">
                          <a:solidFill>
                            <a:srgbClr val="262626"/>
                          </a:solidFill>
                          <a:latin typeface="Arial"/>
                        </a:rPr>
                        <a:t>NT</a:t>
                      </a:r>
                    </a:p>
                  </a:txBody>
                  <a:tcPr marL="73152" marR="73152" marT="27432" marB="27432" anchor="ctr">
                    <a:solidFill>
                      <a:srgbClr val="FFFFFF"/>
                    </a:solidFill>
                  </a:tcPr>
                </a:tc>
                <a:tc>
                  <a:txBody>
                    <a:bodyPr wrap="square"/>
                    <a:lstStyle/>
                    <a:p>
                      <a:pPr algn="l"/>
                      <a:r>
                        <a:rPr sz="1200" b="0">
                          <a:solidFill>
                            <a:srgbClr val="262626"/>
                          </a:solidFill>
                          <a:latin typeface="Arial"/>
                        </a:rPr>
                        <a:t>H3: hệ số của NT</a:t>
                      </a:r>
                    </a:p>
                  </a:txBody>
                  <a:tcPr marL="73152" marR="73152" marT="27432" marB="27432" anchor="ctr">
                    <a:solidFill>
                      <a:srgbClr val="FFFFFF"/>
                    </a:solidFill>
                  </a:tcPr>
                </a:tc>
              </a:tr>
              <a:tr h="457200">
                <a:tc>
                  <a:txBody>
                    <a:bodyPr wrap="square"/>
                    <a:lstStyle/>
                    <a:p>
                      <a:pPr algn="l"/>
                      <a:r>
                        <a:rPr sz="1200" b="0">
                          <a:solidFill>
                            <a:srgbClr val="262626"/>
                          </a:solidFill>
                          <a:latin typeface="Arial"/>
                        </a:rPr>
                        <a:t>Ảnh hưởng xã hội</a:t>
                      </a:r>
                    </a:p>
                  </a:txBody>
                  <a:tcPr marL="73152" marR="73152" marT="27432" marB="27432" anchor="ctr">
                    <a:solidFill>
                      <a:srgbClr val="F3F3F3"/>
                    </a:solidFill>
                  </a:tcPr>
                </a:tc>
                <a:tc>
                  <a:txBody>
                    <a:bodyPr wrap="square"/>
                    <a:lstStyle/>
                    <a:p>
                      <a:pPr algn="l"/>
                      <a:r>
                        <a:rPr sz="1200" b="0">
                          <a:solidFill>
                            <a:srgbClr val="262626"/>
                          </a:solidFill>
                          <a:latin typeface="Arial"/>
                        </a:rPr>
                        <a:t>XH1 đến XH4</a:t>
                      </a:r>
                    </a:p>
                  </a:txBody>
                  <a:tcPr marL="73152" marR="73152" marT="27432" marB="27432" anchor="ctr">
                    <a:solidFill>
                      <a:srgbClr val="F3F3F3"/>
                    </a:solidFill>
                  </a:tcPr>
                </a:tc>
                <a:tc>
                  <a:txBody>
                    <a:bodyPr wrap="square"/>
                    <a:lstStyle/>
                    <a:p>
                      <a:pPr algn="l"/>
                      <a:r>
                        <a:rPr sz="1200" b="0">
                          <a:solidFill>
                            <a:srgbClr val="262626"/>
                          </a:solidFill>
                          <a:latin typeface="Arial"/>
                        </a:rPr>
                        <a:t>XH</a:t>
                      </a:r>
                    </a:p>
                  </a:txBody>
                  <a:tcPr marL="73152" marR="73152" marT="27432" marB="27432" anchor="ctr">
                    <a:solidFill>
                      <a:srgbClr val="F3F3F3"/>
                    </a:solidFill>
                  </a:tcPr>
                </a:tc>
                <a:tc>
                  <a:txBody>
                    <a:bodyPr wrap="square"/>
                    <a:lstStyle/>
                    <a:p>
                      <a:pPr algn="l"/>
                      <a:r>
                        <a:rPr sz="1200" b="0">
                          <a:solidFill>
                            <a:srgbClr val="262626"/>
                          </a:solidFill>
                          <a:latin typeface="Arial"/>
                        </a:rPr>
                        <a:t>H4: hệ số của XH</a:t>
                      </a:r>
                    </a:p>
                  </a:txBody>
                  <a:tcPr marL="73152" marR="73152" marT="27432" marB="27432" anchor="ctr">
                    <a:solidFill>
                      <a:srgbClr val="F3F3F3"/>
                    </a:solidFill>
                  </a:tcPr>
                </a:tc>
              </a:tr>
              <a:tr h="457200">
                <a:tc>
                  <a:txBody>
                    <a:bodyPr wrap="square"/>
                    <a:lstStyle/>
                    <a:p>
                      <a:pPr algn="l"/>
                      <a:r>
                        <a:rPr sz="1200" b="0">
                          <a:solidFill>
                            <a:srgbClr val="262626"/>
                          </a:solidFill>
                          <a:latin typeface="Arial"/>
                        </a:rPr>
                        <a:t>Ý định sử dụng</a:t>
                      </a:r>
                    </a:p>
                  </a:txBody>
                  <a:tcPr marL="73152" marR="73152" marT="27432" marB="27432" anchor="ctr">
                    <a:solidFill>
                      <a:srgbClr val="FFFFFF"/>
                    </a:solidFill>
                  </a:tcPr>
                </a:tc>
                <a:tc>
                  <a:txBody>
                    <a:bodyPr wrap="square"/>
                    <a:lstStyle/>
                    <a:p>
                      <a:pPr algn="l"/>
                      <a:r>
                        <a:rPr sz="1200" b="0">
                          <a:solidFill>
                            <a:srgbClr val="262626"/>
                          </a:solidFill>
                          <a:latin typeface="Arial"/>
                        </a:rPr>
                        <a:t>YD1 đến YD3</a:t>
                      </a:r>
                    </a:p>
                  </a:txBody>
                  <a:tcPr marL="73152" marR="73152" marT="27432" marB="27432" anchor="ctr">
                    <a:solidFill>
                      <a:srgbClr val="FFFFFF"/>
                    </a:solidFill>
                  </a:tcPr>
                </a:tc>
                <a:tc>
                  <a:txBody>
                    <a:bodyPr wrap="square"/>
                    <a:lstStyle/>
                    <a:p>
                      <a:pPr algn="l"/>
                      <a:r>
                        <a:rPr sz="1200" b="0">
                          <a:solidFill>
                            <a:srgbClr val="262626"/>
                          </a:solidFill>
                          <a:latin typeface="Arial"/>
                        </a:rPr>
                        <a:t>YD</a:t>
                      </a:r>
                    </a:p>
                  </a:txBody>
                  <a:tcPr marL="73152" marR="73152" marT="27432" marB="27432" anchor="ctr">
                    <a:solidFill>
                      <a:srgbClr val="FFFFFF"/>
                    </a:solidFill>
                  </a:tcPr>
                </a:tc>
                <a:tc>
                  <a:txBody>
                    <a:bodyPr wrap="square"/>
                    <a:lstStyle/>
                    <a:p>
                      <a:pPr algn="l"/>
                      <a:r>
                        <a:rPr sz="1200" b="0">
                          <a:solidFill>
                            <a:srgbClr val="262626"/>
                          </a:solidFill>
                          <a:latin typeface="Arial"/>
                        </a:rPr>
                        <a:t>Biến phụ thuộc</a:t>
                      </a:r>
                    </a:p>
                  </a:txBody>
                  <a:tcPr marL="73152" marR="73152" marT="27432" marB="27432" anchor="ctr">
                    <a:solidFill>
                      <a:srgbClr val="FFFFFF"/>
                    </a:solidFill>
                  </a:tcPr>
                </a:tc>
              </a:tr>
            </a:tbl>
          </a:graphicData>
        </a:graphic>
      </p:graphicFrame>
      <p:sp>
        <p:nvSpPr>
          <p:cNvPr id="13" name="TextBox 12"/>
          <p:cNvSpPr txBox="1"/>
          <p:nvPr/>
        </p:nvSpPr>
        <p:spPr>
          <a:xfrm>
            <a:off x="8321040" y="1783080"/>
            <a:ext cx="3410711" cy="274320"/>
          </a:xfrm>
          <a:prstGeom prst="rect">
            <a:avLst/>
          </a:prstGeom>
          <a:noFill/>
        </p:spPr>
        <p:txBody>
          <a:bodyPr wrap="square" lIns="45720" rIns="45720" tIns="27432" bIns="27432" anchor="t">
            <a:spAutoFit/>
          </a:bodyPr>
          <a:lstStyle/>
          <a:p>
            <a:pPr algn="l"/>
            <a:r>
              <a:rPr sz="1000" b="1" i="0">
                <a:solidFill>
                  <a:srgbClr val="CC0000"/>
                </a:solidFill>
                <a:latin typeface="Arial"/>
              </a:rPr>
              <a:t>HAI QUY TẮC KIỂM TRA</a:t>
            </a:r>
          </a:p>
        </p:txBody>
      </p:sp>
      <p:cxnSp>
        <p:nvCxnSpPr>
          <p:cNvPr id="14" name="Connector 13"/>
          <p:cNvCxnSpPr/>
          <p:nvPr/>
        </p:nvCxnSpPr>
        <p:spPr>
          <a:xfrm>
            <a:off x="8321040" y="2103120"/>
            <a:ext cx="3410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321040" y="2167128"/>
            <a:ext cx="3410711" cy="3383280"/>
          </a:xfrm>
          <a:prstGeom prst="rect">
            <a:avLst/>
          </a:prstGeom>
          <a:noFill/>
        </p:spPr>
        <p:txBody>
          <a:bodyPr wrap="square" lIns="45720" rIns="45720" tIns="27432" bIns="27432" anchor="t">
            <a:spAutoFit/>
          </a:bodyPr>
          <a:lstStyle/>
          <a:p>
            <a:pPr algn="l"/>
            <a:r>
              <a:rPr sz="1200" b="1" i="0">
                <a:solidFill>
                  <a:srgbClr val="58595B"/>
                </a:solidFill>
                <a:latin typeface="Arial"/>
              </a:rPr>
              <a:t>Quy tắc 1:</a:t>
            </a:r>
            <a:r>
              <a:rPr sz="1200" b="0" i="0">
                <a:solidFill>
                  <a:srgbClr val="58595B"/>
                </a:solidFill>
                <a:latin typeface="Arial"/>
              </a:rPr>
              <a:t> biến có trong mô hình mà không có câu hỏi thì giả thuyết của biến đó không kiểm định được.</a:t>
            </a:r>
          </a:p>
          <a:p>
            <a:pPr algn="l">
              <a:spcBef>
                <a:spcPts val="540"/>
              </a:spcBef>
            </a:pPr>
          </a:p>
          <a:p>
            <a:pPr algn="l">
              <a:spcBef>
                <a:spcPts val="540"/>
              </a:spcBef>
            </a:pPr>
            <a:r>
              <a:rPr sz="1200" b="1" i="0">
                <a:solidFill>
                  <a:srgbClr val="58595B"/>
                </a:solidFill>
                <a:latin typeface="Arial"/>
              </a:rPr>
              <a:t>Quy tắc 2:</a:t>
            </a:r>
            <a:r>
              <a:rPr sz="1200" b="0" i="0">
                <a:solidFill>
                  <a:srgbClr val="58595B"/>
                </a:solidFill>
                <a:latin typeface="Arial"/>
              </a:rPr>
              <a:t> câu hỏi không thuộc biến nào (trừ câu thông tin chung) là câu thừa.</a:t>
            </a:r>
          </a:p>
          <a:p>
            <a:pPr algn="l">
              <a:spcBef>
                <a:spcPts val="540"/>
              </a:spcBef>
            </a:pPr>
          </a:p>
          <a:p>
            <a:pPr algn="l">
              <a:spcBef>
                <a:spcPts val="540"/>
              </a:spcBef>
            </a:pPr>
            <a:r>
              <a:rPr sz="1200" b="1" i="0">
                <a:solidFill>
                  <a:srgbClr val="58595B"/>
                </a:solidFill>
                <a:latin typeface="Arial"/>
              </a:rPr>
              <a:t>Ranh giới:</a:t>
            </a:r>
            <a:r>
              <a:rPr sz="1200" b="0" i="0">
                <a:solidFill>
                  <a:srgbClr val="58595B"/>
                </a:solidFill>
                <a:latin typeface="Arial"/>
              </a:rPr>
              <a:t> Chương 3 chỉ nói "sẽ tính gì, bằng công cụ gì, đọc thế nào"; mọi con số kết quả thuộc Chương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TRIẾT LÝ VÀ CÁCH TIẾP CẬN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Triết lý, cách tiếp cận và phương pháp phải nằm trên cùng một cột, nếu không Chương 3 tự mâu thuẫn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nghiên cứu quyết định cách tiếp cận: hỏi "mức độ tác động" là định lượng; hỏi "trải qua những gì" là định tính.</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3.1.1 và 3.1.2, Bảng 11; Creswell và Creswell (2018, tr. 43 đến 44); Trần Phước (n.d., tr. 10 đến 17)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28</a:t>
            </a:r>
          </a:p>
        </p:txBody>
      </p:sp>
      <p:graphicFrame>
        <p:nvGraphicFramePr>
          <p:cNvPr id="11" name="Table 10"/>
          <p:cNvGraphicFramePr>
            <a:graphicFrameLocks noGrp="1"/>
          </p:cNvGraphicFramePr>
          <p:nvPr/>
        </p:nvGraphicFramePr>
        <p:xfrm>
          <a:off x="457200" y="1783080"/>
          <a:ext cx="7863837" cy="3319272"/>
        </p:xfrm>
        <a:graphic>
          <a:graphicData uri="http://schemas.openxmlformats.org/drawingml/2006/table">
            <a:tbl>
              <a:tblPr firstRow="1" bandRow="1">
                <a:tableStyleId>{5C22544A-7EE6-4342-B048-85BDC9FD1C3A}</a:tableStyleId>
              </a:tblPr>
              <a:tblGrid>
                <a:gridCol w="1747519"/>
                <a:gridCol w="3058159"/>
                <a:gridCol w="3058159"/>
              </a:tblGrid>
              <a:tr h="411480">
                <a:tc>
                  <a:txBody>
                    <a:bodyPr wrap="square"/>
                    <a:lstStyle/>
                    <a:p>
                      <a:pPr algn="l"/>
                    </a:p>
                  </a:txBody>
                  <a:tcPr marL="73152" marR="73152" marT="27432" marB="27432" anchor="ctr">
                    <a:solidFill>
                      <a:srgbClr val="262626"/>
                    </a:solidFill>
                  </a:tcPr>
                </a:tc>
                <a:tc>
                  <a:txBody>
                    <a:bodyPr wrap="square"/>
                    <a:lstStyle/>
                    <a:p>
                      <a:pPr algn="l"/>
                      <a:r>
                        <a:rPr sz="1150" b="1">
                          <a:solidFill>
                            <a:srgbClr val="FFFFFF"/>
                          </a:solidFill>
                          <a:latin typeface="Arial"/>
                        </a:rPr>
                        <a:t>Hậu thực chứng (thực chứng)</a:t>
                      </a:r>
                    </a:p>
                  </a:txBody>
                  <a:tcPr marL="73152" marR="73152" marT="27432" marB="27432" anchor="ctr">
                    <a:solidFill>
                      <a:srgbClr val="262626"/>
                    </a:solidFill>
                  </a:tcPr>
                </a:tc>
                <a:tc>
                  <a:txBody>
                    <a:bodyPr wrap="square"/>
                    <a:lstStyle/>
                    <a:p>
                      <a:pPr algn="l"/>
                      <a:r>
                        <a:rPr sz="1150" b="1">
                          <a:solidFill>
                            <a:srgbClr val="FFFFFF"/>
                          </a:solidFill>
                          <a:latin typeface="Arial"/>
                        </a:rPr>
                        <a:t>Kiến tạo (diễn giải)</a:t>
                      </a:r>
                    </a:p>
                  </a:txBody>
                  <a:tcPr marL="73152" marR="73152" marT="27432" marB="27432" anchor="ctr">
                    <a:solidFill>
                      <a:srgbClr val="262626"/>
                    </a:solidFill>
                  </a:tcPr>
                </a:tc>
              </a:tr>
              <a:tr h="484632">
                <a:tc>
                  <a:txBody>
                    <a:bodyPr wrap="square"/>
                    <a:lstStyle/>
                    <a:p>
                      <a:pPr algn="l"/>
                      <a:r>
                        <a:rPr sz="1150" b="0">
                          <a:solidFill>
                            <a:srgbClr val="262626"/>
                          </a:solidFill>
                          <a:latin typeface="Arial"/>
                        </a:rPr>
                        <a:t>Cách tạo ra hiểu biết</a:t>
                      </a:r>
                    </a:p>
                  </a:txBody>
                  <a:tcPr marL="73152" marR="73152" marT="27432" marB="27432" anchor="ctr">
                    <a:solidFill>
                      <a:srgbClr val="FFFFFF"/>
                    </a:solidFill>
                  </a:tcPr>
                </a:tc>
                <a:tc>
                  <a:txBody>
                    <a:bodyPr wrap="square"/>
                    <a:lstStyle/>
                    <a:p>
                      <a:pPr algn="l"/>
                      <a:r>
                        <a:rPr sz="1150" b="0">
                          <a:solidFill>
                            <a:srgbClr val="262626"/>
                          </a:solidFill>
                          <a:latin typeface="Arial"/>
                        </a:rPr>
                        <a:t>Nguyên nhân quyết định kết quả; kiểm định lý thuyết bằng đo lường</a:t>
                      </a:r>
                    </a:p>
                  </a:txBody>
                  <a:tcPr marL="73152" marR="73152" marT="27432" marB="27432" anchor="ctr">
                    <a:solidFill>
                      <a:srgbClr val="FFFFFF"/>
                    </a:solidFill>
                  </a:tcPr>
                </a:tc>
                <a:tc>
                  <a:txBody>
                    <a:bodyPr wrap="square"/>
                    <a:lstStyle/>
                    <a:p>
                      <a:pPr algn="l"/>
                      <a:r>
                        <a:rPr sz="1150" b="0">
                          <a:solidFill>
                            <a:srgbClr val="262626"/>
                          </a:solidFill>
                          <a:latin typeface="Arial"/>
                        </a:rPr>
                        <a:t>Mỗi người hiểu thực tại theo cách riêng; tìm ý nghĩa qua lời kể</a:t>
                      </a:r>
                    </a:p>
                  </a:txBody>
                  <a:tcPr marL="73152" marR="73152" marT="27432" marB="27432" anchor="ctr">
                    <a:solidFill>
                      <a:srgbClr val="FFFFFF"/>
                    </a:solidFill>
                  </a:tcPr>
                </a:tc>
              </a:tr>
              <a:tr h="484632">
                <a:tc>
                  <a:txBody>
                    <a:bodyPr wrap="square"/>
                    <a:lstStyle/>
                    <a:p>
                      <a:pPr algn="l"/>
                      <a:r>
                        <a:rPr sz="1150" b="0">
                          <a:solidFill>
                            <a:srgbClr val="262626"/>
                          </a:solidFill>
                          <a:latin typeface="Arial"/>
                        </a:rPr>
                        <a:t>Hướng suy luận</a:t>
                      </a:r>
                    </a:p>
                  </a:txBody>
                  <a:tcPr marL="73152" marR="73152" marT="27432" marB="27432" anchor="ctr">
                    <a:solidFill>
                      <a:srgbClr val="F3F3F3"/>
                    </a:solidFill>
                  </a:tcPr>
                </a:tc>
                <a:tc>
                  <a:txBody>
                    <a:bodyPr wrap="square"/>
                    <a:lstStyle/>
                    <a:p>
                      <a:pPr algn="l"/>
                      <a:r>
                        <a:rPr sz="1150" b="0">
                          <a:solidFill>
                            <a:srgbClr val="262626"/>
                          </a:solidFill>
                          <a:latin typeface="Arial"/>
                        </a:rPr>
                        <a:t>Suy diễn: từ lý thuyết xuống giả thuyết, rồi thu dữ liệu</a:t>
                      </a:r>
                    </a:p>
                  </a:txBody>
                  <a:tcPr marL="73152" marR="73152" marT="27432" marB="27432" anchor="ctr">
                    <a:solidFill>
                      <a:srgbClr val="F3F3F3"/>
                    </a:solidFill>
                  </a:tcPr>
                </a:tc>
                <a:tc>
                  <a:txBody>
                    <a:bodyPr wrap="square"/>
                    <a:lstStyle/>
                    <a:p>
                      <a:pPr algn="l"/>
                      <a:r>
                        <a:rPr sz="1150" b="0">
                          <a:solidFill>
                            <a:srgbClr val="262626"/>
                          </a:solidFill>
                          <a:latin typeface="Arial"/>
                        </a:rPr>
                        <a:t>Quy nạp: từ dữ liệu cụ thể lên khái quát</a:t>
                      </a:r>
                    </a:p>
                  </a:txBody>
                  <a:tcPr marL="73152" marR="73152" marT="27432" marB="27432" anchor="ctr">
                    <a:solidFill>
                      <a:srgbClr val="F3F3F3"/>
                    </a:solidFill>
                  </a:tcPr>
                </a:tc>
              </a:tr>
              <a:tr h="484632">
                <a:tc>
                  <a:txBody>
                    <a:bodyPr wrap="square"/>
                    <a:lstStyle/>
                    <a:p>
                      <a:pPr algn="l"/>
                      <a:r>
                        <a:rPr sz="1150" b="0">
                          <a:solidFill>
                            <a:srgbClr val="262626"/>
                          </a:solidFill>
                          <a:latin typeface="Arial"/>
                        </a:rPr>
                        <a:t>Cách tiếp cận</a:t>
                      </a:r>
                    </a:p>
                  </a:txBody>
                  <a:tcPr marL="73152" marR="73152" marT="27432" marB="27432" anchor="ctr">
                    <a:solidFill>
                      <a:srgbClr val="FFFFFF"/>
                    </a:solidFill>
                  </a:tcPr>
                </a:tc>
                <a:tc>
                  <a:txBody>
                    <a:bodyPr wrap="square"/>
                    <a:lstStyle/>
                    <a:p>
                      <a:pPr algn="l"/>
                      <a:r>
                        <a:rPr sz="1150" b="0">
                          <a:solidFill>
                            <a:srgbClr val="262626"/>
                          </a:solidFill>
                          <a:latin typeface="Arial"/>
                        </a:rPr>
                        <a:t>Định lượng</a:t>
                      </a:r>
                    </a:p>
                  </a:txBody>
                  <a:tcPr marL="73152" marR="73152" marT="27432" marB="27432" anchor="ctr">
                    <a:solidFill>
                      <a:srgbClr val="FFFFFF"/>
                    </a:solidFill>
                  </a:tcPr>
                </a:tc>
                <a:tc>
                  <a:txBody>
                    <a:bodyPr wrap="square"/>
                    <a:lstStyle/>
                    <a:p>
                      <a:pPr algn="l"/>
                      <a:r>
                        <a:rPr sz="1150" b="0">
                          <a:solidFill>
                            <a:srgbClr val="262626"/>
                          </a:solidFill>
                          <a:latin typeface="Arial"/>
                        </a:rPr>
                        <a:t>Định tính</a:t>
                      </a:r>
                    </a:p>
                  </a:txBody>
                  <a:tcPr marL="73152" marR="73152" marT="27432" marB="27432" anchor="ctr">
                    <a:solidFill>
                      <a:srgbClr val="FFFFFF"/>
                    </a:solidFill>
                  </a:tcPr>
                </a:tc>
              </a:tr>
              <a:tr h="484632">
                <a:tc>
                  <a:txBody>
                    <a:bodyPr wrap="square"/>
                    <a:lstStyle/>
                    <a:p>
                      <a:pPr algn="l"/>
                      <a:r>
                        <a:rPr sz="1150" b="0">
                          <a:solidFill>
                            <a:srgbClr val="262626"/>
                          </a:solidFill>
                          <a:latin typeface="Arial"/>
                        </a:rPr>
                        <a:t>Thu thập</a:t>
                      </a:r>
                    </a:p>
                  </a:txBody>
                  <a:tcPr marL="73152" marR="73152" marT="27432" marB="27432" anchor="ctr">
                    <a:solidFill>
                      <a:srgbClr val="F3F3F3"/>
                    </a:solidFill>
                  </a:tcPr>
                </a:tc>
                <a:tc>
                  <a:txBody>
                    <a:bodyPr wrap="square"/>
                    <a:lstStyle/>
                    <a:p>
                      <a:pPr algn="l"/>
                      <a:r>
                        <a:rPr sz="1150" b="0">
                          <a:solidFill>
                            <a:srgbClr val="262626"/>
                          </a:solidFill>
                          <a:latin typeface="Arial"/>
                        </a:rPr>
                        <a:t>Bảng hỏi Likert</a:t>
                      </a:r>
                    </a:p>
                  </a:txBody>
                  <a:tcPr marL="73152" marR="73152" marT="27432" marB="27432" anchor="ctr">
                    <a:solidFill>
                      <a:srgbClr val="F3F3F3"/>
                    </a:solidFill>
                  </a:tcPr>
                </a:tc>
                <a:tc>
                  <a:txBody>
                    <a:bodyPr wrap="square"/>
                    <a:lstStyle/>
                    <a:p>
                      <a:pPr algn="l"/>
                      <a:r>
                        <a:rPr sz="1150" b="0">
                          <a:solidFill>
                            <a:srgbClr val="262626"/>
                          </a:solidFill>
                          <a:latin typeface="Arial"/>
                        </a:rPr>
                        <a:t>Phỏng vấn sâu, quan sát</a:t>
                      </a:r>
                    </a:p>
                  </a:txBody>
                  <a:tcPr marL="73152" marR="73152" marT="27432" marB="27432" anchor="ctr">
                    <a:solidFill>
                      <a:srgbClr val="F3F3F3"/>
                    </a:solidFill>
                  </a:tcPr>
                </a:tc>
              </a:tr>
              <a:tr h="484632">
                <a:tc>
                  <a:txBody>
                    <a:bodyPr wrap="square"/>
                    <a:lstStyle/>
                    <a:p>
                      <a:pPr algn="l"/>
                      <a:r>
                        <a:rPr sz="1150" b="0">
                          <a:solidFill>
                            <a:srgbClr val="262626"/>
                          </a:solidFill>
                          <a:latin typeface="Arial"/>
                        </a:rPr>
                        <a:t>Phân tích</a:t>
                      </a:r>
                    </a:p>
                  </a:txBody>
                  <a:tcPr marL="73152" marR="73152" marT="27432" marB="27432" anchor="ctr">
                    <a:solidFill>
                      <a:srgbClr val="FFFFFF"/>
                    </a:solidFill>
                  </a:tcPr>
                </a:tc>
                <a:tc>
                  <a:txBody>
                    <a:bodyPr wrap="square"/>
                    <a:lstStyle/>
                    <a:p>
                      <a:pPr algn="l"/>
                      <a:r>
                        <a:rPr sz="1150" b="0">
                          <a:solidFill>
                            <a:srgbClr val="262626"/>
                          </a:solidFill>
                          <a:latin typeface="Arial"/>
                        </a:rPr>
                        <a:t>Thống kê, hồi quy</a:t>
                      </a:r>
                    </a:p>
                  </a:txBody>
                  <a:tcPr marL="73152" marR="73152" marT="27432" marB="27432" anchor="ctr">
                    <a:solidFill>
                      <a:srgbClr val="FFFFFF"/>
                    </a:solidFill>
                  </a:tcPr>
                </a:tc>
                <a:tc>
                  <a:txBody>
                    <a:bodyPr wrap="square"/>
                    <a:lstStyle/>
                    <a:p>
                      <a:pPr algn="l"/>
                      <a:r>
                        <a:rPr sz="1150" b="0">
                          <a:solidFill>
                            <a:srgbClr val="262626"/>
                          </a:solidFill>
                          <a:latin typeface="Arial"/>
                        </a:rPr>
                        <a:t>Mã hóa chủ đề</a:t>
                      </a:r>
                    </a:p>
                  </a:txBody>
                  <a:tcPr marL="73152" marR="73152" marT="27432" marB="27432" anchor="ctr">
                    <a:solidFill>
                      <a:srgbClr val="FFFFFF"/>
                    </a:solidFill>
                  </a:tcPr>
                </a:tc>
              </a:tr>
              <a:tr h="484632">
                <a:tc>
                  <a:txBody>
                    <a:bodyPr wrap="square"/>
                    <a:lstStyle/>
                    <a:p>
                      <a:pPr algn="l"/>
                      <a:r>
                        <a:rPr sz="1150" b="0">
                          <a:solidFill>
                            <a:srgbClr val="262626"/>
                          </a:solidFill>
                          <a:latin typeface="Arial"/>
                        </a:rPr>
                        <a:t>Dấu hiệu từ tên đề tài</a:t>
                      </a:r>
                    </a:p>
                  </a:txBody>
                  <a:tcPr marL="73152" marR="73152" marT="27432" marB="27432" anchor="ctr">
                    <a:solidFill>
                      <a:srgbClr val="F3F3F3"/>
                    </a:solidFill>
                  </a:tcPr>
                </a:tc>
                <a:tc>
                  <a:txBody>
                    <a:bodyPr wrap="square"/>
                    <a:lstStyle/>
                    <a:p>
                      <a:pPr algn="l"/>
                      <a:r>
                        <a:rPr sz="1150" b="0">
                          <a:solidFill>
                            <a:srgbClr val="262626"/>
                          </a:solidFill>
                          <a:latin typeface="Arial"/>
                        </a:rPr>
                        <a:t>"Tác động của...", "Kiểm chứng..."</a:t>
                      </a:r>
                    </a:p>
                  </a:txBody>
                  <a:tcPr marL="73152" marR="73152" marT="27432" marB="27432" anchor="ctr">
                    <a:solidFill>
                      <a:srgbClr val="F3F3F3"/>
                    </a:solidFill>
                  </a:tcPr>
                </a:tc>
                <a:tc>
                  <a:txBody>
                    <a:bodyPr wrap="square"/>
                    <a:lstStyle/>
                    <a:p>
                      <a:pPr algn="l"/>
                      <a:r>
                        <a:rPr sz="1150" b="0">
                          <a:solidFill>
                            <a:srgbClr val="262626"/>
                          </a:solidFill>
                          <a:latin typeface="Arial"/>
                        </a:rPr>
                        <a:t>"Khám phá...", "Thực trạng...", "Tìm hiểu các yếu tố mới..."</a:t>
                      </a:r>
                    </a:p>
                  </a:txBody>
                  <a:tcPr marL="73152" marR="73152" marT="27432" marB="27432" anchor="ctr">
                    <a:solidFill>
                      <a:srgbClr val="F3F3F3"/>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LỖI MÂU THUẪN</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00" b="0" i="0">
                <a:solidFill>
                  <a:srgbClr val="58595B"/>
                </a:solidFill>
                <a:latin typeface="Arial"/>
              </a:rPr>
              <a:t>Ghi "triết lý diễn giải" rồi dùng bảng hỏi và hồi quy thì người chấm kết luận sinh viên </a:t>
            </a:r>
            <a:r>
              <a:rPr sz="1200" b="1" i="0">
                <a:solidFill>
                  <a:srgbClr val="58595B"/>
                </a:solidFill>
                <a:latin typeface="Arial"/>
              </a:rPr>
              <a:t>chép tên triết lý mà không hiểu nội dung.</a:t>
            </a:r>
          </a:p>
          <a:p>
            <a:pPr algn="l">
              <a:spcBef>
                <a:spcPts val="540"/>
              </a:spcBef>
            </a:pPr>
          </a:p>
          <a:p>
            <a:pPr algn="l">
              <a:spcBef>
                <a:spcPts val="540"/>
              </a:spcBef>
            </a:pPr>
            <a:r>
              <a:rPr sz="1200" b="0" i="0">
                <a:solidFill>
                  <a:srgbClr val="58595B"/>
                </a:solidFill>
                <a:latin typeface="Arial"/>
              </a:rPr>
              <a:t>Kiểm tra bằng ba câu: triết lý nói gì về cách tạo ra hiểu biết; cách thu thập có đi theo đó không; cách phân tích có đi theo đó không.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THIẾT KẾ VÀ QUY TRÌNH</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Khảo sát cắt ngang năm bước, mỗi bước có một sản phẩm và một con số cụ thể</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Thiếu bước thử bảng hỏi thì câu hỏi khó hiểu chỉ lộ ra khi đã thu xong dữ liệu, lúc đó không sửa được nữa.</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3.2.1 và 3.2.2, Hình 38; Creswell và Creswell (2018, tr. 49, 208, 216)</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29</a:t>
            </a:r>
          </a:p>
        </p:txBody>
      </p:sp>
      <p:sp>
        <p:nvSpPr>
          <p:cNvPr id="12" name="Pentagon 11"/>
          <p:cNvSpPr/>
          <p:nvPr/>
        </p:nvSpPr>
        <p:spPr>
          <a:xfrm>
            <a:off x="457200" y="1783080"/>
            <a:ext cx="2364638"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1</a:t>
            </a:r>
          </a:p>
        </p:txBody>
      </p:sp>
      <p:sp>
        <p:nvSpPr>
          <p:cNvPr id="13" name="TextBox 12"/>
          <p:cNvSpPr txBox="1"/>
          <p:nvPr/>
        </p:nvSpPr>
        <p:spPr>
          <a:xfrm>
            <a:off x="56692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Tổng quan lý thuyết</a:t>
            </a:r>
          </a:p>
          <a:p>
            <a:pPr algn="l">
              <a:spcBef>
                <a:spcPts val="607"/>
              </a:spcBef>
            </a:pPr>
            <a:r>
              <a:rPr sz="1350" b="0" i="0">
                <a:solidFill>
                  <a:srgbClr val="58595B"/>
                </a:solidFill>
                <a:latin typeface="Arial"/>
              </a:rPr>
              <a:t>Mô hình và 4 giả thuyết.</a:t>
            </a:r>
          </a:p>
        </p:txBody>
      </p:sp>
      <p:sp>
        <p:nvSpPr>
          <p:cNvPr id="14" name="Chevron 13"/>
          <p:cNvSpPr/>
          <p:nvPr/>
        </p:nvSpPr>
        <p:spPr>
          <a:xfrm>
            <a:off x="2712110"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2</a:t>
            </a:r>
          </a:p>
        </p:txBody>
      </p:sp>
      <p:sp>
        <p:nvSpPr>
          <p:cNvPr id="15" name="TextBox 14"/>
          <p:cNvSpPr txBox="1"/>
          <p:nvPr/>
        </p:nvSpPr>
        <p:spPr>
          <a:xfrm>
            <a:off x="282183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Xây bảng hỏi</a:t>
            </a:r>
          </a:p>
          <a:p>
            <a:pPr algn="l">
              <a:spcBef>
                <a:spcPts val="607"/>
              </a:spcBef>
            </a:pPr>
            <a:r>
              <a:rPr sz="1350" b="0" i="0">
                <a:solidFill>
                  <a:srgbClr val="58595B"/>
                </a:solidFill>
                <a:latin typeface="Arial"/>
              </a:rPr>
              <a:t>19 câu, kế thừa thang đo đã công bố.</a:t>
            </a:r>
          </a:p>
        </p:txBody>
      </p:sp>
      <p:cxnSp>
        <p:nvCxnSpPr>
          <p:cNvPr id="16" name="Connector 15"/>
          <p:cNvCxnSpPr/>
          <p:nvPr/>
        </p:nvCxnSpPr>
        <p:spPr>
          <a:xfrm>
            <a:off x="273039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Chevron 16"/>
          <p:cNvSpPr/>
          <p:nvPr/>
        </p:nvSpPr>
        <p:spPr>
          <a:xfrm>
            <a:off x="4967020" y="1783080"/>
            <a:ext cx="2364638"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3</a:t>
            </a:r>
          </a:p>
        </p:txBody>
      </p:sp>
      <p:sp>
        <p:nvSpPr>
          <p:cNvPr id="18" name="TextBox 17"/>
          <p:cNvSpPr txBox="1"/>
          <p:nvPr/>
        </p:nvSpPr>
        <p:spPr>
          <a:xfrm>
            <a:off x="5076748"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Thử bảng hỏi</a:t>
            </a:r>
          </a:p>
          <a:p>
            <a:pPr algn="l">
              <a:spcBef>
                <a:spcPts val="607"/>
              </a:spcBef>
            </a:pPr>
            <a:r>
              <a:rPr sz="1350" b="0" i="0">
                <a:solidFill>
                  <a:srgbClr val="58595B"/>
                </a:solidFill>
                <a:latin typeface="Arial"/>
              </a:rPr>
              <a:t>Đọc thử với 5 khách hàng; khảo sát thử 30 người tính Alpha sơ bộ.</a:t>
            </a:r>
          </a:p>
        </p:txBody>
      </p:sp>
      <p:cxnSp>
        <p:nvCxnSpPr>
          <p:cNvPr id="19" name="Connector 18"/>
          <p:cNvCxnSpPr/>
          <p:nvPr/>
        </p:nvCxnSpPr>
        <p:spPr>
          <a:xfrm>
            <a:off x="4985308"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Chevron 19"/>
          <p:cNvSpPr/>
          <p:nvPr/>
        </p:nvSpPr>
        <p:spPr>
          <a:xfrm>
            <a:off x="722193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4</a:t>
            </a:r>
          </a:p>
        </p:txBody>
      </p:sp>
      <p:sp>
        <p:nvSpPr>
          <p:cNvPr id="21" name="TextBox 20"/>
          <p:cNvSpPr txBox="1"/>
          <p:nvPr/>
        </p:nvSpPr>
        <p:spPr>
          <a:xfrm>
            <a:off x="733165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Khảo sát chính thức</a:t>
            </a:r>
          </a:p>
          <a:p>
            <a:pPr algn="l">
              <a:spcBef>
                <a:spcPts val="607"/>
              </a:spcBef>
            </a:pPr>
            <a:r>
              <a:rPr sz="1350" b="0" i="0">
                <a:solidFill>
                  <a:srgbClr val="58595B"/>
                </a:solidFill>
                <a:latin typeface="Arial"/>
              </a:rPr>
              <a:t>Google Form và tại quầy; thu 165 phiếu.</a:t>
            </a:r>
          </a:p>
        </p:txBody>
      </p:sp>
      <p:cxnSp>
        <p:nvCxnSpPr>
          <p:cNvPr id="22" name="Connector 21"/>
          <p:cNvCxnSpPr/>
          <p:nvPr/>
        </p:nvCxnSpPr>
        <p:spPr>
          <a:xfrm>
            <a:off x="724021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Chevron 22"/>
          <p:cNvSpPr/>
          <p:nvPr/>
        </p:nvSpPr>
        <p:spPr>
          <a:xfrm>
            <a:off x="9476841" y="1783080"/>
            <a:ext cx="2364638"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Bước 5</a:t>
            </a:r>
          </a:p>
        </p:txBody>
      </p:sp>
      <p:sp>
        <p:nvSpPr>
          <p:cNvPr id="24" name="TextBox 23"/>
          <p:cNvSpPr txBox="1"/>
          <p:nvPr/>
        </p:nvSpPr>
        <p:spPr>
          <a:xfrm>
            <a:off x="9586569" y="2697480"/>
            <a:ext cx="2026310" cy="2880360"/>
          </a:xfrm>
          <a:prstGeom prst="rect">
            <a:avLst/>
          </a:prstGeom>
          <a:noFill/>
        </p:spPr>
        <p:txBody>
          <a:bodyPr wrap="square" lIns="45720" rIns="45720" tIns="27432" bIns="27432" anchor="t">
            <a:spAutoFit/>
          </a:bodyPr>
          <a:lstStyle/>
          <a:p>
            <a:pPr algn="l"/>
            <a:r>
              <a:rPr sz="1350" b="1" i="0">
                <a:solidFill>
                  <a:srgbClr val="58595B"/>
                </a:solidFill>
                <a:latin typeface="Arial"/>
              </a:rPr>
              <a:t>Làm sạch và phân tích</a:t>
            </a:r>
          </a:p>
          <a:p>
            <a:pPr algn="l">
              <a:spcBef>
                <a:spcPts val="607"/>
              </a:spcBef>
            </a:pPr>
            <a:r>
              <a:rPr sz="1350" b="0" i="0">
                <a:solidFill>
                  <a:srgbClr val="58595B"/>
                </a:solidFill>
                <a:latin typeface="Arial"/>
              </a:rPr>
              <a:t>Còn 150 phiếu hợp lệ; phân tích bằng Excel.</a:t>
            </a:r>
          </a:p>
        </p:txBody>
      </p:sp>
      <p:cxnSp>
        <p:nvCxnSpPr>
          <p:cNvPr id="25" name="Connector 24"/>
          <p:cNvCxnSpPr/>
          <p:nvPr/>
        </p:nvCxnSpPr>
        <p:spPr>
          <a:xfrm>
            <a:off x="9495129"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TỔNG THỂ VÀ CHỌN MẪU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Không có khung mẫu thì không chọn mẫu xác suất được và kết luận chỉ gợi ý xu hướng cho tổng thể</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Mô tả đúng cách đã làm: chỉ phát phiếu cho người gặp được thì đó là mẫu thuận tiện, không phải chọn ngẫu nhiên.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3.3.1 và 3.3.2, Hình 39 và 40; Creswell và Creswell (2018, tr. 211 đến 212)</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30</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Tổng thể</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Viết theo ba ô: </a:t>
            </a:r>
            <a:r>
              <a:rPr sz="1350" b="1" i="0">
                <a:solidFill>
                  <a:srgbClr val="58595B"/>
                </a:solidFill>
                <a:latin typeface="Arial"/>
              </a:rPr>
              <a:t>ai, ở đâu, điều kiện gì</a:t>
            </a:r>
            <a:r>
              <a:rPr sz="1350" b="0" i="0">
                <a:solidFill>
                  <a:srgbClr val="58595B"/>
                </a:solidFill>
                <a:latin typeface="Arial"/>
              </a:rPr>
              <a:t>.</a:t>
            </a:r>
          </a:p>
          <a:p>
            <a:pPr algn="l">
              <a:spcBef>
                <a:spcPts val="607"/>
              </a:spcBef>
            </a:pPr>
          </a:p>
          <a:p>
            <a:pPr algn="l">
              <a:spcBef>
                <a:spcPts val="607"/>
              </a:spcBef>
            </a:pPr>
            <a:r>
              <a:rPr sz="1350" b="0" i="0">
                <a:solidFill>
                  <a:srgbClr val="58595B"/>
                </a:solidFill>
                <a:latin typeface="Arial"/>
              </a:rPr>
              <a:t>Ví dụ: khách hàng cá nhân từ 18 tuổi, có tài khoản và đã đăng ký ngân hàng số tại các phòng giao dịch của Ngân hàng X ở [địa bàn].</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Khung mẫu</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Danh sách các phần tử của tổng thể để chọn mẫu.</a:t>
            </a:r>
          </a:p>
          <a:p>
            <a:pPr algn="l">
              <a:spcBef>
                <a:spcPts val="607"/>
              </a:spcBef>
            </a:pPr>
          </a:p>
          <a:p>
            <a:pPr algn="l">
              <a:spcBef>
                <a:spcPts val="607"/>
              </a:spcBef>
            </a:pPr>
            <a:r>
              <a:rPr sz="1350" b="0" i="0">
                <a:solidFill>
                  <a:srgbClr val="58595B"/>
                </a:solidFill>
                <a:latin typeface="Arial"/>
              </a:rPr>
              <a:t>"Muốn chọn ngẫu nhiên thì phải có danh sách để chọn, giống như bốc thăm thì phải có đủ tên trong hộp."</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Mẫu thuận tiện</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50" b="0" i="0">
                <a:solidFill>
                  <a:srgbClr val="58595B"/>
                </a:solidFill>
                <a:latin typeface="Arial"/>
              </a:rPr>
              <a:t>Chấp nhận được khi </a:t>
            </a:r>
            <a:r>
              <a:rPr sz="1350" b="1" i="0">
                <a:solidFill>
                  <a:srgbClr val="58595B"/>
                </a:solidFill>
                <a:latin typeface="Arial"/>
              </a:rPr>
              <a:t>nêu rõ hạn chế ở hai nơi:</a:t>
            </a:r>
            <a:r>
              <a:rPr sz="1350" b="0" i="0">
                <a:solidFill>
                  <a:srgbClr val="58595B"/>
                </a:solidFill>
                <a:latin typeface="Arial"/>
              </a:rPr>
              <a:t> mục chọn mẫu của Chương 3 và mục hạn chế của Chương 5.</a:t>
            </a:r>
          </a:p>
          <a:p>
            <a:pPr algn="l">
              <a:spcBef>
                <a:spcPts val="607"/>
              </a:spcBef>
            </a:pPr>
          </a:p>
          <a:p>
            <a:pPr algn="l">
              <a:spcBef>
                <a:spcPts val="607"/>
              </a:spcBef>
            </a:pPr>
            <a:r>
              <a:rPr sz="1350" b="0" i="0">
                <a:solidFill>
                  <a:srgbClr val="58595B"/>
                </a:solidFill>
                <a:latin typeface="Arial"/>
              </a:rPr>
              <a:t>Không bao giờ viết "mẫu đại diện cho tất cả khách hàng".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CỠ MẪU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Cỡ mẫu được tính bằng hai quy tắc có nguồn rồi chọn số lớn hơn, không lấy theo "nhiều khóa luận cũng chọn"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đếm câu thông tin chung vào số biến quan sát; số câu trong phép tính phải khớp số câu trong bảng hỏi.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3.3.3 và Bảng 12; Hair và cộng sự (2010); Green (1991)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31</a:t>
            </a:r>
          </a:p>
        </p:txBody>
      </p:sp>
      <p:sp>
        <p:nvSpPr>
          <p:cNvPr id="12" name="TextBox 11"/>
          <p:cNvSpPr txBox="1"/>
          <p:nvPr/>
        </p:nvSpPr>
        <p:spPr>
          <a:xfrm>
            <a:off x="457200"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95</a:t>
            </a:r>
          </a:p>
        </p:txBody>
      </p:sp>
      <p:cxnSp>
        <p:nvCxnSpPr>
          <p:cNvPr id="13" name="Connector 12"/>
          <p:cNvCxnSpPr/>
          <p:nvPr/>
        </p:nvCxnSpPr>
        <p:spPr>
          <a:xfrm>
            <a:off x="457200"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Quy tắc cho phân tích nhân tố</a:t>
            </a:r>
          </a:p>
        </p:txBody>
      </p:sp>
      <p:sp>
        <p:nvSpPr>
          <p:cNvPr id="15" name="TextBox 14"/>
          <p:cNvSpPr txBox="1"/>
          <p:nvPr/>
        </p:nvSpPr>
        <p:spPr>
          <a:xfrm>
            <a:off x="457200"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5 × số biến quan sát (Hair và cộng sự, 2010)</a:t>
            </a:r>
          </a:p>
          <a:p>
            <a:pPr algn="l">
              <a:spcBef>
                <a:spcPts val="540"/>
              </a:spcBef>
            </a:pPr>
            <a:r>
              <a:rPr sz="1200" b="0" i="0">
                <a:solidFill>
                  <a:srgbClr val="58595B"/>
                </a:solidFill>
                <a:latin typeface="Arial"/>
              </a:rPr>
              <a:t>5 × 19 câu = 95 quan sát.</a:t>
            </a:r>
          </a:p>
          <a:p>
            <a:pPr algn="l">
              <a:spcBef>
                <a:spcPts val="540"/>
              </a:spcBef>
            </a:pPr>
            <a:r>
              <a:rPr sz="1200" b="0" i="0">
                <a:solidFill>
                  <a:srgbClr val="58595B"/>
                </a:solidFill>
                <a:latin typeface="Arial"/>
              </a:rPr>
              <a:t>Càng nhiều câu hỏi càng cần nhiều quan sát.</a:t>
            </a:r>
          </a:p>
        </p:txBody>
      </p:sp>
      <p:sp>
        <p:nvSpPr>
          <p:cNvPr id="16" name="TextBox 15"/>
          <p:cNvSpPr txBox="1"/>
          <p:nvPr/>
        </p:nvSpPr>
        <p:spPr>
          <a:xfrm>
            <a:off x="4306824" y="1783080"/>
            <a:ext cx="3575304" cy="1097280"/>
          </a:xfrm>
          <a:prstGeom prst="rect">
            <a:avLst/>
          </a:prstGeom>
          <a:noFill/>
        </p:spPr>
        <p:txBody>
          <a:bodyPr wrap="square" lIns="45720" rIns="45720" tIns="27432" bIns="27432" anchor="t">
            <a:spAutoFit/>
          </a:bodyPr>
          <a:lstStyle/>
          <a:p>
            <a:pPr algn="l"/>
            <a:r>
              <a:rPr sz="5400" b="1" i="0">
                <a:solidFill>
                  <a:srgbClr val="262626"/>
                </a:solidFill>
                <a:latin typeface="Arial"/>
              </a:rPr>
              <a:t>82</a:t>
            </a:r>
          </a:p>
        </p:txBody>
      </p:sp>
      <p:cxnSp>
        <p:nvCxnSpPr>
          <p:cNvPr id="17" name="Connector 16"/>
          <p:cNvCxnSpPr/>
          <p:nvPr/>
        </p:nvCxnSpPr>
        <p:spPr>
          <a:xfrm>
            <a:off x="4306824"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06824"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Quy tắc cho hồi quy</a:t>
            </a:r>
          </a:p>
        </p:txBody>
      </p:sp>
      <p:sp>
        <p:nvSpPr>
          <p:cNvPr id="19" name="TextBox 18"/>
          <p:cNvSpPr txBox="1"/>
          <p:nvPr/>
        </p:nvSpPr>
        <p:spPr>
          <a:xfrm>
            <a:off x="4306824"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n ≥ 50 + 8m, m là số biến độc lập (Green, 1991)</a:t>
            </a:r>
          </a:p>
          <a:p>
            <a:pPr algn="l">
              <a:spcBef>
                <a:spcPts val="540"/>
              </a:spcBef>
            </a:pPr>
            <a:r>
              <a:rPr sz="1200" b="0" i="0">
                <a:solidFill>
                  <a:srgbClr val="58595B"/>
                </a:solidFill>
                <a:latin typeface="Arial"/>
              </a:rPr>
              <a:t>50 + 8 × 4 = 82 quan sát.</a:t>
            </a:r>
          </a:p>
          <a:p>
            <a:pPr algn="l">
              <a:spcBef>
                <a:spcPts val="540"/>
              </a:spcBef>
            </a:pPr>
            <a:r>
              <a:rPr sz="1200" b="0" i="0">
                <a:solidFill>
                  <a:srgbClr val="58595B"/>
                </a:solidFill>
                <a:latin typeface="Arial"/>
              </a:rPr>
              <a:t>Trường Y: 50 + 8 × 3 = 74.</a:t>
            </a:r>
          </a:p>
        </p:txBody>
      </p:sp>
      <p:sp>
        <p:nvSpPr>
          <p:cNvPr id="20" name="TextBox 19"/>
          <p:cNvSpPr txBox="1"/>
          <p:nvPr/>
        </p:nvSpPr>
        <p:spPr>
          <a:xfrm>
            <a:off x="8156448" y="1783080"/>
            <a:ext cx="3575304" cy="1097280"/>
          </a:xfrm>
          <a:prstGeom prst="rect">
            <a:avLst/>
          </a:prstGeom>
          <a:noFill/>
        </p:spPr>
        <p:txBody>
          <a:bodyPr wrap="square" lIns="45720" rIns="45720" tIns="27432" bIns="27432" anchor="t">
            <a:spAutoFit/>
          </a:bodyPr>
          <a:lstStyle/>
          <a:p>
            <a:pPr algn="l"/>
            <a:r>
              <a:rPr sz="5400" b="1" i="0">
                <a:solidFill>
                  <a:srgbClr val="CC0000"/>
                </a:solidFill>
                <a:latin typeface="Arial"/>
              </a:rPr>
              <a:t>200 → 150</a:t>
            </a:r>
          </a:p>
        </p:txBody>
      </p:sp>
      <p:cxnSp>
        <p:nvCxnSpPr>
          <p:cNvPr id="21" name="Connector 20"/>
          <p:cNvCxnSpPr/>
          <p:nvPr/>
        </p:nvCxnSpPr>
        <p:spPr>
          <a:xfrm>
            <a:off x="8156448" y="2971800"/>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156448" y="3063239"/>
            <a:ext cx="3575304" cy="457200"/>
          </a:xfrm>
          <a:prstGeom prst="rect">
            <a:avLst/>
          </a:prstGeom>
          <a:noFill/>
        </p:spPr>
        <p:txBody>
          <a:bodyPr wrap="square" lIns="45720" rIns="45720" tIns="27432" bIns="27432" anchor="t">
            <a:spAutoFit/>
          </a:bodyPr>
          <a:lstStyle/>
          <a:p>
            <a:pPr algn="l"/>
            <a:r>
              <a:rPr sz="1400" b="1" i="0">
                <a:solidFill>
                  <a:srgbClr val="262626"/>
                </a:solidFill>
                <a:latin typeface="Arial"/>
              </a:rPr>
              <a:t>Số mời và mục tiêu hợp lệ</a:t>
            </a:r>
          </a:p>
        </p:txBody>
      </p:sp>
      <p:sp>
        <p:nvSpPr>
          <p:cNvPr id="23" name="TextBox 22"/>
          <p:cNvSpPr txBox="1"/>
          <p:nvPr/>
        </p:nvSpPr>
        <p:spPr>
          <a:xfrm>
            <a:off x="8156448" y="3520439"/>
            <a:ext cx="3575304" cy="2057400"/>
          </a:xfrm>
          <a:prstGeom prst="rect">
            <a:avLst/>
          </a:prstGeom>
          <a:noFill/>
        </p:spPr>
        <p:txBody>
          <a:bodyPr wrap="square" lIns="45720" rIns="45720" tIns="27432" bIns="27432" anchor="t">
            <a:spAutoFit/>
          </a:bodyPr>
          <a:lstStyle/>
          <a:p>
            <a:pPr algn="l"/>
            <a:r>
              <a:rPr sz="1200" b="0" i="0">
                <a:solidFill>
                  <a:srgbClr val="58595B"/>
                </a:solidFill>
                <a:latin typeface="Arial"/>
              </a:rPr>
              <a:t>Chọn số lớn hơn là 95 làm mức tối thiểu.</a:t>
            </a:r>
          </a:p>
          <a:p>
            <a:pPr algn="l">
              <a:spcBef>
                <a:spcPts val="540"/>
              </a:spcBef>
            </a:pPr>
            <a:r>
              <a:rPr sz="1200" b="0" i="0">
                <a:solidFill>
                  <a:srgbClr val="58595B"/>
                </a:solidFill>
                <a:latin typeface="Arial"/>
              </a:rPr>
              <a:t>Mời 200 khách hàng để dự phòng phiếu không hợp lệ, đặt mục tiêu khoảng 150 phiếu hợp lệ.</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BẢNG HỎI VÀ THANG ĐO</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hỏi chỉ đo một ý, viết dạng khẳng định, dùng chung một thang Likert năm mức</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Kiểm tra từng câu bằng ba câu hỏi: đo một ý hay nhiều ý; có gợi ý câu trả lời không; có khớp với định nghĩa ở Chương 2 không.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3.4.2 và 3.4.3; file 2.Chapter_2_and_Chapter_3_Practice.xlsx (dữ liệu giả định), sheet 1_BangMa</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32</a:t>
            </a:r>
          </a:p>
        </p:txBody>
      </p:sp>
      <p:sp>
        <p:nvSpPr>
          <p:cNvPr id="11" name="Rectangle 10"/>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2" name="Rectangle 11"/>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240280"/>
            <a:ext cx="5212080" cy="1920240"/>
          </a:xfrm>
          <a:prstGeom prst="rect">
            <a:avLst/>
          </a:prstGeom>
          <a:noFill/>
        </p:spPr>
        <p:txBody>
          <a:bodyPr wrap="square" lIns="45720" rIns="45720" tIns="27432" bIns="27432" anchor="t">
            <a:spAutoFit/>
          </a:bodyPr>
          <a:lstStyle/>
          <a:p>
            <a:pPr algn="l"/>
            <a:r>
              <a:rPr sz="1250" b="0" i="1">
                <a:solidFill>
                  <a:srgbClr val="58595B"/>
                </a:solidFill>
                <a:latin typeface="Arial"/>
              </a:rPr>
              <a:t>"Ngân hàng số của Ngân hàng X nhanh, rẻ, an toàn và dễ dùng đúng không? Anh/chị có thấy không hài lòng khi không dùng ngân hàng số không?"</a:t>
            </a:r>
          </a:p>
        </p:txBody>
      </p:sp>
      <p:sp>
        <p:nvSpPr>
          <p:cNvPr id="14" name="Rectangle 13"/>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5" name="Rectangle 14"/>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240280"/>
            <a:ext cx="5212080" cy="1920240"/>
          </a:xfrm>
          <a:prstGeom prst="rect">
            <a:avLst/>
          </a:prstGeom>
          <a:noFill/>
        </p:spPr>
        <p:txBody>
          <a:bodyPr wrap="square" lIns="45720" rIns="45720" tIns="27432" bIns="27432" anchor="t">
            <a:spAutoFit/>
          </a:bodyPr>
          <a:lstStyle/>
          <a:p>
            <a:pPr algn="l"/>
            <a:r>
              <a:rPr sz="1250" b="0" i="1">
                <a:solidFill>
                  <a:srgbClr val="262626"/>
                </a:solidFill>
                <a:latin typeface="Arial"/>
              </a:rPr>
              <a:t>"HI1. Ngân hàng số giúp tôi giao dịch nhanh hơn.</a:t>
            </a:r>
          </a:p>
          <a:p>
            <a:pPr algn="l">
              <a:spcBef>
                <a:spcPts val="562"/>
              </a:spcBef>
            </a:pPr>
            <a:r>
              <a:rPr sz="1250" b="0" i="1">
                <a:solidFill>
                  <a:srgbClr val="262626"/>
                </a:solidFill>
                <a:latin typeface="Arial"/>
              </a:rPr>
              <a:t>HI2. Ngân hàng số giúp tôi tiết kiệm chi phí đi lại.</a:t>
            </a:r>
          </a:p>
          <a:p>
            <a:pPr algn="l">
              <a:spcBef>
                <a:spcPts val="562"/>
              </a:spcBef>
            </a:pPr>
            <a:r>
              <a:rPr sz="1250" b="0" i="1">
                <a:solidFill>
                  <a:srgbClr val="262626"/>
                </a:solidFill>
                <a:latin typeface="Arial"/>
              </a:rPr>
              <a:t>NT1. Tôi tin ngân hàng số của Ngân hàng X bảo mật thông tin của tôi.</a:t>
            </a:r>
          </a:p>
          <a:p>
            <a:pPr algn="l">
              <a:spcBef>
                <a:spcPts val="562"/>
              </a:spcBef>
            </a:pPr>
            <a:r>
              <a:rPr sz="1250" b="0" i="1">
                <a:solidFill>
                  <a:srgbClr val="262626"/>
                </a:solidFill>
                <a:latin typeface="Arial"/>
              </a:rPr>
              <a:t>SD1. Tôi dễ dàng học cách sử dụng ứng dụng ngân hàng số.</a:t>
            </a:r>
          </a:p>
          <a:p>
            <a:pPr algn="l">
              <a:spcBef>
                <a:spcPts val="562"/>
              </a:spcBef>
            </a:pPr>
            <a:r>
              <a:rPr sz="1250" b="0" i="1">
                <a:solidFill>
                  <a:srgbClr val="262626"/>
                </a:solidFill>
                <a:latin typeface="Arial"/>
              </a:rPr>
              <a:t>(1 hoàn toàn không đồng ý ... 5 hoàn toàn đồng ý)"</a:t>
            </a:r>
          </a:p>
        </p:txBody>
      </p:sp>
      <p:sp>
        <p:nvSpPr>
          <p:cNvPr id="17" name="TextBox 16"/>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8" name="Connector 17"/>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Câu hỏi kép.</a:t>
            </a:r>
            <a:r>
              <a:rPr sz="1200" b="0" i="0">
                <a:solidFill>
                  <a:srgbClr val="58595B"/>
                </a:solidFill>
                <a:latin typeface="Arial"/>
              </a:rPr>
              <a:t> Một câu hỏi bốn ý: đồng ý ý này nhưng không đồng ý ý kia thì không biết chọn mức nào.</a:t>
            </a:r>
          </a:p>
        </p:txBody>
      </p:sp>
      <p:cxnSp>
        <p:nvCxnSpPr>
          <p:cNvPr id="20" name="Connector 19"/>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Phủ định kép và gợi ý.</a:t>
            </a:r>
            <a:r>
              <a:rPr sz="1200" b="0" i="0">
                <a:solidFill>
                  <a:srgbClr val="58595B"/>
                </a:solidFill>
                <a:latin typeface="Arial"/>
              </a:rPr>
              <a:t> "không hài lòng khi không dùng" gây rối; "đúng không" gợi ý câu trả lời.</a:t>
            </a:r>
          </a:p>
        </p:txBody>
      </p:sp>
      <p:cxnSp>
        <p:nvCxnSpPr>
          <p:cNvPr id="22" name="Connector 21"/>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Hậu quả.</a:t>
            </a:r>
            <a:r>
              <a:rPr sz="1200" b="0" i="0">
                <a:solidFill>
                  <a:srgbClr val="58595B"/>
                </a:solidFill>
                <a:latin typeface="Arial"/>
              </a:rPr>
              <a:t> Alpha có thể thấp; hồi quy không diễn giải được vì không rõ câu đo khái niệm nào.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THU THẬP DỮ LIỆU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Người đọc cần thấy con số ở từng bước: bao nhiêu người được mời, trả lời, bị loại và còn hợp lệ</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Luôn giữ hai file: file thô và file sạch; ghi nhật ký thu thập mỗi ngày.</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3.5.1, Hình 45 và 46; file 2.Chapter_2_and_Chapter_3_Practice.xlsx (dữ liệu giả định), sheet 2_DuLieuTho và 3_DuLieuSach</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33</a:t>
            </a:r>
          </a:p>
        </p:txBody>
      </p:sp>
      <p:sp>
        <p:nvSpPr>
          <p:cNvPr id="12" name="Rectangle 11"/>
          <p:cNvSpPr/>
          <p:nvPr/>
        </p:nvSpPr>
        <p:spPr>
          <a:xfrm>
            <a:off x="457200" y="1856231"/>
            <a:ext cx="6035040"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200  khách hàng được mời</a:t>
            </a:r>
          </a:p>
        </p:txBody>
      </p:sp>
      <p:sp>
        <p:nvSpPr>
          <p:cNvPr id="13" name="TextBox 12"/>
          <p:cNvSpPr txBox="1"/>
          <p:nvPr/>
        </p:nvSpPr>
        <p:spPr>
          <a:xfrm>
            <a:off x="6766559" y="1828800"/>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Gửi qua email, Zalo và tại quầy giao dịch, sau khi đọc thử bảng hỏi với 5 khách hàng.</a:t>
            </a:r>
          </a:p>
        </p:txBody>
      </p:sp>
      <p:cxnSp>
        <p:nvCxnSpPr>
          <p:cNvPr id="14" name="Connector 13"/>
          <p:cNvCxnSpPr/>
          <p:nvPr/>
        </p:nvCxnSpPr>
        <p:spPr>
          <a:xfrm>
            <a:off x="6675120" y="2478024"/>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457200" y="2569464"/>
            <a:ext cx="4978908"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165  phiếu thu về</a:t>
            </a:r>
          </a:p>
        </p:txBody>
      </p:sp>
      <p:sp>
        <p:nvSpPr>
          <p:cNvPr id="16" name="TextBox 15"/>
          <p:cNvSpPr txBox="1"/>
          <p:nvPr/>
        </p:nvSpPr>
        <p:spPr>
          <a:xfrm>
            <a:off x="6766559" y="2542032"/>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Sau hai tuần; </a:t>
            </a:r>
            <a:r>
              <a:rPr sz="1200" b="1" i="0">
                <a:solidFill>
                  <a:srgbClr val="58595B"/>
                </a:solidFill>
                <a:latin typeface="Arial"/>
              </a:rPr>
              <a:t>tỷ lệ phản hồi 82,5%</a:t>
            </a:r>
            <a:r>
              <a:rPr sz="1200" b="0" i="0">
                <a:solidFill>
                  <a:srgbClr val="58595B"/>
                </a:solidFill>
                <a:latin typeface="Arial"/>
              </a:rPr>
              <a:t> = số phiếu thu về chia số người được mời.</a:t>
            </a:r>
          </a:p>
        </p:txBody>
      </p:sp>
      <p:cxnSp>
        <p:nvCxnSpPr>
          <p:cNvPr id="17" name="Connector 16"/>
          <p:cNvCxnSpPr/>
          <p:nvPr/>
        </p:nvCxnSpPr>
        <p:spPr>
          <a:xfrm>
            <a:off x="6675120" y="3191256"/>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57200" y="3282696"/>
            <a:ext cx="2194560" cy="54864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15  phiếu bị loại</a:t>
            </a:r>
          </a:p>
        </p:txBody>
      </p:sp>
      <p:sp>
        <p:nvSpPr>
          <p:cNvPr id="19" name="TextBox 18"/>
          <p:cNvSpPr txBox="1"/>
          <p:nvPr/>
        </p:nvSpPr>
        <p:spPr>
          <a:xfrm>
            <a:off x="6766559" y="3255263"/>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5 phiếu trùng lặp; 10 phiếu bỏ trống nhiều câu.</a:t>
            </a:r>
          </a:p>
        </p:txBody>
      </p:sp>
      <p:cxnSp>
        <p:nvCxnSpPr>
          <p:cNvPr id="20" name="Connector 19"/>
          <p:cNvCxnSpPr/>
          <p:nvPr/>
        </p:nvCxnSpPr>
        <p:spPr>
          <a:xfrm>
            <a:off x="6675120" y="3904488"/>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7200" y="3995928"/>
            <a:ext cx="4526280" cy="548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300" b="1" i="0">
                <a:solidFill>
                  <a:srgbClr val="FFFFFF"/>
                </a:solidFill>
                <a:latin typeface="Arial"/>
              </a:rPr>
              <a:t>150  phiếu hợp lệ</a:t>
            </a:r>
          </a:p>
        </p:txBody>
      </p:sp>
      <p:sp>
        <p:nvSpPr>
          <p:cNvPr id="22" name="TextBox 21"/>
          <p:cNvSpPr txBox="1"/>
          <p:nvPr/>
        </p:nvSpPr>
        <p:spPr>
          <a:xfrm>
            <a:off x="6766559" y="3968496"/>
            <a:ext cx="4965192" cy="621792"/>
          </a:xfrm>
          <a:prstGeom prst="rect">
            <a:avLst/>
          </a:prstGeom>
          <a:noFill/>
        </p:spPr>
        <p:txBody>
          <a:bodyPr wrap="square" lIns="45720" rIns="45720" tIns="27432" bIns="27432" anchor="ctr">
            <a:spAutoFit/>
          </a:bodyPr>
          <a:lstStyle/>
          <a:p>
            <a:pPr algn="l"/>
            <a:r>
              <a:rPr sz="1200" b="0" i="0">
                <a:solidFill>
                  <a:srgbClr val="58595B"/>
                </a:solidFill>
                <a:latin typeface="Arial"/>
              </a:rPr>
              <a:t>Lưu file riêng; </a:t>
            </a:r>
            <a:r>
              <a:rPr sz="1200" b="1" i="0">
                <a:solidFill>
                  <a:srgbClr val="58595B"/>
                </a:solidFill>
                <a:latin typeface="Arial"/>
              </a:rPr>
              <a:t>file dữ liệu thô giữ nguyên</a:t>
            </a:r>
            <a:r>
              <a:rPr sz="1200" b="0" i="0">
                <a:solidFill>
                  <a:srgbClr val="58595B"/>
                </a:solidFill>
                <a:latin typeface="Arial"/>
              </a:rPr>
              <a:t> để đối chiếu. Trường Y: 140 in, 131 thu, loại 11, còn 120.</a:t>
            </a:r>
          </a:p>
        </p:txBody>
      </p:sp>
      <p:cxnSp>
        <p:nvCxnSpPr>
          <p:cNvPr id="23" name="Connector 22"/>
          <p:cNvCxnSpPr/>
          <p:nvPr/>
        </p:nvCxnSpPr>
        <p:spPr>
          <a:xfrm>
            <a:off x="6675120" y="4617720"/>
            <a:ext cx="5056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LÀM SẠCH DỮ LIỆU</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Quy tắc loại phiếu phải đặt trước khi mở dữ liệu, để quyết định không phụ thuộc kết quả mong muốn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"Tự điền cho đủ" là bịa dữ liệu; giữ phiếu trùng là tính một người hai lần; cả hai đều làm sai kết quả.</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3.5.2 và 3.5.3, Hình 47 và 48; file 2.Chapter_2_and_Chapter_3_Practice.xlsx (dữ liệu giả định), sheet 3_DuLieuSach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34</a:t>
            </a:r>
          </a:p>
        </p:txBody>
      </p:sp>
      <p:sp>
        <p:nvSpPr>
          <p:cNvPr id="11" name="Rectangle 10"/>
          <p:cNvSpPr/>
          <p:nvPr/>
        </p:nvSpPr>
        <p:spPr>
          <a:xfrm>
            <a:off x="402336" y="2275054"/>
            <a:ext cx="6419088" cy="285653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47_p1736.png"/>
          <p:cNvPicPr>
            <a:picLocks noChangeAspect="1"/>
          </p:cNvPicPr>
          <p:nvPr/>
        </p:nvPicPr>
        <p:blipFill>
          <a:blip r:embed="rId2"/>
          <a:stretch>
            <a:fillRect/>
          </a:stretch>
        </p:blipFill>
        <p:spPr>
          <a:xfrm>
            <a:off x="457200" y="2329918"/>
            <a:ext cx="6309360" cy="2746802"/>
          </a:xfrm>
          <a:prstGeom prst="rect">
            <a:avLst/>
          </a:prstGeom>
        </p:spPr>
      </p:pic>
      <p:sp>
        <p:nvSpPr>
          <p:cNvPr id="13" name="TextBox 12"/>
          <p:cNvSpPr txBox="1"/>
          <p:nvPr/>
        </p:nvSpPr>
        <p:spPr>
          <a:xfrm>
            <a:off x="7086600" y="1783080"/>
            <a:ext cx="4645152" cy="274320"/>
          </a:xfrm>
          <a:prstGeom prst="rect">
            <a:avLst/>
          </a:prstGeom>
          <a:noFill/>
        </p:spPr>
        <p:txBody>
          <a:bodyPr wrap="square" lIns="45720" rIns="45720" tIns="27432" bIns="27432" anchor="t">
            <a:spAutoFit/>
          </a:bodyPr>
          <a:lstStyle/>
          <a:p>
            <a:pPr algn="l"/>
            <a:r>
              <a:rPr sz="1000" b="1" i="0">
                <a:solidFill>
                  <a:srgbClr val="CC0000"/>
                </a:solidFill>
                <a:latin typeface="Arial"/>
              </a:rPr>
              <a:t>BA THAO TÁC TRÊN EXCEL</a:t>
            </a:r>
          </a:p>
        </p:txBody>
      </p:sp>
      <p:cxnSp>
        <p:nvCxnSpPr>
          <p:cNvPr id="14" name="Connector 13"/>
          <p:cNvCxnSpPr/>
          <p:nvPr/>
        </p:nvCxnSpPr>
        <p:spPr>
          <a:xfrm>
            <a:off x="7086600" y="2103120"/>
            <a:ext cx="4645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0866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98079" y="219456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Remove Duplicates:</a:t>
            </a:r>
            <a:r>
              <a:rPr sz="1250" b="0" i="0">
                <a:solidFill>
                  <a:srgbClr val="58595B"/>
                </a:solidFill>
                <a:latin typeface="Arial"/>
              </a:rPr>
              <a:t> phát hiện 5 phiếu trùng hoàn toàn, gửi cách nhau 1 đến 3 phút; loại.</a:t>
            </a:r>
          </a:p>
        </p:txBody>
      </p:sp>
      <p:sp>
        <p:nvSpPr>
          <p:cNvPr id="17" name="Oval 16"/>
          <p:cNvSpPr/>
          <p:nvPr/>
        </p:nvSpPr>
        <p:spPr>
          <a:xfrm>
            <a:off x="70866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98079" y="305181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Go To Special &gt; Blanks:</a:t>
            </a:r>
            <a:r>
              <a:rPr sz="1250" b="0" i="0">
                <a:solidFill>
                  <a:srgbClr val="58595B"/>
                </a:solidFill>
                <a:latin typeface="Arial"/>
              </a:rPr>
              <a:t> phiếu bỏ trống từ 3 câu trở lên bị loại; quy tắc này loại 10 phiếu.</a:t>
            </a:r>
          </a:p>
        </p:txBody>
      </p:sp>
      <p:sp>
        <p:nvSpPr>
          <p:cNvPr id="19" name="Oval 18"/>
          <p:cNvSpPr/>
          <p:nvPr/>
        </p:nvSpPr>
        <p:spPr>
          <a:xfrm>
            <a:off x="70866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98079" y="390906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Bộ lọc số:</a:t>
            </a:r>
            <a:r>
              <a:rPr sz="1250" b="0" i="0">
                <a:solidFill>
                  <a:srgbClr val="58595B"/>
                </a:solidFill>
                <a:latin typeface="Arial"/>
              </a:rPr>
              <a:t> không có giá trị nằm ngoài thang 1 đến 5.</a:t>
            </a:r>
          </a:p>
        </p:txBody>
      </p:sp>
      <p:sp>
        <p:nvSpPr>
          <p:cNvPr id="21" name="Oval 20"/>
          <p:cNvSpPr/>
          <p:nvPr/>
        </p:nvSpPr>
        <p:spPr>
          <a:xfrm>
            <a:off x="70866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98079" y="476631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Ô thiếu lẻ:</a:t>
            </a:r>
            <a:r>
              <a:rPr sz="1250" b="0" i="0">
                <a:solidFill>
                  <a:srgbClr val="58595B"/>
                </a:solidFill>
                <a:latin typeface="Arial"/>
              </a:rPr>
              <a:t> 2 ô (HI3, NT3) điền bằng trung bình của câu, làm tròn đến số nguyên, đánh dấu bằng ghi chú.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Cronbach Alpha kiểm tra các câu hỏi có "cùng lên cùng xuống" không, trước khi được gộp thành một biến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Thang đo không nhất quán thì điểm trung bình không đại diện cho khái niệm và mọi kết luận về giả thuyết mất ý nghĩa.</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3.6.2, Bảng 18, Hình 52 và 53; file 2.Chapter_2_and_Chapter_3_Practice.xlsx (dữ liệu giả định), sheet 6_Cronbach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35</a:t>
            </a:r>
          </a:p>
        </p:txBody>
      </p:sp>
      <p:sp>
        <p:nvSpPr>
          <p:cNvPr id="11" name="Rectangle 10"/>
          <p:cNvSpPr/>
          <p:nvPr/>
        </p:nvSpPr>
        <p:spPr>
          <a:xfrm>
            <a:off x="402336" y="1917330"/>
            <a:ext cx="6510528" cy="357197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53_p1863.png"/>
          <p:cNvPicPr>
            <a:picLocks noChangeAspect="1"/>
          </p:cNvPicPr>
          <p:nvPr/>
        </p:nvPicPr>
        <p:blipFill>
          <a:blip r:embed="rId2"/>
          <a:stretch>
            <a:fillRect/>
          </a:stretch>
        </p:blipFill>
        <p:spPr>
          <a:xfrm>
            <a:off x="457200" y="1972194"/>
            <a:ext cx="6400800" cy="3462250"/>
          </a:xfrm>
          <a:prstGeom prst="rect">
            <a:avLst/>
          </a:prstGeom>
        </p:spPr>
      </p:pic>
      <p:sp>
        <p:nvSpPr>
          <p:cNvPr id="13" name="TextBox 12"/>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BA CHỈ SỐ ĐỌC CÙNG NHAU</a:t>
            </a:r>
          </a:p>
        </p:txBody>
      </p:sp>
      <p:cxnSp>
        <p:nvCxnSpPr>
          <p:cNvPr id="14" name="Connector 13"/>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589519" y="21945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Alpha:</a:t>
            </a:r>
            <a:r>
              <a:rPr sz="1250" b="0" i="0">
                <a:solidFill>
                  <a:srgbClr val="58595B"/>
                </a:solidFill>
                <a:latin typeface="Arial"/>
              </a:rPr>
              <a:t> chấp nhận từ 0,7; tối ưu 0,7 đến 0,9. α = k/(k-1) × (1 - tổng phương sai từng câu / phương sai tổng điểm).</a:t>
            </a:r>
          </a:p>
        </p:txBody>
      </p:sp>
      <p:sp>
        <p:nvSpPr>
          <p:cNvPr id="17" name="Oval 16"/>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589519" y="30518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Tương quan biến tổng hiệu chỉnh:</a:t>
            </a:r>
            <a:r>
              <a:rPr sz="1250" b="0" i="0">
                <a:solidFill>
                  <a:srgbClr val="58595B"/>
                </a:solidFill>
                <a:latin typeface="Arial"/>
              </a:rPr>
              <a:t> tương quan của một câu với tổng các câu còn lại; nhiều nghiên cứu dùng ngưỡng 0,3.</a:t>
            </a:r>
          </a:p>
        </p:txBody>
      </p:sp>
      <p:sp>
        <p:nvSpPr>
          <p:cNvPr id="19" name="Oval 18"/>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589519" y="39090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Alpha nếu loại câu:</a:t>
            </a:r>
            <a:r>
              <a:rPr sz="1250" b="0" i="0">
                <a:solidFill>
                  <a:srgbClr val="58595B"/>
                </a:solidFill>
                <a:latin typeface="Arial"/>
              </a:rPr>
              <a:t> tăng rõ khi loại (ví dụ 0,65 lên 0,78) thì câu có thể nên loại.</a:t>
            </a:r>
          </a:p>
        </p:txBody>
      </p:sp>
      <p:sp>
        <p:nvSpPr>
          <p:cNvPr id="21" name="Oval 20"/>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589519" y="47663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Trước khi loại:</a:t>
            </a:r>
            <a:r>
              <a:rPr sz="1250" b="0" i="0">
                <a:solidFill>
                  <a:srgbClr val="58595B"/>
                </a:solidFill>
                <a:latin typeface="Arial"/>
              </a:rPr>
              <a:t> đọc lại nội dung; câu mang khía cạnh cần thiết của định nghĩa thì không loại.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PHÂN TÍCH NHÂN TỐ KHÁM PHÁ (TÙY CHỌN)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EFA là mục tùy chọn; ba câu hỏi giúp các em tự quyết định có làm hay không</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Ghi "làm EFA và CFA bằng Excel" là mô tả sai công cụ; CFA và SEM thuộc cấp sau đại học.</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3.6.3 (*); Hair và cộng sự (2010)</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36</a:t>
            </a:r>
          </a:p>
        </p:txBody>
      </p:sp>
      <p:sp>
        <p:nvSpPr>
          <p:cNvPr id="11" name="Oval 10"/>
          <p:cNvSpPr/>
          <p:nvPr/>
        </p:nvSpPr>
        <p:spPr>
          <a:xfrm>
            <a:off x="457200" y="1828800"/>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2" name="TextBox 11"/>
          <p:cNvSpPr txBox="1"/>
          <p:nvPr/>
        </p:nvSpPr>
        <p:spPr>
          <a:xfrm>
            <a:off x="960120" y="1783080"/>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Mẫu đề cương của khoa có mục EFA không?</a:t>
            </a:r>
            <a:r>
              <a:rPr sz="1400" b="0" i="0">
                <a:solidFill>
                  <a:srgbClr val="58595B"/>
                </a:solidFill>
                <a:latin typeface="Arial"/>
              </a:rPr>
              <a:t>  Có thì làm.</a:t>
            </a:r>
          </a:p>
        </p:txBody>
      </p:sp>
      <p:cxnSp>
        <p:nvCxnSpPr>
          <p:cNvPr id="13" name="Connector 12"/>
          <p:cNvCxnSpPr/>
          <p:nvPr/>
        </p:nvCxnSpPr>
        <p:spPr>
          <a:xfrm>
            <a:off x="960120" y="2496312"/>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457200" y="2596896"/>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5" name="TextBox 14"/>
          <p:cNvSpPr txBox="1"/>
          <p:nvPr/>
        </p:nvSpPr>
        <p:spPr>
          <a:xfrm>
            <a:off x="960120" y="2551176"/>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Có thang đo tự xây, dịch mới hoặc sửa từ ngữ đáng kể?</a:t>
            </a:r>
            <a:r>
              <a:rPr sz="1400" b="0" i="0">
                <a:solidFill>
                  <a:srgbClr val="58595B"/>
                </a:solidFill>
                <a:latin typeface="Arial"/>
              </a:rPr>
              <a:t>  Có thì nên làm, vì chưa có bằng chứng các câu mới nhóm đúng khái niệm.</a:t>
            </a:r>
          </a:p>
        </p:txBody>
      </p:sp>
      <p:cxnSp>
        <p:nvCxnSpPr>
          <p:cNvPr id="16" name="Connector 15"/>
          <p:cNvCxnSpPr/>
          <p:nvPr/>
        </p:nvCxnSpPr>
        <p:spPr>
          <a:xfrm>
            <a:off x="960120" y="3264408"/>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457200" y="3364991"/>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18" name="TextBox 17"/>
          <p:cNvSpPr txBox="1"/>
          <p:nvPr/>
        </p:nvSpPr>
        <p:spPr>
          <a:xfrm>
            <a:off x="960120" y="3319272"/>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Cỡ mẫu có đạt ít nhất 5 lần số câu hỏi?</a:t>
            </a:r>
            <a:r>
              <a:rPr sz="1400" b="0" i="0">
                <a:solidFill>
                  <a:srgbClr val="58595B"/>
                </a:solidFill>
                <a:latin typeface="Arial"/>
              </a:rPr>
              <a:t>  Không đạt thì không làm, vì kết quả EFA không đáng tin.</a:t>
            </a:r>
          </a:p>
        </p:txBody>
      </p:sp>
      <p:cxnSp>
        <p:nvCxnSpPr>
          <p:cNvPr id="19" name="Connector 18"/>
          <p:cNvCxnSpPr/>
          <p:nvPr/>
        </p:nvCxnSpPr>
        <p:spPr>
          <a:xfrm>
            <a:off x="960120" y="4032504"/>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4133088"/>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1" name="TextBox 20"/>
          <p:cNvSpPr txBox="1"/>
          <p:nvPr/>
        </p:nvSpPr>
        <p:spPr>
          <a:xfrm>
            <a:off x="960120" y="4087368"/>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Nếu làm: dùng phần mềm có chức năng EFA</a:t>
            </a:r>
            <a:r>
              <a:rPr sz="1400" b="0" i="0">
                <a:solidFill>
                  <a:srgbClr val="58595B"/>
                </a:solidFill>
                <a:latin typeface="Arial"/>
              </a:rPr>
              <a:t>  SPSS, JASP hoặc R; Excel không có sẵn EFA.</a:t>
            </a:r>
          </a:p>
        </p:txBody>
      </p:sp>
      <p:cxnSp>
        <p:nvCxnSpPr>
          <p:cNvPr id="22" name="Connector 21"/>
          <p:cNvCxnSpPr/>
          <p:nvPr/>
        </p:nvCxnSpPr>
        <p:spPr>
          <a:xfrm>
            <a:off x="960120" y="4800600"/>
            <a:ext cx="10771632" cy="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57200" y="4901184"/>
            <a:ext cx="384048" cy="38404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5</a:t>
            </a:r>
          </a:p>
        </p:txBody>
      </p:sp>
      <p:sp>
        <p:nvSpPr>
          <p:cNvPr id="24" name="TextBox 23"/>
          <p:cNvSpPr txBox="1"/>
          <p:nvPr/>
        </p:nvSpPr>
        <p:spPr>
          <a:xfrm>
            <a:off x="960120" y="4855464"/>
            <a:ext cx="10725912" cy="768096"/>
          </a:xfrm>
          <a:prstGeom prst="rect">
            <a:avLst/>
          </a:prstGeom>
          <a:noFill/>
        </p:spPr>
        <p:txBody>
          <a:bodyPr wrap="square" lIns="45720" rIns="45720" tIns="27432" bIns="27432" anchor="t">
            <a:spAutoFit/>
          </a:bodyPr>
          <a:lstStyle/>
          <a:p>
            <a:pPr algn="l"/>
            <a:r>
              <a:rPr sz="1400" b="1" i="0">
                <a:solidFill>
                  <a:srgbClr val="58595B"/>
                </a:solidFill>
                <a:latin typeface="Arial"/>
              </a:rPr>
              <a:t>Bốn tiêu chí (Hair và cộng sự, 2010)</a:t>
            </a:r>
            <a:r>
              <a:rPr sz="1400" b="0" i="0">
                <a:solidFill>
                  <a:srgbClr val="58595B"/>
                </a:solidFill>
                <a:latin typeface="Arial"/>
              </a:rPr>
              <a:t>  KMO từ 0,5; Bartlett có P-value dưới 0,05; eigenvalue lớn hơn 1; hệ số tải từ 0,5.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HỒI QUY TRÊN EXCEL</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Hồi quy đa biến kiểm định mỗi giả thuyết qua dấu và P-value của đúng một hệ số</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Chạy: Data &gt; Data Analysis &gt; Regression; vùng X là các cột biến độc lập đứng liền nhau; đánh dấu Labels và các ô phần dư.</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3.6.4, Hình 54 đến 56, Bảng 19 và 20; file 2.Chapter_2_and_Chapter_3_Practice.xlsx (dữ liệu giả định), sheet 7_BienDaiDien đến 9_HoiQuy</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37</a:t>
            </a:r>
          </a:p>
        </p:txBody>
      </p:sp>
      <p:sp>
        <p:nvSpPr>
          <p:cNvPr id="11" name="Rectangle 10"/>
          <p:cNvSpPr/>
          <p:nvPr/>
        </p:nvSpPr>
        <p:spPr>
          <a:xfrm>
            <a:off x="974084" y="1728216"/>
            <a:ext cx="5275591" cy="39502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55_p1932.png"/>
          <p:cNvPicPr>
            <a:picLocks noChangeAspect="1"/>
          </p:cNvPicPr>
          <p:nvPr/>
        </p:nvPicPr>
        <p:blipFill>
          <a:blip r:embed="rId2"/>
          <a:stretch>
            <a:fillRect/>
          </a:stretch>
        </p:blipFill>
        <p:spPr>
          <a:xfrm>
            <a:off x="1028948" y="1783080"/>
            <a:ext cx="5165863" cy="3840480"/>
          </a:xfrm>
          <a:prstGeom prst="rect">
            <a:avLst/>
          </a:prstGeom>
        </p:spPr>
      </p:pic>
      <p:sp>
        <p:nvSpPr>
          <p:cNvPr id="13" name="TextBox 12"/>
          <p:cNvSpPr txBox="1"/>
          <p:nvPr/>
        </p:nvSpPr>
        <p:spPr>
          <a:xfrm>
            <a:off x="7086600" y="1783080"/>
            <a:ext cx="4645152" cy="274320"/>
          </a:xfrm>
          <a:prstGeom prst="rect">
            <a:avLst/>
          </a:prstGeom>
          <a:noFill/>
        </p:spPr>
        <p:txBody>
          <a:bodyPr wrap="square" lIns="45720" rIns="45720" tIns="27432" bIns="27432" anchor="t">
            <a:spAutoFit/>
          </a:bodyPr>
          <a:lstStyle/>
          <a:p>
            <a:pPr algn="l"/>
            <a:r>
              <a:rPr sz="1000" b="1" i="0">
                <a:solidFill>
                  <a:srgbClr val="CC0000"/>
                </a:solidFill>
                <a:latin typeface="Arial"/>
              </a:rPr>
              <a:t>BỐN ĐIỀU PHẢI HIỂU ĐÚNG</a:t>
            </a:r>
          </a:p>
        </p:txBody>
      </p:sp>
      <p:cxnSp>
        <p:nvCxnSpPr>
          <p:cNvPr id="14" name="Connector 13"/>
          <p:cNvCxnSpPr/>
          <p:nvPr/>
        </p:nvCxnSpPr>
        <p:spPr>
          <a:xfrm>
            <a:off x="7086600" y="2103120"/>
            <a:ext cx="46451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0866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498079" y="219456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Phương trình:</a:t>
            </a:r>
            <a:r>
              <a:rPr sz="1250" b="0" i="0">
                <a:solidFill>
                  <a:srgbClr val="58595B"/>
                </a:solidFill>
                <a:latin typeface="Arial"/>
              </a:rPr>
              <a:t> YD = β0 + β1·HI + β2·SD + β3·NT + β4·XH + ε; H1 được ủng hộ khi β1 dương và P-value nhỏ hơn 0,05.</a:t>
            </a:r>
          </a:p>
        </p:txBody>
      </p:sp>
      <p:sp>
        <p:nvSpPr>
          <p:cNvPr id="17" name="Oval 16"/>
          <p:cNvSpPr/>
          <p:nvPr/>
        </p:nvSpPr>
        <p:spPr>
          <a:xfrm>
            <a:off x="70866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498079" y="305181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Biến đại diện:</a:t>
            </a:r>
            <a:r>
              <a:rPr sz="1250" b="0" i="0">
                <a:solidFill>
                  <a:srgbClr val="58595B"/>
                </a:solidFill>
                <a:latin typeface="Arial"/>
              </a:rPr>
              <a:t> =AVERAGE(F2:I2) kéo xuống 150 dòng; dùng trung bình để giữ thang 1 đến 5.</a:t>
            </a:r>
          </a:p>
        </p:txBody>
      </p:sp>
      <p:sp>
        <p:nvSpPr>
          <p:cNvPr id="19" name="Oval 18"/>
          <p:cNvSpPr/>
          <p:nvPr/>
        </p:nvSpPr>
        <p:spPr>
          <a:xfrm>
            <a:off x="70866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498079" y="390906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R²:</a:t>
            </a:r>
            <a:r>
              <a:rPr sz="1250" b="0" i="0">
                <a:solidFill>
                  <a:srgbClr val="58595B"/>
                </a:solidFill>
                <a:latin typeface="Arial"/>
              </a:rPr>
              <a:t> tỷ lệ biến động của Y được các X giải thích; R² hiệu chỉnh dùng khi so mô hình khác số biến.</a:t>
            </a:r>
          </a:p>
        </p:txBody>
      </p:sp>
      <p:sp>
        <p:nvSpPr>
          <p:cNvPr id="21" name="Oval 20"/>
          <p:cNvSpPr/>
          <p:nvPr/>
        </p:nvSpPr>
        <p:spPr>
          <a:xfrm>
            <a:off x="70866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498079" y="4766310"/>
            <a:ext cx="4233672" cy="857250"/>
          </a:xfrm>
          <a:prstGeom prst="rect">
            <a:avLst/>
          </a:prstGeom>
          <a:noFill/>
        </p:spPr>
        <p:txBody>
          <a:bodyPr wrap="square" lIns="45720" rIns="45720" tIns="27432" bIns="27432" anchor="t">
            <a:spAutoFit/>
          </a:bodyPr>
          <a:lstStyle/>
          <a:p>
            <a:pPr algn="l"/>
            <a:r>
              <a:rPr sz="1250" b="1" i="0">
                <a:solidFill>
                  <a:srgbClr val="58595B"/>
                </a:solidFill>
                <a:latin typeface="Arial"/>
              </a:rPr>
              <a:t>P-value</a:t>
            </a:r>
            <a:r>
              <a:rPr sz="1250" b="0" i="0">
                <a:solidFill>
                  <a:srgbClr val="58595B"/>
                </a:solidFill>
                <a:latin typeface="Arial"/>
              </a:rPr>
              <a:t> không phải xác suất giả thuyết đúng; nó cũng không cho biết tác động mạnh hay yếu.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3 | ĐỘ TIN CẬY, GIÁ TRỊ VÀ ĐẠO ĐỨC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Đo ổn định chưa đủ, phải đo đúng và người tham gia phải được thông tin, tự nguyện, bảo vệ</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Mọi kết quả, kể cả giả thuyết không được ủng hộ, đều phải được báo cáo đầy đủ.</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3, mục 3.7 và 3.8; Creswell và Creswell (2018, tr. 146 đến 153, 215 đến 216)</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38</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Độ tin cậy</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"Đo có ổn định không?"</a:t>
            </a:r>
          </a:p>
          <a:p>
            <a:pPr algn="l">
              <a:spcBef>
                <a:spcPts val="585"/>
              </a:spcBef>
            </a:pPr>
          </a:p>
          <a:p>
            <a:pPr algn="l">
              <a:spcBef>
                <a:spcPts val="585"/>
              </a:spcBef>
            </a:pPr>
            <a:r>
              <a:rPr sz="1300" b="0" i="0">
                <a:solidFill>
                  <a:srgbClr val="58595B"/>
                </a:solidFill>
                <a:latin typeface="Arial"/>
              </a:rPr>
              <a:t>Cái cân luôn chỉ 2 kg cho mọi vật rất nhất quán nhưng không đo đúng khối lượng.</a:t>
            </a:r>
          </a:p>
          <a:p>
            <a:pPr algn="l">
              <a:spcBef>
                <a:spcPts val="585"/>
              </a:spcBef>
            </a:pPr>
          </a:p>
          <a:p>
            <a:pPr algn="l">
              <a:spcBef>
                <a:spcPts val="585"/>
              </a:spcBef>
            </a:pPr>
            <a:r>
              <a:rPr sz="1300" b="0" i="0">
                <a:solidFill>
                  <a:srgbClr val="58595B"/>
                </a:solidFill>
                <a:latin typeface="Arial"/>
              </a:rPr>
              <a:t>Alpha đạt là </a:t>
            </a:r>
            <a:r>
              <a:rPr sz="1300" b="1" i="0">
                <a:solidFill>
                  <a:srgbClr val="58595B"/>
                </a:solidFill>
                <a:latin typeface="Arial"/>
              </a:rPr>
              <a:t>điều kiện cần</a:t>
            </a:r>
            <a:r>
              <a:rPr sz="1300" b="0" i="0">
                <a:solidFill>
                  <a:srgbClr val="58595B"/>
                </a:solidFill>
                <a:latin typeface="Arial"/>
              </a:rPr>
              <a:t>, chưa phải điều kiện đủ.</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Giá trị</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"Đo có đúng cái cần đo không?"</a:t>
            </a:r>
          </a:p>
          <a:p>
            <a:pPr algn="l">
              <a:spcBef>
                <a:spcPts val="585"/>
              </a:spcBef>
            </a:pPr>
          </a:p>
          <a:p>
            <a:pPr algn="l">
              <a:spcBef>
                <a:spcPts val="585"/>
              </a:spcBef>
            </a:pPr>
            <a:r>
              <a:rPr sz="1300" b="0" i="0">
                <a:solidFill>
                  <a:srgbClr val="58595B"/>
                </a:solidFill>
                <a:latin typeface="Arial"/>
              </a:rPr>
              <a:t>Giá trị nội dung, dự báo hoặc đồng thời, cấu trúc.</a:t>
            </a:r>
          </a:p>
          <a:p>
            <a:pPr algn="l">
              <a:spcBef>
                <a:spcPts val="585"/>
              </a:spcBef>
            </a:pPr>
          </a:p>
          <a:p>
            <a:pPr algn="l">
              <a:spcBef>
                <a:spcPts val="585"/>
              </a:spcBef>
            </a:pPr>
            <a:r>
              <a:rPr sz="1300" b="0" i="0">
                <a:solidFill>
                  <a:srgbClr val="58595B"/>
                </a:solidFill>
                <a:latin typeface="Arial"/>
              </a:rPr>
              <a:t>Biện pháp: kế thừa thang đo đã công bố; định nghĩa từ Chương 2; đọc thử bảng hỏi.</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Đạo đức</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Tự nguyện, đồng ý, bảo mật, ẩn danh, không gây hại, trung thực.</a:t>
            </a:r>
          </a:p>
          <a:p>
            <a:pPr algn="l">
              <a:spcBef>
                <a:spcPts val="585"/>
              </a:spcBef>
            </a:pPr>
          </a:p>
          <a:p>
            <a:pPr algn="l">
              <a:spcBef>
                <a:spcPts val="585"/>
              </a:spcBef>
            </a:pPr>
            <a:r>
              <a:rPr sz="1300" b="0" i="0">
                <a:solidFill>
                  <a:srgbClr val="58595B"/>
                </a:solidFill>
                <a:latin typeface="Arial"/>
              </a:rPr>
              <a:t>Phiếu không thu họ tên, số điện thoại, số tài khoản.</a:t>
            </a:r>
          </a:p>
          <a:p>
            <a:pPr algn="l">
              <a:spcBef>
                <a:spcPts val="585"/>
              </a:spcBef>
            </a:pPr>
          </a:p>
          <a:p>
            <a:pPr algn="l">
              <a:spcBef>
                <a:spcPts val="585"/>
              </a:spcBef>
            </a:pPr>
            <a:r>
              <a:rPr sz="1300" b="0" i="0">
                <a:solidFill>
                  <a:srgbClr val="58595B"/>
                </a:solidFill>
                <a:latin typeface="Arial"/>
              </a:rPr>
              <a:t>Trường Y: xin phép Ban giám hiệu; không khảo sát học sinh.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05</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4: Kết quả nghiên cứu và thảo luận</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Dữ liệu nói gì? Mọi bảng, mọi con số phục vụ việc kiểm định giả thuyết của Chương 2</a:t>
            </a:r>
          </a:p>
        </p:txBody>
      </p:sp>
      <p:sp>
        <p:nvSpPr>
          <p:cNvPr id="7" name="TextBox 6"/>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28 phút | 11 slide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4 kiểm tra từng lớp; lớp sau chỉ có giá trị khi lớp trước đạt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Dành ít nhất một phần tư dung lượng Chương 4 cho mục 4.5 thảo luận; hàm ý quản trị để dành cho Chương 5.</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1 và 2, Hình 59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40</a:t>
            </a:r>
          </a:p>
        </p:txBody>
      </p:sp>
      <p:sp>
        <p:nvSpPr>
          <p:cNvPr id="11" name="Rectangle 10"/>
          <p:cNvSpPr/>
          <p:nvPr/>
        </p:nvSpPr>
        <p:spPr>
          <a:xfrm>
            <a:off x="493776" y="4800600"/>
            <a:ext cx="2181758" cy="8229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4.1 Mô tả mẫu</a:t>
            </a:r>
          </a:p>
        </p:txBody>
      </p:sp>
      <p:sp>
        <p:nvSpPr>
          <p:cNvPr id="12" name="TextBox 11"/>
          <p:cNvSpPr txBox="1"/>
          <p:nvPr/>
        </p:nvSpPr>
        <p:spPr>
          <a:xfrm>
            <a:off x="512064" y="1783080"/>
            <a:ext cx="2145182" cy="2971800"/>
          </a:xfrm>
          <a:prstGeom prst="rect">
            <a:avLst/>
          </a:prstGeom>
          <a:noFill/>
        </p:spPr>
        <p:txBody>
          <a:bodyPr wrap="square" lIns="45720" rIns="45720" tIns="27432" bIns="27432" anchor="b">
            <a:spAutoFit/>
          </a:bodyPr>
          <a:lstStyle/>
          <a:p>
            <a:pPr algn="l"/>
            <a:r>
              <a:rPr sz="1150" b="0" i="0">
                <a:solidFill>
                  <a:srgbClr val="58595B"/>
                </a:solidFill>
                <a:latin typeface="Arial"/>
              </a:rPr>
              <a:t>Dữ liệu đến từ ai?</a:t>
            </a:r>
          </a:p>
        </p:txBody>
      </p:sp>
      <p:sp>
        <p:nvSpPr>
          <p:cNvPr id="13" name="Rectangle 12"/>
          <p:cNvSpPr/>
          <p:nvPr/>
        </p:nvSpPr>
        <p:spPr>
          <a:xfrm>
            <a:off x="2748686" y="4297680"/>
            <a:ext cx="2181758" cy="132588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4.2 Thang đo</a:t>
            </a:r>
          </a:p>
        </p:txBody>
      </p:sp>
      <p:sp>
        <p:nvSpPr>
          <p:cNvPr id="14" name="TextBox 13"/>
          <p:cNvSpPr txBox="1"/>
          <p:nvPr/>
        </p:nvSpPr>
        <p:spPr>
          <a:xfrm>
            <a:off x="2766974" y="1783080"/>
            <a:ext cx="2145182" cy="2468880"/>
          </a:xfrm>
          <a:prstGeom prst="rect">
            <a:avLst/>
          </a:prstGeom>
          <a:noFill/>
        </p:spPr>
        <p:txBody>
          <a:bodyPr wrap="square" lIns="45720" rIns="45720" tIns="27432" bIns="27432" anchor="b">
            <a:spAutoFit/>
          </a:bodyPr>
          <a:lstStyle/>
          <a:p>
            <a:pPr algn="l"/>
            <a:r>
              <a:rPr sz="1150" b="0" i="0">
                <a:solidFill>
                  <a:srgbClr val="58595B"/>
                </a:solidFill>
                <a:latin typeface="Arial"/>
              </a:rPr>
              <a:t>Công cụ đo có đáng tin không?</a:t>
            </a:r>
          </a:p>
        </p:txBody>
      </p:sp>
      <p:sp>
        <p:nvSpPr>
          <p:cNvPr id="15" name="Rectangle 14"/>
          <p:cNvSpPr/>
          <p:nvPr/>
        </p:nvSpPr>
        <p:spPr>
          <a:xfrm>
            <a:off x="5003596" y="3794760"/>
            <a:ext cx="2181758" cy="18288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4.3 Tương quan</a:t>
            </a:r>
          </a:p>
        </p:txBody>
      </p:sp>
      <p:sp>
        <p:nvSpPr>
          <p:cNvPr id="16" name="TextBox 15"/>
          <p:cNvSpPr txBox="1"/>
          <p:nvPr/>
        </p:nvSpPr>
        <p:spPr>
          <a:xfrm>
            <a:off x="5021884" y="1783080"/>
            <a:ext cx="2145182" cy="1965960"/>
          </a:xfrm>
          <a:prstGeom prst="rect">
            <a:avLst/>
          </a:prstGeom>
          <a:noFill/>
        </p:spPr>
        <p:txBody>
          <a:bodyPr wrap="square" lIns="45720" rIns="45720" tIns="27432" bIns="27432" anchor="b">
            <a:spAutoFit/>
          </a:bodyPr>
          <a:lstStyle/>
          <a:p>
            <a:pPr algn="l"/>
            <a:r>
              <a:rPr sz="1150" b="0" i="0">
                <a:solidFill>
                  <a:srgbClr val="58595B"/>
                </a:solidFill>
                <a:latin typeface="Arial"/>
              </a:rPr>
              <a:t>Các biến có liên hệ sơ bộ ra sao?</a:t>
            </a:r>
          </a:p>
        </p:txBody>
      </p:sp>
      <p:sp>
        <p:nvSpPr>
          <p:cNvPr id="17" name="Rectangle 16"/>
          <p:cNvSpPr/>
          <p:nvPr/>
        </p:nvSpPr>
        <p:spPr>
          <a:xfrm>
            <a:off x="7258507" y="3291840"/>
            <a:ext cx="2181758" cy="2331720"/>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4.4 Hồi quy</a:t>
            </a:r>
          </a:p>
        </p:txBody>
      </p:sp>
      <p:sp>
        <p:nvSpPr>
          <p:cNvPr id="18" name="TextBox 17"/>
          <p:cNvSpPr txBox="1"/>
          <p:nvPr/>
        </p:nvSpPr>
        <p:spPr>
          <a:xfrm>
            <a:off x="7276795" y="1783080"/>
            <a:ext cx="2145182" cy="1463039"/>
          </a:xfrm>
          <a:prstGeom prst="rect">
            <a:avLst/>
          </a:prstGeom>
          <a:noFill/>
        </p:spPr>
        <p:txBody>
          <a:bodyPr wrap="square" lIns="45720" rIns="45720" tIns="27432" bIns="27432" anchor="b">
            <a:spAutoFit/>
          </a:bodyPr>
          <a:lstStyle/>
          <a:p>
            <a:pPr algn="l"/>
            <a:r>
              <a:rPr sz="1150" b="0" i="0">
                <a:solidFill>
                  <a:srgbClr val="58595B"/>
                </a:solidFill>
                <a:latin typeface="Arial"/>
              </a:rPr>
              <a:t>Giả thuyết có được ủng hộ không?</a:t>
            </a:r>
          </a:p>
        </p:txBody>
      </p:sp>
      <p:sp>
        <p:nvSpPr>
          <p:cNvPr id="19" name="Rectangle 18"/>
          <p:cNvSpPr/>
          <p:nvPr/>
        </p:nvSpPr>
        <p:spPr>
          <a:xfrm>
            <a:off x="9513417" y="2788920"/>
            <a:ext cx="2181758" cy="28346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27432" bIns="27432"/>
          <a:lstStyle/>
          <a:p>
            <a:pPr algn="ctr"/>
            <a:r>
              <a:rPr sz="1300" b="1" i="0">
                <a:solidFill>
                  <a:srgbClr val="FFFFFF"/>
                </a:solidFill>
                <a:latin typeface="Arial"/>
              </a:rPr>
              <a:t>4.5 Thảo luận</a:t>
            </a:r>
          </a:p>
        </p:txBody>
      </p:sp>
      <p:sp>
        <p:nvSpPr>
          <p:cNvPr id="20" name="TextBox 19"/>
          <p:cNvSpPr txBox="1"/>
          <p:nvPr/>
        </p:nvSpPr>
        <p:spPr>
          <a:xfrm>
            <a:off x="9531705" y="1783080"/>
            <a:ext cx="2145182" cy="960120"/>
          </a:xfrm>
          <a:prstGeom prst="rect">
            <a:avLst/>
          </a:prstGeom>
          <a:noFill/>
        </p:spPr>
        <p:txBody>
          <a:bodyPr wrap="square" lIns="45720" rIns="45720" tIns="27432" bIns="27432" anchor="b">
            <a:spAutoFit/>
          </a:bodyPr>
          <a:lstStyle/>
          <a:p>
            <a:pPr algn="l"/>
            <a:r>
              <a:rPr sz="1150" b="0" i="0">
                <a:solidFill>
                  <a:srgbClr val="58595B"/>
                </a:solidFill>
                <a:latin typeface="Arial"/>
              </a:rPr>
              <a:t>Kết quả có ý nghĩa gì với lý thuyết?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DIỄN GIẢI MỘT BẢNG SỐ</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Một bảng số chưa phải là kết quả; kết quả là đoạn văn đi qua bốn bước Đọc, So sánh, Ý nghĩa, Liên hệ</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Trước khi viết, gạch chân hai con số nổi bật nhất; mỗi câu diễn giải phải kiểm chứng được bằng con số trong bảng.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3 và Hình 60; file 3.Chapter_4_and_Chapter_5_Practice_NH_X.xlsx (dữ liệu giả định), sheet 4_NhanKhauHoc</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41</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"Nam có 86 người chiếm 57,3%. Nữ có 64 người chiếm 42,7%. Tuổi 18 đến 25 có 44 người chiếm 29,3%. Tuổi 26 đến 35 có 49 người chiếm 32,7%."</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"Bảng 4.1 cho thấy mẫu có tỷ lệ nam (57,3%) cao hơn nữ (42,7%). Nhóm 26 đến 35 tuổi chiếm tỷ lệ cao nhất (32,7%), cao hơn gấp đôi nhóm trên 45 tuổi (14,7%); hai nhóm dưới 35 tuổi cộng lại chiếm 62,0% mẫu. Có 80,0% người trả lời đã dùng ngân hàng số từ một năm trở lên. Mẫu vì vậy nghiêng về khách hàng trẻ, đã có kinh nghiệm với ứng dụng. Đặc điểm này cần được lưu ý khi giải thích kết quả ở mục 4.5, nhất là với biến sự dễ sử dụng."</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Đọc và so sánh.</a:t>
            </a:r>
            <a:r>
              <a:rPr sz="1200" b="0" i="0">
                <a:solidFill>
                  <a:srgbClr val="58595B"/>
                </a:solidFill>
                <a:latin typeface="Arial"/>
              </a:rPr>
              <a:t> Chỉ con số nổi bật nhất; so với nhóm khác, với ngưỡng, với tổng thể.</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Ý nghĩa.</a:t>
            </a:r>
            <a:r>
              <a:rPr sz="1200" b="0" i="0">
                <a:solidFill>
                  <a:srgbClr val="58595B"/>
                </a:solidFill>
                <a:latin typeface="Arial"/>
              </a:rPr>
              <a:t> Con số trả lời được điều gì cho câu hỏi nghiên cứu.</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Liên hệ.</a:t>
            </a:r>
            <a:r>
              <a:rPr sz="1200" b="0" i="0">
                <a:solidFill>
                  <a:srgbClr val="58595B"/>
                </a:solidFill>
                <a:latin typeface="Arial"/>
              </a:rPr>
              <a:t> Nối với lý thuyết, với bước phân tích sau hoặc với hạn chế.</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THỐNG KÊ MÔ TẢ CÁC BIẾN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Khách hàng thấy rõ lợi ích nhưng còn dè dặt về an toàn: niềm tin và ảnh hưởng xã hội chỉ nhỉnh hơn mức trung lập</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Gọi điểm 3,4 là "cao" hay kết luận "khách hàng rất hài lòng" khi đề tài không đo sự hài lòng là diễn giải vượt quá dữ liệu.</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4.1.2, Bảng 29 và Hình 62; file 3.Chapter_4_and_Chapter_5_Practice_NH_X.xlsx (dữ liệu giả định), sheet 5_ThongKeMoTa và 11_BieuDo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42</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ĐIỂM TRUNG BÌNH TRÊN THANG 1 ĐẾN 5 (MỨC TRUNG LẬP = 3,0; n = 150)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So với mức trung lập 3,0:</a:t>
            </a:r>
            <a:r>
              <a:rPr sz="1250" b="0" i="0">
                <a:solidFill>
                  <a:srgbClr val="58595B"/>
                </a:solidFill>
                <a:latin typeface="Arial"/>
              </a:rPr>
              <a:t> cả năm biến đều cao hơn; NT (3,41) và XH (3,36) chỉ nhỉnh hơn.</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Độ lệch chuẩn 0,67 đến 0,75:</a:t>
            </a:r>
            <a:r>
              <a:rPr sz="1250" b="0" i="0">
                <a:solidFill>
                  <a:srgbClr val="58595B"/>
                </a:solidFill>
                <a:latin typeface="Arial"/>
              </a:rPr>
              <a:t> mức phân tán tương đương giữa các biến.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Trường Y:</a:t>
            </a:r>
            <a:r>
              <a:rPr sz="1250" b="0" i="0">
                <a:solidFill>
                  <a:srgbClr val="58595B"/>
                </a:solidFill>
                <a:latin typeface="Arial"/>
              </a:rPr>
              <a:t> TDNV 4,12 cao nhất; CSVC 3,97; HL 3,88; QTHC 3,48 thấp nhất.</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Điểm trung bình nói về mức độ</a:t>
            </a:r>
            <a:r>
              <a:rPr sz="1250" b="0" i="0">
                <a:solidFill>
                  <a:srgbClr val="58595B"/>
                </a:solidFill>
                <a:latin typeface="Arial"/>
              </a:rPr>
              <a:t>, chưa nói về tác động; tác động đọc từ hồi quy ở mục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CRONBACH ALPHA</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chín thang đo của hai đề tài đạt ngưỡng 0,7, nên toàn bộ câu hỏi được giữ lại</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Luôn báo cáo ba chỉ số: Alpha, tương quan biến tổng nhỏ nhất, Alpha nếu loại câu; rồi ghi rõ quyết định giữ hay loại.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4.2.1, Bảng 30 và 31; file 3.Chapter_4_and_Chapter_5_Practice_NH_X.xlsx (dữ liệu giả định); file 3.Chapter_4_and_Chapter_5_Practice_Truong_Y.xlsx (dữ liệu giả định), sheet 6_Cronbach</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43</a:t>
            </a:r>
          </a:p>
        </p:txBody>
      </p:sp>
      <p:graphicFrame>
        <p:nvGraphicFramePr>
          <p:cNvPr id="11" name="Table 10"/>
          <p:cNvGraphicFramePr>
            <a:graphicFrameLocks noGrp="1"/>
          </p:cNvGraphicFramePr>
          <p:nvPr/>
        </p:nvGraphicFramePr>
        <p:xfrm>
          <a:off x="457200" y="1783080"/>
          <a:ext cx="7863838" cy="3703320"/>
        </p:xfrm>
        <a:graphic>
          <a:graphicData uri="http://schemas.openxmlformats.org/drawingml/2006/table">
            <a:tbl>
              <a:tblPr firstRow="1" bandRow="1">
                <a:tableStyleId>{5C22544A-7EE6-4342-B048-85BDC9FD1C3A}</a:tableStyleId>
              </a:tblPr>
              <a:tblGrid>
                <a:gridCol w="3180879"/>
                <a:gridCol w="795219"/>
                <a:gridCol w="1237008"/>
                <a:gridCol w="2650732"/>
              </a:tblGrid>
              <a:tr h="411480">
                <a:tc>
                  <a:txBody>
                    <a:bodyPr wrap="square"/>
                    <a:lstStyle/>
                    <a:p>
                      <a:pPr algn="l"/>
                      <a:r>
                        <a:rPr sz="1100" b="1">
                          <a:solidFill>
                            <a:srgbClr val="FFFFFF"/>
                          </a:solidFill>
                          <a:latin typeface="Arial"/>
                        </a:rPr>
                        <a:t>Thang đo</a:t>
                      </a:r>
                    </a:p>
                  </a:txBody>
                  <a:tcPr marL="73152" marR="73152" marT="27432" marB="27432" anchor="ctr">
                    <a:solidFill>
                      <a:srgbClr val="262626"/>
                    </a:solidFill>
                  </a:tcPr>
                </a:tc>
                <a:tc>
                  <a:txBody>
                    <a:bodyPr wrap="square"/>
                    <a:lstStyle/>
                    <a:p>
                      <a:pPr algn="ctr"/>
                      <a:r>
                        <a:rPr sz="1100" b="1">
                          <a:solidFill>
                            <a:srgbClr val="FFFFFF"/>
                          </a:solidFill>
                          <a:latin typeface="Arial"/>
                        </a:rPr>
                        <a:t>Số câu</a:t>
                      </a:r>
                    </a:p>
                  </a:txBody>
                  <a:tcPr marL="73152" marR="73152" marT="27432" marB="27432" anchor="ctr">
                    <a:solidFill>
                      <a:srgbClr val="262626"/>
                    </a:solidFill>
                  </a:tcPr>
                </a:tc>
                <a:tc>
                  <a:txBody>
                    <a:bodyPr wrap="square"/>
                    <a:lstStyle/>
                    <a:p>
                      <a:pPr algn="ctr"/>
                      <a:r>
                        <a:rPr sz="1100" b="1">
                          <a:solidFill>
                            <a:srgbClr val="FFFFFF"/>
                          </a:solidFill>
                          <a:latin typeface="Arial"/>
                        </a:rPr>
                        <a:t>Cronbach Alpha</a:t>
                      </a:r>
                    </a:p>
                  </a:txBody>
                  <a:tcPr marL="73152" marR="73152" marT="27432" marB="27432" anchor="ctr">
                    <a:solidFill>
                      <a:srgbClr val="262626"/>
                    </a:solidFill>
                  </a:tcPr>
                </a:tc>
                <a:tc>
                  <a:txBody>
                    <a:bodyPr wrap="square"/>
                    <a:lstStyle/>
                    <a:p>
                      <a:pPr algn="ctr"/>
                      <a:r>
                        <a:rPr sz="1100" b="1">
                          <a:solidFill>
                            <a:srgbClr val="FFFFFF"/>
                          </a:solidFill>
                          <a:latin typeface="Arial"/>
                        </a:rPr>
                        <a:t>Kết luận</a:t>
                      </a:r>
                    </a:p>
                  </a:txBody>
                  <a:tcPr marL="73152" marR="73152" marT="27432" marB="27432" anchor="ctr">
                    <a:solidFill>
                      <a:srgbClr val="262626"/>
                    </a:solidFill>
                  </a:tcPr>
                </a:tc>
              </a:tr>
              <a:tr h="365760">
                <a:tc>
                  <a:txBody>
                    <a:bodyPr wrap="square"/>
                    <a:lstStyle/>
                    <a:p>
                      <a:pPr algn="l"/>
                      <a:r>
                        <a:rPr sz="1100" b="0">
                          <a:solidFill>
                            <a:srgbClr val="262626"/>
                          </a:solidFill>
                          <a:latin typeface="Arial"/>
                        </a:rPr>
                        <a:t>Ngân hàng X: Sự hữu ích (HI)</a:t>
                      </a:r>
                    </a:p>
                  </a:txBody>
                  <a:tcPr marL="73152" marR="73152" marT="27432" marB="27432" anchor="ctr">
                    <a:solidFill>
                      <a:srgbClr val="FFFFFF"/>
                    </a:solidFill>
                  </a:tcPr>
                </a:tc>
                <a:tc>
                  <a:txBody>
                    <a:bodyPr wrap="square"/>
                    <a:lstStyle/>
                    <a:p>
                      <a:pPr algn="ctr"/>
                      <a:r>
                        <a:rPr sz="1100" b="0">
                          <a:solidFill>
                            <a:srgbClr val="262626"/>
                          </a:solidFill>
                          <a:latin typeface="Arial"/>
                        </a:rPr>
                        <a:t>4</a:t>
                      </a:r>
                    </a:p>
                  </a:txBody>
                  <a:tcPr marL="73152" marR="73152" marT="27432" marB="27432" anchor="ctr">
                    <a:solidFill>
                      <a:srgbClr val="FFFFFF"/>
                    </a:solidFill>
                  </a:tcPr>
                </a:tc>
                <a:tc>
                  <a:txBody>
                    <a:bodyPr wrap="square"/>
                    <a:lstStyle/>
                    <a:p>
                      <a:pPr algn="ctr"/>
                      <a:r>
                        <a:rPr sz="1100" b="0">
                          <a:solidFill>
                            <a:srgbClr val="262626"/>
                          </a:solidFill>
                          <a:latin typeface="Arial"/>
                        </a:rPr>
                        <a:t>0,792</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100" b="0">
                          <a:solidFill>
                            <a:srgbClr val="262626"/>
                          </a:solidFill>
                          <a:latin typeface="Arial"/>
                        </a:rPr>
                        <a:t>Ngân hàng X: Sự dễ sử dụng (SD)</a:t>
                      </a:r>
                    </a:p>
                  </a:txBody>
                  <a:tcPr marL="73152" marR="73152" marT="27432" marB="27432" anchor="ctr">
                    <a:solidFill>
                      <a:srgbClr val="F3F3F3"/>
                    </a:solidFill>
                  </a:tcPr>
                </a:tc>
                <a:tc>
                  <a:txBody>
                    <a:bodyPr wrap="square"/>
                    <a:lstStyle/>
                    <a:p>
                      <a:pPr algn="ctr"/>
                      <a:r>
                        <a:rPr sz="1100" b="0">
                          <a:solidFill>
                            <a:srgbClr val="262626"/>
                          </a:solidFill>
                          <a:latin typeface="Arial"/>
                        </a:rPr>
                        <a:t>4</a:t>
                      </a:r>
                    </a:p>
                  </a:txBody>
                  <a:tcPr marL="73152" marR="73152" marT="27432" marB="27432" anchor="ctr">
                    <a:solidFill>
                      <a:srgbClr val="F3F3F3"/>
                    </a:solidFill>
                  </a:tcPr>
                </a:tc>
                <a:tc>
                  <a:txBody>
                    <a:bodyPr wrap="square"/>
                    <a:lstStyle/>
                    <a:p>
                      <a:pPr algn="ctr"/>
                      <a:r>
                        <a:rPr sz="1100" b="0">
                          <a:solidFill>
                            <a:srgbClr val="262626"/>
                          </a:solidFill>
                          <a:latin typeface="Arial"/>
                        </a:rPr>
                        <a:t>0,803</a:t>
                      </a:r>
                    </a:p>
                  </a:txBody>
                  <a:tcPr marL="73152" marR="73152" marT="27432" marB="27432" anchor="ctr">
                    <a:solidFill>
                      <a:srgbClr val="F3F3F3"/>
                    </a:solidFill>
                  </a:tcPr>
                </a:tc>
                <a:tc>
                  <a:txBody>
                    <a:bodyPr wrap="square"/>
                    <a:lstStyle/>
                    <a:p>
                      <a:pPr algn="ctr"/>
                      <a:r>
                        <a:rPr sz="11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100" b="0">
                          <a:solidFill>
                            <a:srgbClr val="262626"/>
                          </a:solidFill>
                          <a:latin typeface="Arial"/>
                        </a:rPr>
                        <a:t>Ngân hàng X: Niềm tin (NT)</a:t>
                      </a:r>
                    </a:p>
                  </a:txBody>
                  <a:tcPr marL="73152" marR="73152" marT="27432" marB="27432" anchor="ctr">
                    <a:solidFill>
                      <a:srgbClr val="FFFFFF"/>
                    </a:solidFill>
                  </a:tcPr>
                </a:tc>
                <a:tc>
                  <a:txBody>
                    <a:bodyPr wrap="square"/>
                    <a:lstStyle/>
                    <a:p>
                      <a:pPr algn="ctr"/>
                      <a:r>
                        <a:rPr sz="1100" b="0">
                          <a:solidFill>
                            <a:srgbClr val="262626"/>
                          </a:solidFill>
                          <a:latin typeface="Arial"/>
                        </a:rPr>
                        <a:t>4</a:t>
                      </a:r>
                    </a:p>
                  </a:txBody>
                  <a:tcPr marL="73152" marR="73152" marT="27432" marB="27432" anchor="ctr">
                    <a:solidFill>
                      <a:srgbClr val="FFFFFF"/>
                    </a:solidFill>
                  </a:tcPr>
                </a:tc>
                <a:tc>
                  <a:txBody>
                    <a:bodyPr wrap="square"/>
                    <a:lstStyle/>
                    <a:p>
                      <a:pPr algn="ctr"/>
                      <a:r>
                        <a:rPr sz="1100" b="0">
                          <a:solidFill>
                            <a:srgbClr val="262626"/>
                          </a:solidFill>
                          <a:latin typeface="Arial"/>
                        </a:rPr>
                        <a:t>0,798</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100" b="0">
                          <a:solidFill>
                            <a:srgbClr val="262626"/>
                          </a:solidFill>
                          <a:latin typeface="Arial"/>
                        </a:rPr>
                        <a:t>Ngân hàng X: Ảnh hưởng xã hội (XH)</a:t>
                      </a:r>
                    </a:p>
                  </a:txBody>
                  <a:tcPr marL="73152" marR="73152" marT="27432" marB="27432" anchor="ctr">
                    <a:solidFill>
                      <a:srgbClr val="F3F3F3"/>
                    </a:solidFill>
                  </a:tcPr>
                </a:tc>
                <a:tc>
                  <a:txBody>
                    <a:bodyPr wrap="square"/>
                    <a:lstStyle/>
                    <a:p>
                      <a:pPr algn="ctr"/>
                      <a:r>
                        <a:rPr sz="1100" b="0">
                          <a:solidFill>
                            <a:srgbClr val="262626"/>
                          </a:solidFill>
                          <a:latin typeface="Arial"/>
                        </a:rPr>
                        <a:t>4</a:t>
                      </a:r>
                    </a:p>
                  </a:txBody>
                  <a:tcPr marL="73152" marR="73152" marT="27432" marB="27432" anchor="ctr">
                    <a:solidFill>
                      <a:srgbClr val="F3F3F3"/>
                    </a:solidFill>
                  </a:tcPr>
                </a:tc>
                <a:tc>
                  <a:txBody>
                    <a:bodyPr wrap="square"/>
                    <a:lstStyle/>
                    <a:p>
                      <a:pPr algn="ctr"/>
                      <a:r>
                        <a:rPr sz="1100" b="0">
                          <a:solidFill>
                            <a:srgbClr val="262626"/>
                          </a:solidFill>
                          <a:latin typeface="Arial"/>
                        </a:rPr>
                        <a:t>0,802</a:t>
                      </a:r>
                    </a:p>
                  </a:txBody>
                  <a:tcPr marL="73152" marR="73152" marT="27432" marB="27432" anchor="ctr">
                    <a:solidFill>
                      <a:srgbClr val="F3F3F3"/>
                    </a:solidFill>
                  </a:tcPr>
                </a:tc>
                <a:tc>
                  <a:txBody>
                    <a:bodyPr wrap="square"/>
                    <a:lstStyle/>
                    <a:p>
                      <a:pPr algn="ctr"/>
                      <a:r>
                        <a:rPr sz="11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100" b="0">
                          <a:solidFill>
                            <a:srgbClr val="262626"/>
                          </a:solidFill>
                          <a:latin typeface="Arial"/>
                        </a:rPr>
                        <a:t>Ngân hàng X: Ý định sử dụng (YD)</a:t>
                      </a:r>
                    </a:p>
                  </a:txBody>
                  <a:tcPr marL="73152" marR="73152" marT="27432" marB="27432" anchor="ctr">
                    <a:solidFill>
                      <a:srgbClr val="FFFFFF"/>
                    </a:solidFill>
                  </a:tcPr>
                </a:tc>
                <a:tc>
                  <a:txBody>
                    <a:bodyPr wrap="square"/>
                    <a:lstStyle/>
                    <a:p>
                      <a:pPr algn="ctr"/>
                      <a:r>
                        <a:rPr sz="1100" b="0">
                          <a:solidFill>
                            <a:srgbClr val="262626"/>
                          </a:solidFill>
                          <a:latin typeface="Arial"/>
                        </a:rPr>
                        <a:t>3</a:t>
                      </a:r>
                    </a:p>
                  </a:txBody>
                  <a:tcPr marL="73152" marR="73152" marT="27432" marB="27432" anchor="ctr">
                    <a:solidFill>
                      <a:srgbClr val="FFFFFF"/>
                    </a:solidFill>
                  </a:tcPr>
                </a:tc>
                <a:tc>
                  <a:txBody>
                    <a:bodyPr wrap="square"/>
                    <a:lstStyle/>
                    <a:p>
                      <a:pPr algn="ctr"/>
                      <a:r>
                        <a:rPr sz="1100" b="0">
                          <a:solidFill>
                            <a:srgbClr val="262626"/>
                          </a:solidFill>
                          <a:latin typeface="Arial"/>
                        </a:rPr>
                        <a:t>0,776</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100" b="0">
                          <a:solidFill>
                            <a:srgbClr val="262626"/>
                          </a:solidFill>
                          <a:latin typeface="Arial"/>
                        </a:rPr>
                        <a:t>Trường Y: Cơ sở vật chất (CSVC)</a:t>
                      </a:r>
                    </a:p>
                  </a:txBody>
                  <a:tcPr marL="73152" marR="73152" marT="27432" marB="27432" anchor="ctr">
                    <a:solidFill>
                      <a:srgbClr val="F3F3F3"/>
                    </a:solidFill>
                  </a:tcPr>
                </a:tc>
                <a:tc>
                  <a:txBody>
                    <a:bodyPr wrap="square"/>
                    <a:lstStyle/>
                    <a:p>
                      <a:pPr algn="ctr"/>
                      <a:r>
                        <a:rPr sz="1100" b="0">
                          <a:solidFill>
                            <a:srgbClr val="262626"/>
                          </a:solidFill>
                          <a:latin typeface="Arial"/>
                        </a:rPr>
                        <a:t>4</a:t>
                      </a:r>
                    </a:p>
                  </a:txBody>
                  <a:tcPr marL="73152" marR="73152" marT="27432" marB="27432" anchor="ctr">
                    <a:solidFill>
                      <a:srgbClr val="F3F3F3"/>
                    </a:solidFill>
                  </a:tcPr>
                </a:tc>
                <a:tc>
                  <a:txBody>
                    <a:bodyPr wrap="square"/>
                    <a:lstStyle/>
                    <a:p>
                      <a:pPr algn="ctr"/>
                      <a:r>
                        <a:rPr sz="1100" b="0">
                          <a:solidFill>
                            <a:srgbClr val="262626"/>
                          </a:solidFill>
                          <a:latin typeface="Arial"/>
                        </a:rPr>
                        <a:t>0,766</a:t>
                      </a:r>
                    </a:p>
                  </a:txBody>
                  <a:tcPr marL="73152" marR="73152" marT="27432" marB="27432" anchor="ctr">
                    <a:solidFill>
                      <a:srgbClr val="F3F3F3"/>
                    </a:solidFill>
                  </a:tcPr>
                </a:tc>
                <a:tc>
                  <a:txBody>
                    <a:bodyPr wrap="square"/>
                    <a:lstStyle/>
                    <a:p>
                      <a:pPr algn="ctr"/>
                      <a:r>
                        <a:rPr sz="1100" b="0">
                          <a:solidFill>
                            <a:srgbClr val="262626"/>
                          </a:solidFill>
                          <a:latin typeface="Arial"/>
                        </a:rPr>
                        <a:t>Đạt</a:t>
                      </a:r>
                    </a:p>
                  </a:txBody>
                  <a:tcPr marL="73152" marR="73152" marT="27432" marB="27432" anchor="ctr">
                    <a:solidFill>
                      <a:srgbClr val="F3F3F3"/>
                    </a:solidFill>
                  </a:tcPr>
                </a:tc>
              </a:tr>
              <a:tr h="365760">
                <a:tc>
                  <a:txBody>
                    <a:bodyPr wrap="square"/>
                    <a:lstStyle/>
                    <a:p>
                      <a:pPr algn="l"/>
                      <a:r>
                        <a:rPr sz="1100" b="0">
                          <a:solidFill>
                            <a:srgbClr val="262626"/>
                          </a:solidFill>
                          <a:latin typeface="Arial"/>
                        </a:rPr>
                        <a:t>Trường Y: Thái độ nhân viên (TDNV)</a:t>
                      </a:r>
                    </a:p>
                  </a:txBody>
                  <a:tcPr marL="73152" marR="73152" marT="27432" marB="27432" anchor="ctr">
                    <a:solidFill>
                      <a:srgbClr val="FFFFFF"/>
                    </a:solidFill>
                  </a:tcPr>
                </a:tc>
                <a:tc>
                  <a:txBody>
                    <a:bodyPr wrap="square"/>
                    <a:lstStyle/>
                    <a:p>
                      <a:pPr algn="ctr"/>
                      <a:r>
                        <a:rPr sz="1100" b="0">
                          <a:solidFill>
                            <a:srgbClr val="262626"/>
                          </a:solidFill>
                          <a:latin typeface="Arial"/>
                        </a:rPr>
                        <a:t>4</a:t>
                      </a:r>
                    </a:p>
                  </a:txBody>
                  <a:tcPr marL="73152" marR="73152" marT="27432" marB="27432" anchor="ctr">
                    <a:solidFill>
                      <a:srgbClr val="FFFFFF"/>
                    </a:solidFill>
                  </a:tcPr>
                </a:tc>
                <a:tc>
                  <a:txBody>
                    <a:bodyPr wrap="square"/>
                    <a:lstStyle/>
                    <a:p>
                      <a:pPr algn="ctr"/>
                      <a:r>
                        <a:rPr sz="1100" b="0">
                          <a:solidFill>
                            <a:srgbClr val="262626"/>
                          </a:solidFill>
                          <a:latin typeface="Arial"/>
                        </a:rPr>
                        <a:t>0,791</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r h="365760">
                <a:tc>
                  <a:txBody>
                    <a:bodyPr wrap="square"/>
                    <a:lstStyle/>
                    <a:p>
                      <a:pPr algn="l"/>
                      <a:r>
                        <a:rPr sz="1100" b="0">
                          <a:solidFill>
                            <a:srgbClr val="262626"/>
                          </a:solidFill>
                          <a:latin typeface="Arial"/>
                        </a:rPr>
                        <a:t>Trường Y: Quy trình hành chính (QTHC)</a:t>
                      </a:r>
                    </a:p>
                  </a:txBody>
                  <a:tcPr marL="73152" marR="73152" marT="27432" marB="27432" anchor="ctr">
                    <a:solidFill>
                      <a:srgbClr val="FBEAEA"/>
                    </a:solidFill>
                  </a:tcPr>
                </a:tc>
                <a:tc>
                  <a:txBody>
                    <a:bodyPr wrap="square"/>
                    <a:lstStyle/>
                    <a:p>
                      <a:pPr algn="ctr"/>
                      <a:r>
                        <a:rPr sz="1100" b="0">
                          <a:solidFill>
                            <a:srgbClr val="262626"/>
                          </a:solidFill>
                          <a:latin typeface="Arial"/>
                        </a:rPr>
                        <a:t>4</a:t>
                      </a:r>
                    </a:p>
                  </a:txBody>
                  <a:tcPr marL="73152" marR="73152" marT="27432" marB="27432" anchor="ctr">
                    <a:solidFill>
                      <a:srgbClr val="FBEAEA"/>
                    </a:solidFill>
                  </a:tcPr>
                </a:tc>
                <a:tc>
                  <a:txBody>
                    <a:bodyPr wrap="square"/>
                    <a:lstStyle/>
                    <a:p>
                      <a:pPr algn="ctr"/>
                      <a:r>
                        <a:rPr sz="1100" b="1">
                          <a:solidFill>
                            <a:srgbClr val="262626"/>
                          </a:solidFill>
                          <a:latin typeface="Arial"/>
                        </a:rPr>
                        <a:t>0,740</a:t>
                      </a:r>
                    </a:p>
                  </a:txBody>
                  <a:tcPr marL="73152" marR="73152" marT="27432" marB="27432" anchor="ctr">
                    <a:solidFill>
                      <a:srgbClr val="FBEAEA"/>
                    </a:solidFill>
                  </a:tcPr>
                </a:tc>
                <a:tc>
                  <a:txBody>
                    <a:bodyPr wrap="square"/>
                    <a:lstStyle/>
                    <a:p>
                      <a:pPr algn="ctr"/>
                      <a:r>
                        <a:rPr sz="1100" b="0">
                          <a:solidFill>
                            <a:srgbClr val="262626"/>
                          </a:solidFill>
                          <a:latin typeface="Arial"/>
                        </a:rPr>
                        <a:t>Đạt; một câu có tương quan biến tổng 0,485</a:t>
                      </a:r>
                    </a:p>
                  </a:txBody>
                  <a:tcPr marL="73152" marR="73152" marT="27432" marB="27432" anchor="ctr">
                    <a:solidFill>
                      <a:srgbClr val="FBEAEA"/>
                    </a:solidFill>
                  </a:tcPr>
                </a:tc>
              </a:tr>
              <a:tr h="365760">
                <a:tc>
                  <a:txBody>
                    <a:bodyPr wrap="square"/>
                    <a:lstStyle/>
                    <a:p>
                      <a:pPr algn="l"/>
                      <a:r>
                        <a:rPr sz="1100" b="0">
                          <a:solidFill>
                            <a:srgbClr val="262626"/>
                          </a:solidFill>
                          <a:latin typeface="Arial"/>
                        </a:rPr>
                        <a:t>Trường Y: Sự hài lòng (HL)</a:t>
                      </a:r>
                    </a:p>
                  </a:txBody>
                  <a:tcPr marL="73152" marR="73152" marT="27432" marB="27432" anchor="ctr">
                    <a:solidFill>
                      <a:srgbClr val="FFFFFF"/>
                    </a:solidFill>
                  </a:tcPr>
                </a:tc>
                <a:tc>
                  <a:txBody>
                    <a:bodyPr wrap="square"/>
                    <a:lstStyle/>
                    <a:p>
                      <a:pPr algn="ctr"/>
                      <a:r>
                        <a:rPr sz="1100" b="0">
                          <a:solidFill>
                            <a:srgbClr val="262626"/>
                          </a:solidFill>
                          <a:latin typeface="Arial"/>
                        </a:rPr>
                        <a:t>4</a:t>
                      </a:r>
                    </a:p>
                  </a:txBody>
                  <a:tcPr marL="73152" marR="73152" marT="27432" marB="27432" anchor="ctr">
                    <a:solidFill>
                      <a:srgbClr val="FFFFFF"/>
                    </a:solidFill>
                  </a:tcPr>
                </a:tc>
                <a:tc>
                  <a:txBody>
                    <a:bodyPr wrap="square"/>
                    <a:lstStyle/>
                    <a:p>
                      <a:pPr algn="ctr"/>
                      <a:r>
                        <a:rPr sz="1100" b="0">
                          <a:solidFill>
                            <a:srgbClr val="262626"/>
                          </a:solidFill>
                          <a:latin typeface="Arial"/>
                        </a:rPr>
                        <a:t>0,809</a:t>
                      </a:r>
                    </a:p>
                  </a:txBody>
                  <a:tcPr marL="73152" marR="73152" marT="27432" marB="27432" anchor="ctr">
                    <a:solidFill>
                      <a:srgbClr val="FFFFFF"/>
                    </a:solidFill>
                  </a:tcPr>
                </a:tc>
                <a:tc>
                  <a:txBody>
                    <a:bodyPr wrap="square"/>
                    <a:lstStyle/>
                    <a:p>
                      <a:pPr algn="ctr"/>
                      <a:r>
                        <a:rPr sz="1100" b="0">
                          <a:solidFill>
                            <a:srgbClr val="262626"/>
                          </a:solidFill>
                          <a:latin typeface="Arial"/>
                        </a:rPr>
                        <a:t>Đạt</a:t>
                      </a:r>
                    </a:p>
                  </a:txBody>
                  <a:tcPr marL="73152" marR="73152" marT="27432" marB="27432" anchor="ctr">
                    <a:solidFill>
                      <a:srgbClr val="FFFFFF"/>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ĐỌC BA CHỈ SỐ</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00" b="1" i="0">
                <a:solidFill>
                  <a:srgbClr val="58595B"/>
                </a:solidFill>
                <a:latin typeface="Arial"/>
              </a:rPr>
              <a:t>Ngân hàng X:</a:t>
            </a:r>
            <a:r>
              <a:rPr sz="1200" b="0" i="0">
                <a:solidFill>
                  <a:srgbClr val="58595B"/>
                </a:solidFill>
                <a:latin typeface="Arial"/>
              </a:rPr>
              <a:t> tương quan biến tổng hiệu chỉnh của mọi câu từ 0,569 trở lên; Alpha nếu loại bất kỳ câu nào đều thấp hơn Alpha cả thang.</a:t>
            </a:r>
          </a:p>
          <a:p>
            <a:pPr algn="l">
              <a:spcBef>
                <a:spcPts val="540"/>
              </a:spcBef>
            </a:pPr>
          </a:p>
          <a:p>
            <a:pPr algn="l">
              <a:spcBef>
                <a:spcPts val="540"/>
              </a:spcBef>
            </a:pPr>
            <a:r>
              <a:rPr sz="1200" b="1" i="0">
                <a:solidFill>
                  <a:srgbClr val="58595B"/>
                </a:solidFill>
                <a:latin typeface="Arial"/>
              </a:rPr>
              <a:t>Trường Y:</a:t>
            </a:r>
            <a:r>
              <a:rPr sz="1200" b="0" i="0">
                <a:solidFill>
                  <a:srgbClr val="58595B"/>
                </a:solidFill>
                <a:latin typeface="Arial"/>
              </a:rPr>
              <a:t> QTHC thấp nhất nhưng vẫn trên ngưỡng; nên đọc lại câu có tương quan 0,485 xem phụ huynh có hiểu câu hỏi theo cùng một cách không.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PHÂN TÍCH TƯƠNG QUAN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Cả bốn biến tương quan cùng chiều với ý định sử dụng nhưng tương quan chưa phải là tác động</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Hai biến có thể cùng tăng vì một biến thứ ba; kết luận giả thuyết phải dựa vào hồi quy xét đồng thời các biến.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4.3 và Bảng 32; file 3.Chapter_4_and_Chapter_5_Practice_NH_X.xlsx (dữ liệu giả định), sheet 8_TuongQuan</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44</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HỆ SỐ TƯƠNG QUAN r VỚI Ý ĐỊNH SỬ DỤNG (YD)</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Việc 1:</a:t>
            </a:r>
            <a:r>
              <a:rPr sz="1250" b="0" i="0">
                <a:solidFill>
                  <a:srgbClr val="58595B"/>
                </a:solidFill>
                <a:latin typeface="Arial"/>
              </a:rPr>
              <a:t> mỗi biến độc lập có tương quan cùng chiều với YD như giả thuyết dự đoán không. Có, cả bốn.</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Việc 2:</a:t>
            </a:r>
            <a:r>
              <a:rPr sz="1250" b="0" i="0">
                <a:solidFill>
                  <a:srgbClr val="58595B"/>
                </a:solidFill>
                <a:latin typeface="Arial"/>
              </a:rPr>
              <a:t> các biến độc lập có tương quan quá cao với nhau không. Chỉ 0,245 đến 0,348; chưa có dấu hiệu đa cộng tuyến.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Trường Y:</a:t>
            </a:r>
            <a:r>
              <a:rPr sz="1250" b="0" i="0">
                <a:solidFill>
                  <a:srgbClr val="58595B"/>
                </a:solidFill>
                <a:latin typeface="Arial"/>
              </a:rPr>
              <a:t> HL tương quan với TDNV 0,599; CSVC 0,551; QTHC 0,329.</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SD có r = 0,356</a:t>
            </a:r>
            <a:r>
              <a:rPr sz="1250" b="0" i="0">
                <a:solidFill>
                  <a:srgbClr val="58595B"/>
                </a:solidFill>
                <a:latin typeface="Arial"/>
              </a:rPr>
              <a:t> nhưng hệ số hồi quy không có ý nghĩa: bằng chứng rằng tương quan khác tác động.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HỒI QUY</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Bốn biến giải thích 53,7% khác biệt về ý định sử dụng; sự hữu ích mạnh nhất, sự dễ sử dụng không có ý nghĩa</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Đọc theo thứ tự: Significance F, rồi R², rồi dấu và P-value từng hệ số, rồi giả định; B cho mức thay đổi, β cho so sánh độ mạnh.</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4.4.1, Bảng 33, Hình 65 đến 69; file 3.Chapter_4_and_Chapter_5_Practice_NH_X.xlsx (dữ liệu giả định), sheet 9_HoiQuy và 10_PhanDu</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45</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HỆ SỐ CHUẨN HÓA β (SD ĐỂ TRẮNG: p = 0,310)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Mô hình:</a:t>
            </a:r>
            <a:r>
              <a:rPr sz="1250" b="0" i="0">
                <a:solidFill>
                  <a:srgbClr val="58595B"/>
                </a:solidFill>
                <a:latin typeface="Arial"/>
              </a:rPr>
              <a:t> F(4; 145) = 42,04; Significance F nhỏ hơn 0,001; R² = 0,537; R² hiệu chỉnh = 0,524.</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B cho mức thay đổi:</a:t>
            </a:r>
            <a:r>
              <a:rPr sz="1250" b="0" i="0">
                <a:solidFill>
                  <a:srgbClr val="58595B"/>
                </a:solidFill>
                <a:latin typeface="Arial"/>
              </a:rPr>
              <a:t> HI tăng 1 điểm thì YD tăng khoảng 0,443 điểm, các biến khác giữ nguyên.</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β để so độ mạnh</a:t>
            </a:r>
            <a:r>
              <a:rPr sz="1250" b="0" i="0">
                <a:solidFill>
                  <a:srgbClr val="58595B"/>
                </a:solidFill>
                <a:latin typeface="Arial"/>
              </a:rPr>
              <a:t> vì đưa mọi biến về cùng thang độ lệch chuẩn.</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Giả định:</a:t>
            </a:r>
            <a:r>
              <a:rPr sz="1250" b="0" i="0">
                <a:solidFill>
                  <a:srgbClr val="58595B"/>
                </a:solidFill>
                <a:latin typeface="Arial"/>
              </a:rPr>
              <a:t> VIF 1,19 đến 1,24; phần dư chuẩn hóa lớn nhất 2,65; hệ số bất đối xứng 0,05.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KIỂM ĐỊNH GIẢ THUYẾT</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Giả thuyết được ủng hộ khi thỏa đồng thời hai điều kiện: đúng dấu dự đoán và P-value nhỏ hơn 0,05</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Với giả thuyết không được ủng hộ: kết luận trung thực, không viết lại giả thuyết cho khớp và hẹn giải thích ở mục 4.5.3.</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4.4.2, Hình 70, Bảng 34 và 35; file 3.Chapter_4_and_Chapter_5_Practice_NH_X.xlsx (dữ liệu giả định); file 3.Chapter_4_and_Chapter_5_Practice_Truong_Y.xlsx (dữ liệu giả định), sheet 9_HoiQuy</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46</a:t>
            </a:r>
          </a:p>
        </p:txBody>
      </p:sp>
      <p:graphicFrame>
        <p:nvGraphicFramePr>
          <p:cNvPr id="11" name="Table 10"/>
          <p:cNvGraphicFramePr>
            <a:graphicFrameLocks noGrp="1"/>
          </p:cNvGraphicFramePr>
          <p:nvPr/>
        </p:nvGraphicFramePr>
        <p:xfrm>
          <a:off x="457200" y="1783080"/>
          <a:ext cx="7863836" cy="3419856"/>
        </p:xfrm>
        <a:graphic>
          <a:graphicData uri="http://schemas.openxmlformats.org/drawingml/2006/table">
            <a:tbl>
              <a:tblPr firstRow="1" bandRow="1">
                <a:tableStyleId>{5C22544A-7EE6-4342-B048-85BDC9FD1C3A}</a:tableStyleId>
              </a:tblPr>
              <a:tblGrid>
                <a:gridCol w="761016"/>
                <a:gridCol w="2959509"/>
                <a:gridCol w="761016"/>
                <a:gridCol w="761016"/>
                <a:gridCol w="930131"/>
                <a:gridCol w="1691148"/>
              </a:tblGrid>
              <a:tr h="411480">
                <a:tc>
                  <a:txBody>
                    <a:bodyPr wrap="square"/>
                    <a:lstStyle/>
                    <a:p>
                      <a:pPr algn="l"/>
                      <a:r>
                        <a:rPr sz="1150" b="1">
                          <a:solidFill>
                            <a:srgbClr val="FFFFFF"/>
                          </a:solidFill>
                          <a:latin typeface="Arial"/>
                        </a:rPr>
                        <a:t>Mã</a:t>
                      </a:r>
                    </a:p>
                  </a:txBody>
                  <a:tcPr marL="73152" marR="73152" marT="27432" marB="27432" anchor="ctr">
                    <a:solidFill>
                      <a:srgbClr val="262626"/>
                    </a:solidFill>
                  </a:tcPr>
                </a:tc>
                <a:tc>
                  <a:txBody>
                    <a:bodyPr wrap="square"/>
                    <a:lstStyle/>
                    <a:p>
                      <a:pPr algn="ctr"/>
                      <a:r>
                        <a:rPr sz="1150" b="1">
                          <a:solidFill>
                            <a:srgbClr val="FFFFFF"/>
                          </a:solidFill>
                          <a:latin typeface="Arial"/>
                        </a:rPr>
                        <a:t>Quan hệ</a:t>
                      </a:r>
                    </a:p>
                  </a:txBody>
                  <a:tcPr marL="73152" marR="73152" marT="27432" marB="27432" anchor="ctr">
                    <a:solidFill>
                      <a:srgbClr val="262626"/>
                    </a:solidFill>
                  </a:tcPr>
                </a:tc>
                <a:tc>
                  <a:txBody>
                    <a:bodyPr wrap="square"/>
                    <a:lstStyle/>
                    <a:p>
                      <a:pPr algn="ctr"/>
                      <a:r>
                        <a:rPr sz="1150" b="1">
                          <a:solidFill>
                            <a:srgbClr val="FFFFFF"/>
                          </a:solidFill>
                          <a:latin typeface="Arial"/>
                        </a:rPr>
                        <a:t>B</a:t>
                      </a:r>
                    </a:p>
                  </a:txBody>
                  <a:tcPr marL="73152" marR="73152" marT="27432" marB="27432" anchor="ctr">
                    <a:solidFill>
                      <a:srgbClr val="262626"/>
                    </a:solidFill>
                  </a:tcPr>
                </a:tc>
                <a:tc>
                  <a:txBody>
                    <a:bodyPr wrap="square"/>
                    <a:lstStyle/>
                    <a:p>
                      <a:pPr algn="ctr"/>
                      <a:r>
                        <a:rPr sz="1150" b="1">
                          <a:solidFill>
                            <a:srgbClr val="FFFFFF"/>
                          </a:solidFill>
                          <a:latin typeface="Arial"/>
                        </a:rPr>
                        <a:t>β</a:t>
                      </a:r>
                    </a:p>
                  </a:txBody>
                  <a:tcPr marL="73152" marR="73152" marT="27432" marB="27432" anchor="ctr">
                    <a:solidFill>
                      <a:srgbClr val="262626"/>
                    </a:solidFill>
                  </a:tcPr>
                </a:tc>
                <a:tc>
                  <a:txBody>
                    <a:bodyPr wrap="square"/>
                    <a:lstStyle/>
                    <a:p>
                      <a:pPr algn="ctr"/>
                      <a:r>
                        <a:rPr sz="1150" b="1">
                          <a:solidFill>
                            <a:srgbClr val="FFFFFF"/>
                          </a:solidFill>
                          <a:latin typeface="Arial"/>
                        </a:rPr>
                        <a:t>P-value</a:t>
                      </a:r>
                    </a:p>
                  </a:txBody>
                  <a:tcPr marL="73152" marR="73152" marT="27432" marB="27432" anchor="ctr">
                    <a:solidFill>
                      <a:srgbClr val="262626"/>
                    </a:solidFill>
                  </a:tcPr>
                </a:tc>
                <a:tc>
                  <a:txBody>
                    <a:bodyPr wrap="square"/>
                    <a:lstStyle/>
                    <a:p>
                      <a:pPr algn="ctr"/>
                      <a:r>
                        <a:rPr sz="1150" b="1">
                          <a:solidFill>
                            <a:srgbClr val="FFFFFF"/>
                          </a:solidFill>
                          <a:latin typeface="Arial"/>
                        </a:rPr>
                        <a:t>Kết luận</a:t>
                      </a:r>
                    </a:p>
                  </a:txBody>
                  <a:tcPr marL="73152" marR="73152" marT="27432" marB="27432" anchor="ctr">
                    <a:solidFill>
                      <a:srgbClr val="262626"/>
                    </a:solidFill>
                  </a:tcPr>
                </a:tc>
              </a:tr>
              <a:tr h="429768">
                <a:tc>
                  <a:txBody>
                    <a:bodyPr wrap="square"/>
                    <a:lstStyle/>
                    <a:p>
                      <a:pPr algn="l"/>
                      <a:r>
                        <a:rPr sz="1150" b="0">
                          <a:solidFill>
                            <a:srgbClr val="262626"/>
                          </a:solidFill>
                          <a:latin typeface="Arial"/>
                        </a:rPr>
                        <a:t>H1</a:t>
                      </a:r>
                    </a:p>
                  </a:txBody>
                  <a:tcPr marL="73152" marR="73152" marT="27432" marB="27432" anchor="ctr">
                    <a:solidFill>
                      <a:srgbClr val="FFFFFF"/>
                    </a:solidFill>
                  </a:tcPr>
                </a:tc>
                <a:tc>
                  <a:txBody>
                    <a:bodyPr wrap="square"/>
                    <a:lstStyle/>
                    <a:p>
                      <a:pPr algn="ctr"/>
                      <a:r>
                        <a:rPr sz="1150" b="0">
                          <a:solidFill>
                            <a:srgbClr val="262626"/>
                          </a:solidFill>
                          <a:latin typeface="Arial"/>
                        </a:rPr>
                        <a:t>Sự hữu ích → Ý định sử dụng</a:t>
                      </a:r>
                    </a:p>
                  </a:txBody>
                  <a:tcPr marL="73152" marR="73152" marT="27432" marB="27432" anchor="ctr">
                    <a:solidFill>
                      <a:srgbClr val="FFFFFF"/>
                    </a:solidFill>
                  </a:tcPr>
                </a:tc>
                <a:tc>
                  <a:txBody>
                    <a:bodyPr wrap="square"/>
                    <a:lstStyle/>
                    <a:p>
                      <a:pPr algn="ctr"/>
                      <a:r>
                        <a:rPr sz="1150" b="0">
                          <a:solidFill>
                            <a:srgbClr val="262626"/>
                          </a:solidFill>
                          <a:latin typeface="Arial"/>
                        </a:rPr>
                        <a:t>0,443</a:t>
                      </a:r>
                    </a:p>
                  </a:txBody>
                  <a:tcPr marL="73152" marR="73152" marT="27432" marB="27432" anchor="ctr">
                    <a:solidFill>
                      <a:srgbClr val="FFFFFF"/>
                    </a:solidFill>
                  </a:tcPr>
                </a:tc>
                <a:tc>
                  <a:txBody>
                    <a:bodyPr wrap="square"/>
                    <a:lstStyle/>
                    <a:p>
                      <a:pPr algn="ctr"/>
                      <a:r>
                        <a:rPr sz="1150" b="0">
                          <a:solidFill>
                            <a:srgbClr val="262626"/>
                          </a:solidFill>
                          <a:latin typeface="Arial"/>
                        </a:rPr>
                        <a:t>0,394</a:t>
                      </a:r>
                    </a:p>
                  </a:txBody>
                  <a:tcPr marL="73152" marR="73152" marT="27432" marB="27432" anchor="ctr">
                    <a:solidFill>
                      <a:srgbClr val="FFFFFF"/>
                    </a:solidFill>
                  </a:tcPr>
                </a:tc>
                <a:tc>
                  <a:txBody>
                    <a:bodyPr wrap="square"/>
                    <a:lstStyle/>
                    <a:p>
                      <a:pPr algn="ctr"/>
                      <a:r>
                        <a:rPr sz="1150" b="0">
                          <a:solidFill>
                            <a:srgbClr val="262626"/>
                          </a:solidFill>
                          <a:latin typeface="Arial"/>
                        </a:rPr>
                        <a:t>&lt; 0,001</a:t>
                      </a:r>
                    </a:p>
                  </a:txBody>
                  <a:tcPr marL="73152" marR="73152" marT="27432" marB="27432" anchor="ctr">
                    <a:solidFill>
                      <a:srgbClr val="FFFFFF"/>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150" b="0">
                          <a:solidFill>
                            <a:srgbClr val="262626"/>
                          </a:solidFill>
                          <a:latin typeface="Arial"/>
                        </a:rPr>
                        <a:t>H2</a:t>
                      </a:r>
                    </a:p>
                  </a:txBody>
                  <a:tcPr marL="73152" marR="73152" marT="27432" marB="27432" anchor="ctr">
                    <a:solidFill>
                      <a:srgbClr val="FBEAEA"/>
                    </a:solidFill>
                  </a:tcPr>
                </a:tc>
                <a:tc>
                  <a:txBody>
                    <a:bodyPr wrap="square"/>
                    <a:lstStyle/>
                    <a:p>
                      <a:pPr algn="ctr"/>
                      <a:r>
                        <a:rPr sz="1150" b="0">
                          <a:solidFill>
                            <a:srgbClr val="262626"/>
                          </a:solidFill>
                          <a:latin typeface="Arial"/>
                        </a:rPr>
                        <a:t>Sự dễ sử dụng → Ý định sử dụng</a:t>
                      </a:r>
                    </a:p>
                  </a:txBody>
                  <a:tcPr marL="73152" marR="73152" marT="27432" marB="27432" anchor="ctr">
                    <a:solidFill>
                      <a:srgbClr val="FBEAEA"/>
                    </a:solidFill>
                  </a:tcPr>
                </a:tc>
                <a:tc>
                  <a:txBody>
                    <a:bodyPr wrap="square"/>
                    <a:lstStyle/>
                    <a:p>
                      <a:pPr algn="ctr"/>
                      <a:r>
                        <a:rPr sz="1150" b="0">
                          <a:solidFill>
                            <a:srgbClr val="262626"/>
                          </a:solidFill>
                          <a:latin typeface="Arial"/>
                        </a:rPr>
                        <a:t>0,067</a:t>
                      </a:r>
                    </a:p>
                  </a:txBody>
                  <a:tcPr marL="73152" marR="73152" marT="27432" marB="27432" anchor="ctr">
                    <a:solidFill>
                      <a:srgbClr val="FBEAEA"/>
                    </a:solidFill>
                  </a:tcPr>
                </a:tc>
                <a:tc>
                  <a:txBody>
                    <a:bodyPr wrap="square"/>
                    <a:lstStyle/>
                    <a:p>
                      <a:pPr algn="ctr"/>
                      <a:r>
                        <a:rPr sz="1150" b="0">
                          <a:solidFill>
                            <a:srgbClr val="262626"/>
                          </a:solidFill>
                          <a:latin typeface="Arial"/>
                        </a:rPr>
                        <a:t>0,064</a:t>
                      </a:r>
                    </a:p>
                  </a:txBody>
                  <a:tcPr marL="73152" marR="73152" marT="27432" marB="27432" anchor="ctr">
                    <a:solidFill>
                      <a:srgbClr val="FBEAEA"/>
                    </a:solidFill>
                  </a:tcPr>
                </a:tc>
                <a:tc>
                  <a:txBody>
                    <a:bodyPr wrap="square"/>
                    <a:lstStyle/>
                    <a:p>
                      <a:pPr algn="ctr"/>
                      <a:r>
                        <a:rPr sz="1150" b="0">
                          <a:solidFill>
                            <a:srgbClr val="262626"/>
                          </a:solidFill>
                          <a:latin typeface="Arial"/>
                        </a:rPr>
                        <a:t>0,310</a:t>
                      </a:r>
                    </a:p>
                  </a:txBody>
                  <a:tcPr marL="73152" marR="73152" marT="27432" marB="27432" anchor="ctr">
                    <a:solidFill>
                      <a:srgbClr val="FBEAEA"/>
                    </a:solidFill>
                  </a:tcPr>
                </a:tc>
                <a:tc>
                  <a:txBody>
                    <a:bodyPr wrap="square"/>
                    <a:lstStyle/>
                    <a:p>
                      <a:pPr algn="ctr"/>
                      <a:r>
                        <a:rPr sz="1150" b="1">
                          <a:solidFill>
                            <a:srgbClr val="262626"/>
                          </a:solidFill>
                          <a:latin typeface="Arial"/>
                        </a:rPr>
                        <a:t>Không được ủng hộ</a:t>
                      </a:r>
                    </a:p>
                  </a:txBody>
                  <a:tcPr marL="73152" marR="73152" marT="27432" marB="27432" anchor="ctr">
                    <a:solidFill>
                      <a:srgbClr val="FBEAEA"/>
                    </a:solidFill>
                  </a:tcPr>
                </a:tc>
              </a:tr>
              <a:tr h="429768">
                <a:tc>
                  <a:txBody>
                    <a:bodyPr wrap="square"/>
                    <a:lstStyle/>
                    <a:p>
                      <a:pPr algn="l"/>
                      <a:r>
                        <a:rPr sz="1150" b="0">
                          <a:solidFill>
                            <a:srgbClr val="262626"/>
                          </a:solidFill>
                          <a:latin typeface="Arial"/>
                        </a:rPr>
                        <a:t>H3</a:t>
                      </a:r>
                    </a:p>
                  </a:txBody>
                  <a:tcPr marL="73152" marR="73152" marT="27432" marB="27432" anchor="ctr">
                    <a:solidFill>
                      <a:srgbClr val="FFFFFF"/>
                    </a:solidFill>
                  </a:tcPr>
                </a:tc>
                <a:tc>
                  <a:txBody>
                    <a:bodyPr wrap="square"/>
                    <a:lstStyle/>
                    <a:p>
                      <a:pPr algn="ctr"/>
                      <a:r>
                        <a:rPr sz="1150" b="0">
                          <a:solidFill>
                            <a:srgbClr val="262626"/>
                          </a:solidFill>
                          <a:latin typeface="Arial"/>
                        </a:rPr>
                        <a:t>Niềm tin → Ý định sử dụng</a:t>
                      </a:r>
                    </a:p>
                  </a:txBody>
                  <a:tcPr marL="73152" marR="73152" marT="27432" marB="27432" anchor="ctr">
                    <a:solidFill>
                      <a:srgbClr val="FFFFFF"/>
                    </a:solidFill>
                  </a:tcPr>
                </a:tc>
                <a:tc>
                  <a:txBody>
                    <a:bodyPr wrap="square"/>
                    <a:lstStyle/>
                    <a:p>
                      <a:pPr algn="ctr"/>
                      <a:r>
                        <a:rPr sz="1150" b="0">
                          <a:solidFill>
                            <a:srgbClr val="262626"/>
                          </a:solidFill>
                          <a:latin typeface="Arial"/>
                        </a:rPr>
                        <a:t>0,327</a:t>
                      </a:r>
                    </a:p>
                  </a:txBody>
                  <a:tcPr marL="73152" marR="73152" marT="27432" marB="27432" anchor="ctr">
                    <a:solidFill>
                      <a:srgbClr val="FFFFFF"/>
                    </a:solidFill>
                  </a:tcPr>
                </a:tc>
                <a:tc>
                  <a:txBody>
                    <a:bodyPr wrap="square"/>
                    <a:lstStyle/>
                    <a:p>
                      <a:pPr algn="ctr"/>
                      <a:r>
                        <a:rPr sz="1150" b="0">
                          <a:solidFill>
                            <a:srgbClr val="262626"/>
                          </a:solidFill>
                          <a:latin typeface="Arial"/>
                        </a:rPr>
                        <a:t>0,328</a:t>
                      </a:r>
                    </a:p>
                  </a:txBody>
                  <a:tcPr marL="73152" marR="73152" marT="27432" marB="27432" anchor="ctr">
                    <a:solidFill>
                      <a:srgbClr val="FFFFFF"/>
                    </a:solidFill>
                  </a:tcPr>
                </a:tc>
                <a:tc>
                  <a:txBody>
                    <a:bodyPr wrap="square"/>
                    <a:lstStyle/>
                    <a:p>
                      <a:pPr algn="ctr"/>
                      <a:r>
                        <a:rPr sz="1150" b="0">
                          <a:solidFill>
                            <a:srgbClr val="262626"/>
                          </a:solidFill>
                          <a:latin typeface="Arial"/>
                        </a:rPr>
                        <a:t>&lt; 0,001</a:t>
                      </a:r>
                    </a:p>
                  </a:txBody>
                  <a:tcPr marL="73152" marR="73152" marT="27432" marB="27432" anchor="ctr">
                    <a:solidFill>
                      <a:srgbClr val="FFFFFF"/>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150" b="0">
                          <a:solidFill>
                            <a:srgbClr val="262626"/>
                          </a:solidFill>
                          <a:latin typeface="Arial"/>
                        </a:rPr>
                        <a:t>H4</a:t>
                      </a:r>
                    </a:p>
                  </a:txBody>
                  <a:tcPr marL="73152" marR="73152" marT="27432" marB="27432" anchor="ctr">
                    <a:solidFill>
                      <a:srgbClr val="F3F3F3"/>
                    </a:solidFill>
                  </a:tcPr>
                </a:tc>
                <a:tc>
                  <a:txBody>
                    <a:bodyPr wrap="square"/>
                    <a:lstStyle/>
                    <a:p>
                      <a:pPr algn="ctr"/>
                      <a:r>
                        <a:rPr sz="1150" b="0">
                          <a:solidFill>
                            <a:srgbClr val="262626"/>
                          </a:solidFill>
                          <a:latin typeface="Arial"/>
                        </a:rPr>
                        <a:t>Ảnh hưởng xã hội → Ý định sử dụng</a:t>
                      </a:r>
                    </a:p>
                  </a:txBody>
                  <a:tcPr marL="73152" marR="73152" marT="27432" marB="27432" anchor="ctr">
                    <a:solidFill>
                      <a:srgbClr val="F3F3F3"/>
                    </a:solidFill>
                  </a:tcPr>
                </a:tc>
                <a:tc>
                  <a:txBody>
                    <a:bodyPr wrap="square"/>
                    <a:lstStyle/>
                    <a:p>
                      <a:pPr algn="ctr"/>
                      <a:r>
                        <a:rPr sz="1150" b="0">
                          <a:solidFill>
                            <a:srgbClr val="262626"/>
                          </a:solidFill>
                          <a:latin typeface="Arial"/>
                        </a:rPr>
                        <a:t>0,235</a:t>
                      </a:r>
                    </a:p>
                  </a:txBody>
                  <a:tcPr marL="73152" marR="73152" marT="27432" marB="27432" anchor="ctr">
                    <a:solidFill>
                      <a:srgbClr val="F3F3F3"/>
                    </a:solidFill>
                  </a:tcPr>
                </a:tc>
                <a:tc>
                  <a:txBody>
                    <a:bodyPr wrap="square"/>
                    <a:lstStyle/>
                    <a:p>
                      <a:pPr algn="ctr"/>
                      <a:r>
                        <a:rPr sz="1150" b="0">
                          <a:solidFill>
                            <a:srgbClr val="262626"/>
                          </a:solidFill>
                          <a:latin typeface="Arial"/>
                        </a:rPr>
                        <a:t>0,227</a:t>
                      </a:r>
                    </a:p>
                  </a:txBody>
                  <a:tcPr marL="73152" marR="73152" marT="27432" marB="27432" anchor="ctr">
                    <a:solidFill>
                      <a:srgbClr val="F3F3F3"/>
                    </a:solidFill>
                  </a:tcPr>
                </a:tc>
                <a:tc>
                  <a:txBody>
                    <a:bodyPr wrap="square"/>
                    <a:lstStyle/>
                    <a:p>
                      <a:pPr algn="ctr"/>
                      <a:r>
                        <a:rPr sz="1150" b="0">
                          <a:solidFill>
                            <a:srgbClr val="262626"/>
                          </a:solidFill>
                          <a:latin typeface="Arial"/>
                        </a:rPr>
                        <a:t>&lt; 0,001</a:t>
                      </a:r>
                    </a:p>
                  </a:txBody>
                  <a:tcPr marL="73152" marR="73152" marT="27432" marB="27432" anchor="ctr">
                    <a:solidFill>
                      <a:srgbClr val="F3F3F3"/>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3F3F3"/>
                    </a:solidFill>
                  </a:tcPr>
                </a:tc>
              </a:tr>
              <a:tr h="429768">
                <a:tc>
                  <a:txBody>
                    <a:bodyPr wrap="square"/>
                    <a:lstStyle/>
                    <a:p>
                      <a:pPr algn="l"/>
                      <a:r>
                        <a:rPr sz="1150" b="0">
                          <a:solidFill>
                            <a:srgbClr val="262626"/>
                          </a:solidFill>
                          <a:latin typeface="Arial"/>
                        </a:rPr>
                        <a:t>H1 (Y)</a:t>
                      </a:r>
                    </a:p>
                  </a:txBody>
                  <a:tcPr marL="73152" marR="73152" marT="27432" marB="27432" anchor="ctr">
                    <a:solidFill>
                      <a:srgbClr val="FFFFFF"/>
                    </a:solidFill>
                  </a:tcPr>
                </a:tc>
                <a:tc>
                  <a:txBody>
                    <a:bodyPr wrap="square"/>
                    <a:lstStyle/>
                    <a:p>
                      <a:pPr algn="ctr"/>
                      <a:r>
                        <a:rPr sz="1150" b="0">
                          <a:solidFill>
                            <a:srgbClr val="262626"/>
                          </a:solidFill>
                          <a:latin typeface="Arial"/>
                        </a:rPr>
                        <a:t>Cơ sở vật chất → Sự hài lòng</a:t>
                      </a:r>
                    </a:p>
                  </a:txBody>
                  <a:tcPr marL="73152" marR="73152" marT="27432" marB="27432" anchor="ctr">
                    <a:solidFill>
                      <a:srgbClr val="FFFFFF"/>
                    </a:solidFill>
                  </a:tcPr>
                </a:tc>
                <a:tc>
                  <a:txBody>
                    <a:bodyPr wrap="square"/>
                    <a:lstStyle/>
                    <a:p>
                      <a:pPr algn="ctr"/>
                      <a:r>
                        <a:rPr sz="1150" b="0">
                          <a:solidFill>
                            <a:srgbClr val="262626"/>
                          </a:solidFill>
                          <a:latin typeface="Arial"/>
                        </a:rPr>
                        <a:t>0,375</a:t>
                      </a:r>
                    </a:p>
                  </a:txBody>
                  <a:tcPr marL="73152" marR="73152" marT="27432" marB="27432" anchor="ctr">
                    <a:solidFill>
                      <a:srgbClr val="FFFFFF"/>
                    </a:solidFill>
                  </a:tcPr>
                </a:tc>
                <a:tc>
                  <a:txBody>
                    <a:bodyPr wrap="square"/>
                    <a:lstStyle/>
                    <a:p>
                      <a:pPr algn="ctr"/>
                      <a:r>
                        <a:rPr sz="1150" b="0">
                          <a:solidFill>
                            <a:srgbClr val="262626"/>
                          </a:solidFill>
                          <a:latin typeface="Arial"/>
                        </a:rPr>
                        <a:t>0,351</a:t>
                      </a:r>
                    </a:p>
                  </a:txBody>
                  <a:tcPr marL="73152" marR="73152" marT="27432" marB="27432" anchor="ctr">
                    <a:solidFill>
                      <a:srgbClr val="FFFFFF"/>
                    </a:solidFill>
                  </a:tcPr>
                </a:tc>
                <a:tc>
                  <a:txBody>
                    <a:bodyPr wrap="square"/>
                    <a:lstStyle/>
                    <a:p>
                      <a:pPr algn="ctr"/>
                      <a:r>
                        <a:rPr sz="1150" b="0">
                          <a:solidFill>
                            <a:srgbClr val="262626"/>
                          </a:solidFill>
                          <a:latin typeface="Arial"/>
                        </a:rPr>
                        <a:t>&lt; 0,001</a:t>
                      </a:r>
                    </a:p>
                  </a:txBody>
                  <a:tcPr marL="73152" marR="73152" marT="27432" marB="27432" anchor="ctr">
                    <a:solidFill>
                      <a:srgbClr val="FFFFFF"/>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FFFFF"/>
                    </a:solidFill>
                  </a:tcPr>
                </a:tc>
              </a:tr>
              <a:tr h="429768">
                <a:tc>
                  <a:txBody>
                    <a:bodyPr wrap="square"/>
                    <a:lstStyle/>
                    <a:p>
                      <a:pPr algn="l"/>
                      <a:r>
                        <a:rPr sz="1150" b="0">
                          <a:solidFill>
                            <a:srgbClr val="262626"/>
                          </a:solidFill>
                          <a:latin typeface="Arial"/>
                        </a:rPr>
                        <a:t>H2 (Y)</a:t>
                      </a:r>
                    </a:p>
                  </a:txBody>
                  <a:tcPr marL="73152" marR="73152" marT="27432" marB="27432" anchor="ctr">
                    <a:solidFill>
                      <a:srgbClr val="F3F3F3"/>
                    </a:solidFill>
                  </a:tcPr>
                </a:tc>
                <a:tc>
                  <a:txBody>
                    <a:bodyPr wrap="square"/>
                    <a:lstStyle/>
                    <a:p>
                      <a:pPr algn="ctr"/>
                      <a:r>
                        <a:rPr sz="1150" b="0">
                          <a:solidFill>
                            <a:srgbClr val="262626"/>
                          </a:solidFill>
                          <a:latin typeface="Arial"/>
                        </a:rPr>
                        <a:t>Thái độ nhân viên → Sự hài lòng</a:t>
                      </a:r>
                    </a:p>
                  </a:txBody>
                  <a:tcPr marL="73152" marR="73152" marT="27432" marB="27432" anchor="ctr">
                    <a:solidFill>
                      <a:srgbClr val="F3F3F3"/>
                    </a:solidFill>
                  </a:tcPr>
                </a:tc>
                <a:tc>
                  <a:txBody>
                    <a:bodyPr wrap="square"/>
                    <a:lstStyle/>
                    <a:p>
                      <a:pPr algn="ctr"/>
                      <a:r>
                        <a:rPr sz="1150" b="0">
                          <a:solidFill>
                            <a:srgbClr val="262626"/>
                          </a:solidFill>
                          <a:latin typeface="Arial"/>
                        </a:rPr>
                        <a:t>0,501</a:t>
                      </a:r>
                    </a:p>
                  </a:txBody>
                  <a:tcPr marL="73152" marR="73152" marT="27432" marB="27432" anchor="ctr">
                    <a:solidFill>
                      <a:srgbClr val="F3F3F3"/>
                    </a:solidFill>
                  </a:tcPr>
                </a:tc>
                <a:tc>
                  <a:txBody>
                    <a:bodyPr wrap="square"/>
                    <a:lstStyle/>
                    <a:p>
                      <a:pPr algn="ctr"/>
                      <a:r>
                        <a:rPr sz="1150" b="0">
                          <a:solidFill>
                            <a:srgbClr val="262626"/>
                          </a:solidFill>
                          <a:latin typeface="Arial"/>
                        </a:rPr>
                        <a:t>0,432</a:t>
                      </a:r>
                    </a:p>
                  </a:txBody>
                  <a:tcPr marL="73152" marR="73152" marT="27432" marB="27432" anchor="ctr">
                    <a:solidFill>
                      <a:srgbClr val="F3F3F3"/>
                    </a:solidFill>
                  </a:tcPr>
                </a:tc>
                <a:tc>
                  <a:txBody>
                    <a:bodyPr wrap="square"/>
                    <a:lstStyle/>
                    <a:p>
                      <a:pPr algn="ctr"/>
                      <a:r>
                        <a:rPr sz="1150" b="0">
                          <a:solidFill>
                            <a:srgbClr val="262626"/>
                          </a:solidFill>
                          <a:latin typeface="Arial"/>
                        </a:rPr>
                        <a:t>&lt; 0,001</a:t>
                      </a:r>
                    </a:p>
                  </a:txBody>
                  <a:tcPr marL="73152" marR="73152" marT="27432" marB="27432" anchor="ctr">
                    <a:solidFill>
                      <a:srgbClr val="F3F3F3"/>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3F3F3"/>
                    </a:solidFill>
                  </a:tcPr>
                </a:tc>
              </a:tr>
              <a:tr h="429768">
                <a:tc>
                  <a:txBody>
                    <a:bodyPr wrap="square"/>
                    <a:lstStyle/>
                    <a:p>
                      <a:pPr algn="l"/>
                      <a:r>
                        <a:rPr sz="1150" b="0">
                          <a:solidFill>
                            <a:srgbClr val="262626"/>
                          </a:solidFill>
                          <a:latin typeface="Arial"/>
                        </a:rPr>
                        <a:t>H3 (Y)</a:t>
                      </a:r>
                    </a:p>
                  </a:txBody>
                  <a:tcPr marL="73152" marR="73152" marT="27432" marB="27432" anchor="ctr">
                    <a:solidFill>
                      <a:srgbClr val="FFFFFF"/>
                    </a:solidFill>
                  </a:tcPr>
                </a:tc>
                <a:tc>
                  <a:txBody>
                    <a:bodyPr wrap="square"/>
                    <a:lstStyle/>
                    <a:p>
                      <a:pPr algn="ctr"/>
                      <a:r>
                        <a:rPr sz="1150" b="0">
                          <a:solidFill>
                            <a:srgbClr val="262626"/>
                          </a:solidFill>
                          <a:latin typeface="Arial"/>
                        </a:rPr>
                        <a:t>Quy trình hành chính → Sự hài lòng</a:t>
                      </a:r>
                    </a:p>
                  </a:txBody>
                  <a:tcPr marL="73152" marR="73152" marT="27432" marB="27432" anchor="ctr">
                    <a:solidFill>
                      <a:srgbClr val="FFFFFF"/>
                    </a:solidFill>
                  </a:tcPr>
                </a:tc>
                <a:tc>
                  <a:txBody>
                    <a:bodyPr wrap="square"/>
                    <a:lstStyle/>
                    <a:p>
                      <a:pPr algn="ctr"/>
                      <a:r>
                        <a:rPr sz="1150" b="0">
                          <a:solidFill>
                            <a:srgbClr val="262626"/>
                          </a:solidFill>
                          <a:latin typeface="Arial"/>
                        </a:rPr>
                        <a:t>0,174</a:t>
                      </a:r>
                    </a:p>
                  </a:txBody>
                  <a:tcPr marL="73152" marR="73152" marT="27432" marB="27432" anchor="ctr">
                    <a:solidFill>
                      <a:srgbClr val="FFFFFF"/>
                    </a:solidFill>
                  </a:tcPr>
                </a:tc>
                <a:tc>
                  <a:txBody>
                    <a:bodyPr wrap="square"/>
                    <a:lstStyle/>
                    <a:p>
                      <a:pPr algn="ctr"/>
                      <a:r>
                        <a:rPr sz="1150" b="0">
                          <a:solidFill>
                            <a:srgbClr val="262626"/>
                          </a:solidFill>
                          <a:latin typeface="Arial"/>
                        </a:rPr>
                        <a:t>0,169</a:t>
                      </a:r>
                    </a:p>
                  </a:txBody>
                  <a:tcPr marL="73152" marR="73152" marT="27432" marB="27432" anchor="ctr">
                    <a:solidFill>
                      <a:srgbClr val="FFFFFF"/>
                    </a:solidFill>
                  </a:tcPr>
                </a:tc>
                <a:tc>
                  <a:txBody>
                    <a:bodyPr wrap="square"/>
                    <a:lstStyle/>
                    <a:p>
                      <a:pPr algn="ctr"/>
                      <a:r>
                        <a:rPr sz="1150" b="0">
                          <a:solidFill>
                            <a:srgbClr val="262626"/>
                          </a:solidFill>
                          <a:latin typeface="Arial"/>
                        </a:rPr>
                        <a:t>0,014</a:t>
                      </a:r>
                    </a:p>
                  </a:txBody>
                  <a:tcPr marL="73152" marR="73152" marT="27432" marB="27432" anchor="ctr">
                    <a:solidFill>
                      <a:srgbClr val="FFFFFF"/>
                    </a:solidFill>
                  </a:tcPr>
                </a:tc>
                <a:tc>
                  <a:txBody>
                    <a:bodyPr wrap="square"/>
                    <a:lstStyle/>
                    <a:p>
                      <a:pPr algn="ctr"/>
                      <a:r>
                        <a:rPr sz="1150" b="0">
                          <a:solidFill>
                            <a:srgbClr val="262626"/>
                          </a:solidFill>
                          <a:latin typeface="Arial"/>
                        </a:rPr>
                        <a:t>Được ủng hộ</a:t>
                      </a:r>
                    </a:p>
                  </a:txBody>
                  <a:tcPr marL="73152" marR="73152" marT="27432" marB="27432" anchor="ctr">
                    <a:solidFill>
                      <a:srgbClr val="FFFFFF"/>
                    </a:solidFill>
                  </a:tcPr>
                </a:tc>
              </a:tr>
            </a:tbl>
          </a:graphicData>
        </a:graphic>
      </p:graphicFrame>
      <p:sp>
        <p:nvSpPr>
          <p:cNvPr id="12" name="TextBox 11"/>
          <p:cNvSpPr txBox="1"/>
          <p:nvPr/>
        </p:nvSpPr>
        <p:spPr>
          <a:xfrm>
            <a:off x="8595360" y="1783080"/>
            <a:ext cx="313639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VIẾT KẾT LUẬN</a:t>
            </a:r>
          </a:p>
        </p:txBody>
      </p:sp>
      <p:cxnSp>
        <p:nvCxnSpPr>
          <p:cNvPr id="13" name="Connector 12"/>
          <p:cNvCxnSpPr/>
          <p:nvPr/>
        </p:nvCxnSpPr>
        <p:spPr>
          <a:xfrm>
            <a:off x="8595360" y="2103120"/>
            <a:ext cx="313639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595360" y="2167128"/>
            <a:ext cx="3136391" cy="3383280"/>
          </a:xfrm>
          <a:prstGeom prst="rect">
            <a:avLst/>
          </a:prstGeom>
          <a:noFill/>
        </p:spPr>
        <p:txBody>
          <a:bodyPr wrap="square" lIns="45720" rIns="45720" tIns="27432" bIns="27432" anchor="t">
            <a:spAutoFit/>
          </a:bodyPr>
          <a:lstStyle/>
          <a:p>
            <a:pPr algn="l"/>
            <a:r>
              <a:rPr sz="1200" b="0" i="0">
                <a:solidFill>
                  <a:srgbClr val="58595B"/>
                </a:solidFill>
                <a:latin typeface="Arial"/>
              </a:rPr>
              <a:t>Dùng </a:t>
            </a:r>
            <a:r>
              <a:rPr sz="1200" b="1" i="0">
                <a:solidFill>
                  <a:srgbClr val="58595B"/>
                </a:solidFill>
                <a:latin typeface="Arial"/>
              </a:rPr>
              <a:t>"được ủng hộ"</a:t>
            </a:r>
            <a:r>
              <a:rPr sz="1200" b="0" i="0">
                <a:solidFill>
                  <a:srgbClr val="58595B"/>
                </a:solidFill>
                <a:latin typeface="Arial"/>
              </a:rPr>
              <a:t> thay cho "được chấp nhận" hay "được chứng minh": một mẫu khảo sát chỉ cung cấp bằng chứng.</a:t>
            </a:r>
          </a:p>
          <a:p>
            <a:pPr algn="l">
              <a:spcBef>
                <a:spcPts val="540"/>
              </a:spcBef>
            </a:pPr>
          </a:p>
          <a:p>
            <a:pPr algn="l">
              <a:spcBef>
                <a:spcPts val="540"/>
              </a:spcBef>
            </a:pPr>
            <a:r>
              <a:rPr sz="1200" b="0" i="0">
                <a:solidFill>
                  <a:srgbClr val="58595B"/>
                </a:solidFill>
                <a:latin typeface="Arial"/>
              </a:rPr>
              <a:t>H2 viết là </a:t>
            </a:r>
            <a:r>
              <a:rPr sz="1200" b="1" i="0">
                <a:solidFill>
                  <a:srgbClr val="58595B"/>
                </a:solidFill>
                <a:latin typeface="Arial"/>
              </a:rPr>
              <a:t>"chưa đủ bằng chứng"</a:t>
            </a:r>
            <a:r>
              <a:rPr sz="1200" b="0" i="0">
                <a:solidFill>
                  <a:srgbClr val="58595B"/>
                </a:solidFill>
                <a:latin typeface="Arial"/>
              </a:rPr>
              <a:t>, không viết "không có tác động": khoảng tin cậy 95% của B từ -0,063 đến 0,197 chứa số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CÂU HỎI MỞ</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Điểm thái độ nhân viên toàn mẫu cao nhất nhưng 25 phụ huynh nêu chủ đề thái độ chỉ chấm 3,28</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hỏi mở được mã hóa thành chủ đề, đếm tần số, minh họa bằng trích dẫn đã ẩn danh và đối chiếu với kết quả định lượng.</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4.4.3 (*), Bảng 36 đến 38, Hình 71 và 72; Trần Phước (n.d., tr. 57 đến 71); file 3.Chapter_4_and_Chapter_5_Practice_Truong_Y.xlsx (dữ liệu giả định), sheet 12_CauHoiMo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47</a:t>
            </a:r>
          </a:p>
        </p:txBody>
      </p:sp>
      <p:graphicFrame>
        <p:nvGraphicFramePr>
          <p:cNvPr id="12" name="Chart 11"/>
          <p:cNvGraphicFramePr>
            <a:graphicFrameLocks noGrp="1"/>
          </p:cNvGraphicFramePr>
          <p:nvPr/>
        </p:nvGraphicFramePr>
        <p:xfrm>
          <a:off x="457200" y="1783080"/>
          <a:ext cx="6583680" cy="3840480"/>
        </p:xfrm>
        <a:graphic>
          <a:graphicData uri="http://schemas.openxmlformats.org/drawingml/2006/chart">
            <c:chart xmlns:c="http://schemas.openxmlformats.org/drawingml/2006/chart" r:id="rId2"/>
          </a:graphicData>
        </a:graphic>
      </p:graphicFrame>
      <p:sp>
        <p:nvSpPr>
          <p:cNvPr id="13" name="TextBox 12"/>
          <p:cNvSpPr txBox="1"/>
          <p:nvPr/>
        </p:nvSpPr>
        <p:spPr>
          <a:xfrm>
            <a:off x="457200" y="1709928"/>
            <a:ext cx="6583680" cy="274320"/>
          </a:xfrm>
          <a:prstGeom prst="rect">
            <a:avLst/>
          </a:prstGeom>
          <a:noFill/>
        </p:spPr>
        <p:txBody>
          <a:bodyPr wrap="square" lIns="45720" rIns="45720" tIns="27432" bIns="27432" anchor="t">
            <a:spAutoFit/>
          </a:bodyPr>
          <a:lstStyle/>
          <a:p>
            <a:pPr algn="l"/>
            <a:r>
              <a:rPr sz="1050" b="1" i="0">
                <a:solidFill>
                  <a:srgbClr val="9E9E9E"/>
                </a:solidFill>
                <a:latin typeface="Arial"/>
              </a:rPr>
              <a:t>TỶ LỆ CHỦ ĐỀ TRONG 98 CÂU TRẢ LỜI MỞ (MẪU SỐ n = 98, KHÔNG PHẢI 120)</a:t>
            </a:r>
          </a:p>
        </p:txBody>
      </p:sp>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Hai chủ đề đầu</a:t>
            </a:r>
            <a:r>
              <a:rPr sz="1250" b="0" i="0">
                <a:solidFill>
                  <a:srgbClr val="58595B"/>
                </a:solidFill>
                <a:latin typeface="Arial"/>
              </a:rPr>
              <a:t> gắn với quy trình hành chính; nhóm nêu hai chủ đề này chấm QTHC 3,35 và 3,27 (toàn mẫu 3,48).</a:t>
            </a:r>
          </a:p>
        </p:txBody>
      </p:sp>
      <p:sp>
        <p:nvSpPr>
          <p:cNvPr id="18" name="Oval 17"/>
          <p:cNvSpPr/>
          <p:nvPr/>
        </p:nvSpPr>
        <p:spPr>
          <a:xfrm>
            <a:off x="73609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0518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Nhóm nêu thái độ</a:t>
            </a:r>
            <a:r>
              <a:rPr sz="1250" b="0" i="0">
                <a:solidFill>
                  <a:srgbClr val="58595B"/>
                </a:solidFill>
                <a:latin typeface="Arial"/>
              </a:rPr>
              <a:t> chấm TDNV 3,28 so với 4,12 toàn mẫu: trung bình cao không có nghĩa mọi phụ huynh đều hài lòng.</a:t>
            </a:r>
          </a:p>
        </p:txBody>
      </p:sp>
      <p:sp>
        <p:nvSpPr>
          <p:cNvPr id="20" name="Oval 19"/>
          <p:cNvSpPr/>
          <p:nvPr/>
        </p:nvSpPr>
        <p:spPr>
          <a:xfrm>
            <a:off x="73609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390906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TG là mã bất ngờ:</a:t>
            </a:r>
            <a:r>
              <a:rPr sz="1250" b="0" i="0">
                <a:solidFill>
                  <a:srgbClr val="58595B"/>
                </a:solidFill>
                <a:latin typeface="Arial"/>
              </a:rPr>
              <a:t> bảng hỏi không có thang đo thời gian chờ nhưng 42 phụ huynh nêu; nguyên liệu cho hạn chế và hướng nghiên cứu.</a:t>
            </a:r>
          </a:p>
        </p:txBody>
      </p:sp>
      <p:sp>
        <p:nvSpPr>
          <p:cNvPr id="22" name="Oval 21"/>
          <p:cNvSpPr/>
          <p:nvPr/>
        </p:nvSpPr>
        <p:spPr>
          <a:xfrm>
            <a:off x="73609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772400" y="4766310"/>
            <a:ext cx="3959351" cy="857250"/>
          </a:xfrm>
          <a:prstGeom prst="rect">
            <a:avLst/>
          </a:prstGeom>
          <a:noFill/>
        </p:spPr>
        <p:txBody>
          <a:bodyPr wrap="square" lIns="45720" rIns="45720" tIns="27432" bIns="27432" anchor="t">
            <a:spAutoFit/>
          </a:bodyPr>
          <a:lstStyle/>
          <a:p>
            <a:pPr algn="l"/>
            <a:r>
              <a:rPr sz="1250" b="1" i="0">
                <a:solidFill>
                  <a:srgbClr val="58595B"/>
                </a:solidFill>
                <a:latin typeface="Arial"/>
              </a:rPr>
              <a:t>Mã hóa lại 20 câu</a:t>
            </a:r>
            <a:r>
              <a:rPr sz="1250" b="0" i="0">
                <a:solidFill>
                  <a:srgbClr val="58595B"/>
                </a:solidFill>
                <a:latin typeface="Arial"/>
              </a:rPr>
              <a:t> với người thứ hai; đồng thuận ít nhất 80% (ví dụ 17/20 = 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THẢO LUẬN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Thảo luận đặt kết quả cạnh lý thuyết gốc và cạnh nghiên cứu trước, rồi giải thích vì sao giống hoặc khác</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Dùng "phù hợp với", "khớp một phần", "bổ sung bằng chứng"; không dùng "chứng minh" hay "phát hiện mới".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4.5.1, 4.5.2, mục 6 và Bảng 40; Creswell và Creswell (2018, tr. 220 đến 221)</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48</a:t>
            </a:r>
          </a:p>
        </p:txBody>
      </p:sp>
      <p:sp>
        <p:nvSpPr>
          <p:cNvPr id="12" name="Rectangle 11"/>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4" name="TextBox 13"/>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So với lý thuyết (4.5.1)</a:t>
            </a:r>
          </a:p>
        </p:txBody>
      </p:sp>
      <p:sp>
        <p:nvSpPr>
          <p:cNvPr id="15" name="TextBox 14"/>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Kết quả </a:t>
            </a:r>
            <a:r>
              <a:rPr sz="1250" b="1" i="0">
                <a:solidFill>
                  <a:srgbClr val="58595B"/>
                </a:solidFill>
                <a:latin typeface="Arial"/>
              </a:rPr>
              <a:t>khớp, bác bỏ hay mở rộng</a:t>
            </a:r>
            <a:r>
              <a:rPr sz="1250" b="0" i="0">
                <a:solidFill>
                  <a:srgbClr val="58595B"/>
                </a:solidFill>
                <a:latin typeface="Arial"/>
              </a:rPr>
              <a:t> lý thuyết nền.</a:t>
            </a:r>
          </a:p>
          <a:p>
            <a:pPr algn="l">
              <a:spcBef>
                <a:spcPts val="562"/>
              </a:spcBef>
            </a:pPr>
          </a:p>
          <a:p>
            <a:pPr algn="l">
              <a:spcBef>
                <a:spcPts val="562"/>
              </a:spcBef>
            </a:pPr>
            <a:r>
              <a:rPr sz="1250" b="0" i="0">
                <a:solidFill>
                  <a:srgbClr val="58595B"/>
                </a:solidFill>
                <a:latin typeface="Arial"/>
              </a:rPr>
              <a:t>H1 phù hợp với TAM (Davis, 1989): sự hữu ích mạnh nhất (β = 0,394). H3 phù hợp với Morgan và Hunt (1994). H4 phù hợp với chuẩn chủ quan của Ajzen (1991).</a:t>
            </a:r>
          </a:p>
        </p:txBody>
      </p:sp>
      <p:sp>
        <p:nvSpPr>
          <p:cNvPr id="16" name="Rectangle 15"/>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So với nghiên cứu trước (4.5.2)</a:t>
            </a:r>
          </a:p>
        </p:txBody>
      </p:sp>
      <p:sp>
        <p:nvSpPr>
          <p:cNvPr id="19" name="TextBox 18"/>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Chú ý ba yếu tố làm kết quả khác nhau: </a:t>
            </a:r>
            <a:r>
              <a:rPr sz="1250" b="1" i="0">
                <a:solidFill>
                  <a:srgbClr val="58595B"/>
                </a:solidFill>
                <a:latin typeface="Arial"/>
              </a:rPr>
              <a:t>bối cảnh, mẫu, cách đo.</a:t>
            </a:r>
          </a:p>
          <a:p>
            <a:pPr algn="l">
              <a:spcBef>
                <a:spcPts val="562"/>
              </a:spcBef>
            </a:pPr>
          </a:p>
          <a:p>
            <a:pPr algn="l">
              <a:spcBef>
                <a:spcPts val="562"/>
              </a:spcBef>
            </a:pPr>
            <a:r>
              <a:rPr sz="1250" b="0" i="0">
                <a:solidFill>
                  <a:srgbClr val="58595B"/>
                </a:solidFill>
                <a:latin typeface="Arial"/>
              </a:rPr>
              <a:t>Niềm tin mạnh thứ hai ở đây nhưng mạnh nhất ở Trần Thị B (2021): mẫu của B là khách hàng trung niên, còn 62,0% mẫu khóa luận dưới 35 tuổi.</a:t>
            </a:r>
          </a:p>
        </p:txBody>
      </p:sp>
      <p:sp>
        <p:nvSpPr>
          <p:cNvPr id="20" name="Rectangle 19"/>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2" name="TextBox 21"/>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Quy tắc điền bảng so sánh</a:t>
            </a:r>
          </a:p>
        </p:txBody>
      </p:sp>
      <p:sp>
        <p:nvSpPr>
          <p:cNvPr id="23" name="TextBox 22"/>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Chỉ ghi con số của nghiên cứu trước khi </a:t>
            </a:r>
            <a:r>
              <a:rPr sz="1250" b="1" i="0">
                <a:solidFill>
                  <a:srgbClr val="58595B"/>
                </a:solidFill>
                <a:latin typeface="Arial"/>
              </a:rPr>
              <a:t>đã đọc bài gốc</a:t>
            </a:r>
            <a:r>
              <a:rPr sz="1250" b="0" i="0">
                <a:solidFill>
                  <a:srgbClr val="58595B"/>
                </a:solidFill>
                <a:latin typeface="Arial"/>
              </a:rPr>
              <a:t> và ghi được số trang.</a:t>
            </a:r>
          </a:p>
          <a:p>
            <a:pPr algn="l">
              <a:spcBef>
                <a:spcPts val="562"/>
              </a:spcBef>
            </a:pPr>
          </a:p>
          <a:p>
            <a:pPr algn="l">
              <a:spcBef>
                <a:spcPts val="562"/>
              </a:spcBef>
            </a:pPr>
            <a:r>
              <a:rPr sz="1250" b="0" i="0">
                <a:solidFill>
                  <a:srgbClr val="58595B"/>
                </a:solidFill>
                <a:latin typeface="Arial"/>
              </a:rPr>
              <a:t>Nghiên cứu trước dùng SEM thì chỉ so chiều và thứ tự mạnh yếu, không so trực tiếp độ lớn hệ số.</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KẾT QUẢ BẤT NGỜ</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H2 không được ủng hộ là phần thảo luận có giá trị nhất nếu được giải thích bằng số liệu và lý thuyết</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Mỗi giải thích là một giả định để nghiên cứu sau kiểm tra, nên luôn dùng "có thể" và dẫn sang hướng nghiên cứu tiếp theo.</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4.5.3, Hình 74; file 3.Chapter_4_and_Chapter_5_Practice_NH_X.xlsx (dữ liệu giả định), sheet 12_TinhHuong</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49</a:t>
            </a:r>
          </a:p>
        </p:txBody>
      </p:sp>
      <p:sp>
        <p:nvSpPr>
          <p:cNvPr id="12" name="Rectangle 11"/>
          <p:cNvSpPr/>
          <p:nvPr/>
        </p:nvSpPr>
        <p:spPr>
          <a:xfrm>
            <a:off x="402336" y="2532703"/>
            <a:ext cx="5961888" cy="234123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74_p2554.png"/>
          <p:cNvPicPr>
            <a:picLocks noChangeAspect="1"/>
          </p:cNvPicPr>
          <p:nvPr/>
        </p:nvPicPr>
        <p:blipFill>
          <a:blip r:embed="rId2"/>
          <a:stretch>
            <a:fillRect/>
          </a:stretch>
        </p:blipFill>
        <p:spPr>
          <a:xfrm>
            <a:off x="457200" y="2587567"/>
            <a:ext cx="5852160" cy="2231505"/>
          </a:xfrm>
          <a:prstGeom prst="rect">
            <a:avLst/>
          </a:prstGeom>
        </p:spPr>
      </p:pic>
      <p:sp>
        <p:nvSpPr>
          <p:cNvPr id="14" name="TextBox 13"/>
          <p:cNvSpPr txBox="1"/>
          <p:nvPr/>
        </p:nvSpPr>
        <p:spPr>
          <a:xfrm>
            <a:off x="6629400" y="1783080"/>
            <a:ext cx="5102352" cy="274320"/>
          </a:xfrm>
          <a:prstGeom prst="rect">
            <a:avLst/>
          </a:prstGeom>
          <a:noFill/>
        </p:spPr>
        <p:txBody>
          <a:bodyPr wrap="square" lIns="45720" rIns="45720" tIns="27432" bIns="27432" anchor="t">
            <a:spAutoFit/>
          </a:bodyPr>
          <a:lstStyle/>
          <a:p>
            <a:pPr algn="l"/>
            <a:r>
              <a:rPr sz="1000" b="1" i="0">
                <a:solidFill>
                  <a:srgbClr val="CC0000"/>
                </a:solidFill>
                <a:latin typeface="Arial"/>
              </a:rPr>
              <a:t>HAI CÁCH GIẢI THÍCH CÓ CĂN CỨ</a:t>
            </a:r>
          </a:p>
        </p:txBody>
      </p:sp>
      <p:cxnSp>
        <p:nvCxnSpPr>
          <p:cNvPr id="15" name="Connector 14"/>
          <p:cNvCxnSpPr/>
          <p:nvPr/>
        </p:nvCxnSpPr>
        <p:spPr>
          <a:xfrm>
            <a:off x="6629400" y="2103120"/>
            <a:ext cx="51023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6294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040880" y="21945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Kinh nghiệm người dùng:</a:t>
            </a:r>
            <a:r>
              <a:rPr sz="1250" b="0" i="0">
                <a:solidFill>
                  <a:srgbClr val="58595B"/>
                </a:solidFill>
                <a:latin typeface="Arial"/>
              </a:rPr>
              <a:t> 80,0% đã dùng từ một năm; theo UTAUT, tác động của kỳ vọng nỗ lực giảm khi người dùng có kinh nghiệm (Venkatesh và cộng sự, 2003).</a:t>
            </a:r>
          </a:p>
        </p:txBody>
      </p:sp>
      <p:sp>
        <p:nvSpPr>
          <p:cNvPr id="18" name="Oval 17"/>
          <p:cNvSpPr/>
          <p:nvPr/>
        </p:nvSpPr>
        <p:spPr>
          <a:xfrm>
            <a:off x="66294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040880" y="30518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Quan hệ gián tiếp:</a:t>
            </a:r>
            <a:r>
              <a:rPr sz="1250" b="0" i="0">
                <a:solidFill>
                  <a:srgbClr val="58595B"/>
                </a:solidFill>
                <a:latin typeface="Arial"/>
              </a:rPr>
              <a:t> Davis (1989) cho rằng sự dễ sử dụng có thể dẫn đến sự hữu ích; trong dữ liệu SD tương quan với HI (r = 0,348).</a:t>
            </a:r>
          </a:p>
        </p:txBody>
      </p:sp>
      <p:sp>
        <p:nvSpPr>
          <p:cNvPr id="20" name="Oval 19"/>
          <p:cNvSpPr/>
          <p:nvPr/>
        </p:nvSpPr>
        <p:spPr>
          <a:xfrm>
            <a:off x="66294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040880" y="390906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Bằng chứng trong file:</a:t>
            </a:r>
            <a:r>
              <a:rPr sz="1250" b="0" i="0">
                <a:solidFill>
                  <a:srgbClr val="58595B"/>
                </a:solidFill>
                <a:latin typeface="Arial"/>
              </a:rPr>
              <a:t> SD có ý nghĩa khi chỉ đứng cùng XH (p = 0,003) nhưng mất ý nghĩa khi HI có mặt (p = 0,310).</a:t>
            </a:r>
          </a:p>
        </p:txBody>
      </p:sp>
      <p:sp>
        <p:nvSpPr>
          <p:cNvPr id="22" name="Oval 21"/>
          <p:cNvSpPr/>
          <p:nvPr/>
        </p:nvSpPr>
        <p:spPr>
          <a:xfrm>
            <a:off x="66294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3" name="TextBox 22"/>
          <p:cNvSpPr txBox="1"/>
          <p:nvPr/>
        </p:nvSpPr>
        <p:spPr>
          <a:xfrm>
            <a:off x="7040880" y="4766310"/>
            <a:ext cx="4690872" cy="857250"/>
          </a:xfrm>
          <a:prstGeom prst="rect">
            <a:avLst/>
          </a:prstGeom>
          <a:noFill/>
        </p:spPr>
        <p:txBody>
          <a:bodyPr wrap="square" lIns="45720" rIns="45720" tIns="27432" bIns="27432" anchor="t">
            <a:spAutoFit/>
          </a:bodyPr>
          <a:lstStyle/>
          <a:p>
            <a:pPr algn="l"/>
            <a:r>
              <a:rPr sz="1250" b="1" i="0">
                <a:solidFill>
                  <a:srgbClr val="58595B"/>
                </a:solidFill>
                <a:latin typeface="Arial"/>
              </a:rPr>
              <a:t>Không được viết:</a:t>
            </a:r>
            <a:r>
              <a:rPr sz="1250" b="0" i="0">
                <a:solidFill>
                  <a:srgbClr val="58595B"/>
                </a:solidFill>
                <a:latin typeface="Arial"/>
              </a:rPr>
              <a:t> "do khách hàng trả lời không trung thực" hay "đây là đóng góp mới".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4 | BA TÌNH HUỐNG KHÓ</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quả khác dự đoán không phải lỗi; lỗi chỉ xuất hiện khi giấu kết quả, sửa dữ liệu hoặc thêm bớt biến cho "đẹp"</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Thứ tự đọc khi gặp khó: Significance F, rồi R², rồi từng hệ số; ở bước nào có vấn đề thì xử lý ở bước đó.</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4, mục "Ba tình huống khó", Hình 75 đến 77; file 3.Chapter_4_and_Chapter_5_Practice_NH_X.xlsx (dữ liệu giả định), sheet 12_TinhHuong</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50</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Mô hình không có ý nghĩa</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Significance F từ 0,05 trở lên.</a:t>
            </a:r>
          </a:p>
          <a:p>
            <a:pPr algn="l">
              <a:spcBef>
                <a:spcPts val="562"/>
              </a:spcBef>
            </a:pPr>
          </a:p>
          <a:p>
            <a:pPr algn="l">
              <a:spcBef>
                <a:spcPts val="562"/>
              </a:spcBef>
            </a:pPr>
            <a:r>
              <a:rPr sz="1250" b="0" i="0">
                <a:solidFill>
                  <a:srgbClr val="58595B"/>
                </a:solidFill>
                <a:latin typeface="Arial"/>
              </a:rPr>
              <a:t>Kiểm tra lại dữ liệu, thang đo, giả định. Không có lỗi thì giữ nguyên và viết "dữ liệu chưa ủng hộ mô hình đề xuất".</a:t>
            </a:r>
          </a:p>
          <a:p>
            <a:pPr algn="l">
              <a:spcBef>
                <a:spcPts val="562"/>
              </a:spcBef>
            </a:pPr>
          </a:p>
          <a:p>
            <a:pPr algn="l">
              <a:spcBef>
                <a:spcPts val="562"/>
              </a:spcBef>
            </a:pPr>
            <a:r>
              <a:rPr sz="1250" b="0" i="0">
                <a:solidFill>
                  <a:srgbClr val="58595B"/>
                </a:solidFill>
                <a:latin typeface="Arial"/>
              </a:rPr>
              <a:t>Không kết luận giả thuyết từ một hệ số đơn lẻ.</a:t>
            </a:r>
          </a:p>
        </p:txBody>
      </p:sp>
      <p:sp>
        <p:nvSpPr>
          <p:cNvPr id="15" name="Rectangle 14"/>
          <p:cNvSpPr/>
          <p:nvPr/>
        </p:nvSpPr>
        <p:spPr>
          <a:xfrm>
            <a:off x="4306824"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R² thấp</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Không có ngưỡng R² chung; so với R² của các nghiên cứu cùng chủ đề.</a:t>
            </a:r>
          </a:p>
          <a:p>
            <a:pPr algn="l">
              <a:spcBef>
                <a:spcPts val="562"/>
              </a:spcBef>
            </a:pPr>
          </a:p>
          <a:p>
            <a:pPr algn="l">
              <a:spcBef>
                <a:spcPts val="562"/>
              </a:spcBef>
            </a:pPr>
            <a:r>
              <a:rPr sz="1250" b="0" i="0">
                <a:solidFill>
                  <a:srgbClr val="58595B"/>
                </a:solidFill>
                <a:latin typeface="Arial"/>
              </a:rPr>
              <a:t>Mô hình chỉ có SD và XH: R² = </a:t>
            </a:r>
            <a:r>
              <a:rPr sz="1250" b="1" i="0">
                <a:solidFill>
                  <a:srgbClr val="58595B"/>
                </a:solidFill>
                <a:latin typeface="Arial"/>
              </a:rPr>
              <a:t>0,266</a:t>
            </a:r>
            <a:r>
              <a:rPr sz="1250" b="0" i="0">
                <a:solidFill>
                  <a:srgbClr val="58595B"/>
                </a:solidFill>
                <a:latin typeface="Arial"/>
              </a:rPr>
              <a:t> so với </a:t>
            </a:r>
            <a:r>
              <a:rPr sz="1250" b="1" i="0">
                <a:solidFill>
                  <a:srgbClr val="58595B"/>
                </a:solidFill>
                <a:latin typeface="Arial"/>
              </a:rPr>
              <a:t>0,537</a:t>
            </a:r>
            <a:r>
              <a:rPr sz="1250" b="0" i="0">
                <a:solidFill>
                  <a:srgbClr val="58595B"/>
                </a:solidFill>
                <a:latin typeface="Arial"/>
              </a:rPr>
              <a:t> của mô hình đầy đủ, vẫn có ý nghĩa.</a:t>
            </a:r>
          </a:p>
          <a:p>
            <a:pPr algn="l">
              <a:spcBef>
                <a:spcPts val="562"/>
              </a:spcBef>
            </a:pPr>
          </a:p>
          <a:p>
            <a:pPr algn="l">
              <a:spcBef>
                <a:spcPts val="562"/>
              </a:spcBef>
            </a:pPr>
            <a:r>
              <a:rPr sz="1250" b="0" i="0">
                <a:solidFill>
                  <a:srgbClr val="58595B"/>
                </a:solidFill>
                <a:latin typeface="Arial"/>
              </a:rPr>
              <a:t>HI, NT được đưa vào vì lý thuyết, không phải để R² tăng.</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Nhiều giả thuyết không được ủng hộ</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Giữ nguyên giả thuyết ở Chương 2.</a:t>
            </a:r>
          </a:p>
          <a:p>
            <a:pPr algn="l">
              <a:spcBef>
                <a:spcPts val="562"/>
              </a:spcBef>
            </a:pPr>
          </a:p>
          <a:p>
            <a:pPr algn="l">
              <a:spcBef>
                <a:spcPts val="562"/>
              </a:spcBef>
            </a:pPr>
            <a:r>
              <a:rPr sz="1250" b="0" i="0">
                <a:solidFill>
                  <a:srgbClr val="58595B"/>
                </a:solidFill>
                <a:latin typeface="Arial"/>
              </a:rPr>
              <a:t>So cỡ mẫu thực tế với cỡ mẫu tối thiểu.</a:t>
            </a:r>
          </a:p>
          <a:p>
            <a:pPr algn="l">
              <a:spcBef>
                <a:spcPts val="562"/>
              </a:spcBef>
            </a:pPr>
          </a:p>
          <a:p>
            <a:pPr algn="l">
              <a:spcBef>
                <a:spcPts val="562"/>
              </a:spcBef>
            </a:pPr>
            <a:r>
              <a:rPr sz="1250" b="0" i="0">
                <a:solidFill>
                  <a:srgbClr val="58595B"/>
                </a:solidFill>
                <a:latin typeface="Arial"/>
              </a:rPr>
              <a:t>Mỗi giả thuyết một đoạn riêng; không gộp và không gọi là "phát hiện mới".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06</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Chương 5 và Kết luận</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Từ dữ liệu đó, ta học được gì và nên làm gì? Chương 5 chuyển con số thành quyết định</a:t>
            </a:r>
          </a:p>
        </p:txBody>
      </p:sp>
      <p:sp>
        <p:nvSpPr>
          <p:cNvPr id="7" name="TextBox 6"/>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18 phút | 7 slide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CẤU TRÚC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Chương 5 đi từ điều đã biết chắc, đến điều nên làm, đến điều còn chưa biết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Hệ số β = 0,328 chỉ là con số; câu "Ngân hàng X nên ưu tiên củng cố niềm tin trước các biện pháp khác" là một quyết định có căn cứ.</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1 và 2, Hình 79</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52</a:t>
            </a:r>
          </a:p>
        </p:txBody>
      </p:sp>
      <p:sp>
        <p:nvSpPr>
          <p:cNvPr id="11" name="Pentagon 10"/>
          <p:cNvSpPr/>
          <p:nvPr/>
        </p:nvSpPr>
        <p:spPr>
          <a:xfrm>
            <a:off x="457200" y="1783080"/>
            <a:ext cx="3867912" cy="731520"/>
          </a:xfrm>
          <a:prstGeom prst="homePlat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5.1 Kết luận</a:t>
            </a:r>
          </a:p>
        </p:txBody>
      </p:sp>
      <p:sp>
        <p:nvSpPr>
          <p:cNvPr id="12" name="TextBox 11"/>
          <p:cNvSpPr txBox="1"/>
          <p:nvPr/>
        </p:nvSpPr>
        <p:spPr>
          <a:xfrm>
            <a:off x="566928"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đã biết chắc</a:t>
            </a:r>
          </a:p>
          <a:p>
            <a:pPr algn="l">
              <a:spcBef>
                <a:spcPts val="607"/>
              </a:spcBef>
            </a:pPr>
            <a:r>
              <a:rPr sz="1350" b="0" i="0">
                <a:solidFill>
                  <a:srgbClr val="58595B"/>
                </a:solidFill>
                <a:latin typeface="Arial"/>
              </a:rPr>
              <a:t>Tóm tắt ba đến năm phát hiện; trả lời từng câu hỏi nghiên cứu.</a:t>
            </a:r>
          </a:p>
        </p:txBody>
      </p:sp>
      <p:sp>
        <p:nvSpPr>
          <p:cNvPr id="13" name="Chevron 12"/>
          <p:cNvSpPr/>
          <p:nvPr/>
        </p:nvSpPr>
        <p:spPr>
          <a:xfrm>
            <a:off x="4215384" y="1783080"/>
            <a:ext cx="3867912" cy="731520"/>
          </a:xfrm>
          <a:prstGeom prst="chevron">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5.2 Hàm ý</a:t>
            </a:r>
          </a:p>
        </p:txBody>
      </p:sp>
      <p:sp>
        <p:nvSpPr>
          <p:cNvPr id="14" name="TextBox 13"/>
          <p:cNvSpPr txBox="1"/>
          <p:nvPr/>
        </p:nvSpPr>
        <p:spPr>
          <a:xfrm>
            <a:off x="4325112"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nên làm</a:t>
            </a:r>
          </a:p>
          <a:p>
            <a:pPr algn="l">
              <a:spcBef>
                <a:spcPts val="607"/>
              </a:spcBef>
            </a:pPr>
            <a:r>
              <a:rPr sz="1350" b="0" i="0">
                <a:solidFill>
                  <a:srgbClr val="58595B"/>
                </a:solidFill>
                <a:latin typeface="Arial"/>
              </a:rPr>
              <a:t>Hàm ý cho đơn vị theo thứ tự ưu tiên; hàm ý cho các bên liên quan.</a:t>
            </a:r>
          </a:p>
        </p:txBody>
      </p:sp>
      <p:cxnSp>
        <p:nvCxnSpPr>
          <p:cNvPr id="15" name="Connector 14"/>
          <p:cNvCxnSpPr/>
          <p:nvPr/>
        </p:nvCxnSpPr>
        <p:spPr>
          <a:xfrm>
            <a:off x="4233672"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7973568" y="1783080"/>
            <a:ext cx="3867912" cy="731520"/>
          </a:xfrm>
          <a:prstGeom prst="chevron">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250" b="1" i="0">
                <a:solidFill>
                  <a:srgbClr val="FFFFFF"/>
                </a:solidFill>
                <a:latin typeface="Arial"/>
              </a:rPr>
              <a:t>5.3 Hạn chế và hướng tiếp</a:t>
            </a:r>
          </a:p>
        </p:txBody>
      </p:sp>
      <p:sp>
        <p:nvSpPr>
          <p:cNvPr id="17" name="TextBox 16"/>
          <p:cNvSpPr txBox="1"/>
          <p:nvPr/>
        </p:nvSpPr>
        <p:spPr>
          <a:xfrm>
            <a:off x="8083296" y="2697480"/>
            <a:ext cx="3529584" cy="2880360"/>
          </a:xfrm>
          <a:prstGeom prst="rect">
            <a:avLst/>
          </a:prstGeom>
          <a:noFill/>
        </p:spPr>
        <p:txBody>
          <a:bodyPr wrap="square" lIns="45720" rIns="45720" tIns="27432" bIns="27432" anchor="t">
            <a:spAutoFit/>
          </a:bodyPr>
          <a:lstStyle/>
          <a:p>
            <a:pPr algn="l"/>
            <a:r>
              <a:rPr sz="1350" b="1" i="0">
                <a:solidFill>
                  <a:srgbClr val="58595B"/>
                </a:solidFill>
                <a:latin typeface="Arial"/>
              </a:rPr>
              <a:t>Điều chưa biết</a:t>
            </a:r>
          </a:p>
          <a:p>
            <a:pPr algn="l">
              <a:spcBef>
                <a:spcPts val="607"/>
              </a:spcBef>
            </a:pPr>
            <a:r>
              <a:rPr sz="1350" b="0" i="0">
                <a:solidFill>
                  <a:srgbClr val="58595B"/>
                </a:solidFill>
                <a:latin typeface="Arial"/>
              </a:rPr>
              <a:t>Hạn chế về mẫu, thiết kế, đo lường, mô hình; mỗi hạn chế một hướng nghiên cứu.</a:t>
            </a:r>
          </a:p>
        </p:txBody>
      </p:sp>
      <p:cxnSp>
        <p:nvCxnSpPr>
          <p:cNvPr id="18" name="Connector 17"/>
          <p:cNvCxnSpPr/>
          <p:nvPr/>
        </p:nvCxnSpPr>
        <p:spPr>
          <a:xfrm>
            <a:off x="7991856" y="2697480"/>
            <a:ext cx="0" cy="2834640"/>
          </a:xfrm>
          <a:prstGeom prst="line">
            <a:avLst/>
          </a:prstGeom>
          <a:ln w="12700">
            <a:solidFill>
              <a:srgbClr val="F3F3F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TRẢ LỜI CÂU HỎI NGHIÊN CỨU</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câu hỏi ở Chương 1 được chép nguyên văn và trả lời thẳng ngay ở câu đầu tiên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Đây là mục quan trọng nhất của Chương 5 vì nó khép vòng: Chương 1 hỏi, Chương 5 trả lời.</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5.1.1 và 5.1.2, Hình 80; file 3.Chapter_4_and_Chapter_5_Practice_NH_X.xlsx (dữ liệu giả định)</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53</a:t>
            </a:r>
          </a:p>
        </p:txBody>
      </p:sp>
      <p:sp>
        <p:nvSpPr>
          <p:cNvPr id="12" name="Rectangle 11"/>
          <p:cNvSpPr/>
          <p:nvPr/>
        </p:nvSpPr>
        <p:spPr>
          <a:xfrm>
            <a:off x="402336" y="2566138"/>
            <a:ext cx="6693408" cy="22743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80_p2713.png"/>
          <p:cNvPicPr>
            <a:picLocks noChangeAspect="1"/>
          </p:cNvPicPr>
          <p:nvPr/>
        </p:nvPicPr>
        <p:blipFill>
          <a:blip r:embed="rId2"/>
          <a:stretch>
            <a:fillRect/>
          </a:stretch>
        </p:blipFill>
        <p:spPr>
          <a:xfrm>
            <a:off x="457200" y="2621002"/>
            <a:ext cx="6583680" cy="2164634"/>
          </a:xfrm>
          <a:prstGeom prst="rect">
            <a:avLst/>
          </a:prstGeom>
        </p:spPr>
      </p:pic>
      <p:sp>
        <p:nvSpPr>
          <p:cNvPr id="14" name="TextBox 13"/>
          <p:cNvSpPr txBox="1"/>
          <p:nvPr/>
        </p:nvSpPr>
        <p:spPr>
          <a:xfrm>
            <a:off x="7360920" y="1783080"/>
            <a:ext cx="4370831" cy="274320"/>
          </a:xfrm>
          <a:prstGeom prst="rect">
            <a:avLst/>
          </a:prstGeom>
          <a:noFill/>
        </p:spPr>
        <p:txBody>
          <a:bodyPr wrap="square" lIns="45720" rIns="45720" tIns="27432" bIns="27432" anchor="t">
            <a:spAutoFit/>
          </a:bodyPr>
          <a:lstStyle/>
          <a:p>
            <a:pPr algn="l"/>
            <a:r>
              <a:rPr sz="1000" b="1" i="0">
                <a:solidFill>
                  <a:srgbClr val="CC0000"/>
                </a:solidFill>
                <a:latin typeface="Arial"/>
              </a:rPr>
              <a:t>BA CÂU TRẢ LỜI</a:t>
            </a:r>
          </a:p>
        </p:txBody>
      </p:sp>
      <p:cxnSp>
        <p:nvCxnSpPr>
          <p:cNvPr id="15" name="Connector 14"/>
          <p:cNvCxnSpPr/>
          <p:nvPr/>
        </p:nvCxnSpPr>
        <p:spPr>
          <a:xfrm>
            <a:off x="7360920" y="2103120"/>
            <a:ext cx="43708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3609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7" name="TextBox 16"/>
          <p:cNvSpPr txBox="1"/>
          <p:nvPr/>
        </p:nvSpPr>
        <p:spPr>
          <a:xfrm>
            <a:off x="7772400" y="2194560"/>
            <a:ext cx="3959351" cy="1143000"/>
          </a:xfrm>
          <a:prstGeom prst="rect">
            <a:avLst/>
          </a:prstGeom>
          <a:noFill/>
        </p:spPr>
        <p:txBody>
          <a:bodyPr wrap="square" lIns="45720" rIns="45720" tIns="27432" bIns="27432" anchor="t">
            <a:spAutoFit/>
          </a:bodyPr>
          <a:lstStyle/>
          <a:p>
            <a:pPr algn="l"/>
            <a:r>
              <a:rPr sz="1250" b="1" i="0">
                <a:solidFill>
                  <a:srgbClr val="58595B"/>
                </a:solidFill>
                <a:latin typeface="Arial"/>
              </a:rPr>
              <a:t>Câu hỏi 1:</a:t>
            </a:r>
            <a:r>
              <a:rPr sz="1250" b="0" i="0">
                <a:solidFill>
                  <a:srgbClr val="58595B"/>
                </a:solidFill>
                <a:latin typeface="Arial"/>
              </a:rPr>
              <a:t> ba yếu tố có ảnh hưởng cùng chiều có ý nghĩa là sự hữu ích, niềm tin, ảnh hưởng xã hội; sự dễ sử dụng không có ảnh hưởng trực tiếp có ý nghĩa.</a:t>
            </a:r>
          </a:p>
        </p:txBody>
      </p:sp>
      <p:sp>
        <p:nvSpPr>
          <p:cNvPr id="18" name="Oval 17"/>
          <p:cNvSpPr/>
          <p:nvPr/>
        </p:nvSpPr>
        <p:spPr>
          <a:xfrm>
            <a:off x="7360920" y="3355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9" name="TextBox 18"/>
          <p:cNvSpPr txBox="1"/>
          <p:nvPr/>
        </p:nvSpPr>
        <p:spPr>
          <a:xfrm>
            <a:off x="7772400" y="3337560"/>
            <a:ext cx="3959351" cy="1143000"/>
          </a:xfrm>
          <a:prstGeom prst="rect">
            <a:avLst/>
          </a:prstGeom>
          <a:noFill/>
        </p:spPr>
        <p:txBody>
          <a:bodyPr wrap="square" lIns="45720" rIns="45720" tIns="27432" bIns="27432" anchor="t">
            <a:spAutoFit/>
          </a:bodyPr>
          <a:lstStyle/>
          <a:p>
            <a:pPr algn="l"/>
            <a:r>
              <a:rPr sz="1250" b="1" i="0">
                <a:solidFill>
                  <a:srgbClr val="58595B"/>
                </a:solidFill>
                <a:latin typeface="Arial"/>
              </a:rPr>
              <a:t>Câu hỏi 2:</a:t>
            </a:r>
            <a:r>
              <a:rPr sz="1250" b="0" i="0">
                <a:solidFill>
                  <a:srgbClr val="58595B"/>
                </a:solidFill>
                <a:latin typeface="Arial"/>
              </a:rPr>
              <a:t> sự hữu ích mạnh nhất (β = 0,394), rồi niềm tin (0,328), ảnh hưởng xã hội (0,227); mô hình giải thích 53,7%.</a:t>
            </a:r>
          </a:p>
        </p:txBody>
      </p:sp>
      <p:sp>
        <p:nvSpPr>
          <p:cNvPr id="20" name="Oval 19"/>
          <p:cNvSpPr/>
          <p:nvPr/>
        </p:nvSpPr>
        <p:spPr>
          <a:xfrm>
            <a:off x="7360920" y="4498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7772400" y="4480560"/>
            <a:ext cx="3959351" cy="1143000"/>
          </a:xfrm>
          <a:prstGeom prst="rect">
            <a:avLst/>
          </a:prstGeom>
          <a:noFill/>
        </p:spPr>
        <p:txBody>
          <a:bodyPr wrap="square" lIns="45720" rIns="45720" tIns="27432" bIns="27432" anchor="t">
            <a:spAutoFit/>
          </a:bodyPr>
          <a:lstStyle/>
          <a:p>
            <a:pPr algn="l"/>
            <a:r>
              <a:rPr sz="1250" b="1" i="0">
                <a:solidFill>
                  <a:srgbClr val="58595B"/>
                </a:solidFill>
                <a:latin typeface="Arial"/>
              </a:rPr>
              <a:t>Câu hỏi 3:</a:t>
            </a:r>
            <a:r>
              <a:rPr sz="1250" b="0" i="0">
                <a:solidFill>
                  <a:srgbClr val="58595B"/>
                </a:solidFill>
                <a:latin typeface="Arial"/>
              </a:rPr>
              <a:t> ưu tiên củng cố niềm tin, duy trì lợi ích, tận dụng ảnh hưởng của người thân; chi tiết ở mục 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MA TRẬN TẦM QUAN TRỌNG VÀ MỨC THỰC HIỆN</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Niềm tin quan trọng nhưng bị đánh giá thấp, nên là ưu tiên số một của Ngân hàng X</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Ma trận là công cụ gợi ý thứ tự ưu tiên, không thay cho phán đoán của người viết.</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Bảng 43 và Hình 81; Martilla và James (1977); file 3.Chapter_4_and_Chapter_5_Practice_NH_X.xlsx (dữ liệu giả định), sheet 11_BieuDo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54</a:t>
            </a:r>
          </a:p>
        </p:txBody>
      </p:sp>
      <p:sp>
        <p:nvSpPr>
          <p:cNvPr id="12" name="Rectangle 11"/>
          <p:cNvSpPr/>
          <p:nvPr/>
        </p:nvSpPr>
        <p:spPr>
          <a:xfrm>
            <a:off x="1325880" y="1874519"/>
            <a:ext cx="5486400" cy="33832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1874519"/>
            <a:ext cx="2438400" cy="1481124"/>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3764280" y="1874519"/>
            <a:ext cx="0" cy="3383281"/>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 y="3355644"/>
            <a:ext cx="5486400" cy="0"/>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99032" y="1920239"/>
            <a:ext cx="2651760" cy="274320"/>
          </a:xfrm>
          <a:prstGeom prst="rect">
            <a:avLst/>
          </a:prstGeom>
          <a:noFill/>
        </p:spPr>
        <p:txBody>
          <a:bodyPr wrap="square" lIns="45720" rIns="45720" tIns="27432" bIns="27432" anchor="t">
            <a:spAutoFit/>
          </a:bodyPr>
          <a:lstStyle/>
          <a:p>
            <a:pPr algn="l"/>
            <a:r>
              <a:rPr sz="950" b="1" i="0">
                <a:solidFill>
                  <a:srgbClr val="CC0000"/>
                </a:solidFill>
                <a:latin typeface="Arial"/>
              </a:rPr>
              <a:t>I. Ưu tiên cải thiện</a:t>
            </a:r>
          </a:p>
        </p:txBody>
      </p:sp>
      <p:sp>
        <p:nvSpPr>
          <p:cNvPr id="17" name="TextBox 16"/>
          <p:cNvSpPr txBox="1"/>
          <p:nvPr/>
        </p:nvSpPr>
        <p:spPr>
          <a:xfrm>
            <a:off x="3837432" y="1920239"/>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 Duy trì</a:t>
            </a:r>
          </a:p>
        </p:txBody>
      </p:sp>
      <p:sp>
        <p:nvSpPr>
          <p:cNvPr id="18" name="TextBox 17"/>
          <p:cNvSpPr txBox="1"/>
          <p:nvPr/>
        </p:nvSpPr>
        <p:spPr>
          <a:xfrm>
            <a:off x="13990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III. Ưu tiên thấp</a:t>
            </a:r>
          </a:p>
        </p:txBody>
      </p:sp>
      <p:sp>
        <p:nvSpPr>
          <p:cNvPr id="19" name="TextBox 18"/>
          <p:cNvSpPr txBox="1"/>
          <p:nvPr/>
        </p:nvSpPr>
        <p:spPr>
          <a:xfrm>
            <a:off x="38374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IV. Không cần đầu tư thêm</a:t>
            </a:r>
          </a:p>
        </p:txBody>
      </p:sp>
      <p:sp>
        <p:nvSpPr>
          <p:cNvPr id="20" name="Oval 19"/>
          <p:cNvSpPr/>
          <p:nvPr/>
        </p:nvSpPr>
        <p:spPr>
          <a:xfrm>
            <a:off x="2505456" y="2691180"/>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0" y="2636316"/>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Niềm tin</a:t>
            </a:r>
            <a:r>
              <a:rPr sz="1100" b="0" i="0">
                <a:solidFill>
                  <a:srgbClr val="262626"/>
                </a:solidFill>
                <a:latin typeface="Arial"/>
              </a:rPr>
              <a:t> (3,41; 0,328)</a:t>
            </a:r>
          </a:p>
        </p:txBody>
      </p:sp>
      <p:sp>
        <p:nvSpPr>
          <p:cNvPr id="22" name="Oval 21"/>
          <p:cNvSpPr/>
          <p:nvPr/>
        </p:nvSpPr>
        <p:spPr>
          <a:xfrm>
            <a:off x="5370576" y="2194966"/>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56560" y="2140102"/>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Sự hữu ích</a:t>
            </a:r>
            <a:r>
              <a:rPr sz="1100" b="0" i="0">
                <a:solidFill>
                  <a:srgbClr val="262626"/>
                </a:solidFill>
                <a:latin typeface="Arial"/>
              </a:rPr>
              <a:t> (3,88; 0,394)</a:t>
            </a:r>
          </a:p>
        </p:txBody>
      </p:sp>
      <p:sp>
        <p:nvSpPr>
          <p:cNvPr id="24" name="Oval 23"/>
          <p:cNvSpPr/>
          <p:nvPr/>
        </p:nvSpPr>
        <p:spPr>
          <a:xfrm>
            <a:off x="2200655" y="3450539"/>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38399" y="3395675"/>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Ảnh hưởng xã hội</a:t>
            </a:r>
            <a:r>
              <a:rPr sz="1100" b="0" i="0">
                <a:solidFill>
                  <a:srgbClr val="262626"/>
                </a:solidFill>
                <a:latin typeface="Arial"/>
              </a:rPr>
              <a:t> (3,36; 0,227)</a:t>
            </a:r>
          </a:p>
        </p:txBody>
      </p:sp>
      <p:sp>
        <p:nvSpPr>
          <p:cNvPr id="26" name="Oval 25"/>
          <p:cNvSpPr/>
          <p:nvPr/>
        </p:nvSpPr>
        <p:spPr>
          <a:xfrm>
            <a:off x="4517136" y="4676038"/>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103120" y="4621174"/>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Sự dễ sử dụng</a:t>
            </a:r>
            <a:r>
              <a:rPr sz="1100" b="0" i="0">
                <a:solidFill>
                  <a:srgbClr val="262626"/>
                </a:solidFill>
                <a:latin typeface="Arial"/>
              </a:rPr>
              <a:t> (3,74; 0,064)</a:t>
            </a:r>
          </a:p>
        </p:txBody>
      </p:sp>
      <p:sp>
        <p:nvSpPr>
          <p:cNvPr id="28" name="TextBox 27"/>
          <p:cNvSpPr txBox="1"/>
          <p:nvPr/>
        </p:nvSpPr>
        <p:spPr>
          <a:xfrm>
            <a:off x="1325880" y="5303520"/>
            <a:ext cx="5486400" cy="274320"/>
          </a:xfrm>
          <a:prstGeom prst="rect">
            <a:avLst/>
          </a:prstGeom>
          <a:noFill/>
        </p:spPr>
        <p:txBody>
          <a:bodyPr wrap="square" lIns="45720" rIns="45720" tIns="27432" bIns="27432" anchor="t">
            <a:spAutoFit/>
          </a:bodyPr>
          <a:lstStyle/>
          <a:p>
            <a:pPr algn="ctr"/>
            <a:r>
              <a:rPr sz="1050" b="0" i="0">
                <a:solidFill>
                  <a:srgbClr val="58595B"/>
                </a:solidFill>
                <a:latin typeface="Arial"/>
              </a:rPr>
              <a:t>Mức thực hiện (điểm trung bình; đường chia 3,60)</a:t>
            </a:r>
          </a:p>
        </p:txBody>
      </p:sp>
      <p:sp>
        <p:nvSpPr>
          <p:cNvPr id="29" name="TextBox 28"/>
          <p:cNvSpPr txBox="1"/>
          <p:nvPr/>
        </p:nvSpPr>
        <p:spPr>
          <a:xfrm>
            <a:off x="411480" y="1874519"/>
            <a:ext cx="822959" cy="3383280"/>
          </a:xfrm>
          <a:prstGeom prst="rect">
            <a:avLst/>
          </a:prstGeom>
          <a:noFill/>
        </p:spPr>
        <p:txBody>
          <a:bodyPr wrap="square" lIns="45720" rIns="45720" tIns="27432" bIns="27432" anchor="ctr">
            <a:spAutoFit/>
          </a:bodyPr>
          <a:lstStyle/>
          <a:p>
            <a:pPr algn="ctr"/>
            <a:r>
              <a:rPr sz="1050" b="0" i="0">
                <a:solidFill>
                  <a:srgbClr val="58595B"/>
                </a:solidFill>
                <a:latin typeface="Arial"/>
              </a:rPr>
              <a:t>Mức quan trọng (β; đường chia 0,253)</a:t>
            </a:r>
          </a:p>
        </p:txBody>
      </p:sp>
      <p:sp>
        <p:nvSpPr>
          <p:cNvPr id="30" name="TextBox 29"/>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 MA TRẬN</a:t>
            </a:r>
          </a:p>
        </p:txBody>
      </p:sp>
      <p:cxnSp>
        <p:nvCxnSpPr>
          <p:cNvPr id="31" name="Connector 30"/>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33" name="TextBox 32"/>
          <p:cNvSpPr txBox="1"/>
          <p:nvPr/>
        </p:nvSpPr>
        <p:spPr>
          <a:xfrm>
            <a:off x="7589519" y="21945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 niềm tin:</a:t>
            </a:r>
            <a:r>
              <a:rPr sz="1250" b="0" i="0">
                <a:solidFill>
                  <a:srgbClr val="58595B"/>
                </a:solidFill>
                <a:latin typeface="Arial"/>
              </a:rPr>
              <a:t> quan trọng nhưng điểm thấp; ưu tiên số một.</a:t>
            </a:r>
          </a:p>
        </p:txBody>
      </p:sp>
      <p:sp>
        <p:nvSpPr>
          <p:cNvPr id="34" name="Oval 33"/>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35" name="TextBox 34"/>
          <p:cNvSpPr txBox="1"/>
          <p:nvPr/>
        </p:nvSpPr>
        <p:spPr>
          <a:xfrm>
            <a:off x="7589519" y="30518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II, sự hữu ích:</a:t>
            </a:r>
            <a:r>
              <a:rPr sz="1250" b="0" i="0">
                <a:solidFill>
                  <a:srgbClr val="58595B"/>
                </a:solidFill>
                <a:latin typeface="Arial"/>
              </a:rPr>
              <a:t> quan trọng và đang được đánh giá cao; duy trì.</a:t>
            </a:r>
          </a:p>
        </p:txBody>
      </p:sp>
      <p:sp>
        <p:nvSpPr>
          <p:cNvPr id="36" name="Oval 35"/>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37" name="TextBox 36"/>
          <p:cNvSpPr txBox="1"/>
          <p:nvPr/>
        </p:nvSpPr>
        <p:spPr>
          <a:xfrm>
            <a:off x="7589519" y="39090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III, ảnh hưởng xã hội:</a:t>
            </a:r>
            <a:r>
              <a:rPr sz="1250" b="0" i="0">
                <a:solidFill>
                  <a:srgbClr val="58595B"/>
                </a:solidFill>
                <a:latin typeface="Arial"/>
              </a:rPr>
              <a:t> sát đường chia của trục quan trọng; tận dụng với chi phí thấp.</a:t>
            </a:r>
          </a:p>
        </p:txBody>
      </p:sp>
      <p:sp>
        <p:nvSpPr>
          <p:cNvPr id="38" name="Oval 37"/>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39" name="TextBox 38"/>
          <p:cNvSpPr txBox="1"/>
          <p:nvPr/>
        </p:nvSpPr>
        <p:spPr>
          <a:xfrm>
            <a:off x="7589519" y="47663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IV, sự dễ sử dụng:</a:t>
            </a:r>
            <a:r>
              <a:rPr sz="1250" b="0" i="0">
                <a:solidFill>
                  <a:srgbClr val="58595B"/>
                </a:solidFill>
                <a:latin typeface="Arial"/>
              </a:rPr>
              <a:t> điểm khá cao nhưng không còn tác động trực tiếp; không cần đầu tư thêm.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GIỚI HẠN CỦA MA TRẬN</a:t>
            </a:r>
          </a:p>
        </p:txBody>
      </p:sp>
      <p:sp>
        <p:nvSpPr>
          <p:cNvPr id="3" name="Rounded Rectangle 2"/>
          <p:cNvSpPr/>
          <p:nvPr/>
        </p:nvSpPr>
        <p:spPr>
          <a:xfrm>
            <a:off x="10273284" y="219456"/>
            <a:ext cx="1458468"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TRƯỜNG TIỂU HỌC Y</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Ma trận xếp quy trình hành chính vào ưu tiên thấp nhưng phán đoán có căn cứ kéo nó lên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Khi điều chỉnh thứ tự ưu tiên bằng phán đoán, phải nêu rõ căn cứ của sự điều chỉnh đó.</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và Hình 82; file 3.Chapter_4_and_Chapter_5_Practice_Truong_Y.xlsx (dữ liệu giả định), sheet 11_BieuDo và 12_CauHoiMo</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55</a:t>
            </a:r>
          </a:p>
        </p:txBody>
      </p:sp>
      <p:sp>
        <p:nvSpPr>
          <p:cNvPr id="12" name="Rectangle 11"/>
          <p:cNvSpPr/>
          <p:nvPr/>
        </p:nvSpPr>
        <p:spPr>
          <a:xfrm>
            <a:off x="1325880" y="1874519"/>
            <a:ext cx="5486400" cy="33832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25880" y="1874519"/>
            <a:ext cx="3044952" cy="154785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370832" y="1874519"/>
            <a:ext cx="0" cy="3383281"/>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5880" y="3422370"/>
            <a:ext cx="5486400" cy="0"/>
          </a:xfrm>
          <a:prstGeom prst="line">
            <a:avLst/>
          </a:prstGeom>
          <a:ln w="12700">
            <a:solidFill>
              <a:srgbClr val="9E9E9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99032" y="1920239"/>
            <a:ext cx="2651760" cy="274320"/>
          </a:xfrm>
          <a:prstGeom prst="rect">
            <a:avLst/>
          </a:prstGeom>
          <a:noFill/>
        </p:spPr>
        <p:txBody>
          <a:bodyPr wrap="square" lIns="45720" rIns="45720" tIns="27432" bIns="27432" anchor="t">
            <a:spAutoFit/>
          </a:bodyPr>
          <a:lstStyle/>
          <a:p>
            <a:pPr algn="l"/>
            <a:r>
              <a:rPr sz="950" b="1" i="0">
                <a:solidFill>
                  <a:srgbClr val="CC0000"/>
                </a:solidFill>
                <a:latin typeface="Arial"/>
              </a:rPr>
              <a:t>I. Ưu tiên cải thiện</a:t>
            </a:r>
          </a:p>
        </p:txBody>
      </p:sp>
      <p:sp>
        <p:nvSpPr>
          <p:cNvPr id="17" name="TextBox 16"/>
          <p:cNvSpPr txBox="1"/>
          <p:nvPr/>
        </p:nvSpPr>
        <p:spPr>
          <a:xfrm>
            <a:off x="4443984" y="1920239"/>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 Duy trì</a:t>
            </a:r>
          </a:p>
        </p:txBody>
      </p:sp>
      <p:sp>
        <p:nvSpPr>
          <p:cNvPr id="18" name="TextBox 17"/>
          <p:cNvSpPr txBox="1"/>
          <p:nvPr/>
        </p:nvSpPr>
        <p:spPr>
          <a:xfrm>
            <a:off x="1399032"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III. Ưu tiên thấp</a:t>
            </a:r>
          </a:p>
        </p:txBody>
      </p:sp>
      <p:sp>
        <p:nvSpPr>
          <p:cNvPr id="19" name="TextBox 18"/>
          <p:cNvSpPr txBox="1"/>
          <p:nvPr/>
        </p:nvSpPr>
        <p:spPr>
          <a:xfrm>
            <a:off x="4443984" y="4937760"/>
            <a:ext cx="2651760" cy="274320"/>
          </a:xfrm>
          <a:prstGeom prst="rect">
            <a:avLst/>
          </a:prstGeom>
          <a:noFill/>
        </p:spPr>
        <p:txBody>
          <a:bodyPr wrap="square" lIns="45720" rIns="45720" tIns="27432" bIns="27432" anchor="t">
            <a:spAutoFit/>
          </a:bodyPr>
          <a:lstStyle/>
          <a:p>
            <a:pPr algn="l"/>
            <a:r>
              <a:rPr sz="950" b="1" i="0">
                <a:solidFill>
                  <a:srgbClr val="9E9E9E"/>
                </a:solidFill>
                <a:latin typeface="Arial"/>
              </a:rPr>
              <a:t>IV. Không cần đầu tư thêm</a:t>
            </a:r>
          </a:p>
        </p:txBody>
      </p:sp>
      <p:sp>
        <p:nvSpPr>
          <p:cNvPr id="20" name="Oval 19"/>
          <p:cNvSpPr/>
          <p:nvPr/>
        </p:nvSpPr>
        <p:spPr>
          <a:xfrm>
            <a:off x="5707684" y="2349093"/>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3668" y="2294229"/>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Thái độ nhân viên</a:t>
            </a:r>
            <a:r>
              <a:rPr sz="1100" b="0" i="0">
                <a:solidFill>
                  <a:srgbClr val="262626"/>
                </a:solidFill>
                <a:latin typeface="Arial"/>
              </a:rPr>
              <a:t> (4,117; 0,432)</a:t>
            </a:r>
          </a:p>
        </p:txBody>
      </p:sp>
      <p:sp>
        <p:nvSpPr>
          <p:cNvPr id="22" name="Oval 21"/>
          <p:cNvSpPr/>
          <p:nvPr/>
        </p:nvSpPr>
        <p:spPr>
          <a:xfrm>
            <a:off x="4917643" y="3034207"/>
            <a:ext cx="201168" cy="201168"/>
          </a:xfrm>
          <a:prstGeom prst="ellipse">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03627" y="2979343"/>
            <a:ext cx="2377440" cy="310896"/>
          </a:xfrm>
          <a:prstGeom prst="rect">
            <a:avLst/>
          </a:prstGeom>
          <a:noFill/>
        </p:spPr>
        <p:txBody>
          <a:bodyPr wrap="square" lIns="45720" rIns="45720" tIns="27432" bIns="27432" anchor="t">
            <a:spAutoFit/>
          </a:bodyPr>
          <a:lstStyle/>
          <a:p>
            <a:pPr algn="r"/>
            <a:r>
              <a:rPr sz="1100" b="1" i="0">
                <a:solidFill>
                  <a:srgbClr val="262626"/>
                </a:solidFill>
                <a:latin typeface="Arial"/>
              </a:rPr>
              <a:t>Cơ sở vật chất</a:t>
            </a:r>
            <a:r>
              <a:rPr sz="1100" b="0" i="0">
                <a:solidFill>
                  <a:srgbClr val="262626"/>
                </a:solidFill>
                <a:latin typeface="Arial"/>
              </a:rPr>
              <a:t> (3,973; 0,351)</a:t>
            </a:r>
          </a:p>
        </p:txBody>
      </p:sp>
      <p:sp>
        <p:nvSpPr>
          <p:cNvPr id="24" name="Oval 23"/>
          <p:cNvSpPr/>
          <p:nvPr/>
        </p:nvSpPr>
        <p:spPr>
          <a:xfrm>
            <a:off x="2185416" y="4573600"/>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23160" y="4518736"/>
            <a:ext cx="2377440" cy="310896"/>
          </a:xfrm>
          <a:prstGeom prst="rect">
            <a:avLst/>
          </a:prstGeom>
          <a:noFill/>
        </p:spPr>
        <p:txBody>
          <a:bodyPr wrap="square" lIns="45720" rIns="45720" tIns="27432" bIns="27432" anchor="t">
            <a:spAutoFit/>
          </a:bodyPr>
          <a:lstStyle/>
          <a:p>
            <a:pPr algn="l"/>
            <a:r>
              <a:rPr sz="1100" b="1" i="0">
                <a:solidFill>
                  <a:srgbClr val="262626"/>
                </a:solidFill>
                <a:latin typeface="Arial"/>
              </a:rPr>
              <a:t>Quy trình hành chính</a:t>
            </a:r>
            <a:r>
              <a:rPr sz="1100" b="0" i="0">
                <a:solidFill>
                  <a:srgbClr val="262626"/>
                </a:solidFill>
                <a:latin typeface="Arial"/>
              </a:rPr>
              <a:t> (3,475; 0,169)</a:t>
            </a:r>
          </a:p>
        </p:txBody>
      </p:sp>
      <p:sp>
        <p:nvSpPr>
          <p:cNvPr id="26" name="TextBox 25"/>
          <p:cNvSpPr txBox="1"/>
          <p:nvPr/>
        </p:nvSpPr>
        <p:spPr>
          <a:xfrm>
            <a:off x="1325880" y="5303520"/>
            <a:ext cx="5486400" cy="274320"/>
          </a:xfrm>
          <a:prstGeom prst="rect">
            <a:avLst/>
          </a:prstGeom>
          <a:noFill/>
        </p:spPr>
        <p:txBody>
          <a:bodyPr wrap="square" lIns="45720" rIns="45720" tIns="27432" bIns="27432" anchor="t">
            <a:spAutoFit/>
          </a:bodyPr>
          <a:lstStyle/>
          <a:p>
            <a:pPr algn="ctr"/>
            <a:r>
              <a:rPr sz="1050" b="0" i="0">
                <a:solidFill>
                  <a:srgbClr val="58595B"/>
                </a:solidFill>
                <a:latin typeface="Arial"/>
              </a:rPr>
              <a:t>Mức thực hiện (điểm trung bình; đường chia 3,86)</a:t>
            </a:r>
          </a:p>
        </p:txBody>
      </p:sp>
      <p:sp>
        <p:nvSpPr>
          <p:cNvPr id="27" name="TextBox 26"/>
          <p:cNvSpPr txBox="1"/>
          <p:nvPr/>
        </p:nvSpPr>
        <p:spPr>
          <a:xfrm>
            <a:off x="411480" y="1874519"/>
            <a:ext cx="822959" cy="3383280"/>
          </a:xfrm>
          <a:prstGeom prst="rect">
            <a:avLst/>
          </a:prstGeom>
          <a:noFill/>
        </p:spPr>
        <p:txBody>
          <a:bodyPr wrap="square" lIns="45720" rIns="45720" tIns="27432" bIns="27432" anchor="ctr">
            <a:spAutoFit/>
          </a:bodyPr>
          <a:lstStyle/>
          <a:p>
            <a:pPr algn="ctr"/>
            <a:r>
              <a:rPr sz="1050" b="0" i="0">
                <a:solidFill>
                  <a:srgbClr val="58595B"/>
                </a:solidFill>
                <a:latin typeface="Arial"/>
              </a:rPr>
              <a:t>Mức quan trọng (β; đường chia 0,317)</a:t>
            </a:r>
          </a:p>
        </p:txBody>
      </p:sp>
      <p:sp>
        <p:nvSpPr>
          <p:cNvPr id="28" name="TextBox 27"/>
          <p:cNvSpPr txBox="1"/>
          <p:nvPr/>
        </p:nvSpPr>
        <p:spPr>
          <a:xfrm>
            <a:off x="7178040" y="1783080"/>
            <a:ext cx="455371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ĐỌC MA TRẬN</a:t>
            </a:r>
          </a:p>
        </p:txBody>
      </p:sp>
      <p:cxnSp>
        <p:nvCxnSpPr>
          <p:cNvPr id="29" name="Connector 28"/>
          <p:cNvCxnSpPr/>
          <p:nvPr/>
        </p:nvCxnSpPr>
        <p:spPr>
          <a:xfrm>
            <a:off x="7178040" y="2103120"/>
            <a:ext cx="455371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717804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31" name="TextBox 30"/>
          <p:cNvSpPr txBox="1"/>
          <p:nvPr/>
        </p:nvSpPr>
        <p:spPr>
          <a:xfrm>
            <a:off x="7589519" y="21945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II:</a:t>
            </a:r>
            <a:r>
              <a:rPr sz="1250" b="0" i="0">
                <a:solidFill>
                  <a:srgbClr val="58595B"/>
                </a:solidFill>
                <a:latin typeface="Arial"/>
              </a:rPr>
              <a:t> thái độ nhân viên và cơ sở vật chất; trường cần duy trì.</a:t>
            </a:r>
          </a:p>
        </p:txBody>
      </p:sp>
      <p:sp>
        <p:nvSpPr>
          <p:cNvPr id="32" name="Oval 31"/>
          <p:cNvSpPr/>
          <p:nvPr/>
        </p:nvSpPr>
        <p:spPr>
          <a:xfrm>
            <a:off x="717804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33" name="TextBox 32"/>
          <p:cNvSpPr txBox="1"/>
          <p:nvPr/>
        </p:nvSpPr>
        <p:spPr>
          <a:xfrm>
            <a:off x="7589519" y="30518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Ô III:</a:t>
            </a:r>
            <a:r>
              <a:rPr sz="1250" b="0" i="0">
                <a:solidFill>
                  <a:srgbClr val="58595B"/>
                </a:solidFill>
                <a:latin typeface="Arial"/>
              </a:rPr>
              <a:t> quy trình hành chính có tác động yếu nhất và điểm thấp nhất.</a:t>
            </a:r>
          </a:p>
        </p:txBody>
      </p:sp>
      <p:sp>
        <p:nvSpPr>
          <p:cNvPr id="34" name="Oval 33"/>
          <p:cNvSpPr/>
          <p:nvPr/>
        </p:nvSpPr>
        <p:spPr>
          <a:xfrm>
            <a:off x="717804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35" name="TextBox 34"/>
          <p:cNvSpPr txBox="1"/>
          <p:nvPr/>
        </p:nvSpPr>
        <p:spPr>
          <a:xfrm>
            <a:off x="7589519" y="390906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Phán đoán thêm:</a:t>
            </a:r>
            <a:r>
              <a:rPr sz="1250" b="0" i="0">
                <a:solidFill>
                  <a:srgbClr val="58595B"/>
                </a:solidFill>
                <a:latin typeface="Arial"/>
              </a:rPr>
              <a:t> 3,48 là điểm thấp nhất; H3 vẫn được ủng hộ; câu hỏi mở có 42,9% nêu thời gian chờ.</a:t>
            </a:r>
          </a:p>
        </p:txBody>
      </p:sp>
      <p:sp>
        <p:nvSpPr>
          <p:cNvPr id="36" name="Oval 35"/>
          <p:cNvSpPr/>
          <p:nvPr/>
        </p:nvSpPr>
        <p:spPr>
          <a:xfrm>
            <a:off x="717804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37" name="TextBox 36"/>
          <p:cNvSpPr txBox="1"/>
          <p:nvPr/>
        </p:nvSpPr>
        <p:spPr>
          <a:xfrm>
            <a:off x="7589519" y="4766310"/>
            <a:ext cx="4142232" cy="857250"/>
          </a:xfrm>
          <a:prstGeom prst="rect">
            <a:avLst/>
          </a:prstGeom>
          <a:noFill/>
        </p:spPr>
        <p:txBody>
          <a:bodyPr wrap="square" lIns="45720" rIns="45720" tIns="27432" bIns="27432" anchor="t">
            <a:spAutoFit/>
          </a:bodyPr>
          <a:lstStyle/>
          <a:p>
            <a:pPr algn="l"/>
            <a:r>
              <a:rPr sz="1250" b="1" i="0">
                <a:solidFill>
                  <a:srgbClr val="58595B"/>
                </a:solidFill>
                <a:latin typeface="Arial"/>
              </a:rPr>
              <a:t>Cải tiến chi phí thấp:</a:t>
            </a:r>
            <a:r>
              <a:rPr sz="1250" b="0" i="0">
                <a:solidFill>
                  <a:srgbClr val="58595B"/>
                </a:solidFill>
                <a:latin typeface="Arial"/>
              </a:rPr>
              <a:t> niêm yết danh mục giấy tờ cho từng thủ tục; hẹn ngày trả kết quả bằng phiếu hẹn.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HÀM Ý QUẢN TRỊ</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Hàm ý đạt có năm phần: kết quả, hàm ý, hành động cụ thể, tác động mong đợi, điều kiện thực hiện</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Không đề xuất hàm ý cho yếu tố không có ý nghĩa thống kê như thể yếu tố đó có tác động; dùng "được kỳ vọng", không hứa chắc chắn.</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5.2.1 và 5.2.2</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56</a:t>
            </a:r>
          </a:p>
        </p:txBody>
      </p:sp>
      <p:sp>
        <p:nvSpPr>
          <p:cNvPr id="12" name="Rectangle 11"/>
          <p:cNvSpPr/>
          <p:nvPr/>
        </p:nvSpPr>
        <p:spPr>
          <a:xfrm>
            <a:off x="457200" y="1783080"/>
            <a:ext cx="5486400" cy="36576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CHƯA ĐẠT</a:t>
            </a:r>
          </a:p>
        </p:txBody>
      </p:sp>
      <p:sp>
        <p:nvSpPr>
          <p:cNvPr id="13" name="Rectangle 12"/>
          <p:cNvSpPr/>
          <p:nvPr/>
        </p:nvSpPr>
        <p:spPr>
          <a:xfrm>
            <a:off x="457200" y="2148840"/>
            <a:ext cx="5486400" cy="2103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40280"/>
            <a:ext cx="5212080" cy="1920240"/>
          </a:xfrm>
          <a:prstGeom prst="rect">
            <a:avLst/>
          </a:prstGeom>
          <a:noFill/>
        </p:spPr>
        <p:txBody>
          <a:bodyPr wrap="square" lIns="45720" rIns="45720" tIns="27432" bIns="27432" anchor="t">
            <a:spAutoFit/>
          </a:bodyPr>
          <a:lstStyle/>
          <a:p>
            <a:pPr algn="l"/>
            <a:r>
              <a:rPr sz="1150" b="0" i="1">
                <a:solidFill>
                  <a:srgbClr val="58595B"/>
                </a:solidFill>
                <a:latin typeface="Arial"/>
              </a:rPr>
              <a:t>"Ngân hàng X cần nâng cao chất lượng dịch vụ. Cần tăng cường truyền thông. Cần củng cố niềm tin. Cần làm ứng dụng dễ dùng hơn."</a:t>
            </a:r>
          </a:p>
        </p:txBody>
      </p:sp>
      <p:sp>
        <p:nvSpPr>
          <p:cNvPr id="15" name="Rectangle 14"/>
          <p:cNvSpPr/>
          <p:nvPr/>
        </p:nvSpPr>
        <p:spPr>
          <a:xfrm>
            <a:off x="6245352" y="1783080"/>
            <a:ext cx="5486400" cy="36576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l"/>
            <a:r>
              <a:rPr sz="1200" b="1" i="0">
                <a:solidFill>
                  <a:srgbClr val="FFFFFF"/>
                </a:solidFill>
                <a:latin typeface="Arial"/>
              </a:rPr>
              <a:t>ĐẠT</a:t>
            </a:r>
          </a:p>
        </p:txBody>
      </p:sp>
      <p:sp>
        <p:nvSpPr>
          <p:cNvPr id="16" name="Rectangle 15"/>
          <p:cNvSpPr/>
          <p:nvPr/>
        </p:nvSpPr>
        <p:spPr>
          <a:xfrm>
            <a:off x="6245352" y="2148840"/>
            <a:ext cx="5486400" cy="2103120"/>
          </a:xfrm>
          <a:prstGeom prst="rect">
            <a:avLst/>
          </a:prstGeom>
          <a:solidFill>
            <a:srgbClr val="FFFFFF"/>
          </a:solidFill>
          <a:ln w="9525">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240280"/>
            <a:ext cx="5212080" cy="1920240"/>
          </a:xfrm>
          <a:prstGeom prst="rect">
            <a:avLst/>
          </a:prstGeom>
          <a:noFill/>
        </p:spPr>
        <p:txBody>
          <a:bodyPr wrap="square" lIns="45720" rIns="45720" tIns="27432" bIns="27432" anchor="t">
            <a:spAutoFit/>
          </a:bodyPr>
          <a:lstStyle/>
          <a:p>
            <a:pPr algn="l"/>
            <a:r>
              <a:rPr sz="1150" b="0" i="1">
                <a:solidFill>
                  <a:srgbClr val="262626"/>
                </a:solidFill>
                <a:latin typeface="Arial"/>
              </a:rPr>
              <a:t>"Niềm tin là yếu tố cần ưu tiên số một: niềm tin có tác động mạnh thứ hai (β = 0,328) nhưng có điểm đánh giá thấp (3,41). Ngân hàng X nên công khai trên ứng dụng các biện pháp bảo vệ tài khoản, gửi thông báo tức thì cho mọi giao dịch và duy trì đường dây hỗ trợ khi khách hàng nghi ngờ gian lận. Các biện pháp này được kỳ vọng giúp khách hàng yên tâm hơn. Việc thực hiện cần sự phối hợp giữa bộ phận công nghệ thông tin và bộ phận chăm sóc khách hàng."</a:t>
            </a:r>
          </a:p>
        </p:txBody>
      </p:sp>
      <p:sp>
        <p:nvSpPr>
          <p:cNvPr id="18" name="TextBox 17"/>
          <p:cNvSpPr txBox="1"/>
          <p:nvPr/>
        </p:nvSpPr>
        <p:spPr>
          <a:xfrm>
            <a:off x="457200" y="4434840"/>
            <a:ext cx="2743200" cy="274320"/>
          </a:xfrm>
          <a:prstGeom prst="rect">
            <a:avLst/>
          </a:prstGeom>
          <a:noFill/>
        </p:spPr>
        <p:txBody>
          <a:bodyPr wrap="square" lIns="45720" rIns="45720" tIns="27432" bIns="27432" anchor="t">
            <a:spAutoFit/>
          </a:bodyPr>
          <a:lstStyle/>
          <a:p>
            <a:pPr algn="l"/>
            <a:r>
              <a:rPr sz="1000" b="1" i="0">
                <a:solidFill>
                  <a:srgbClr val="CC0000"/>
                </a:solidFill>
                <a:latin typeface="Arial"/>
              </a:rPr>
              <a:t>VÌ SAO BẢN CHƯA ĐẠT BỊ TRỪ ĐIỂM</a:t>
            </a:r>
          </a:p>
        </p:txBody>
      </p:sp>
      <p:cxnSp>
        <p:nvCxnSpPr>
          <p:cNvPr id="19" name="Connector 18"/>
          <p:cNvCxnSpPr/>
          <p:nvPr/>
        </p:nvCxnSpPr>
        <p:spPr>
          <a:xfrm>
            <a:off x="457200"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Không gắn kết quả.</a:t>
            </a:r>
            <a:r>
              <a:rPr sz="1200" b="0" i="0">
                <a:solidFill>
                  <a:srgbClr val="58595B"/>
                </a:solidFill>
                <a:latin typeface="Arial"/>
              </a:rPr>
              <a:t> Viết được mà không cần làm nghiên cứu; không có hệ số, không có thứ tự ưu tiên.</a:t>
            </a:r>
          </a:p>
        </p:txBody>
      </p:sp>
      <p:cxnSp>
        <p:nvCxnSpPr>
          <p:cNvPr id="21" name="Connector 20"/>
          <p:cNvCxnSpPr/>
          <p:nvPr/>
        </p:nvCxnSpPr>
        <p:spPr>
          <a:xfrm>
            <a:off x="4306824"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06824"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Mâu thuẫn Chương 4.</a:t>
            </a:r>
            <a:r>
              <a:rPr sz="1200" b="0" i="0">
                <a:solidFill>
                  <a:srgbClr val="58595B"/>
                </a:solidFill>
                <a:latin typeface="Arial"/>
              </a:rPr>
              <a:t> Câu cuối đề xuất đầu tư cho sự dễ sử dụng dù H2 không được ủng hộ.</a:t>
            </a:r>
          </a:p>
        </p:txBody>
      </p:sp>
      <p:cxnSp>
        <p:nvCxnSpPr>
          <p:cNvPr id="23" name="Connector 22"/>
          <p:cNvCxnSpPr/>
          <p:nvPr/>
        </p:nvCxnSpPr>
        <p:spPr>
          <a:xfrm>
            <a:off x="8156448" y="4782312"/>
            <a:ext cx="3575304"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56448" y="4818888"/>
            <a:ext cx="3575304" cy="822960"/>
          </a:xfrm>
          <a:prstGeom prst="rect">
            <a:avLst/>
          </a:prstGeom>
          <a:noFill/>
        </p:spPr>
        <p:txBody>
          <a:bodyPr wrap="square" lIns="45720" rIns="45720" tIns="27432" bIns="27432" anchor="t">
            <a:spAutoFit/>
          </a:bodyPr>
          <a:lstStyle/>
          <a:p>
            <a:pPr algn="l"/>
            <a:r>
              <a:rPr sz="1200" b="1" i="0">
                <a:solidFill>
                  <a:srgbClr val="58595B"/>
                </a:solidFill>
                <a:latin typeface="Arial"/>
              </a:rPr>
              <a:t>Không có hành động.</a:t>
            </a:r>
            <a:r>
              <a:rPr sz="1200" b="0" i="0">
                <a:solidFill>
                  <a:srgbClr val="58595B"/>
                </a:solidFill>
                <a:latin typeface="Arial"/>
              </a:rPr>
              <a:t> Bốn câu mệnh lệnh ngắn, không nói làm gì, ai làm, kỳ vọng điều gì.</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 HẠN CHẾ VÀ HƯỚNG NGHIÊN CỨU TIẾP THEO</a:t>
            </a:r>
          </a:p>
        </p:txBody>
      </p:sp>
      <p:sp>
        <p:nvSpPr>
          <p:cNvPr id="3" name="Rounded Rectangle 2"/>
          <p:cNvSpPr/>
          <p:nvPr/>
        </p:nvSpPr>
        <p:spPr>
          <a:xfrm>
            <a:off x="10739628" y="219456"/>
            <a:ext cx="992124" cy="310896"/>
          </a:xfrm>
          <a:prstGeom prst="roundRect">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950" b="1" i="0">
                <a:solidFill>
                  <a:srgbClr val="CC0000"/>
                </a:solidFill>
                <a:latin typeface="Arial"/>
              </a:rPr>
              <a:t>NGÂN HÀNG X</a:t>
            </a:r>
          </a:p>
        </p:txBody>
      </p:sp>
      <p:sp>
        <p:nvSpPr>
          <p:cNvPr id="4" name="TextBox 3"/>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Mỗi hạn chế nêu rõ ảnh hưởng đến cách hiểu kết quả và sinh ra đúng một hướng nghiên cứu tiếp theo</a:t>
            </a:r>
          </a:p>
        </p:txBody>
      </p:sp>
      <p:cxnSp>
        <p:nvCxnSpPr>
          <p:cNvPr id="5" name="Connector 4"/>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"Thời gian và kinh phí có hạn" là hoàn cảnh của người nghiên cứu, không phải hạn chế của thiết kế nghiên cứu; không dùng câu này.</a:t>
            </a:r>
          </a:p>
        </p:txBody>
      </p:sp>
      <p:sp>
        <p:nvSpPr>
          <p:cNvPr id="10" name="TextBox 9"/>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5.3.1 và 5.3.2, Bảng 44 và Hình 85</a:t>
            </a:r>
          </a:p>
        </p:txBody>
      </p:sp>
      <p:sp>
        <p:nvSpPr>
          <p:cNvPr id="11" name="TextBox 10"/>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57</a:t>
            </a:r>
          </a:p>
        </p:txBody>
      </p:sp>
      <p:graphicFrame>
        <p:nvGraphicFramePr>
          <p:cNvPr id="12" name="Table 11"/>
          <p:cNvGraphicFramePr>
            <a:graphicFrameLocks noGrp="1"/>
          </p:cNvGraphicFramePr>
          <p:nvPr/>
        </p:nvGraphicFramePr>
        <p:xfrm>
          <a:off x="457200" y="1783080"/>
          <a:ext cx="11274552" cy="3044952"/>
        </p:xfrm>
        <a:graphic>
          <a:graphicData uri="http://schemas.openxmlformats.org/drawingml/2006/table">
            <a:tbl>
              <a:tblPr firstRow="1" bandRow="1">
                <a:tableStyleId>{5C22544A-7EE6-4342-B048-85BDC9FD1C3A}</a:tableStyleId>
              </a:tblPr>
              <a:tblGrid>
                <a:gridCol w="1252728"/>
                <a:gridCol w="5010912"/>
                <a:gridCol w="5010912"/>
              </a:tblGrid>
              <a:tr h="411480">
                <a:tc>
                  <a:txBody>
                    <a:bodyPr wrap="square"/>
                    <a:lstStyle/>
                    <a:p>
                      <a:pPr algn="l"/>
                      <a:r>
                        <a:rPr sz="1200" b="1">
                          <a:solidFill>
                            <a:srgbClr val="FFFFFF"/>
                          </a:solidFill>
                          <a:latin typeface="Arial"/>
                        </a:rPr>
                        <a:t>Nguồn</a:t>
                      </a:r>
                    </a:p>
                  </a:txBody>
                  <a:tcPr marL="73152" marR="73152" marT="27432" marB="27432" anchor="ctr">
                    <a:solidFill>
                      <a:srgbClr val="262626"/>
                    </a:solidFill>
                  </a:tcPr>
                </a:tc>
                <a:tc>
                  <a:txBody>
                    <a:bodyPr wrap="square"/>
                    <a:lstStyle/>
                    <a:p>
                      <a:pPr algn="l"/>
                      <a:r>
                        <a:rPr sz="1200" b="1">
                          <a:solidFill>
                            <a:srgbClr val="FFFFFF"/>
                          </a:solidFill>
                          <a:latin typeface="Arial"/>
                        </a:rPr>
                        <a:t>Hạn chế (là gì, vì sao, ảnh hưởng)</a:t>
                      </a:r>
                    </a:p>
                  </a:txBody>
                  <a:tcPr marL="73152" marR="73152" marT="27432" marB="27432" anchor="ctr">
                    <a:solidFill>
                      <a:srgbClr val="262626"/>
                    </a:solidFill>
                  </a:tcPr>
                </a:tc>
                <a:tc>
                  <a:txBody>
                    <a:bodyPr wrap="square"/>
                    <a:lstStyle/>
                    <a:p>
                      <a:pPr algn="l"/>
                      <a:r>
                        <a:rPr sz="1200" b="1">
                          <a:solidFill>
                            <a:srgbClr val="FFFFFF"/>
                          </a:solidFill>
                          <a:latin typeface="Arial"/>
                        </a:rPr>
                        <a:t>Hướng nghiên cứu tiếp theo</a:t>
                      </a:r>
                    </a:p>
                  </a:txBody>
                  <a:tcPr marL="73152" marR="73152" marT="27432" marB="27432" anchor="ctr">
                    <a:solidFill>
                      <a:srgbClr val="262626"/>
                    </a:solidFill>
                  </a:tcPr>
                </a:tc>
              </a:tr>
              <a:tr h="658368">
                <a:tc>
                  <a:txBody>
                    <a:bodyPr wrap="square"/>
                    <a:lstStyle/>
                    <a:p>
                      <a:pPr algn="l"/>
                      <a:r>
                        <a:rPr sz="1200" b="0">
                          <a:solidFill>
                            <a:srgbClr val="262626"/>
                          </a:solidFill>
                          <a:latin typeface="Arial"/>
                        </a:rPr>
                        <a:t>Mẫu</a:t>
                      </a:r>
                    </a:p>
                  </a:txBody>
                  <a:tcPr marL="73152" marR="73152" marT="27432" marB="27432" anchor="ctr">
                    <a:solidFill>
                      <a:srgbClr val="FFFFFF"/>
                    </a:solidFill>
                  </a:tcPr>
                </a:tc>
                <a:tc>
                  <a:txBody>
                    <a:bodyPr wrap="square"/>
                    <a:lstStyle/>
                    <a:p>
                      <a:pPr algn="l"/>
                      <a:r>
                        <a:rPr sz="1200" b="0">
                          <a:solidFill>
                            <a:srgbClr val="262626"/>
                          </a:solidFill>
                          <a:latin typeface="Arial"/>
                        </a:rPr>
                        <a:t>Mẫu thuận tiện 150 khách hàng; kết quả chỉ gợi ý xu hướng cho tổng thể</a:t>
                      </a:r>
                    </a:p>
                  </a:txBody>
                  <a:tcPr marL="73152" marR="73152" marT="27432" marB="27432" anchor="ctr">
                    <a:solidFill>
                      <a:srgbClr val="FFFFFF"/>
                    </a:solidFill>
                  </a:tcPr>
                </a:tc>
                <a:tc>
                  <a:txBody>
                    <a:bodyPr wrap="square"/>
                    <a:lstStyle/>
                    <a:p>
                      <a:pPr algn="l"/>
                      <a:r>
                        <a:rPr sz="1200" b="0">
                          <a:solidFill>
                            <a:srgbClr val="262626"/>
                          </a:solidFill>
                          <a:latin typeface="Arial"/>
                        </a:rPr>
                        <a:t>Mở rộng ra nhiều chi nhánh; chọn mẫu phân tầng nếu có danh sách khách hàng</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Thiết kế</a:t>
                      </a:r>
                    </a:p>
                  </a:txBody>
                  <a:tcPr marL="73152" marR="73152" marT="27432" marB="27432" anchor="ctr">
                    <a:solidFill>
                      <a:srgbClr val="F3F3F3"/>
                    </a:solidFill>
                  </a:tcPr>
                </a:tc>
                <a:tc>
                  <a:txBody>
                    <a:bodyPr wrap="square"/>
                    <a:lstStyle/>
                    <a:p>
                      <a:pPr algn="l"/>
                      <a:r>
                        <a:rPr sz="1200" b="0">
                          <a:solidFill>
                            <a:srgbClr val="262626"/>
                          </a:solidFill>
                          <a:latin typeface="Arial"/>
                        </a:rPr>
                        <a:t>Khảo sát một thời điểm; chưa biết ý định thay đổi thế nào</a:t>
                      </a:r>
                    </a:p>
                  </a:txBody>
                  <a:tcPr marL="73152" marR="73152" marT="27432" marB="27432" anchor="ctr">
                    <a:solidFill>
                      <a:srgbClr val="F3F3F3"/>
                    </a:solidFill>
                  </a:tcPr>
                </a:tc>
                <a:tc>
                  <a:txBody>
                    <a:bodyPr wrap="square"/>
                    <a:lstStyle/>
                    <a:p>
                      <a:pPr algn="l"/>
                      <a:r>
                        <a:rPr sz="1200" b="0">
                          <a:solidFill>
                            <a:srgbClr val="262626"/>
                          </a:solidFill>
                          <a:latin typeface="Arial"/>
                        </a:rPr>
                        <a:t>Khảo sát lặp lại sau sáu tháng</a:t>
                      </a:r>
                    </a:p>
                  </a:txBody>
                  <a:tcPr marL="73152" marR="73152" marT="27432" marB="27432" anchor="ctr">
                    <a:solidFill>
                      <a:srgbClr val="F3F3F3"/>
                    </a:solidFill>
                  </a:tcPr>
                </a:tc>
              </a:tr>
              <a:tr h="658368">
                <a:tc>
                  <a:txBody>
                    <a:bodyPr wrap="square"/>
                    <a:lstStyle/>
                    <a:p>
                      <a:pPr algn="l"/>
                      <a:r>
                        <a:rPr sz="1200" b="0">
                          <a:solidFill>
                            <a:srgbClr val="262626"/>
                          </a:solidFill>
                          <a:latin typeface="Arial"/>
                        </a:rPr>
                        <a:t>Đo lường</a:t>
                      </a:r>
                    </a:p>
                  </a:txBody>
                  <a:tcPr marL="73152" marR="73152" marT="27432" marB="27432" anchor="ctr">
                    <a:solidFill>
                      <a:srgbClr val="FFFFFF"/>
                    </a:solidFill>
                  </a:tcPr>
                </a:tc>
                <a:tc>
                  <a:txBody>
                    <a:bodyPr wrap="square"/>
                    <a:lstStyle/>
                    <a:p>
                      <a:pPr algn="l"/>
                      <a:r>
                        <a:rPr sz="1200" b="0">
                          <a:solidFill>
                            <a:srgbClr val="262626"/>
                          </a:solidFill>
                          <a:latin typeface="Arial"/>
                        </a:rPr>
                        <a:t>Đo ý định, chưa đo hành vi sử dụng thật</a:t>
                      </a:r>
                    </a:p>
                  </a:txBody>
                  <a:tcPr marL="73152" marR="73152" marT="27432" marB="27432" anchor="ctr">
                    <a:solidFill>
                      <a:srgbClr val="FFFFFF"/>
                    </a:solidFill>
                  </a:tcPr>
                </a:tc>
                <a:tc>
                  <a:txBody>
                    <a:bodyPr wrap="square"/>
                    <a:lstStyle/>
                    <a:p>
                      <a:pPr algn="l"/>
                      <a:r>
                        <a:rPr sz="1200" b="0">
                          <a:solidFill>
                            <a:srgbClr val="262626"/>
                          </a:solidFill>
                          <a:latin typeface="Arial"/>
                        </a:rPr>
                        <a:t>Đối chiếu ý định với dữ liệu sử dụng ứng dụng thật sau ba tháng</a:t>
                      </a:r>
                    </a:p>
                  </a:txBody>
                  <a:tcPr marL="73152" marR="73152" marT="27432" marB="27432" anchor="ctr">
                    <a:solidFill>
                      <a:srgbClr val="FFFFFF"/>
                    </a:solidFill>
                  </a:tcPr>
                </a:tc>
              </a:tr>
              <a:tr h="658368">
                <a:tc>
                  <a:txBody>
                    <a:bodyPr wrap="square"/>
                    <a:lstStyle/>
                    <a:p>
                      <a:pPr algn="l"/>
                      <a:r>
                        <a:rPr sz="1200" b="0">
                          <a:solidFill>
                            <a:srgbClr val="262626"/>
                          </a:solidFill>
                          <a:latin typeface="Arial"/>
                        </a:rPr>
                        <a:t>Mô hình</a:t>
                      </a:r>
                    </a:p>
                  </a:txBody>
                  <a:tcPr marL="73152" marR="73152" marT="27432" marB="27432" anchor="ctr">
                    <a:solidFill>
                      <a:srgbClr val="F3F3F3"/>
                    </a:solidFill>
                  </a:tcPr>
                </a:tc>
                <a:tc>
                  <a:txBody>
                    <a:bodyPr wrap="square"/>
                    <a:lstStyle/>
                    <a:p>
                      <a:pPr algn="l"/>
                      <a:r>
                        <a:rPr sz="1200" b="0">
                          <a:solidFill>
                            <a:srgbClr val="262626"/>
                          </a:solidFill>
                          <a:latin typeface="Arial"/>
                        </a:rPr>
                        <a:t>Chỉ xét tác động trực tiếp; chưa xét quan hệ giữa SD và HI (sinh ra từ mục 4.5.3)</a:t>
                      </a:r>
                    </a:p>
                  </a:txBody>
                  <a:tcPr marL="73152" marR="73152" marT="27432" marB="27432" anchor="ctr">
                    <a:solidFill>
                      <a:srgbClr val="F3F3F3"/>
                    </a:solidFill>
                  </a:tcPr>
                </a:tc>
                <a:tc>
                  <a:txBody>
                    <a:bodyPr wrap="square"/>
                    <a:lstStyle/>
                    <a:p>
                      <a:pPr algn="l"/>
                      <a:r>
                        <a:rPr sz="1200" b="0">
                          <a:solidFill>
                            <a:srgbClr val="262626"/>
                          </a:solidFill>
                          <a:latin typeface="Arial"/>
                        </a:rPr>
                        <a:t>Kiểm định vai trò trung gian của sự hữu ích giữa sự dễ sử dụng và ý định</a:t>
                      </a:r>
                    </a:p>
                  </a:txBody>
                  <a:tcPr marL="73152" marR="73152" marT="27432" marB="27432" anchor="ctr">
                    <a:solidFill>
                      <a:srgbClr val="F3F3F3"/>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CHƯƠNG 5 VÀ KẾT LUẬN | NĂM KHÁI NIỆM DỄ LẪN</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Kết luận, đóng góp, hàm ý, kiến nghị và hạn chế trả lời năm câu hỏi khác nhau</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Kết luận nói điều đã thấy; đóng góp nói điều thêm vào hiểu biết; hàm ý và kiến nghị nói điều nên làm; hạn chế nói điều chưa chắc.</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5, mục 4, Bảng 45 và 46; mục "Tóm tắt khóa luận"</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58</a:t>
            </a:r>
          </a:p>
        </p:txBody>
      </p:sp>
      <p:graphicFrame>
        <p:nvGraphicFramePr>
          <p:cNvPr id="11" name="Table 10"/>
          <p:cNvGraphicFramePr>
            <a:graphicFrameLocks noGrp="1"/>
          </p:cNvGraphicFramePr>
          <p:nvPr/>
        </p:nvGraphicFramePr>
        <p:xfrm>
          <a:off x="457200" y="1783080"/>
          <a:ext cx="8229599" cy="3063240"/>
        </p:xfrm>
        <a:graphic>
          <a:graphicData uri="http://schemas.openxmlformats.org/drawingml/2006/table">
            <a:tbl>
              <a:tblPr firstRow="1" bandRow="1">
                <a:tableStyleId>{5C22544A-7EE6-4342-B048-85BDC9FD1C3A}</a:tableStyleId>
              </a:tblPr>
              <a:tblGrid>
                <a:gridCol w="1242203"/>
                <a:gridCol w="2639683"/>
                <a:gridCol w="4347713"/>
              </a:tblGrid>
              <a:tr h="411480">
                <a:tc>
                  <a:txBody>
                    <a:bodyPr wrap="square"/>
                    <a:lstStyle/>
                    <a:p>
                      <a:pPr algn="l"/>
                      <a:r>
                        <a:rPr sz="1200" b="1">
                          <a:solidFill>
                            <a:srgbClr val="FFFFFF"/>
                          </a:solidFill>
                          <a:latin typeface="Arial"/>
                        </a:rPr>
                        <a:t>Khái niệm</a:t>
                      </a:r>
                    </a:p>
                  </a:txBody>
                  <a:tcPr marL="73152" marR="73152" marT="27432" marB="27432" anchor="ctr">
                    <a:solidFill>
                      <a:srgbClr val="262626"/>
                    </a:solidFill>
                  </a:tcPr>
                </a:tc>
                <a:tc>
                  <a:txBody>
                    <a:bodyPr wrap="square"/>
                    <a:lstStyle/>
                    <a:p>
                      <a:pPr algn="l"/>
                      <a:r>
                        <a:rPr sz="1200" b="1">
                          <a:solidFill>
                            <a:srgbClr val="FFFFFF"/>
                          </a:solidFill>
                          <a:latin typeface="Arial"/>
                        </a:rPr>
                        <a:t>Trả lời câu hỏi</a:t>
                      </a:r>
                    </a:p>
                  </a:txBody>
                  <a:tcPr marL="73152" marR="73152" marT="27432" marB="27432" anchor="ctr">
                    <a:solidFill>
                      <a:srgbClr val="262626"/>
                    </a:solidFill>
                  </a:tcPr>
                </a:tc>
                <a:tc>
                  <a:txBody>
                    <a:bodyPr wrap="square"/>
                    <a:lstStyle/>
                    <a:p>
                      <a:pPr algn="l"/>
                      <a:r>
                        <a:rPr sz="1200" b="1">
                          <a:solidFill>
                            <a:srgbClr val="FFFFFF"/>
                          </a:solidFill>
                          <a:latin typeface="Arial"/>
                        </a:rPr>
                        <a:t>Ví dụ Ngân hàng X</a:t>
                      </a:r>
                    </a:p>
                  </a:txBody>
                  <a:tcPr marL="73152" marR="73152" marT="27432" marB="27432" anchor="ctr">
                    <a:solidFill>
                      <a:srgbClr val="262626"/>
                    </a:solidFill>
                  </a:tcPr>
                </a:tc>
              </a:tr>
              <a:tr h="530352">
                <a:tc>
                  <a:txBody>
                    <a:bodyPr wrap="square"/>
                    <a:lstStyle/>
                    <a:p>
                      <a:pPr algn="l"/>
                      <a:r>
                        <a:rPr sz="1200" b="0">
                          <a:solidFill>
                            <a:srgbClr val="262626"/>
                          </a:solidFill>
                          <a:latin typeface="Arial"/>
                        </a:rPr>
                        <a:t>Kết luận</a:t>
                      </a:r>
                    </a:p>
                  </a:txBody>
                  <a:tcPr marL="73152" marR="73152" marT="27432" marB="27432" anchor="ctr">
                    <a:solidFill>
                      <a:srgbClr val="FFFFFF"/>
                    </a:solidFill>
                  </a:tcPr>
                </a:tc>
                <a:tc>
                  <a:txBody>
                    <a:bodyPr wrap="square"/>
                    <a:lstStyle/>
                    <a:p>
                      <a:pPr algn="l"/>
                      <a:r>
                        <a:rPr sz="1200" b="0">
                          <a:solidFill>
                            <a:srgbClr val="262626"/>
                          </a:solidFill>
                          <a:latin typeface="Arial"/>
                        </a:rPr>
                        <a:t>Dữ liệu đã cho thấy điều gì?</a:t>
                      </a:r>
                    </a:p>
                  </a:txBody>
                  <a:tcPr marL="73152" marR="73152" marT="27432" marB="27432" anchor="ctr">
                    <a:solidFill>
                      <a:srgbClr val="FFFFFF"/>
                    </a:solidFill>
                  </a:tcPr>
                </a:tc>
                <a:tc>
                  <a:txBody>
                    <a:bodyPr wrap="square"/>
                    <a:lstStyle/>
                    <a:p>
                      <a:pPr algn="l"/>
                      <a:r>
                        <a:rPr sz="1200" b="0">
                          <a:solidFill>
                            <a:srgbClr val="262626"/>
                          </a:solidFill>
                          <a:latin typeface="Arial"/>
                        </a:rPr>
                        <a:t>Sự hữu ích, niềm tin, ảnh hưởng xã hội có tác động cùng chiều; mô hình giải thích 53,7%</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Đóng góp</a:t>
                      </a:r>
                    </a:p>
                  </a:txBody>
                  <a:tcPr marL="73152" marR="73152" marT="27432" marB="27432" anchor="ctr">
                    <a:solidFill>
                      <a:srgbClr val="F3F3F3"/>
                    </a:solidFill>
                  </a:tcPr>
                </a:tc>
                <a:tc>
                  <a:txBody>
                    <a:bodyPr wrap="square"/>
                    <a:lstStyle/>
                    <a:p>
                      <a:pPr algn="l"/>
                      <a:r>
                        <a:rPr sz="1200" b="0">
                          <a:solidFill>
                            <a:srgbClr val="262626"/>
                          </a:solidFill>
                          <a:latin typeface="Arial"/>
                        </a:rPr>
                        <a:t>Kết quả thêm gì cho hiểu biết hiện có?</a:t>
                      </a:r>
                    </a:p>
                  </a:txBody>
                  <a:tcPr marL="73152" marR="73152" marT="27432" marB="27432" anchor="ctr">
                    <a:solidFill>
                      <a:srgbClr val="F3F3F3"/>
                    </a:solidFill>
                  </a:tcPr>
                </a:tc>
                <a:tc>
                  <a:txBody>
                    <a:bodyPr wrap="square"/>
                    <a:lstStyle/>
                    <a:p>
                      <a:pPr algn="l"/>
                      <a:r>
                        <a:rPr sz="1200" b="0">
                          <a:solidFill>
                            <a:srgbClr val="262626"/>
                          </a:solidFill>
                          <a:latin typeface="Arial"/>
                        </a:rPr>
                        <a:t>Bổ sung bằng chứng cho vai trò trung tâm của sự hữu ích trong TAM (β = 0,394)</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Hàm ý</a:t>
                      </a:r>
                    </a:p>
                  </a:txBody>
                  <a:tcPr marL="73152" marR="73152" marT="27432" marB="27432" anchor="ctr">
                    <a:solidFill>
                      <a:srgbClr val="FFFFFF"/>
                    </a:solidFill>
                  </a:tcPr>
                </a:tc>
                <a:tc>
                  <a:txBody>
                    <a:bodyPr wrap="square"/>
                    <a:lstStyle/>
                    <a:p>
                      <a:pPr algn="l"/>
                      <a:r>
                        <a:rPr sz="1200" b="0">
                          <a:solidFill>
                            <a:srgbClr val="262626"/>
                          </a:solidFill>
                          <a:latin typeface="Arial"/>
                        </a:rPr>
                        <a:t>Ai nên làm gì, dựa trên kết quả nào?</a:t>
                      </a:r>
                    </a:p>
                  </a:txBody>
                  <a:tcPr marL="73152" marR="73152" marT="27432" marB="27432" anchor="ctr">
                    <a:solidFill>
                      <a:srgbClr val="FFFFFF"/>
                    </a:solidFill>
                  </a:tcPr>
                </a:tc>
                <a:tc>
                  <a:txBody>
                    <a:bodyPr wrap="square"/>
                    <a:lstStyle/>
                    <a:p>
                      <a:pPr algn="l"/>
                      <a:r>
                        <a:rPr sz="1200" b="0">
                          <a:solidFill>
                            <a:srgbClr val="262626"/>
                          </a:solidFill>
                          <a:latin typeface="Arial"/>
                        </a:rPr>
                        <a:t>Ưu tiên củng cố niềm tin vì β = 0,328 và điểm 3,41</a:t>
                      </a:r>
                    </a:p>
                  </a:txBody>
                  <a:tcPr marL="73152" marR="73152" marT="27432" marB="27432" anchor="ctr">
                    <a:solidFill>
                      <a:srgbClr val="FFFFFF"/>
                    </a:solidFill>
                  </a:tcPr>
                </a:tc>
              </a:tr>
              <a:tr h="530352">
                <a:tc>
                  <a:txBody>
                    <a:bodyPr wrap="square"/>
                    <a:lstStyle/>
                    <a:p>
                      <a:pPr algn="l"/>
                      <a:r>
                        <a:rPr sz="1200" b="0">
                          <a:solidFill>
                            <a:srgbClr val="262626"/>
                          </a:solidFill>
                          <a:latin typeface="Arial"/>
                        </a:rPr>
                        <a:t>Kiến nghị</a:t>
                      </a:r>
                    </a:p>
                  </a:txBody>
                  <a:tcPr marL="73152" marR="73152" marT="27432" marB="27432" anchor="ctr">
                    <a:solidFill>
                      <a:srgbClr val="F3F3F3"/>
                    </a:solidFill>
                  </a:tcPr>
                </a:tc>
                <a:tc>
                  <a:txBody>
                    <a:bodyPr wrap="square"/>
                    <a:lstStyle/>
                    <a:p>
                      <a:pPr algn="l"/>
                      <a:r>
                        <a:rPr sz="1200" b="0">
                          <a:solidFill>
                            <a:srgbClr val="262626"/>
                          </a:solidFill>
                          <a:latin typeface="Arial"/>
                        </a:rPr>
                        <a:t>Đề xuất hành động cụ thể</a:t>
                      </a:r>
                    </a:p>
                  </a:txBody>
                  <a:tcPr marL="73152" marR="73152" marT="27432" marB="27432" anchor="ctr">
                    <a:solidFill>
                      <a:srgbClr val="F3F3F3"/>
                    </a:solidFill>
                  </a:tcPr>
                </a:tc>
                <a:tc>
                  <a:txBody>
                    <a:bodyPr wrap="square"/>
                    <a:lstStyle/>
                    <a:p>
                      <a:pPr algn="l"/>
                      <a:r>
                        <a:rPr sz="1200" b="0">
                          <a:solidFill>
                            <a:srgbClr val="262626"/>
                          </a:solidFill>
                          <a:latin typeface="Arial"/>
                        </a:rPr>
                        <a:t>Thông báo tức thì mọi giao dịch; đường dây hỗ trợ</a:t>
                      </a:r>
                    </a:p>
                  </a:txBody>
                  <a:tcPr marL="73152" marR="73152" marT="27432" marB="27432" anchor="ctr">
                    <a:solidFill>
                      <a:srgbClr val="F3F3F3"/>
                    </a:solidFill>
                  </a:tcPr>
                </a:tc>
              </a:tr>
              <a:tr h="530352">
                <a:tc>
                  <a:txBody>
                    <a:bodyPr wrap="square"/>
                    <a:lstStyle/>
                    <a:p>
                      <a:pPr algn="l"/>
                      <a:r>
                        <a:rPr sz="1200" b="0">
                          <a:solidFill>
                            <a:srgbClr val="262626"/>
                          </a:solidFill>
                          <a:latin typeface="Arial"/>
                        </a:rPr>
                        <a:t>Hạn chế</a:t>
                      </a:r>
                    </a:p>
                  </a:txBody>
                  <a:tcPr marL="73152" marR="73152" marT="27432" marB="27432" anchor="ctr">
                    <a:solidFill>
                      <a:srgbClr val="FFFFFF"/>
                    </a:solidFill>
                  </a:tcPr>
                </a:tc>
                <a:tc>
                  <a:txBody>
                    <a:bodyPr wrap="square"/>
                    <a:lstStyle/>
                    <a:p>
                      <a:pPr algn="l"/>
                      <a:r>
                        <a:rPr sz="1200" b="0">
                          <a:solidFill>
                            <a:srgbClr val="262626"/>
                          </a:solidFill>
                          <a:latin typeface="Arial"/>
                        </a:rPr>
                        <a:t>Điều gì còn chưa chắc chắn?</a:t>
                      </a:r>
                    </a:p>
                  </a:txBody>
                  <a:tcPr marL="73152" marR="73152" marT="27432" marB="27432" anchor="ctr">
                    <a:solidFill>
                      <a:srgbClr val="FFFFFF"/>
                    </a:solidFill>
                  </a:tcPr>
                </a:tc>
                <a:tc>
                  <a:txBody>
                    <a:bodyPr wrap="square"/>
                    <a:lstStyle/>
                    <a:p>
                      <a:pPr algn="l"/>
                      <a:r>
                        <a:rPr sz="1200" b="0">
                          <a:solidFill>
                            <a:srgbClr val="262626"/>
                          </a:solidFill>
                          <a:latin typeface="Arial"/>
                        </a:rPr>
                        <a:t>Mẫu thuận tiện tại một ngân hàng; chỉ đo ý định</a:t>
                      </a:r>
                    </a:p>
                  </a:txBody>
                  <a:tcPr marL="73152" marR="73152" marT="27432" marB="27432" anchor="ctr">
                    <a:solidFill>
                      <a:srgbClr val="FFFFFF"/>
                    </a:solidFill>
                  </a:tcPr>
                </a:tc>
              </a:tr>
            </a:tbl>
          </a:graphicData>
        </a:graphic>
      </p:graphicFrame>
      <p:sp>
        <p:nvSpPr>
          <p:cNvPr id="12" name="TextBox 11"/>
          <p:cNvSpPr txBox="1"/>
          <p:nvPr/>
        </p:nvSpPr>
        <p:spPr>
          <a:xfrm>
            <a:off x="8961120" y="1783080"/>
            <a:ext cx="2770631" cy="274320"/>
          </a:xfrm>
          <a:prstGeom prst="rect">
            <a:avLst/>
          </a:prstGeom>
          <a:noFill/>
        </p:spPr>
        <p:txBody>
          <a:bodyPr wrap="square" lIns="45720" rIns="45720" tIns="27432" bIns="27432" anchor="t">
            <a:spAutoFit/>
          </a:bodyPr>
          <a:lstStyle/>
          <a:p>
            <a:pPr algn="l"/>
            <a:r>
              <a:rPr sz="1000" b="1" i="0">
                <a:solidFill>
                  <a:srgbClr val="CC0000"/>
                </a:solidFill>
                <a:latin typeface="Arial"/>
              </a:rPr>
              <a:t>MỘT LỖI CON SỐ</a:t>
            </a:r>
          </a:p>
        </p:txBody>
      </p:sp>
      <p:cxnSp>
        <p:nvCxnSpPr>
          <p:cNvPr id="13" name="Connector 12"/>
          <p:cNvCxnSpPr/>
          <p:nvPr/>
        </p:nvCxnSpPr>
        <p:spPr>
          <a:xfrm>
            <a:off x="8961120" y="2103120"/>
            <a:ext cx="27706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961120" y="2167128"/>
            <a:ext cx="2770631" cy="3383280"/>
          </a:xfrm>
          <a:prstGeom prst="rect">
            <a:avLst/>
          </a:prstGeom>
          <a:noFill/>
        </p:spPr>
        <p:txBody>
          <a:bodyPr wrap="square" lIns="45720" rIns="45720" tIns="27432" bIns="27432" anchor="t">
            <a:spAutoFit/>
          </a:bodyPr>
          <a:lstStyle/>
          <a:p>
            <a:pPr algn="l"/>
            <a:r>
              <a:rPr sz="1200" b="0" i="0">
                <a:solidFill>
                  <a:srgbClr val="58595B"/>
                </a:solidFill>
                <a:latin typeface="Arial"/>
              </a:rPr>
              <a:t>Lỗi hay gặp nhất khi viết tóm tắt: </a:t>
            </a:r>
            <a:r>
              <a:rPr sz="1200" b="1" i="0">
                <a:solidFill>
                  <a:srgbClr val="58595B"/>
                </a:solidFill>
                <a:latin typeface="Arial"/>
              </a:rPr>
              <a:t>"ba yếu tố giải thích 53,7%"</a:t>
            </a:r>
            <a:r>
              <a:rPr sz="1200" b="0" i="0">
                <a:solidFill>
                  <a:srgbClr val="58595B"/>
                </a:solidFill>
                <a:latin typeface="Arial"/>
              </a:rPr>
              <a:t>.</a:t>
            </a:r>
          </a:p>
          <a:p>
            <a:pPr algn="l">
              <a:spcBef>
                <a:spcPts val="540"/>
              </a:spcBef>
            </a:pPr>
          </a:p>
          <a:p>
            <a:pPr algn="l">
              <a:spcBef>
                <a:spcPts val="540"/>
              </a:spcBef>
            </a:pPr>
            <a:r>
              <a:rPr sz="1200" b="0" i="0">
                <a:solidFill>
                  <a:srgbClr val="58595B"/>
                </a:solidFill>
                <a:latin typeface="Arial"/>
              </a:rPr>
              <a:t>53,7% là R² của cả mô hình bốn yếu tố, gồm cả sự dễ sử dụng; R² không thuộc riêng các biến có ý nghĩa.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148840"/>
            <a:ext cx="109728" cy="21945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2011680"/>
            <a:ext cx="9144000" cy="914400"/>
          </a:xfrm>
          <a:prstGeom prst="rect">
            <a:avLst/>
          </a:prstGeom>
          <a:noFill/>
        </p:spPr>
        <p:txBody>
          <a:bodyPr wrap="square" lIns="45720" rIns="45720" tIns="27432" bIns="27432" anchor="t">
            <a:spAutoFit/>
          </a:bodyPr>
          <a:lstStyle/>
          <a:p>
            <a:pPr algn="l"/>
            <a:r>
              <a:rPr sz="6000" b="1" i="0">
                <a:solidFill>
                  <a:srgbClr val="CC0000"/>
                </a:solidFill>
                <a:latin typeface="Arial"/>
              </a:rPr>
              <a:t>07</a:t>
            </a:r>
          </a:p>
        </p:txBody>
      </p:sp>
      <p:sp>
        <p:nvSpPr>
          <p:cNvPr id="5" name="TextBox 4"/>
          <p:cNvSpPr txBox="1"/>
          <p:nvPr/>
        </p:nvSpPr>
        <p:spPr>
          <a:xfrm>
            <a:off x="1051560" y="2926080"/>
            <a:ext cx="10058400" cy="914400"/>
          </a:xfrm>
          <a:prstGeom prst="rect">
            <a:avLst/>
          </a:prstGeom>
          <a:noFill/>
        </p:spPr>
        <p:txBody>
          <a:bodyPr wrap="square" lIns="45720" rIns="45720" tIns="27432" bIns="27432" anchor="t">
            <a:spAutoFit/>
          </a:bodyPr>
          <a:lstStyle/>
          <a:p>
            <a:pPr algn="l"/>
            <a:r>
              <a:rPr sz="3400" b="1" i="0">
                <a:solidFill>
                  <a:srgbClr val="FFFFFF"/>
                </a:solidFill>
                <a:latin typeface="Arial"/>
              </a:rPr>
              <a:t>Hoàn thiện, nộp và bảo vệ</a:t>
            </a:r>
          </a:p>
        </p:txBody>
      </p:sp>
      <p:sp>
        <p:nvSpPr>
          <p:cNvPr id="6" name="TextBox 5"/>
          <p:cNvSpPr txBox="1"/>
          <p:nvPr/>
        </p:nvSpPr>
        <p:spPr>
          <a:xfrm>
            <a:off x="1051560" y="3794760"/>
            <a:ext cx="10058400" cy="822960"/>
          </a:xfrm>
          <a:prstGeom prst="rect">
            <a:avLst/>
          </a:prstGeom>
          <a:noFill/>
        </p:spPr>
        <p:txBody>
          <a:bodyPr wrap="square" lIns="45720" rIns="45720" tIns="27432" bIns="27432" anchor="t">
            <a:spAutoFit/>
          </a:bodyPr>
          <a:lstStyle/>
          <a:p>
            <a:pPr algn="l"/>
            <a:r>
              <a:rPr sz="1600" b="0" i="0">
                <a:solidFill>
                  <a:srgbClr val="D9D9D9"/>
                </a:solidFill>
                <a:latin typeface="Arial"/>
              </a:rPr>
              <a:t>Các phần kết thúc không tạo ra kết quả mới nhưng quyết định kết quả được đọc, được kiểm tra và được tin như thế nào</a:t>
            </a:r>
          </a:p>
        </p:txBody>
      </p:sp>
      <p:sp>
        <p:nvSpPr>
          <p:cNvPr id="7" name="TextBox 6"/>
          <p:cNvSpPr txBox="1"/>
          <p:nvPr/>
        </p:nvSpPr>
        <p:spPr>
          <a:xfrm>
            <a:off x="1051560" y="5943600"/>
            <a:ext cx="10058400" cy="365760"/>
          </a:xfrm>
          <a:prstGeom prst="rect">
            <a:avLst/>
          </a:prstGeom>
          <a:noFill/>
        </p:spPr>
        <p:txBody>
          <a:bodyPr wrap="square" lIns="45720" rIns="45720" tIns="27432" bIns="27432" anchor="t">
            <a:spAutoFit/>
          </a:bodyPr>
          <a:lstStyle/>
          <a:p>
            <a:pPr algn="l"/>
            <a:r>
              <a:rPr sz="1200" b="0" i="0">
                <a:solidFill>
                  <a:srgbClr val="9E9E9E"/>
                </a:solidFill>
                <a:latin typeface="Arial"/>
              </a:rPr>
              <a:t>Thời lượng ước tính: 16 phút | 5 slide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HOÀN THIỆN | TÀI LIỆU THAM KHẢO, PHỤ LỤC, TRÌNH BÀY</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Trích dẫn và danh mục đi thành cặp; trình bày thống nhất đến từ Styles, không từ chỉnh tay</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Phụ lục chứa danh sách 150 khách hàng có họ tên và số điện thoại là vi phạm cam kết bảo mật đã nêu trong bảng hỏi.</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Tài liệu tham khảo và phụ lục; chương Trình bày khóa luận; Hình 87</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60</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Tài liệu tham khảo</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Mỗi trích dẫn trong bài có một mục trong danh mục và ngược lại.</a:t>
            </a:r>
          </a:p>
          <a:p>
            <a:pPr algn="l">
              <a:spcBef>
                <a:spcPts val="585"/>
              </a:spcBef>
            </a:pPr>
          </a:p>
          <a:p>
            <a:pPr algn="l">
              <a:spcBef>
                <a:spcPts val="585"/>
              </a:spcBef>
            </a:pPr>
            <a:r>
              <a:rPr sz="1300" b="0" i="0">
                <a:solidFill>
                  <a:srgbClr val="58595B"/>
                </a:solidFill>
                <a:latin typeface="Arial"/>
              </a:rPr>
              <a:t>Bài báo ghi </a:t>
            </a:r>
            <a:r>
              <a:rPr sz="1300" b="1" i="0">
                <a:solidFill>
                  <a:srgbClr val="58595B"/>
                </a:solidFill>
                <a:latin typeface="Arial"/>
              </a:rPr>
              <a:t>tập trước, số sau:</a:t>
            </a:r>
            <a:r>
              <a:rPr sz="1300" b="0" i="0">
                <a:solidFill>
                  <a:srgbClr val="58595B"/>
                </a:solidFill>
                <a:latin typeface="Arial"/>
              </a:rPr>
              <a:t> 13(3).</a:t>
            </a:r>
          </a:p>
          <a:p>
            <a:pPr algn="l">
              <a:spcBef>
                <a:spcPts val="585"/>
              </a:spcBef>
            </a:pPr>
          </a:p>
          <a:p>
            <a:pPr algn="l">
              <a:spcBef>
                <a:spcPts val="585"/>
              </a:spcBef>
            </a:pPr>
            <a:r>
              <a:rPr sz="1300" b="0" i="0">
                <a:solidFill>
                  <a:srgbClr val="58595B"/>
                </a:solidFill>
                <a:latin typeface="Arial"/>
              </a:rPr>
              <a:t>Nhiều trường yêu cầu tách tài liệu tiếng Việt xếp trước.</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Phụ lục</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Đánh số theo thứ tự được nhắc lần đầu trong bài.</a:t>
            </a:r>
          </a:p>
          <a:p>
            <a:pPr algn="l">
              <a:spcBef>
                <a:spcPts val="585"/>
              </a:spcBef>
            </a:pPr>
          </a:p>
          <a:p>
            <a:pPr algn="l">
              <a:spcBef>
                <a:spcPts val="585"/>
              </a:spcBef>
            </a:pPr>
            <a:r>
              <a:rPr sz="1300" b="0" i="0">
                <a:solidFill>
                  <a:srgbClr val="58595B"/>
                </a:solidFill>
                <a:latin typeface="Arial"/>
              </a:rPr>
              <a:t>Dán bảng Word, không dán ảnh chụp Excel.</a:t>
            </a:r>
          </a:p>
          <a:p>
            <a:pPr algn="l">
              <a:spcBef>
                <a:spcPts val="585"/>
              </a:spcBef>
            </a:pPr>
          </a:p>
          <a:p>
            <a:pPr algn="l">
              <a:spcBef>
                <a:spcPts val="585"/>
              </a:spcBef>
            </a:pPr>
            <a:r>
              <a:rPr sz="1300" b="1" i="0">
                <a:solidFill>
                  <a:srgbClr val="58595B"/>
                </a:solidFill>
                <a:latin typeface="Arial"/>
              </a:rPr>
              <a:t>Không có thông tin nhận diện</a:t>
            </a:r>
            <a:r>
              <a:rPr sz="1300" b="0" i="0">
                <a:solidFill>
                  <a:srgbClr val="58595B"/>
                </a:solidFill>
                <a:latin typeface="Arial"/>
              </a:rPr>
              <a:t> người tham gia: không họ tên, số điện thoại.</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Trình bày</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300" b="0" i="0">
                <a:solidFill>
                  <a:srgbClr val="58595B"/>
                </a:solidFill>
                <a:latin typeface="Arial"/>
              </a:rPr>
              <a:t>Cài Style Normal và Heading 1, 2, 3 một lần; dán văn bản không kèm định dạng.</a:t>
            </a:r>
          </a:p>
          <a:p>
            <a:pPr algn="l">
              <a:spcBef>
                <a:spcPts val="585"/>
              </a:spcBef>
            </a:pPr>
          </a:p>
          <a:p>
            <a:pPr algn="l">
              <a:spcBef>
                <a:spcPts val="585"/>
              </a:spcBef>
            </a:pPr>
            <a:r>
              <a:rPr sz="1300" b="0" i="0">
                <a:solidFill>
                  <a:srgbClr val="58595B"/>
                </a:solidFill>
                <a:latin typeface="Arial"/>
              </a:rPr>
              <a:t>Tên bảng bằng Insert Caption; nhắc bảng bằng Cross-reference.</a:t>
            </a:r>
          </a:p>
          <a:p>
            <a:pPr algn="l">
              <a:spcBef>
                <a:spcPts val="585"/>
              </a:spcBef>
            </a:pPr>
          </a:p>
          <a:p>
            <a:pPr algn="l">
              <a:spcBef>
                <a:spcPts val="585"/>
              </a:spcBef>
            </a:pPr>
            <a:r>
              <a:rPr sz="1300" b="0" i="0">
                <a:solidFill>
                  <a:srgbClr val="58595B"/>
                </a:solidFill>
                <a:latin typeface="Arial"/>
              </a:rPr>
              <a:t>Ctrl + A, F9 rồi </a:t>
            </a:r>
            <a:r>
              <a:rPr sz="1300" b="1" i="0">
                <a:solidFill>
                  <a:srgbClr val="58595B"/>
                </a:solidFill>
                <a:latin typeface="Arial"/>
              </a:rPr>
              <a:t>kiểm tra trên PDF</a:t>
            </a:r>
            <a:r>
              <a:rPr sz="1300" b="0" i="0">
                <a:solidFill>
                  <a:srgbClr val="58595B"/>
                </a:solidFill>
                <a:latin typeface="Arial"/>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KIỂM TRA TRƯỚC KHI NỘP</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Tỷ lệ trùng lặp là con số cần đọc và giải thích; nó không tự chứng minh có hay không có đạo văn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Câu "15%, dưới ngưỡng 20% nên khóa luận không đạo văn" sai: một đoạn ngắn chép không ghi nguồn vẫn là vi phạm.</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Kiểm tra trước khi nộp, Bảng 54 đến 57; Turnitin (n.d.); Creswell và Creswell (2018, tr. 153)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61</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Kiểm tra theo cặp điểm nối</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Đọc lướt dễ bỏ sót vì người viết quen văn bản của mình.</a:t>
            </a:r>
          </a:p>
          <a:p>
            <a:pPr algn="l">
              <a:spcBef>
                <a:spcPts val="562"/>
              </a:spcBef>
            </a:pPr>
          </a:p>
          <a:p>
            <a:pPr algn="l">
              <a:spcBef>
                <a:spcPts val="562"/>
              </a:spcBef>
            </a:pPr>
            <a:r>
              <a:rPr sz="1250" b="0" i="0">
                <a:solidFill>
                  <a:srgbClr val="58595B"/>
                </a:solidFill>
                <a:latin typeface="Arial"/>
              </a:rPr>
              <a:t>Đối chiếu sáu cặp điểm nối; dò từng con số với file Excel bằng Find.</a:t>
            </a:r>
          </a:p>
          <a:p>
            <a:pPr algn="l">
              <a:spcBef>
                <a:spcPts val="562"/>
              </a:spcBef>
            </a:pPr>
          </a:p>
          <a:p>
            <a:pPr algn="l">
              <a:spcBef>
                <a:spcPts val="562"/>
              </a:spcBef>
            </a:pPr>
            <a:r>
              <a:rPr sz="1250" b="0" i="0">
                <a:solidFill>
                  <a:srgbClr val="58595B"/>
                </a:solidFill>
                <a:latin typeface="Arial"/>
              </a:rPr>
              <a:t>Đặt hạn nộp cho bản thân sớm hơn hạn thật ít nhất ba ngày.</a:t>
            </a:r>
          </a:p>
        </p:txBody>
      </p:sp>
      <p:sp>
        <p:nvSpPr>
          <p:cNvPr id="15" name="Rectangle 14"/>
          <p:cNvSpPr/>
          <p:nvPr/>
        </p:nvSpPr>
        <p:spPr>
          <a:xfrm>
            <a:off x="4306824"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Kiểm tra trùng lặp</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Turnitin nêu rõ phần mềm không kiểm tra đạo văn; mỗi trường tự quy định ngưỡng.</a:t>
            </a:r>
          </a:p>
          <a:p>
            <a:pPr algn="l">
              <a:spcBef>
                <a:spcPts val="562"/>
              </a:spcBef>
            </a:pPr>
          </a:p>
          <a:p>
            <a:pPr algn="l">
              <a:spcBef>
                <a:spcPts val="562"/>
              </a:spcBef>
            </a:pPr>
            <a:r>
              <a:rPr sz="1250" b="0" i="0">
                <a:solidFill>
                  <a:srgbClr val="58595B"/>
                </a:solidFill>
                <a:latin typeface="Arial"/>
              </a:rPr>
              <a:t>Đọc từng đoạn được đánh dấu; đoạn thiếu nguồn thì viết lại và giữ trích dẫn.</a:t>
            </a:r>
          </a:p>
          <a:p>
            <a:pPr algn="l">
              <a:spcBef>
                <a:spcPts val="562"/>
              </a:spcBef>
            </a:pPr>
          </a:p>
          <a:p>
            <a:pPr algn="l">
              <a:spcBef>
                <a:spcPts val="562"/>
              </a:spcBef>
            </a:pPr>
            <a:r>
              <a:rPr sz="1250" b="1" i="0">
                <a:solidFill>
                  <a:srgbClr val="58595B"/>
                </a:solidFill>
                <a:latin typeface="Arial"/>
              </a:rPr>
              <a:t>Không dùng công cụ viết lại câu tự động</a:t>
            </a:r>
            <a:r>
              <a:rPr sz="1250" b="0" i="0">
                <a:solidFill>
                  <a:srgbClr val="58595B"/>
                </a:solidFill>
                <a:latin typeface="Arial"/>
              </a:rPr>
              <a:t> hay thay chữ bằng ký tự lạ.</a:t>
            </a:r>
          </a:p>
        </p:txBody>
      </p:sp>
      <p:sp>
        <p:nvSpPr>
          <p:cNvPr id="19" name="Rectangle 18"/>
          <p:cNvSpPr/>
          <p:nvPr/>
        </p:nvSpPr>
        <p:spPr>
          <a:xfrm>
            <a:off x="8156448"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Lỗi nghiêm trọng</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250" b="0" i="0">
                <a:solidFill>
                  <a:srgbClr val="58595B"/>
                </a:solidFill>
                <a:latin typeface="Arial"/>
              </a:rPr>
              <a:t>Bịa hoặc sửa dữ liệu, giấu kết quả không ủng hộ: vi phạm đạo đức nghiên cứu, khác bản chất các lỗi khác.</a:t>
            </a:r>
          </a:p>
          <a:p>
            <a:pPr algn="l">
              <a:spcBef>
                <a:spcPts val="562"/>
              </a:spcBef>
            </a:pPr>
          </a:p>
          <a:p>
            <a:pPr algn="l">
              <a:spcBef>
                <a:spcPts val="562"/>
              </a:spcBef>
            </a:pPr>
            <a:r>
              <a:rPr sz="1250" b="0" i="0">
                <a:solidFill>
                  <a:srgbClr val="58595B"/>
                </a:solidFill>
                <a:latin typeface="Arial"/>
              </a:rPr>
              <a:t>Sửa góp ý theo thứ tự: nội dung, rồi kỹ thuật, rồi hình thức.</a:t>
            </a:r>
          </a:p>
          <a:p>
            <a:pPr algn="l">
              <a:spcBef>
                <a:spcPts val="562"/>
              </a:spcBef>
            </a:pPr>
          </a:p>
          <a:p>
            <a:pPr algn="l">
              <a:spcBef>
                <a:spcPts val="562"/>
              </a:spcBef>
            </a:pPr>
            <a:r>
              <a:rPr sz="1250" b="0" i="0">
                <a:solidFill>
                  <a:srgbClr val="58595B"/>
                </a:solidFill>
                <a:latin typeface="Arial"/>
              </a:rPr>
              <a:t>Không đồng ý với góp ý thì ghi lý do, không bỏ qua.</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SLIDE THUYẾT TRÌNH</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Tiêu đề slide là một câu kết luận, thân slide là bằng chứng: người nghe hiểu tốt hơn và nhớ lâu hơn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Ví dụ: "Sự hữu ích tác động mạnh nhất; sự dễ sử dụng không có ý nghĩa thống kê" kèm biểu đồ β, cột SD để trắng.</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1, Hình 88 và Bảng 58; Garner và Alley (2013)</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62</a:t>
            </a:r>
          </a:p>
        </p:txBody>
      </p:sp>
      <p:sp>
        <p:nvSpPr>
          <p:cNvPr id="11" name="Rectangle 10"/>
          <p:cNvSpPr/>
          <p:nvPr/>
        </p:nvSpPr>
        <p:spPr>
          <a:xfrm>
            <a:off x="402336" y="2332736"/>
            <a:ext cx="6876288" cy="2741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88_p3283.png"/>
          <p:cNvPicPr>
            <a:picLocks noChangeAspect="1"/>
          </p:cNvPicPr>
          <p:nvPr/>
        </p:nvPicPr>
        <p:blipFill>
          <a:blip r:embed="rId2"/>
          <a:stretch>
            <a:fillRect/>
          </a:stretch>
        </p:blipFill>
        <p:spPr>
          <a:xfrm>
            <a:off x="457200" y="2387600"/>
            <a:ext cx="6766560" cy="2631440"/>
          </a:xfrm>
          <a:prstGeom prst="rect">
            <a:avLst/>
          </a:prstGeom>
        </p:spPr>
      </p:pic>
      <p:sp>
        <p:nvSpPr>
          <p:cNvPr id="13" name="TextBox 12"/>
          <p:cNvSpPr txBox="1"/>
          <p:nvPr/>
        </p:nvSpPr>
        <p:spPr>
          <a:xfrm>
            <a:off x="7543800" y="1783080"/>
            <a:ext cx="4187952" cy="274320"/>
          </a:xfrm>
          <a:prstGeom prst="rect">
            <a:avLst/>
          </a:prstGeom>
          <a:noFill/>
        </p:spPr>
        <p:txBody>
          <a:bodyPr wrap="square" lIns="45720" rIns="45720" tIns="27432" bIns="27432" anchor="t">
            <a:spAutoFit/>
          </a:bodyPr>
          <a:lstStyle/>
          <a:p>
            <a:pPr algn="l"/>
            <a:r>
              <a:rPr sz="1000" b="1" i="0">
                <a:solidFill>
                  <a:srgbClr val="CC0000"/>
                </a:solidFill>
                <a:latin typeface="Arial"/>
              </a:rPr>
              <a:t>CÁCH LÀM SLIDE BẢO VỆ</a:t>
            </a:r>
          </a:p>
        </p:txBody>
      </p:sp>
      <p:cxnSp>
        <p:nvCxnSpPr>
          <p:cNvPr id="14" name="Connector 13"/>
          <p:cNvCxnSpPr/>
          <p:nvPr/>
        </p:nvCxnSpPr>
        <p:spPr>
          <a:xfrm>
            <a:off x="7543800" y="2103120"/>
            <a:ext cx="41879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54380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7955279" y="219456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Viết 12 câu thông điệp</a:t>
            </a:r>
            <a:r>
              <a:rPr sz="1250" b="0" i="0">
                <a:solidFill>
                  <a:srgbClr val="58595B"/>
                </a:solidFill>
                <a:latin typeface="Arial"/>
              </a:rPr>
              <a:t> trước khi mở PowerPoint; mỗi câu làm tiêu đề một slide.</a:t>
            </a:r>
          </a:p>
        </p:txBody>
      </p:sp>
      <p:sp>
        <p:nvSpPr>
          <p:cNvPr id="17" name="Oval 16"/>
          <p:cNvSpPr/>
          <p:nvPr/>
        </p:nvSpPr>
        <p:spPr>
          <a:xfrm>
            <a:off x="754380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7955279" y="305181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Thân slide</a:t>
            </a:r>
            <a:r>
              <a:rPr sz="1250" b="0" i="0">
                <a:solidFill>
                  <a:srgbClr val="58595B"/>
                </a:solidFill>
                <a:latin typeface="Arial"/>
              </a:rPr>
              <a:t> là hình, biểu đồ hoặc một bảng nhỏ; chữ không nhỏ hơn cỡ 20.</a:t>
            </a:r>
          </a:p>
        </p:txBody>
      </p:sp>
      <p:sp>
        <p:nvSpPr>
          <p:cNvPr id="19" name="Oval 18"/>
          <p:cNvSpPr/>
          <p:nvPr/>
        </p:nvSpPr>
        <p:spPr>
          <a:xfrm>
            <a:off x="754380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7955279" y="390906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Nền sáng, chữ tối, ít màu;</a:t>
            </a:r>
            <a:r>
              <a:rPr sz="1250" b="0" i="0">
                <a:solidFill>
                  <a:srgbClr val="58595B"/>
                </a:solidFill>
                <a:latin typeface="Arial"/>
              </a:rPr>
              <a:t> biểu đồ vẫn đọc được khi in đen trắng.</a:t>
            </a:r>
          </a:p>
        </p:txBody>
      </p:sp>
      <p:sp>
        <p:nvSpPr>
          <p:cNvPr id="21" name="Oval 20"/>
          <p:cNvSpPr/>
          <p:nvPr/>
        </p:nvSpPr>
        <p:spPr>
          <a:xfrm>
            <a:off x="754380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7955279" y="4766310"/>
            <a:ext cx="3776472" cy="857250"/>
          </a:xfrm>
          <a:prstGeom prst="rect">
            <a:avLst/>
          </a:prstGeom>
          <a:noFill/>
        </p:spPr>
        <p:txBody>
          <a:bodyPr wrap="square" lIns="45720" rIns="45720" tIns="27432" bIns="27432" anchor="t">
            <a:spAutoFit/>
          </a:bodyPr>
          <a:lstStyle/>
          <a:p>
            <a:pPr algn="l"/>
            <a:r>
              <a:rPr sz="1250" b="1" i="0">
                <a:solidFill>
                  <a:srgbClr val="58595B"/>
                </a:solidFill>
                <a:latin typeface="Arial"/>
              </a:rPr>
              <a:t>Slide dự phòng</a:t>
            </a:r>
            <a:r>
              <a:rPr sz="1250" b="0" i="0">
                <a:solidFill>
                  <a:srgbClr val="58595B"/>
                </a:solidFill>
                <a:latin typeface="Arial"/>
              </a:rPr>
              <a:t> sau slide cuối: bảng hồi quy đầy đủ, VIF, phần dư. Tập nói có bấm giờ ít nhất ba lần.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BẢO VỆ | TRẢ LỜI HỘI ĐỒNG</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Trả lời bằng bốn bước và phân biệt ba loại chất vấn: lựa chọn phương pháp, lỗi thật, điều chưa biết</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Hội đồng không đánh giá các em biết hết mọi thứ mà đánh giá các em giải thích được các quyết định của chính mình bằng căn cứ trong khóa luận.</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chương Bảo vệ trước Hội đồng, mục 2 và 3, Hình 89; Cortazzi và Jin (2021, tr. 6 đến 15)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63</a:t>
            </a:r>
          </a:p>
        </p:txBody>
      </p:sp>
      <p:sp>
        <p:nvSpPr>
          <p:cNvPr id="11" name="Rectangle 10"/>
          <p:cNvSpPr/>
          <p:nvPr/>
        </p:nvSpPr>
        <p:spPr>
          <a:xfrm>
            <a:off x="402336" y="3154541"/>
            <a:ext cx="5779008" cy="109755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89_p3320.png"/>
          <p:cNvPicPr>
            <a:picLocks noChangeAspect="1"/>
          </p:cNvPicPr>
          <p:nvPr/>
        </p:nvPicPr>
        <p:blipFill>
          <a:blip r:embed="rId2"/>
          <a:stretch>
            <a:fillRect/>
          </a:stretch>
        </p:blipFill>
        <p:spPr>
          <a:xfrm>
            <a:off x="457200" y="3209405"/>
            <a:ext cx="5669280" cy="987829"/>
          </a:xfrm>
          <a:prstGeom prst="rect">
            <a:avLst/>
          </a:prstGeom>
        </p:spPr>
      </p:pic>
      <p:sp>
        <p:nvSpPr>
          <p:cNvPr id="13" name="TextBox 12"/>
          <p:cNvSpPr txBox="1"/>
          <p:nvPr/>
        </p:nvSpPr>
        <p:spPr>
          <a:xfrm>
            <a:off x="6446520" y="1783080"/>
            <a:ext cx="5285232" cy="274320"/>
          </a:xfrm>
          <a:prstGeom prst="rect">
            <a:avLst/>
          </a:prstGeom>
          <a:noFill/>
        </p:spPr>
        <p:txBody>
          <a:bodyPr wrap="square" lIns="45720" rIns="45720" tIns="27432" bIns="27432" anchor="t">
            <a:spAutoFit/>
          </a:bodyPr>
          <a:lstStyle/>
          <a:p>
            <a:pPr algn="l"/>
            <a:r>
              <a:rPr sz="1000" b="1" i="0">
                <a:solidFill>
                  <a:srgbClr val="CC0000"/>
                </a:solidFill>
                <a:latin typeface="Arial"/>
              </a:rPr>
              <a:t>BA LOẠI CHẤT VẤN</a:t>
            </a:r>
          </a:p>
        </p:txBody>
      </p:sp>
      <p:cxnSp>
        <p:nvCxnSpPr>
          <p:cNvPr id="14" name="Connector 13"/>
          <p:cNvCxnSpPr/>
          <p:nvPr/>
        </p:nvCxnSpPr>
        <p:spPr>
          <a:xfrm>
            <a:off x="6446520" y="2103120"/>
            <a:ext cx="528523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446520" y="22128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6" name="TextBox 15"/>
          <p:cNvSpPr txBox="1"/>
          <p:nvPr/>
        </p:nvSpPr>
        <p:spPr>
          <a:xfrm>
            <a:off x="6858000" y="2194560"/>
            <a:ext cx="4873752" cy="857250"/>
          </a:xfrm>
          <a:prstGeom prst="rect">
            <a:avLst/>
          </a:prstGeom>
          <a:noFill/>
        </p:spPr>
        <p:txBody>
          <a:bodyPr wrap="square" lIns="45720" rIns="45720" tIns="27432" bIns="27432" anchor="t">
            <a:spAutoFit/>
          </a:bodyPr>
          <a:lstStyle/>
          <a:p>
            <a:pPr algn="l"/>
            <a:r>
              <a:rPr sz="1250" b="1" i="0">
                <a:solidFill>
                  <a:srgbClr val="58595B"/>
                </a:solidFill>
                <a:latin typeface="Arial"/>
              </a:rPr>
              <a:t>Lựa chọn phương pháp</a:t>
            </a:r>
            <a:r>
              <a:rPr sz="1250" b="0" i="0">
                <a:solidFill>
                  <a:srgbClr val="58595B"/>
                </a:solidFill>
                <a:latin typeface="Arial"/>
              </a:rPr>
              <a:t> ("vì sao không dùng SEM?"): nêu lý do gắn với câu hỏi nghiên cứu, nêu điểm mạnh của cách khác, nối với hướng nghiên cứu.</a:t>
            </a:r>
          </a:p>
        </p:txBody>
      </p:sp>
      <p:sp>
        <p:nvSpPr>
          <p:cNvPr id="17" name="Oval 16"/>
          <p:cNvSpPr/>
          <p:nvPr/>
        </p:nvSpPr>
        <p:spPr>
          <a:xfrm>
            <a:off x="6446520" y="30700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8" name="TextBox 17"/>
          <p:cNvSpPr txBox="1"/>
          <p:nvPr/>
        </p:nvSpPr>
        <p:spPr>
          <a:xfrm>
            <a:off x="6858000" y="3051810"/>
            <a:ext cx="4873752" cy="857250"/>
          </a:xfrm>
          <a:prstGeom prst="rect">
            <a:avLst/>
          </a:prstGeom>
          <a:noFill/>
        </p:spPr>
        <p:txBody>
          <a:bodyPr wrap="square" lIns="45720" rIns="45720" tIns="27432" bIns="27432" anchor="t">
            <a:spAutoFit/>
          </a:bodyPr>
          <a:lstStyle/>
          <a:p>
            <a:pPr algn="l"/>
            <a:r>
              <a:rPr sz="1250" b="1" i="0">
                <a:solidFill>
                  <a:srgbClr val="58595B"/>
                </a:solidFill>
                <a:latin typeface="Arial"/>
              </a:rPr>
              <a:t>Lỗi thật:</a:t>
            </a:r>
            <a:r>
              <a:rPr sz="1250" b="0" i="0">
                <a:solidFill>
                  <a:srgbClr val="58595B"/>
                </a:solidFill>
                <a:latin typeface="Arial"/>
              </a:rPr>
              <a:t> thừa nhận ngắn gọn, cảm ơn, ghi vào bảng góp ý để sửa sau buổi bảo vệ.</a:t>
            </a:r>
          </a:p>
        </p:txBody>
      </p:sp>
      <p:sp>
        <p:nvSpPr>
          <p:cNvPr id="19" name="Oval 18"/>
          <p:cNvSpPr/>
          <p:nvPr/>
        </p:nvSpPr>
        <p:spPr>
          <a:xfrm>
            <a:off x="6446520" y="392734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0" name="TextBox 19"/>
          <p:cNvSpPr txBox="1"/>
          <p:nvPr/>
        </p:nvSpPr>
        <p:spPr>
          <a:xfrm>
            <a:off x="6858000" y="3909060"/>
            <a:ext cx="4873752" cy="857250"/>
          </a:xfrm>
          <a:prstGeom prst="rect">
            <a:avLst/>
          </a:prstGeom>
          <a:noFill/>
        </p:spPr>
        <p:txBody>
          <a:bodyPr wrap="square" lIns="45720" rIns="45720" tIns="27432" bIns="27432" anchor="t">
            <a:spAutoFit/>
          </a:bodyPr>
          <a:lstStyle/>
          <a:p>
            <a:pPr algn="l"/>
            <a:r>
              <a:rPr sz="1250" b="1" i="0">
                <a:solidFill>
                  <a:srgbClr val="58595B"/>
                </a:solidFill>
                <a:latin typeface="Arial"/>
              </a:rPr>
              <a:t>Điều chưa biết:</a:t>
            </a:r>
            <a:r>
              <a:rPr sz="1250" b="0" i="0">
                <a:solidFill>
                  <a:srgbClr val="58595B"/>
                </a:solidFill>
                <a:latin typeface="Arial"/>
              </a:rPr>
              <a:t> nói rõ chưa tìm hiểu nội dung đó, không đoán.</a:t>
            </a:r>
          </a:p>
        </p:txBody>
      </p:sp>
      <p:sp>
        <p:nvSpPr>
          <p:cNvPr id="21" name="Oval 20"/>
          <p:cNvSpPr/>
          <p:nvPr/>
        </p:nvSpPr>
        <p:spPr>
          <a:xfrm>
            <a:off x="6446520" y="4784598"/>
            <a:ext cx="310896" cy="310896"/>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4</a:t>
            </a:r>
          </a:p>
        </p:txBody>
      </p:sp>
      <p:sp>
        <p:nvSpPr>
          <p:cNvPr id="22" name="TextBox 21"/>
          <p:cNvSpPr txBox="1"/>
          <p:nvPr/>
        </p:nvSpPr>
        <p:spPr>
          <a:xfrm>
            <a:off x="6858000" y="4766310"/>
            <a:ext cx="4873752" cy="857250"/>
          </a:xfrm>
          <a:prstGeom prst="rect">
            <a:avLst/>
          </a:prstGeom>
          <a:noFill/>
        </p:spPr>
        <p:txBody>
          <a:bodyPr wrap="square" lIns="45720" rIns="45720" tIns="27432" bIns="27432" anchor="t">
            <a:spAutoFit/>
          </a:bodyPr>
          <a:lstStyle/>
          <a:p>
            <a:pPr algn="l"/>
            <a:r>
              <a:rPr sz="1250" b="1" i="0">
                <a:solidFill>
                  <a:srgbClr val="58595B"/>
                </a:solidFill>
                <a:latin typeface="Arial"/>
              </a:rPr>
              <a:t>Không bao giờ:</a:t>
            </a:r>
            <a:r>
              <a:rPr sz="1250" b="0" i="0">
                <a:solidFill>
                  <a:srgbClr val="58595B"/>
                </a:solidFill>
                <a:latin typeface="Arial"/>
              </a:rPr>
              <a:t> tranh cãi, đổ lỗi cho GVHD, người trả lời hay phần mềm; tự phủ nhận khóa luận.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56032"/>
            <a:ext cx="7772400" cy="274320"/>
          </a:xfrm>
          <a:prstGeom prst="rect">
            <a:avLst/>
          </a:prstGeom>
          <a:noFill/>
        </p:spPr>
        <p:txBody>
          <a:bodyPr wrap="square" lIns="45720" rIns="45720" tIns="27432" bIns="27432" anchor="t">
            <a:spAutoFit/>
          </a:bodyPr>
          <a:lstStyle/>
          <a:p>
            <a:pPr algn="l"/>
            <a:r>
              <a:rPr sz="1000" b="1" i="0">
                <a:solidFill>
                  <a:srgbClr val="9E9E9E"/>
                </a:solidFill>
                <a:latin typeface="Arial"/>
              </a:rPr>
              <a:t>TỔNG KẾT BUỔI HỌC</a:t>
            </a:r>
          </a:p>
        </p:txBody>
      </p:sp>
      <p:sp>
        <p:nvSpPr>
          <p:cNvPr id="3" name="TextBox 2"/>
          <p:cNvSpPr txBox="1"/>
          <p:nvPr/>
        </p:nvSpPr>
        <p:spPr>
          <a:xfrm>
            <a:off x="457200" y="566928"/>
            <a:ext cx="11247120" cy="914400"/>
          </a:xfrm>
          <a:prstGeom prst="rect">
            <a:avLst/>
          </a:prstGeom>
          <a:noFill/>
        </p:spPr>
        <p:txBody>
          <a:bodyPr wrap="square" lIns="45720" rIns="45720" tIns="27432" bIns="27432" anchor="ctr">
            <a:spAutoFit/>
          </a:bodyPr>
          <a:lstStyle/>
          <a:p>
            <a:pPr algn="l"/>
            <a:r>
              <a:rPr sz="2400" b="1" i="0">
                <a:solidFill>
                  <a:srgbClr val="262626"/>
                </a:solidFill>
                <a:latin typeface="Arial"/>
              </a:rPr>
              <a:t>Khóa luận đạt là khóa luận khép vòng: câu hỏi ở trang đầu được trả lời ở trang cuối bằng dữ liệu đáng tin</a:t>
            </a:r>
          </a:p>
        </p:txBody>
      </p:sp>
      <p:cxnSp>
        <p:nvCxnSpPr>
          <p:cNvPr id="4" name="Connector 3"/>
          <p:cNvCxnSpPr/>
          <p:nvPr/>
        </p:nvCxnSpPr>
        <p:spPr>
          <a:xfrm>
            <a:off x="457200" y="1554480"/>
            <a:ext cx="11274552"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57200" y="1554480"/>
            <a:ext cx="1097280" cy="0"/>
          </a:xfrm>
          <a:prstGeom prst="line">
            <a:avLst/>
          </a:prstGeom>
          <a:ln w="38100">
            <a:solidFill>
              <a:srgbClr val="CC0000"/>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457200" y="5760720"/>
            <a:ext cx="11274552" cy="56692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5760720"/>
            <a:ext cx="73152"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760720"/>
            <a:ext cx="10972800" cy="566928"/>
          </a:xfrm>
          <a:prstGeom prst="rect">
            <a:avLst/>
          </a:prstGeom>
          <a:noFill/>
        </p:spPr>
        <p:txBody>
          <a:bodyPr wrap="square" lIns="45720" rIns="45720" tIns="27432" bIns="27432" anchor="ctr">
            <a:spAutoFit/>
          </a:bodyPr>
          <a:lstStyle/>
          <a:p>
            <a:pPr algn="l"/>
            <a:r>
              <a:rPr sz="1350" b="1" i="0">
                <a:solidFill>
                  <a:srgbClr val="262626"/>
                </a:solidFill>
                <a:latin typeface="Arial"/>
              </a:rPr>
              <a:t>Sự nhất quán quan trọng hơn độ phức tạp: kết luận khớp câu hỏi, hàm ý chỉ dựa trên kết quả có ý nghĩa thống kê.</a:t>
            </a:r>
          </a:p>
        </p:txBody>
      </p:sp>
      <p:sp>
        <p:nvSpPr>
          <p:cNvPr id="9" name="TextBox 8"/>
          <p:cNvSpPr txBox="1"/>
          <p:nvPr/>
        </p:nvSpPr>
        <p:spPr>
          <a:xfrm>
            <a:off x="457200" y="6419088"/>
            <a:ext cx="10241280" cy="274320"/>
          </a:xfrm>
          <a:prstGeom prst="rect">
            <a:avLst/>
          </a:prstGeom>
          <a:noFill/>
        </p:spPr>
        <p:txBody>
          <a:bodyPr wrap="square" lIns="45720" rIns="45720" tIns="27432" bIns="27432" anchor="t">
            <a:spAutoFit/>
          </a:bodyPr>
          <a:lstStyle/>
          <a:p>
            <a:pPr algn="l"/>
            <a:r>
              <a:rPr sz="900" b="0" i="0">
                <a:solidFill>
                  <a:srgbClr val="9E9E9E"/>
                </a:solidFill>
                <a:latin typeface="Arial"/>
              </a:rPr>
              <a:t>Nguồn: Hướng dẫn Chuyên đề và Khóa luận tốt nghiệp, Lời kết và mục "Điều cần nhớ" của Chương 5</a:t>
            </a:r>
          </a:p>
        </p:txBody>
      </p:sp>
      <p:sp>
        <p:nvSpPr>
          <p:cNvPr id="10" name="TextBox 9"/>
          <p:cNvSpPr txBox="1"/>
          <p:nvPr/>
        </p:nvSpPr>
        <p:spPr>
          <a:xfrm>
            <a:off x="11155680" y="6419088"/>
            <a:ext cx="576072" cy="274320"/>
          </a:xfrm>
          <a:prstGeom prst="rect">
            <a:avLst/>
          </a:prstGeom>
          <a:noFill/>
        </p:spPr>
        <p:txBody>
          <a:bodyPr wrap="square" lIns="45720" rIns="45720" tIns="27432" bIns="27432" anchor="t">
            <a:spAutoFit/>
          </a:bodyPr>
          <a:lstStyle/>
          <a:p>
            <a:pPr algn="r"/>
            <a:r>
              <a:rPr sz="900" b="0" i="0">
                <a:solidFill>
                  <a:srgbClr val="9E9E9E"/>
                </a:solidFill>
                <a:latin typeface="Arial"/>
              </a:rPr>
              <a:t>64</a:t>
            </a:r>
          </a:p>
        </p:txBody>
      </p:sp>
      <p:sp>
        <p:nvSpPr>
          <p:cNvPr id="11" name="Rectangle 10"/>
          <p:cNvSpPr/>
          <p:nvPr/>
        </p:nvSpPr>
        <p:spPr>
          <a:xfrm>
            <a:off x="457200"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7200"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1</a:t>
            </a:r>
          </a:p>
        </p:txBody>
      </p:sp>
      <p:sp>
        <p:nvSpPr>
          <p:cNvPr id="13" name="TextBox 12"/>
          <p:cNvSpPr txBox="1"/>
          <p:nvPr/>
        </p:nvSpPr>
        <p:spPr>
          <a:xfrm>
            <a:off x="960120"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Hỏi đúng</a:t>
            </a:r>
          </a:p>
        </p:txBody>
      </p:sp>
      <p:sp>
        <p:nvSpPr>
          <p:cNvPr id="14" name="TextBox 13"/>
          <p:cNvSpPr txBox="1"/>
          <p:nvPr/>
        </p:nvSpPr>
        <p:spPr>
          <a:xfrm>
            <a:off x="457200"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Phần mở đầu và Chương 1: vấn đề có số liệu, mục tiêu có động từ hành động, câu hỏi ghép cặp một với một.</a:t>
            </a:r>
          </a:p>
        </p:txBody>
      </p:sp>
      <p:sp>
        <p:nvSpPr>
          <p:cNvPr id="15" name="Rectangle 14"/>
          <p:cNvSpPr/>
          <p:nvPr/>
        </p:nvSpPr>
        <p:spPr>
          <a:xfrm>
            <a:off x="4306824" y="1783080"/>
            <a:ext cx="3575304" cy="45720"/>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6824"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2</a:t>
            </a:r>
          </a:p>
        </p:txBody>
      </p:sp>
      <p:sp>
        <p:nvSpPr>
          <p:cNvPr id="17" name="TextBox 16"/>
          <p:cNvSpPr txBox="1"/>
          <p:nvPr/>
        </p:nvSpPr>
        <p:spPr>
          <a:xfrm>
            <a:off x="4809744"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Dự đoán có căn cứ</a:t>
            </a:r>
          </a:p>
        </p:txBody>
      </p:sp>
      <p:sp>
        <p:nvSpPr>
          <p:cNvPr id="18" name="TextBox 17"/>
          <p:cNvSpPr txBox="1"/>
          <p:nvPr/>
        </p:nvSpPr>
        <p:spPr>
          <a:xfrm>
            <a:off x="4306824"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Chương 2 và Chương 3: mỗi biến có lý thuyết gốc, mỗi mũi tên một giả thuyết có chiều, mỗi lựa chọn có câu "vì sao".</a:t>
            </a:r>
          </a:p>
        </p:txBody>
      </p:sp>
      <p:sp>
        <p:nvSpPr>
          <p:cNvPr id="19" name="Rectangle 18"/>
          <p:cNvSpPr/>
          <p:nvPr/>
        </p:nvSpPr>
        <p:spPr>
          <a:xfrm>
            <a:off x="8156448" y="1783080"/>
            <a:ext cx="3575304"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1984248"/>
            <a:ext cx="384048" cy="38404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3</a:t>
            </a:r>
          </a:p>
        </p:txBody>
      </p:sp>
      <p:sp>
        <p:nvSpPr>
          <p:cNvPr id="21" name="TextBox 20"/>
          <p:cNvSpPr txBox="1"/>
          <p:nvPr/>
        </p:nvSpPr>
        <p:spPr>
          <a:xfrm>
            <a:off x="8659368" y="1938528"/>
            <a:ext cx="3072384" cy="502920"/>
          </a:xfrm>
          <a:prstGeom prst="rect">
            <a:avLst/>
          </a:prstGeom>
          <a:noFill/>
        </p:spPr>
        <p:txBody>
          <a:bodyPr wrap="square" lIns="45720" rIns="45720" tIns="27432" bIns="27432" anchor="ctr">
            <a:spAutoFit/>
          </a:bodyPr>
          <a:lstStyle/>
          <a:p>
            <a:pPr algn="l"/>
            <a:r>
              <a:rPr sz="1500" b="1" i="0">
                <a:solidFill>
                  <a:srgbClr val="262626"/>
                </a:solidFill>
                <a:latin typeface="Arial"/>
              </a:rPr>
              <a:t>Trả lời trung thực</a:t>
            </a:r>
          </a:p>
        </p:txBody>
      </p:sp>
      <p:sp>
        <p:nvSpPr>
          <p:cNvPr id="22" name="TextBox 21"/>
          <p:cNvSpPr txBox="1"/>
          <p:nvPr/>
        </p:nvSpPr>
        <p:spPr>
          <a:xfrm>
            <a:off x="8156448" y="2560320"/>
            <a:ext cx="3575304" cy="3017520"/>
          </a:xfrm>
          <a:prstGeom prst="rect">
            <a:avLst/>
          </a:prstGeom>
          <a:noFill/>
        </p:spPr>
        <p:txBody>
          <a:bodyPr wrap="square" lIns="45720" rIns="45720" tIns="27432" bIns="27432" anchor="t">
            <a:spAutoFit/>
          </a:bodyPr>
          <a:lstStyle/>
          <a:p>
            <a:pPr algn="l"/>
            <a:r>
              <a:rPr sz="1400" b="0" i="0">
                <a:solidFill>
                  <a:srgbClr val="58595B"/>
                </a:solidFill>
                <a:latin typeface="Arial"/>
              </a:rPr>
              <a:t>Chương 4 và Chương 5: diễn giải bốn bước, kết luận bằng dấu và P-value, giải thích kết quả bất ngờ, hàm ý có thứ tự.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