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c:v>
                </c:pt>
              </c:strCache>
            </c:strRef>
          </c:tx>
          <c:dPt>
            <c:idx val="0"/>
            <c:spPr>
              <a:solidFill>
                <a:srgbClr val="58595B"/>
              </a:solidFill>
            </c:spPr>
          </c:dPt>
          <c:dPt>
            <c:idx val="1"/>
            <c:spPr>
              <a:solidFill>
                <a:srgbClr val="58595B"/>
              </a:solidFill>
            </c:spPr>
          </c:dPt>
          <c:dPt>
            <c:idx val="2"/>
            <c:spPr>
              <a:solidFill>
                <a:srgbClr val="58595B"/>
              </a:solidFill>
            </c:spPr>
          </c:dPt>
          <c:dPt>
            <c:idx val="3"/>
            <c:spPr>
              <a:solidFill>
                <a:srgbClr val="58595B"/>
              </a:solidFill>
            </c:spPr>
          </c:dPt>
          <c:dPt>
            <c:idx val="4"/>
            <c:spPr>
              <a:solidFill>
                <a:srgbClr val="58595B"/>
              </a:solidFill>
            </c:spPr>
          </c:dPt>
          <c:dPt>
            <c:idx val="5"/>
            <c:spPr>
              <a:solidFill>
                <a:srgbClr val="58595B"/>
              </a:solidFill>
            </c:spPr>
          </c:dPt>
          <c:dPt>
            <c:idx val="6"/>
            <c:spPr>
              <a:solidFill>
                <a:srgbClr val="FFFFFF"/>
              </a:solidFill>
              <a:ln w="19050">
                <a:solidFill>
                  <a:srgbClr val="9E9E9E"/>
                </a:solidFill>
              </a:ln>
            </c:spPr>
          </c:dPt>
          <c:dPt>
            <c:idx val="7"/>
            <c:spPr>
              <a:solidFill>
                <a:srgbClr val="58595B"/>
              </a:solidFill>
            </c:spPr>
          </c:dPt>
          <c:dPt>
            <c:idx val="8"/>
            <c:spPr>
              <a:solidFill>
                <a:srgbClr val="CC0000"/>
              </a:solidFill>
            </c:spPr>
          </c:dPt>
          <c:dPt>
            <c:idx val="9"/>
            <c:spPr>
              <a:solidFill>
                <a:srgbClr val="CC0000"/>
              </a:solidFill>
            </c:spPr>
          </c:dPt>
          <c:dLbls>
            <c:dLbl>
              <c:idx val="0"/>
              <c:tx>
                <c:rich>
                  <a:bodyPr/>
                  <a:lstStyle/>
                  <a:p>
                    <a:r>
                      <a:rPr sz="1200" b="1">
                        <a:solidFill>
                          <a:srgbClr val="262626"/>
                        </a:solidFill>
                      </a:rPr>
                      <a:t>5</a:t>
                    </a:r>
                  </a:p>
                </c:rich>
              </c:tx>
              <c:dLblPos val="outEnd"/>
              <c:showLegendKey val="0"/>
              <c:showVal val="1"/>
              <c:showCatName val="0"/>
              <c:showSerName val="0"/>
              <c:showPercent val="0"/>
              <c:showBubbleSize val="0"/>
            </c:dLbl>
            <c:dLbl>
              <c:idx val="1"/>
              <c:tx>
                <c:rich>
                  <a:bodyPr/>
                  <a:lstStyle/>
                  <a:p>
                    <a:r>
                      <a:rPr sz="1200" b="1">
                        <a:solidFill>
                          <a:srgbClr val="262626"/>
                        </a:solidFill>
                      </a:rPr>
                      <a:t>3</a:t>
                    </a:r>
                  </a:p>
                </c:rich>
              </c:tx>
              <c:dLblPos val="outEnd"/>
              <c:showLegendKey val="0"/>
              <c:showVal val="1"/>
              <c:showCatName val="0"/>
              <c:showSerName val="0"/>
              <c:showPercent val="0"/>
              <c:showBubbleSize val="0"/>
            </c:dLbl>
            <c:dLbl>
              <c:idx val="2"/>
              <c:tx>
                <c:rich>
                  <a:bodyPr/>
                  <a:lstStyle/>
                  <a:p>
                    <a:r>
                      <a:rPr sz="1200" b="1">
                        <a:solidFill>
                          <a:srgbClr val="262626"/>
                        </a:solidFill>
                      </a:rPr>
                      <a:t>2</a:t>
                    </a:r>
                  </a:p>
                </c:rich>
              </c:tx>
              <c:dLblPos val="outEnd"/>
              <c:showLegendKey val="0"/>
              <c:showVal val="1"/>
              <c:showCatName val="0"/>
              <c:showSerName val="0"/>
              <c:showPercent val="0"/>
              <c:showBubbleSize val="0"/>
            </c:dLbl>
            <c:dLbl>
              <c:idx val="3"/>
              <c:tx>
                <c:rich>
                  <a:bodyPr/>
                  <a:lstStyle/>
                  <a:p>
                    <a:r>
                      <a:rPr sz="1200" b="1">
                        <a:solidFill>
                          <a:srgbClr val="262626"/>
                        </a:solidFill>
                      </a:rPr>
                      <a:t>1</a:t>
                    </a:r>
                  </a:p>
                </c:rich>
              </c:tx>
              <c:dLblPos val="outEnd"/>
              <c:showLegendKey val="0"/>
              <c:showVal val="1"/>
              <c:showCatName val="0"/>
              <c:showSerName val="0"/>
              <c:showPercent val="0"/>
              <c:showBubbleSize val="0"/>
            </c:dLbl>
            <c:dLbl>
              <c:idx val="4"/>
              <c:tx>
                <c:rich>
                  <a:bodyPr/>
                  <a:lstStyle/>
                  <a:p>
                    <a:r>
                      <a:rPr sz="1200" b="1">
                        <a:solidFill>
                          <a:srgbClr val="262626"/>
                        </a:solidFill>
                      </a:rPr>
                      <a:t>1</a:t>
                    </a:r>
                  </a:p>
                </c:rich>
              </c:tx>
              <c:dLblPos val="outEnd"/>
              <c:showLegendKey val="0"/>
              <c:showVal val="1"/>
              <c:showCatName val="0"/>
              <c:showSerName val="0"/>
              <c:showPercent val="0"/>
              <c:showBubbleSize val="0"/>
            </c:dLbl>
            <c:dLbl>
              <c:idx val="5"/>
              <c:tx>
                <c:rich>
                  <a:bodyPr/>
                  <a:lstStyle/>
                  <a:p>
                    <a:r>
                      <a:rPr sz="1200" b="1">
                        <a:solidFill>
                          <a:srgbClr val="262626"/>
                        </a:solidFill>
                      </a:rPr>
                      <a:t>1</a:t>
                    </a:r>
                  </a:p>
                </c:rich>
              </c:tx>
              <c:dLblPos val="outEnd"/>
              <c:showLegendKey val="0"/>
              <c:showVal val="1"/>
              <c:showCatName val="0"/>
              <c:showSerName val="0"/>
              <c:showPercent val="0"/>
              <c:showBubbleSize val="0"/>
            </c:dLbl>
            <c:dLbl>
              <c:idx val="6"/>
              <c:tx>
                <c:rich>
                  <a:bodyPr/>
                  <a:lstStyle/>
                  <a:p>
                    <a:r>
                      <a:rPr sz="1200" b="1">
                        <a:solidFill>
                          <a:srgbClr val="262626"/>
                        </a:solidFill>
                      </a:rPr>
                      <a:t>0</a:t>
                    </a:r>
                  </a:p>
                </c:rich>
              </c:tx>
              <c:dLblPos val="outEnd"/>
              <c:showLegendKey val="0"/>
              <c:showVal val="1"/>
              <c:showCatName val="0"/>
              <c:showSerName val="0"/>
              <c:showPercent val="0"/>
              <c:showBubbleSize val="0"/>
            </c:dLbl>
            <c:dLbl>
              <c:idx val="7"/>
              <c:tx>
                <c:rich>
                  <a:bodyPr/>
                  <a:lstStyle/>
                  <a:p>
                    <a:r>
                      <a:rPr sz="1200" b="1">
                        <a:solidFill>
                          <a:srgbClr val="262626"/>
                        </a:solidFill>
                      </a:rPr>
                      <a:t>1</a:t>
                    </a:r>
                  </a:p>
                </c:rich>
              </c:tx>
              <c:dLblPos val="outEnd"/>
              <c:showLegendKey val="0"/>
              <c:showVal val="1"/>
              <c:showCatName val="0"/>
              <c:showSerName val="0"/>
              <c:showPercent val="0"/>
              <c:showBubbleSize val="0"/>
            </c:dLbl>
            <c:dLbl>
              <c:idx val="8"/>
              <c:tx>
                <c:rich>
                  <a:bodyPr/>
                  <a:lstStyle/>
                  <a:p>
                    <a:r>
                      <a:rPr sz="1200" b="1">
                        <a:solidFill>
                          <a:srgbClr val="262626"/>
                        </a:solidFill>
                      </a:rPr>
                      <a:t>0</a:t>
                    </a:r>
                  </a:p>
                </c:rich>
              </c:tx>
              <c:dLblPos val="outEnd"/>
              <c:showLegendKey val="0"/>
              <c:showVal val="1"/>
              <c:showCatName val="0"/>
              <c:showSerName val="0"/>
              <c:showPercent val="0"/>
              <c:showBubbleSize val="0"/>
            </c:dLbl>
            <c:dLbl>
              <c:idx val="9"/>
              <c:tx>
                <c:rich>
                  <a:bodyPr/>
                  <a:lstStyle/>
                  <a:p>
                    <a:r>
                      <a:rPr sz="1200" b="1">
                        <a:solidFill>
                          <a:srgbClr val="262626"/>
                        </a:solidFill>
                      </a:rPr>
                      <a:t>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Sheet1!$A$2:$A$11</c:f>
              <c:strCache>
                <c:ptCount val="10"/>
                <c:pt idx="0">
                  <c:v>PH01</c:v>
                </c:pt>
                <c:pt idx="1">
                  <c:v>PH02</c:v>
                </c:pt>
                <c:pt idx="2">
                  <c:v>PH03</c:v>
                </c:pt>
                <c:pt idx="3">
                  <c:v>PH04</c:v>
                </c:pt>
                <c:pt idx="4">
                  <c:v>PH05</c:v>
                </c:pt>
                <c:pt idx="5">
                  <c:v>PH06</c:v>
                </c:pt>
                <c:pt idx="6">
                  <c:v>PH07</c:v>
                </c:pt>
                <c:pt idx="7">
                  <c:v>PH08</c:v>
                </c:pt>
                <c:pt idx="8">
                  <c:v>PH09</c:v>
                </c:pt>
                <c:pt idx="9">
                  <c:v>PH10</c:v>
                </c:pt>
              </c:strCache>
            </c:strRef>
          </c:cat>
          <c:val>
            <c:numRef>
              <c:f>Sheet1!$B$2:$B$11</c:f>
              <c:numCache>
                <c:formatCode>General</c:formatCode>
                <c:ptCount val="10"/>
                <c:pt idx="0">
                  <c:v>5</c:v>
                </c:pt>
                <c:pt idx="1">
                  <c:v>3</c:v>
                </c:pt>
                <c:pt idx="2">
                  <c:v>2</c:v>
                </c:pt>
                <c:pt idx="3">
                  <c:v>1</c:v>
                </c:pt>
                <c:pt idx="4">
                  <c:v>1</c:v>
                </c:pt>
                <c:pt idx="5">
                  <c:v>1</c:v>
                </c:pt>
                <c:pt idx="6">
                  <c:v>0</c:v>
                </c:pt>
                <c:pt idx="7">
                  <c:v>1</c:v>
                </c:pt>
                <c:pt idx="8">
                  <c:v>0</c:v>
                </c:pt>
                <c:pt idx="9">
                  <c:v>0</c:v>
                </c:pt>
              </c:numCache>
            </c:numRef>
          </c:val>
        </c:ser>
        <c:dLbls>
          <c:numFmt formatCode="0"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50"/>
            </a:pPr>
          </a:p>
        </c:txPr>
        <c:crossAx val="-2113994440"/>
        <c:crosses val="autoZero"/>
        <c:auto val="1"/>
        <c:lblAlgn val="ctr"/>
        <c:lblOffset val="100"/>
        <c:noMultiLvlLbl val="0"/>
      </c:catAx>
      <c:valAx>
        <c:axId val="-2113994440"/>
        <c:scaling>
          <c:max val="6.0"/>
          <c:min val="0.0"/>
        </c:scaling>
        <c:delete/>
        <c:axPos val="l"/>
        <c:majorTickMark val="out"/>
        <c:minorTickMark val="none"/>
        <c:tickLblPos val="nextTo"/>
        <c:crossAx val="-2068027336"/>
        <c:crosses val="autoZero"/>
      </c:valAx>
    </c:plotArea>
    <c:dispBlanksAs val="gap"/>
  </c:chart>
  <c:txPr>
    <a:bodyPr/>
    <a:lstStyle/>
    <a:p>
      <a:pPr>
        <a:defRPr sz="1100">
          <a:solidFill>
            <a:srgbClr val="58595B"/>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c:v>
                </c:pt>
              </c:strCache>
            </c:strRef>
          </c:tx>
          <c:dPt>
            <c:idx val="0"/>
            <c:spPr>
              <a:solidFill>
                <a:srgbClr val="58595B"/>
              </a:solidFill>
            </c:spPr>
          </c:dPt>
          <c:dPt>
            <c:idx val="1"/>
            <c:spPr>
              <a:solidFill>
                <a:srgbClr val="58595B"/>
              </a:solidFill>
            </c:spPr>
          </c:dPt>
          <c:dPt>
            <c:idx val="2"/>
            <c:spPr>
              <a:solidFill>
                <a:srgbClr val="58595B"/>
              </a:solidFill>
            </c:spPr>
          </c:dPt>
          <c:dPt>
            <c:idx val="3"/>
            <c:spPr>
              <a:solidFill>
                <a:srgbClr val="CC0000"/>
              </a:solidFill>
            </c:spPr>
          </c:dPt>
          <c:dPt>
            <c:idx val="4"/>
            <c:spPr>
              <a:solidFill>
                <a:srgbClr val="58595B"/>
              </a:solidFill>
            </c:spPr>
          </c:dPt>
          <c:dPt>
            <c:idx val="5"/>
            <c:spPr>
              <a:solidFill>
                <a:srgbClr val="58595B"/>
              </a:solidFill>
            </c:spPr>
          </c:dPt>
          <c:dPt>
            <c:idx val="6"/>
            <c:spPr>
              <a:solidFill>
                <a:srgbClr val="58595B"/>
              </a:solidFill>
            </c:spPr>
          </c:dPt>
          <c:dPt>
            <c:idx val="7"/>
            <c:spPr>
              <a:solidFill>
                <a:srgbClr val="58595B"/>
              </a:solidFill>
            </c:spPr>
          </c:dPt>
          <c:dPt>
            <c:idx val="8"/>
            <c:spPr>
              <a:solidFill>
                <a:srgbClr val="58595B"/>
              </a:solidFill>
            </c:spPr>
          </c:dPt>
          <c:dPt>
            <c:idx val="9"/>
            <c:spPr>
              <a:solidFill>
                <a:srgbClr val="58595B"/>
              </a:solidFill>
            </c:spPr>
          </c:dPt>
          <c:dPt>
            <c:idx val="10"/>
            <c:spPr>
              <a:solidFill>
                <a:srgbClr val="CC0000"/>
              </a:solidFill>
            </c:spPr>
          </c:dPt>
          <c:dPt>
            <c:idx val="11"/>
            <c:spPr>
              <a:solidFill>
                <a:srgbClr val="58595B"/>
              </a:solidFill>
            </c:spPr>
          </c:dPt>
          <c:dPt>
            <c:idx val="12"/>
            <c:spPr>
              <a:solidFill>
                <a:srgbClr val="58595B"/>
              </a:solidFill>
            </c:spPr>
          </c:dPt>
          <c:dPt>
            <c:idx val="13"/>
            <c:spPr>
              <a:solidFill>
                <a:srgbClr val="58595B"/>
              </a:solidFill>
            </c:spPr>
          </c:dPt>
          <c:dPt>
            <c:idx val="14"/>
            <c:spPr>
              <a:solidFill>
                <a:srgbClr val="58595B"/>
              </a:solidFill>
            </c:spPr>
          </c:dPt>
          <c:dLbls>
            <c:dLbl>
              <c:idx val="0"/>
              <c:tx>
                <c:rich>
                  <a:bodyPr/>
                  <a:lstStyle/>
                  <a:p>
                    <a:r>
                      <a:rPr sz="1200" b="1">
                        <a:solidFill>
                          <a:srgbClr val="262626"/>
                        </a:solidFill>
                      </a:rPr>
                      <a:t>5</a:t>
                    </a:r>
                  </a:p>
                </c:rich>
              </c:tx>
              <c:dLblPos val="outEnd"/>
              <c:showLegendKey val="0"/>
              <c:showVal val="1"/>
              <c:showCatName val="0"/>
              <c:showSerName val="0"/>
              <c:showPercent val="0"/>
              <c:showBubbleSize val="0"/>
            </c:dLbl>
            <c:dLbl>
              <c:idx val="1"/>
              <c:tx>
                <c:rich>
                  <a:bodyPr/>
                  <a:lstStyle/>
                  <a:p>
                    <a:r>
                      <a:rPr sz="1200" b="1">
                        <a:solidFill>
                          <a:srgbClr val="262626"/>
                        </a:solidFill>
                      </a:rPr>
                      <a:t>12</a:t>
                    </a:r>
                  </a:p>
                </c:rich>
              </c:tx>
              <c:dLblPos val="outEnd"/>
              <c:showLegendKey val="0"/>
              <c:showVal val="1"/>
              <c:showCatName val="0"/>
              <c:showSerName val="0"/>
              <c:showPercent val="0"/>
              <c:showBubbleSize val="0"/>
            </c:dLbl>
            <c:dLbl>
              <c:idx val="2"/>
              <c:tx>
                <c:rich>
                  <a:bodyPr/>
                  <a:lstStyle/>
                  <a:p>
                    <a:r>
                      <a:rPr sz="1200" b="1">
                        <a:solidFill>
                          <a:srgbClr val="262626"/>
                        </a:solidFill>
                      </a:rPr>
                      <a:t>13</a:t>
                    </a:r>
                  </a:p>
                </c:rich>
              </c:tx>
              <c:dLblPos val="outEnd"/>
              <c:showLegendKey val="0"/>
              <c:showVal val="1"/>
              <c:showCatName val="0"/>
              <c:showSerName val="0"/>
              <c:showPercent val="0"/>
              <c:showBubbleSize val="0"/>
            </c:dLbl>
            <c:dLbl>
              <c:idx val="3"/>
              <c:tx>
                <c:rich>
                  <a:bodyPr/>
                  <a:lstStyle/>
                  <a:p>
                    <a:r>
                      <a:rPr sz="1200" b="1">
                        <a:solidFill>
                          <a:srgbClr val="262626"/>
                        </a:solidFill>
                      </a:rPr>
                      <a:t>19</a:t>
                    </a:r>
                  </a:p>
                </c:rich>
              </c:tx>
              <c:dLblPos val="outEnd"/>
              <c:showLegendKey val="0"/>
              <c:showVal val="1"/>
              <c:showCatName val="0"/>
              <c:showSerName val="0"/>
              <c:showPercent val="0"/>
              <c:showBubbleSize val="0"/>
            </c:dLbl>
            <c:dLbl>
              <c:idx val="4"/>
              <c:tx>
                <c:rich>
                  <a:bodyPr/>
                  <a:lstStyle/>
                  <a:p>
                    <a:r>
                      <a:rPr sz="1200" b="1">
                        <a:solidFill>
                          <a:srgbClr val="262626"/>
                        </a:solidFill>
                      </a:rPr>
                      <a:t>9</a:t>
                    </a:r>
                  </a:p>
                </c:rich>
              </c:tx>
              <c:dLblPos val="outEnd"/>
              <c:showLegendKey val="0"/>
              <c:showVal val="1"/>
              <c:showCatName val="0"/>
              <c:showSerName val="0"/>
              <c:showPercent val="0"/>
              <c:showBubbleSize val="0"/>
            </c:dLbl>
            <c:dLbl>
              <c:idx val="5"/>
              <c:tx>
                <c:rich>
                  <a:bodyPr/>
                  <a:lstStyle/>
                  <a:p>
                    <a:r>
                      <a:rPr sz="1200" b="1">
                        <a:solidFill>
                          <a:srgbClr val="262626"/>
                        </a:solidFill>
                      </a:rPr>
                      <a:t>11</a:t>
                    </a:r>
                  </a:p>
                </c:rich>
              </c:tx>
              <c:dLblPos val="outEnd"/>
              <c:showLegendKey val="0"/>
              <c:showVal val="1"/>
              <c:showCatName val="0"/>
              <c:showSerName val="0"/>
              <c:showPercent val="0"/>
              <c:showBubbleSize val="0"/>
            </c:dLbl>
            <c:dLbl>
              <c:idx val="6"/>
              <c:tx>
                <c:rich>
                  <a:bodyPr/>
                  <a:lstStyle/>
                  <a:p>
                    <a:r>
                      <a:rPr sz="1200" b="1">
                        <a:solidFill>
                          <a:srgbClr val="262626"/>
                        </a:solidFill>
                      </a:rPr>
                      <a:t>6</a:t>
                    </a:r>
                  </a:p>
                </c:rich>
              </c:tx>
              <c:dLblPos val="outEnd"/>
              <c:showLegendKey val="0"/>
              <c:showVal val="1"/>
              <c:showCatName val="0"/>
              <c:showSerName val="0"/>
              <c:showPercent val="0"/>
              <c:showBubbleSize val="0"/>
            </c:dLbl>
            <c:dLbl>
              <c:idx val="7"/>
              <c:tx>
                <c:rich>
                  <a:bodyPr/>
                  <a:lstStyle/>
                  <a:p>
                    <a:r>
                      <a:rPr sz="1200" b="1">
                        <a:solidFill>
                          <a:srgbClr val="262626"/>
                        </a:solidFill>
                      </a:rPr>
                      <a:t>13</a:t>
                    </a:r>
                  </a:p>
                </c:rich>
              </c:tx>
              <c:dLblPos val="outEnd"/>
              <c:showLegendKey val="0"/>
              <c:showVal val="1"/>
              <c:showCatName val="0"/>
              <c:showSerName val="0"/>
              <c:showPercent val="0"/>
              <c:showBubbleSize val="0"/>
            </c:dLbl>
            <c:dLbl>
              <c:idx val="8"/>
              <c:tx>
                <c:rich>
                  <a:bodyPr/>
                  <a:lstStyle/>
                  <a:p>
                    <a:r>
                      <a:rPr sz="1200" b="1">
                        <a:solidFill>
                          <a:srgbClr val="262626"/>
                        </a:solidFill>
                      </a:rPr>
                      <a:t>8</a:t>
                    </a:r>
                  </a:p>
                </c:rich>
              </c:tx>
              <c:dLblPos val="outEnd"/>
              <c:showLegendKey val="0"/>
              <c:showVal val="1"/>
              <c:showCatName val="0"/>
              <c:showSerName val="0"/>
              <c:showPercent val="0"/>
              <c:showBubbleSize val="0"/>
            </c:dLbl>
            <c:dLbl>
              <c:idx val="9"/>
              <c:tx>
                <c:rich>
                  <a:bodyPr/>
                  <a:lstStyle/>
                  <a:p>
                    <a:r>
                      <a:rPr sz="1200" b="1">
                        <a:solidFill>
                          <a:srgbClr val="262626"/>
                        </a:solidFill>
                      </a:rPr>
                      <a:t>11</a:t>
                    </a:r>
                  </a:p>
                </c:rich>
              </c:tx>
              <c:dLblPos val="outEnd"/>
              <c:showLegendKey val="0"/>
              <c:showVal val="1"/>
              <c:showCatName val="0"/>
              <c:showSerName val="0"/>
              <c:showPercent val="0"/>
              <c:showBubbleSize val="0"/>
            </c:dLbl>
            <c:dLbl>
              <c:idx val="10"/>
              <c:tx>
                <c:rich>
                  <a:bodyPr/>
                  <a:lstStyle/>
                  <a:p>
                    <a:r>
                      <a:rPr sz="1200" b="1">
                        <a:solidFill>
                          <a:srgbClr val="262626"/>
                        </a:solidFill>
                      </a:rPr>
                      <a:t>14</a:t>
                    </a:r>
                  </a:p>
                </c:rich>
              </c:tx>
              <c:dLblPos val="outEnd"/>
              <c:showLegendKey val="0"/>
              <c:showVal val="1"/>
              <c:showCatName val="0"/>
              <c:showSerName val="0"/>
              <c:showPercent val="0"/>
              <c:showBubbleSize val="0"/>
            </c:dLbl>
            <c:dLbl>
              <c:idx val="11"/>
              <c:tx>
                <c:rich>
                  <a:bodyPr/>
                  <a:lstStyle/>
                  <a:p>
                    <a:r>
                      <a:rPr sz="1200" b="1">
                        <a:solidFill>
                          <a:srgbClr val="262626"/>
                        </a:solidFill>
                      </a:rPr>
                      <a:t>14</a:t>
                    </a:r>
                  </a:p>
                </c:rich>
              </c:tx>
              <c:dLblPos val="outEnd"/>
              <c:showLegendKey val="0"/>
              <c:showVal val="1"/>
              <c:showCatName val="0"/>
              <c:showSerName val="0"/>
              <c:showPercent val="0"/>
              <c:showBubbleSize val="0"/>
            </c:dLbl>
            <c:dLbl>
              <c:idx val="12"/>
              <c:tx>
                <c:rich>
                  <a:bodyPr/>
                  <a:lstStyle/>
                  <a:p>
                    <a:r>
                      <a:rPr sz="1200" b="1">
                        <a:solidFill>
                          <a:srgbClr val="262626"/>
                        </a:solidFill>
                      </a:rPr>
                      <a:t>15</a:t>
                    </a:r>
                  </a:p>
                </c:rich>
              </c:tx>
              <c:dLblPos val="outEnd"/>
              <c:showLegendKey val="0"/>
              <c:showVal val="1"/>
              <c:showCatName val="0"/>
              <c:showSerName val="0"/>
              <c:showPercent val="0"/>
              <c:showBubbleSize val="0"/>
            </c:dLbl>
            <c:dLbl>
              <c:idx val="13"/>
              <c:tx>
                <c:rich>
                  <a:bodyPr/>
                  <a:lstStyle/>
                  <a:p>
                    <a:r>
                      <a:rPr sz="1200" b="1">
                        <a:solidFill>
                          <a:srgbClr val="262626"/>
                        </a:solidFill>
                      </a:rPr>
                      <a:t>11</a:t>
                    </a:r>
                  </a:p>
                </c:rich>
              </c:tx>
              <c:dLblPos val="outEnd"/>
              <c:showLegendKey val="0"/>
              <c:showVal val="1"/>
              <c:showCatName val="0"/>
              <c:showSerName val="0"/>
              <c:showPercent val="0"/>
              <c:showBubbleSize val="0"/>
            </c:dLbl>
            <c:dLbl>
              <c:idx val="14"/>
              <c:tx>
                <c:rich>
                  <a:bodyPr/>
                  <a:lstStyle/>
                  <a:p>
                    <a:r>
                      <a:rPr sz="1200" b="1">
                        <a:solidFill>
                          <a:srgbClr val="262626"/>
                        </a:solidFill>
                      </a:rPr>
                      <a:t>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3/3</c:v>
                </c:pt>
                <c:pt idx="1">
                  <c:v>4/3</c:v>
                </c:pt>
                <c:pt idx="2">
                  <c:v>5/3</c:v>
                </c:pt>
                <c:pt idx="3">
                  <c:v>6/3</c:v>
                </c:pt>
                <c:pt idx="4">
                  <c:v>7/3</c:v>
                </c:pt>
                <c:pt idx="5">
                  <c:v>8/3</c:v>
                </c:pt>
                <c:pt idx="6">
                  <c:v>9/3</c:v>
                </c:pt>
                <c:pt idx="7">
                  <c:v>10/3</c:v>
                </c:pt>
                <c:pt idx="8">
                  <c:v>11/3</c:v>
                </c:pt>
                <c:pt idx="9">
                  <c:v>12/3</c:v>
                </c:pt>
                <c:pt idx="10">
                  <c:v>13/3</c:v>
                </c:pt>
                <c:pt idx="11">
                  <c:v>14/3</c:v>
                </c:pt>
                <c:pt idx="12">
                  <c:v>15/3</c:v>
                </c:pt>
                <c:pt idx="13">
                  <c:v>16/3</c:v>
                </c:pt>
                <c:pt idx="14">
                  <c:v>17/3</c:v>
                </c:pt>
              </c:strCache>
            </c:strRef>
          </c:cat>
          <c:val>
            <c:numRef>
              <c:f>Sheet1!$B$2:$B$16</c:f>
              <c:numCache>
                <c:formatCode>General</c:formatCode>
                <c:ptCount val="15"/>
                <c:pt idx="0">
                  <c:v>5</c:v>
                </c:pt>
                <c:pt idx="1">
                  <c:v>12</c:v>
                </c:pt>
                <c:pt idx="2">
                  <c:v>13</c:v>
                </c:pt>
                <c:pt idx="3">
                  <c:v>19</c:v>
                </c:pt>
                <c:pt idx="4">
                  <c:v>9</c:v>
                </c:pt>
                <c:pt idx="5">
                  <c:v>11</c:v>
                </c:pt>
                <c:pt idx="6">
                  <c:v>6</c:v>
                </c:pt>
                <c:pt idx="7">
                  <c:v>13</c:v>
                </c:pt>
                <c:pt idx="8">
                  <c:v>8</c:v>
                </c:pt>
                <c:pt idx="9">
                  <c:v>11</c:v>
                </c:pt>
                <c:pt idx="10">
                  <c:v>14</c:v>
                </c:pt>
                <c:pt idx="11">
                  <c:v>14</c:v>
                </c:pt>
                <c:pt idx="12">
                  <c:v>15</c:v>
                </c:pt>
                <c:pt idx="13">
                  <c:v>11</c:v>
                </c:pt>
                <c:pt idx="14">
                  <c:v>4</c:v>
                </c:pt>
              </c:numCache>
            </c:numRef>
          </c:val>
        </c:ser>
        <c:dLbls>
          <c:numFmt formatCode="0"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50"/>
            </a:pPr>
          </a:p>
        </c:txPr>
        <c:crossAx val="-2113994440"/>
        <c:crosses val="autoZero"/>
        <c:auto val="1"/>
        <c:lblAlgn val="ctr"/>
        <c:lblOffset val="100"/>
        <c:noMultiLvlLbl val="0"/>
      </c:catAx>
      <c:valAx>
        <c:axId val="-2113994440"/>
        <c:scaling>
          <c:max val="22.0"/>
          <c:min val="0.0"/>
        </c:scaling>
        <c:delete/>
        <c:axPos val="l"/>
        <c:majorTickMark val="out"/>
        <c:minorTickMark val="none"/>
        <c:tickLblPos val="nextTo"/>
        <c:crossAx val="-2068027336"/>
        <c:crosses val="autoZero"/>
      </c:valAx>
    </c:plotArea>
    <c:dispBlanksAs val="gap"/>
  </c:chart>
  <c:txPr>
    <a:bodyPr/>
    <a:lstStyle/>
    <a:p>
      <a:pPr>
        <a:defRPr sz="1100">
          <a:solidFill>
            <a:srgbClr val="58595B"/>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58595B"/>
              </a:solidFill>
            </c:spPr>
          </c:dPt>
          <c:dPt>
            <c:idx val="1"/>
            <c:spPr>
              <a:solidFill>
                <a:srgbClr val="58595B"/>
              </a:solidFill>
            </c:spPr>
          </c:dPt>
          <c:dPt>
            <c:idx val="2"/>
            <c:spPr>
              <a:solidFill>
                <a:srgbClr val="58595B"/>
              </a:solidFill>
            </c:spPr>
          </c:dPt>
          <c:dPt>
            <c:idx val="3"/>
            <c:spPr>
              <a:solidFill>
                <a:srgbClr val="CC0000"/>
              </a:solidFill>
            </c:spPr>
          </c:dPt>
          <c:dPt>
            <c:idx val="4"/>
            <c:spPr>
              <a:solidFill>
                <a:srgbClr val="CC0000"/>
              </a:solidFill>
            </c:spPr>
          </c:dPt>
          <c:dLbls>
            <c:dLbl>
              <c:idx val="0"/>
              <c:tx>
                <c:rich>
                  <a:bodyPr/>
                  <a:lstStyle/>
                  <a:p>
                    <a:r>
                      <a:rPr sz="1200" b="1">
                        <a:solidFill>
                          <a:srgbClr val="262626"/>
                        </a:solidFill>
                      </a:rPr>
                      <a:t>3,88</a:t>
                    </a:r>
                  </a:p>
                </c:rich>
              </c:tx>
              <c:dLblPos val="outEnd"/>
              <c:showLegendKey val="0"/>
              <c:showVal val="1"/>
              <c:showCatName val="0"/>
              <c:showSerName val="0"/>
              <c:showPercent val="0"/>
              <c:showBubbleSize val="0"/>
            </c:dLbl>
            <c:dLbl>
              <c:idx val="1"/>
              <c:tx>
                <c:rich>
                  <a:bodyPr/>
                  <a:lstStyle/>
                  <a:p>
                    <a:r>
                      <a:rPr sz="1200" b="1">
                        <a:solidFill>
                          <a:srgbClr val="262626"/>
                        </a:solidFill>
                      </a:rPr>
                      <a:t>3,75</a:t>
                    </a:r>
                  </a:p>
                </c:rich>
              </c:tx>
              <c:dLblPos val="outEnd"/>
              <c:showLegendKey val="0"/>
              <c:showVal val="1"/>
              <c:showCatName val="0"/>
              <c:showSerName val="0"/>
              <c:showPercent val="0"/>
              <c:showBubbleSize val="0"/>
            </c:dLbl>
            <c:dLbl>
              <c:idx val="2"/>
              <c:tx>
                <c:rich>
                  <a:bodyPr/>
                  <a:lstStyle/>
                  <a:p>
                    <a:r>
                      <a:rPr sz="1200" b="1">
                        <a:solidFill>
                          <a:srgbClr val="262626"/>
                        </a:solidFill>
                      </a:rPr>
                      <a:t>3,74</a:t>
                    </a:r>
                  </a:p>
                </c:rich>
              </c:tx>
              <c:dLblPos val="outEnd"/>
              <c:showLegendKey val="0"/>
              <c:showVal val="1"/>
              <c:showCatName val="0"/>
              <c:showSerName val="0"/>
              <c:showPercent val="0"/>
              <c:showBubbleSize val="0"/>
            </c:dLbl>
            <c:dLbl>
              <c:idx val="3"/>
              <c:tx>
                <c:rich>
                  <a:bodyPr/>
                  <a:lstStyle/>
                  <a:p>
                    <a:r>
                      <a:rPr sz="1200" b="1">
                        <a:solidFill>
                          <a:srgbClr val="262626"/>
                        </a:solidFill>
                      </a:rPr>
                      <a:t>3,41</a:t>
                    </a:r>
                  </a:p>
                </c:rich>
              </c:tx>
              <c:dLblPos val="outEnd"/>
              <c:showLegendKey val="0"/>
              <c:showVal val="1"/>
              <c:showCatName val="0"/>
              <c:showSerName val="0"/>
              <c:showPercent val="0"/>
              <c:showBubbleSize val="0"/>
            </c:dLbl>
            <c:dLbl>
              <c:idx val="4"/>
              <c:tx>
                <c:rich>
                  <a:bodyPr/>
                  <a:lstStyle/>
                  <a:p>
                    <a:r>
                      <a:rPr sz="1200" b="1">
                        <a:solidFill>
                          <a:srgbClr val="262626"/>
                        </a:solidFill>
                      </a:rPr>
                      <a:t>3,36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Sự hữu ích (HI)</c:v>
                </c:pt>
                <c:pt idx="1">
                  <c:v>Ý định sử dụng (YD)</c:v>
                </c:pt>
                <c:pt idx="2">
                  <c:v>Sự dễ sử dụng (SD)</c:v>
                </c:pt>
                <c:pt idx="3">
                  <c:v>Niềm tin (NT)</c:v>
                </c:pt>
                <c:pt idx="4">
                  <c:v>Ảnh hưởng xã hội (XH)</c:v>
                </c:pt>
              </c:strCache>
            </c:strRef>
          </c:cat>
          <c:val>
            <c:numRef>
              <c:f>Sheet1!$B$2:$B$6</c:f>
              <c:numCache>
                <c:formatCode>General</c:formatCode>
                <c:ptCount val="5"/>
                <c:pt idx="0">
                  <c:v>3.877</c:v>
                </c:pt>
                <c:pt idx="1">
                  <c:v>3.751</c:v>
                </c:pt>
                <c:pt idx="2">
                  <c:v>3.74</c:v>
                </c:pt>
                <c:pt idx="3">
                  <c:v>3.408</c:v>
                </c:pt>
                <c:pt idx="4">
                  <c:v>3.362</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9D9D9"/>
            </a:solidFill>
          </a:ln>
        </c:spPr>
        <c:txPr>
          <a:bodyPr/>
          <a:lstStyle/>
          <a:p>
            <a:pPr>
              <a:defRPr sz="1150"/>
            </a:pPr>
          </a:p>
        </c:txPr>
        <c:crossAx val="-2113994440"/>
        <c:crosses val="autoZero"/>
        <c:auto val="1"/>
        <c:lblAlgn val="ctr"/>
        <c:lblOffset val="100"/>
        <c:noMultiLvlLbl val="0"/>
      </c:catAx>
      <c:valAx>
        <c:axId val="-2113994440"/>
        <c:scaling>
          <c:max val="5.0"/>
          <c:min val="0.0"/>
        </c:scaling>
        <c:delete/>
        <c:axPos val="b"/>
        <c:majorTickMark val="out"/>
        <c:minorTickMark val="none"/>
        <c:tickLblPos val="nextTo"/>
        <c:crossAx val="-2068027336"/>
        <c:crosses val="autoZero"/>
      </c:valAx>
    </c:plotArea>
    <c:dispBlanksAs val="gap"/>
  </c:chart>
  <c:txPr>
    <a:bodyPr/>
    <a:lstStyle/>
    <a:p>
      <a:pPr>
        <a:defRPr sz="1100">
          <a:solidFill>
            <a:srgbClr val="58595B"/>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CC0000"/>
              </a:solidFill>
            </c:spPr>
          </c:dPt>
          <c:dPt>
            <c:idx val="1"/>
            <c:spPr>
              <a:solidFill>
                <a:srgbClr val="58595B"/>
              </a:solidFill>
            </c:spPr>
          </c:dPt>
          <c:dPt>
            <c:idx val="2"/>
            <c:spPr>
              <a:solidFill>
                <a:srgbClr val="58595B"/>
              </a:solidFill>
            </c:spPr>
          </c:dPt>
          <c:dPt>
            <c:idx val="3"/>
            <c:spPr>
              <a:solidFill>
                <a:srgbClr val="58595B"/>
              </a:solidFill>
            </c:spPr>
          </c:dPt>
          <c:dLbls>
            <c:dLbl>
              <c:idx val="0"/>
              <c:tx>
                <c:rich>
                  <a:bodyPr/>
                  <a:lstStyle/>
                  <a:p>
                    <a:r>
                      <a:rPr sz="1200" b="1">
                        <a:solidFill>
                          <a:srgbClr val="262626"/>
                        </a:solidFill>
                      </a:rPr>
                      <a:t>0,587</a:t>
                    </a:r>
                  </a:p>
                </c:rich>
              </c:tx>
              <c:dLblPos val="outEnd"/>
              <c:showLegendKey val="0"/>
              <c:showVal val="1"/>
              <c:showCatName val="0"/>
              <c:showSerName val="0"/>
              <c:showPercent val="0"/>
              <c:showBubbleSize val="0"/>
            </c:dLbl>
            <c:dLbl>
              <c:idx val="1"/>
              <c:tx>
                <c:rich>
                  <a:bodyPr/>
                  <a:lstStyle/>
                  <a:p>
                    <a:r>
                      <a:rPr sz="1200" b="1">
                        <a:solidFill>
                          <a:srgbClr val="262626"/>
                        </a:solidFill>
                      </a:rPr>
                      <a:t>0,538</a:t>
                    </a:r>
                  </a:p>
                </c:rich>
              </c:tx>
              <c:dLblPos val="outEnd"/>
              <c:showLegendKey val="0"/>
              <c:showVal val="1"/>
              <c:showCatName val="0"/>
              <c:showSerName val="0"/>
              <c:showPercent val="0"/>
              <c:showBubbleSize val="0"/>
            </c:dLbl>
            <c:dLbl>
              <c:idx val="2"/>
              <c:tx>
                <c:rich>
                  <a:bodyPr/>
                  <a:lstStyle/>
                  <a:p>
                    <a:r>
                      <a:rPr sz="1200" b="1">
                        <a:solidFill>
                          <a:srgbClr val="262626"/>
                        </a:solidFill>
                      </a:rPr>
                      <a:t>0,469</a:t>
                    </a:r>
                  </a:p>
                </c:rich>
              </c:tx>
              <c:dLblPos val="outEnd"/>
              <c:showLegendKey val="0"/>
              <c:showVal val="1"/>
              <c:showCatName val="0"/>
              <c:showSerName val="0"/>
              <c:showPercent val="0"/>
              <c:showBubbleSize val="0"/>
            </c:dLbl>
            <c:dLbl>
              <c:idx val="3"/>
              <c:tx>
                <c:rich>
                  <a:bodyPr/>
                  <a:lstStyle/>
                  <a:p>
                    <a:r>
                      <a:rPr sz="1200" b="1">
                        <a:solidFill>
                          <a:srgbClr val="262626"/>
                        </a:solidFill>
                      </a:rPr>
                      <a:t>0,356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Sự hữu ích (HI)</c:v>
                </c:pt>
                <c:pt idx="1">
                  <c:v>Niềm tin (NT)</c:v>
                </c:pt>
                <c:pt idx="2">
                  <c:v>Ảnh hưởng xã hội (XH)</c:v>
                </c:pt>
                <c:pt idx="3">
                  <c:v>Sự dễ sử dụng (SD)</c:v>
                </c:pt>
              </c:strCache>
            </c:strRef>
          </c:cat>
          <c:val>
            <c:numRef>
              <c:f>Sheet1!$B$2:$B$5</c:f>
              <c:numCache>
                <c:formatCode>General</c:formatCode>
                <c:ptCount val="4"/>
                <c:pt idx="0">
                  <c:v>0.587</c:v>
                </c:pt>
                <c:pt idx="1">
                  <c:v>0.538</c:v>
                </c:pt>
                <c:pt idx="2">
                  <c:v>0.469</c:v>
                </c:pt>
                <c:pt idx="3">
                  <c:v>0.356</c:v>
                </c:pt>
              </c:numCache>
            </c:numRef>
          </c:val>
        </c:ser>
        <c:dLbls>
          <c:numFmt formatCode="0.000"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9D9D9"/>
            </a:solidFill>
          </a:ln>
        </c:spPr>
        <c:txPr>
          <a:bodyPr/>
          <a:lstStyle/>
          <a:p>
            <a:pPr>
              <a:defRPr sz="1150"/>
            </a:pPr>
          </a:p>
        </c:txPr>
        <c:crossAx val="-2113994440"/>
        <c:crosses val="autoZero"/>
        <c:auto val="1"/>
        <c:lblAlgn val="ctr"/>
        <c:lblOffset val="100"/>
        <c:noMultiLvlLbl val="0"/>
      </c:catAx>
      <c:valAx>
        <c:axId val="-2113994440"/>
        <c:scaling>
          <c:max val="0.75"/>
          <c:min val="0.0"/>
        </c:scaling>
        <c:delete/>
        <c:axPos val="b"/>
        <c:majorTickMark val="out"/>
        <c:minorTickMark val="none"/>
        <c:tickLblPos val="nextTo"/>
        <c:crossAx val="-2068027336"/>
        <c:crosses val="autoZero"/>
      </c:valAx>
    </c:plotArea>
    <c:dispBlanksAs val="gap"/>
  </c:chart>
  <c:txPr>
    <a:bodyPr/>
    <a:lstStyle/>
    <a:p>
      <a:pPr>
        <a:defRPr sz="1100">
          <a:solidFill>
            <a:srgbClr val="58595B"/>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CC0000"/>
              </a:solidFill>
            </c:spPr>
          </c:dPt>
          <c:dPt>
            <c:idx val="1"/>
            <c:spPr>
              <a:solidFill>
                <a:srgbClr val="58595B"/>
              </a:solidFill>
            </c:spPr>
          </c:dPt>
          <c:dPt>
            <c:idx val="2"/>
            <c:spPr>
              <a:solidFill>
                <a:srgbClr val="58595B"/>
              </a:solidFill>
            </c:spPr>
          </c:dPt>
          <c:dPt>
            <c:idx val="3"/>
            <c:spPr>
              <a:solidFill>
                <a:srgbClr val="FFFFFF"/>
              </a:solidFill>
              <a:ln w="19050">
                <a:solidFill>
                  <a:srgbClr val="9E9E9E"/>
                </a:solidFill>
              </a:ln>
            </c:spPr>
          </c:dPt>
          <c:dLbls>
            <c:dLbl>
              <c:idx val="0"/>
              <c:tx>
                <c:rich>
                  <a:bodyPr/>
                  <a:lstStyle/>
                  <a:p>
                    <a:r>
                      <a:rPr sz="1200" b="1">
                        <a:solidFill>
                          <a:srgbClr val="262626"/>
                        </a:solidFill>
                      </a:rPr>
                      <a:t>0,394</a:t>
                    </a:r>
                  </a:p>
                </c:rich>
              </c:tx>
              <c:dLblPos val="outEnd"/>
              <c:showLegendKey val="0"/>
              <c:showVal val="1"/>
              <c:showCatName val="0"/>
              <c:showSerName val="0"/>
              <c:showPercent val="0"/>
              <c:showBubbleSize val="0"/>
            </c:dLbl>
            <c:dLbl>
              <c:idx val="1"/>
              <c:tx>
                <c:rich>
                  <a:bodyPr/>
                  <a:lstStyle/>
                  <a:p>
                    <a:r>
                      <a:rPr sz="1200" b="1">
                        <a:solidFill>
                          <a:srgbClr val="262626"/>
                        </a:solidFill>
                      </a:rPr>
                      <a:t>0,328</a:t>
                    </a:r>
                  </a:p>
                </c:rich>
              </c:tx>
              <c:dLblPos val="outEnd"/>
              <c:showLegendKey val="0"/>
              <c:showVal val="1"/>
              <c:showCatName val="0"/>
              <c:showSerName val="0"/>
              <c:showPercent val="0"/>
              <c:showBubbleSize val="0"/>
            </c:dLbl>
            <c:dLbl>
              <c:idx val="2"/>
              <c:tx>
                <c:rich>
                  <a:bodyPr/>
                  <a:lstStyle/>
                  <a:p>
                    <a:r>
                      <a:rPr sz="1200" b="1">
                        <a:solidFill>
                          <a:srgbClr val="262626"/>
                        </a:solidFill>
                      </a:rPr>
                      <a:t>0,227</a:t>
                    </a:r>
                  </a:p>
                </c:rich>
              </c:tx>
              <c:dLblPos val="outEnd"/>
              <c:showLegendKey val="0"/>
              <c:showVal val="1"/>
              <c:showCatName val="0"/>
              <c:showSerName val="0"/>
              <c:showPercent val="0"/>
              <c:showBubbleSize val="0"/>
            </c:dLbl>
            <c:dLbl>
              <c:idx val="3"/>
              <c:tx>
                <c:rich>
                  <a:bodyPr/>
                  <a:lstStyle/>
                  <a:p>
                    <a:r>
                      <a:rPr sz="1200" b="1">
                        <a:solidFill>
                          <a:srgbClr val="262626"/>
                        </a:solidFill>
                      </a:rPr>
                      <a:t>0,064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Sự hữu ích (HI)</c:v>
                </c:pt>
                <c:pt idx="1">
                  <c:v>Niềm tin (NT)</c:v>
                </c:pt>
                <c:pt idx="2">
                  <c:v>Ảnh hưởng xã hội (XH)</c:v>
                </c:pt>
                <c:pt idx="3">
                  <c:v>Sự dễ sử dụng (SD)</c:v>
                </c:pt>
              </c:strCache>
            </c:strRef>
          </c:cat>
          <c:val>
            <c:numRef>
              <c:f>Sheet1!$B$2:$B$5</c:f>
              <c:numCache>
                <c:formatCode>General</c:formatCode>
                <c:ptCount val="4"/>
                <c:pt idx="0">
                  <c:v>0.394</c:v>
                </c:pt>
                <c:pt idx="1">
                  <c:v>0.328</c:v>
                </c:pt>
                <c:pt idx="2">
                  <c:v>0.227</c:v>
                </c:pt>
                <c:pt idx="3">
                  <c:v>0.064</c:v>
                </c:pt>
              </c:numCache>
            </c:numRef>
          </c:val>
        </c:ser>
        <c:dLbls>
          <c:numFmt formatCode="0.000"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9D9D9"/>
            </a:solidFill>
          </a:ln>
        </c:spPr>
        <c:txPr>
          <a:bodyPr/>
          <a:lstStyle/>
          <a:p>
            <a:pPr>
              <a:defRPr sz="1150"/>
            </a:pPr>
          </a:p>
        </c:txPr>
        <c:crossAx val="-2113994440"/>
        <c:crosses val="autoZero"/>
        <c:auto val="1"/>
        <c:lblAlgn val="ctr"/>
        <c:lblOffset val="100"/>
        <c:noMultiLvlLbl val="0"/>
      </c:catAx>
      <c:valAx>
        <c:axId val="-2113994440"/>
        <c:scaling>
          <c:max val="0.5"/>
          <c:min val="0.0"/>
        </c:scaling>
        <c:delete/>
        <c:axPos val="b"/>
        <c:majorTickMark val="out"/>
        <c:minorTickMark val="none"/>
        <c:tickLblPos val="nextTo"/>
        <c:crossAx val="-2068027336"/>
        <c:crosses val="autoZero"/>
      </c:valAx>
    </c:plotArea>
    <c:dispBlanksAs val="gap"/>
  </c:chart>
  <c:txPr>
    <a:bodyPr/>
    <a:lstStyle/>
    <a:p>
      <a:pPr>
        <a:defRPr sz="1100">
          <a:solidFill>
            <a:srgbClr val="58595B"/>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CC0000"/>
              </a:solidFill>
            </c:spPr>
          </c:dPt>
          <c:dPt>
            <c:idx val="1"/>
            <c:spPr>
              <a:solidFill>
                <a:srgbClr val="58595B"/>
              </a:solidFill>
            </c:spPr>
          </c:dPt>
          <c:dPt>
            <c:idx val="2"/>
            <c:spPr>
              <a:solidFill>
                <a:srgbClr val="58595B"/>
              </a:solidFill>
            </c:spPr>
          </c:dPt>
          <c:dLbls>
            <c:dLbl>
              <c:idx val="0"/>
              <c:tx>
                <c:rich>
                  <a:bodyPr/>
                  <a:lstStyle/>
                  <a:p>
                    <a:r>
                      <a:rPr sz="1200" b="1">
                        <a:solidFill>
                          <a:srgbClr val="262626"/>
                        </a:solidFill>
                      </a:rPr>
                      <a:t>42,9%</a:t>
                    </a:r>
                  </a:p>
                </c:rich>
              </c:tx>
              <c:dLblPos val="outEnd"/>
              <c:showLegendKey val="0"/>
              <c:showVal val="1"/>
              <c:showCatName val="0"/>
              <c:showSerName val="0"/>
              <c:showPercent val="0"/>
              <c:showBubbleSize val="0"/>
            </c:dLbl>
            <c:dLbl>
              <c:idx val="1"/>
              <c:tx>
                <c:rich>
                  <a:bodyPr/>
                  <a:lstStyle/>
                  <a:p>
                    <a:r>
                      <a:rPr sz="1200" b="1">
                        <a:solidFill>
                          <a:srgbClr val="262626"/>
                        </a:solidFill>
                      </a:rPr>
                      <a:t>31,6%</a:t>
                    </a:r>
                  </a:p>
                </c:rich>
              </c:tx>
              <c:dLblPos val="outEnd"/>
              <c:showLegendKey val="0"/>
              <c:showVal val="1"/>
              <c:showCatName val="0"/>
              <c:showSerName val="0"/>
              <c:showPercent val="0"/>
              <c:showBubbleSize val="0"/>
            </c:dLbl>
            <c:dLbl>
              <c:idx val="2"/>
              <c:tx>
                <c:rich>
                  <a:bodyPr/>
                  <a:lstStyle/>
                  <a:p>
                    <a:r>
                      <a:rPr sz="1200" b="1">
                        <a:solidFill>
                          <a:srgbClr val="262626"/>
                        </a:solidFill>
                      </a:rPr>
                      <a:t>25,5%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Thời gian chờ đợi (TG)</c:v>
                </c:pt>
                <c:pt idx="1">
                  <c:v>Thủ tục giấy tờ (TT)</c:v>
                </c:pt>
                <c:pt idx="2">
                  <c:v>Thái độ nhân viên (TD)</c:v>
                </c:pt>
              </c:strCache>
            </c:strRef>
          </c:cat>
          <c:val>
            <c:numRef>
              <c:f>Sheet1!$B$2:$B$4</c:f>
              <c:numCache>
                <c:formatCode>General</c:formatCode>
                <c:ptCount val="3"/>
                <c:pt idx="0">
                  <c:v>42.9</c:v>
                </c:pt>
                <c:pt idx="1">
                  <c:v>31.6</c:v>
                </c:pt>
                <c:pt idx="2">
                  <c:v>25.5</c:v>
                </c:pt>
              </c:numCache>
            </c:numRef>
          </c:val>
        </c:ser>
        <c:dLbls>
          <c:numFmt formatCode="0.000"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9D9D9"/>
            </a:solidFill>
          </a:ln>
        </c:spPr>
        <c:txPr>
          <a:bodyPr/>
          <a:lstStyle/>
          <a:p>
            <a:pPr>
              <a:defRPr sz="1150"/>
            </a:pPr>
          </a:p>
        </c:txPr>
        <c:crossAx val="-2113994440"/>
        <c:crosses val="autoZero"/>
        <c:auto val="1"/>
        <c:lblAlgn val="ctr"/>
        <c:lblOffset val="100"/>
        <c:noMultiLvlLbl val="0"/>
      </c:catAx>
      <c:valAx>
        <c:axId val="-2113994440"/>
        <c:scaling>
          <c:max val="55.0"/>
          <c:min val="0.0"/>
        </c:scaling>
        <c:delete/>
        <c:axPos val="b"/>
        <c:majorTickMark val="out"/>
        <c:minorTickMark val="none"/>
        <c:tickLblPos val="nextTo"/>
        <c:crossAx val="-2068027336"/>
        <c:crosses val="autoZero"/>
      </c:valAx>
    </c:plotArea>
    <c:dispBlanksAs val="gap"/>
  </c:chart>
  <c:txPr>
    <a:bodyPr/>
    <a:lstStyle/>
    <a:p>
      <a:pPr>
        <a:defRPr sz="1100">
          <a:solidFill>
            <a:srgbClr val="58595B"/>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058400" cy="365760"/>
          </a:xfrm>
          <a:prstGeom prst="rect">
            <a:avLst/>
          </a:prstGeom>
          <a:noFill/>
        </p:spPr>
        <p:txBody>
          <a:bodyPr wrap="square" lIns="45720" rIns="45720" tIns="27432" bIns="27432" anchor="t">
            <a:spAutoFit/>
          </a:bodyPr>
          <a:lstStyle/>
          <a:p>
            <a:pPr algn="l"/>
            <a:r>
              <a:rPr sz="1200" b="1" i="0">
                <a:solidFill>
                  <a:srgbClr val="9E9E9E"/>
                </a:solidFill>
                <a:latin typeface="Arial"/>
              </a:rPr>
              <a:t>CORE SLIDE 2 | HƯỚNG DẪN VIẾT KHÓA LUẬN TỐT NGHIỆP</a:t>
            </a:r>
          </a:p>
        </p:txBody>
      </p:sp>
      <p:sp>
        <p:nvSpPr>
          <p:cNvPr id="5" name="TextBox 4"/>
          <p:cNvSpPr txBox="1"/>
          <p:nvPr/>
        </p:nvSpPr>
        <p:spPr>
          <a:xfrm>
            <a:off x="914400" y="1463040"/>
            <a:ext cx="10332720" cy="2011680"/>
          </a:xfrm>
          <a:prstGeom prst="rect">
            <a:avLst/>
          </a:prstGeom>
          <a:noFill/>
        </p:spPr>
        <p:txBody>
          <a:bodyPr wrap="square" lIns="45720" rIns="45720" tIns="27432" bIns="27432" anchor="t">
            <a:spAutoFit/>
          </a:bodyPr>
          <a:lstStyle/>
          <a:p>
            <a:pPr algn="l"/>
            <a:r>
              <a:rPr sz="4000" b="1" i="0">
                <a:solidFill>
                  <a:srgbClr val="262626"/>
                </a:solidFill>
                <a:latin typeface="Arial"/>
              </a:rPr>
              <a:t>Từ câu hỏi nghiên cứu đến buổi bảo vệ: viết khóa luận như một chuỗi logic khép kín</a:t>
            </a:r>
          </a:p>
        </p:txBody>
      </p:sp>
      <p:cxnSp>
        <p:nvCxnSpPr>
          <p:cNvPr id="6" name="Connector 5"/>
          <p:cNvCxnSpPr/>
          <p:nvPr/>
        </p:nvCxnSpPr>
        <p:spPr>
          <a:xfrm>
            <a:off x="914400" y="3657600"/>
            <a:ext cx="182880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3840480"/>
            <a:ext cx="10058400" cy="1097280"/>
          </a:xfrm>
          <a:prstGeom prst="rect">
            <a:avLst/>
          </a:prstGeom>
          <a:noFill/>
        </p:spPr>
        <p:txBody>
          <a:bodyPr wrap="square" lIns="45720" rIns="45720" tIns="27432" bIns="27432" anchor="t">
            <a:spAutoFit/>
          </a:bodyPr>
          <a:lstStyle/>
          <a:p>
            <a:pPr algn="l"/>
            <a:r>
              <a:rPr sz="1800" b="0" i="0">
                <a:solidFill>
                  <a:srgbClr val="58595B"/>
                </a:solidFill>
                <a:latin typeface="Arial"/>
              </a:rPr>
              <a:t>Đi theo đúng trình tự của cuốn sách: Phần mở đầu, Chương 1 đến Chương 5, Kết luận, hoàn thiện, nộp và bảo vệ. Thực hành với đề tài Ngân hàng X và Trường Tiểu học Y (dữ liệu giả định).</a:t>
            </a:r>
          </a:p>
        </p:txBody>
      </p:sp>
      <p:sp>
        <p:nvSpPr>
          <p:cNvPr id="8" name="TextBox 7"/>
          <p:cNvSpPr txBox="1"/>
          <p:nvPr/>
        </p:nvSpPr>
        <p:spPr>
          <a:xfrm>
            <a:off x="914400" y="6035040"/>
            <a:ext cx="10058400" cy="365760"/>
          </a:xfrm>
          <a:prstGeom prst="rect">
            <a:avLst/>
          </a:prstGeom>
          <a:noFill/>
        </p:spPr>
        <p:txBody>
          <a:bodyPr wrap="square" lIns="45720" rIns="45720" tIns="27432" bIns="27432" anchor="t">
            <a:spAutoFit/>
          </a:bodyPr>
          <a:lstStyle/>
          <a:p>
            <a:pPr algn="l"/>
            <a:r>
              <a:rPr sz="1100" b="0" i="0">
                <a:solidFill>
                  <a:srgbClr val="9E9E9E"/>
                </a:solidFill>
                <a:latin typeface="Arial"/>
              </a:rPr>
              <a:t>Nguồn: Hướng dẫn Chuyên đề và Khóa luận tốt nghiệp; bốn file Excel thực hành đi kèm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LỘ TRÌNH BUỔI HỌC</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Buổi học đi qua bảy phần, đúng theo thứ tự các em sẽ viết khóa luận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Tổng khoảng 245 phút: nên chia hai buổi, buổi 1 từ phần 01 đến 03, buổi 2 từ phần 04 đến 07.</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0)</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a:t>
            </a:r>
          </a:p>
        </p:txBody>
      </p:sp>
      <p:sp>
        <p:nvSpPr>
          <p:cNvPr id="11" name="TextBox 10"/>
          <p:cNvSpPr txBox="1"/>
          <p:nvPr/>
        </p:nvSpPr>
        <p:spPr>
          <a:xfrm>
            <a:off x="457200" y="1783080"/>
            <a:ext cx="731520" cy="548640"/>
          </a:xfrm>
          <a:prstGeom prst="rect">
            <a:avLst/>
          </a:prstGeom>
          <a:noFill/>
        </p:spPr>
        <p:txBody>
          <a:bodyPr wrap="square" lIns="45720" rIns="45720" tIns="27432" bIns="27432" anchor="ctr">
            <a:spAutoFit/>
          </a:bodyPr>
          <a:lstStyle/>
          <a:p>
            <a:pPr algn="l"/>
            <a:r>
              <a:rPr sz="2000" b="1" i="0">
                <a:solidFill>
                  <a:srgbClr val="CC0000"/>
                </a:solidFill>
                <a:latin typeface="Arial"/>
              </a:rPr>
              <a:t>01</a:t>
            </a:r>
          </a:p>
        </p:txBody>
      </p:sp>
      <p:sp>
        <p:nvSpPr>
          <p:cNvPr id="12" name="TextBox 11"/>
          <p:cNvSpPr txBox="1"/>
          <p:nvPr/>
        </p:nvSpPr>
        <p:spPr>
          <a:xfrm>
            <a:off x="1280160" y="1783080"/>
            <a:ext cx="4206240" cy="548640"/>
          </a:xfrm>
          <a:prstGeom prst="rect">
            <a:avLst/>
          </a:prstGeom>
          <a:noFill/>
        </p:spPr>
        <p:txBody>
          <a:bodyPr wrap="square" lIns="45720" rIns="45720" tIns="27432" bIns="27432" anchor="ctr">
            <a:spAutoFit/>
          </a:bodyPr>
          <a:lstStyle/>
          <a:p>
            <a:pPr algn="l"/>
            <a:r>
              <a:rPr sz="1450" b="1" i="0">
                <a:solidFill>
                  <a:srgbClr val="262626"/>
                </a:solidFill>
                <a:latin typeface="Arial"/>
              </a:rPr>
              <a:t>Nối tiếp Core Slide 1 và bức tranh chung</a:t>
            </a:r>
          </a:p>
        </p:txBody>
      </p:sp>
      <p:sp>
        <p:nvSpPr>
          <p:cNvPr id="13" name="TextBox 12"/>
          <p:cNvSpPr txBox="1"/>
          <p:nvPr/>
        </p:nvSpPr>
        <p:spPr>
          <a:xfrm>
            <a:off x="5577840" y="1783080"/>
            <a:ext cx="4937760" cy="548640"/>
          </a:xfrm>
          <a:prstGeom prst="rect">
            <a:avLst/>
          </a:prstGeom>
          <a:noFill/>
        </p:spPr>
        <p:txBody>
          <a:bodyPr wrap="square" lIns="45720" rIns="45720" tIns="27432" bIns="27432" anchor="ctr">
            <a:spAutoFit/>
          </a:bodyPr>
          <a:lstStyle/>
          <a:p>
            <a:pPr algn="l"/>
            <a:r>
              <a:rPr sz="1200" b="0" i="0">
                <a:solidFill>
                  <a:srgbClr val="58595B"/>
                </a:solidFill>
                <a:latin typeface="Arial"/>
              </a:rPr>
              <a:t>Lời hứa của Core Slide 1, kế hoạch tuần, tiêu chí, ba chữ "khớp"</a:t>
            </a:r>
          </a:p>
        </p:txBody>
      </p:sp>
      <p:sp>
        <p:nvSpPr>
          <p:cNvPr id="14" name="TextBox 13"/>
          <p:cNvSpPr txBox="1"/>
          <p:nvPr/>
        </p:nvSpPr>
        <p:spPr>
          <a:xfrm>
            <a:off x="10607040" y="1783080"/>
            <a:ext cx="1124712" cy="548640"/>
          </a:xfrm>
          <a:prstGeom prst="rect">
            <a:avLst/>
          </a:prstGeom>
          <a:noFill/>
        </p:spPr>
        <p:txBody>
          <a:bodyPr wrap="square" lIns="45720" rIns="45720" tIns="27432" bIns="27432" anchor="ctr">
            <a:spAutoFit/>
          </a:bodyPr>
          <a:lstStyle/>
          <a:p>
            <a:pPr algn="r"/>
            <a:r>
              <a:rPr sz="1200" b="0" i="0">
                <a:solidFill>
                  <a:srgbClr val="9E9E9E"/>
                </a:solidFill>
                <a:latin typeface="Arial"/>
              </a:rPr>
              <a:t>25 phút</a:t>
            </a:r>
          </a:p>
        </p:txBody>
      </p:sp>
      <p:cxnSp>
        <p:nvCxnSpPr>
          <p:cNvPr id="15" name="Connector 14"/>
          <p:cNvCxnSpPr/>
          <p:nvPr/>
        </p:nvCxnSpPr>
        <p:spPr>
          <a:xfrm>
            <a:off x="457200" y="2331720"/>
            <a:ext cx="1127455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2331720"/>
            <a:ext cx="731520" cy="548640"/>
          </a:xfrm>
          <a:prstGeom prst="rect">
            <a:avLst/>
          </a:prstGeom>
          <a:noFill/>
        </p:spPr>
        <p:txBody>
          <a:bodyPr wrap="square" lIns="45720" rIns="45720" tIns="27432" bIns="27432" anchor="ctr">
            <a:spAutoFit/>
          </a:bodyPr>
          <a:lstStyle/>
          <a:p>
            <a:pPr algn="l"/>
            <a:r>
              <a:rPr sz="2000" b="1" i="0">
                <a:solidFill>
                  <a:srgbClr val="CC0000"/>
                </a:solidFill>
                <a:latin typeface="Arial"/>
              </a:rPr>
              <a:t>02</a:t>
            </a:r>
          </a:p>
        </p:txBody>
      </p:sp>
      <p:sp>
        <p:nvSpPr>
          <p:cNvPr id="17" name="TextBox 16"/>
          <p:cNvSpPr txBox="1"/>
          <p:nvPr/>
        </p:nvSpPr>
        <p:spPr>
          <a:xfrm>
            <a:off x="1280160" y="2331720"/>
            <a:ext cx="4206240" cy="548640"/>
          </a:xfrm>
          <a:prstGeom prst="rect">
            <a:avLst/>
          </a:prstGeom>
          <a:noFill/>
        </p:spPr>
        <p:txBody>
          <a:bodyPr wrap="square" lIns="45720" rIns="45720" tIns="27432" bIns="27432" anchor="ctr">
            <a:spAutoFit/>
          </a:bodyPr>
          <a:lstStyle/>
          <a:p>
            <a:pPr algn="l"/>
            <a:r>
              <a:rPr sz="1450" b="1" i="0">
                <a:solidFill>
                  <a:srgbClr val="262626"/>
                </a:solidFill>
                <a:latin typeface="Arial"/>
              </a:rPr>
              <a:t>Phần mở đầu và Chương 1</a:t>
            </a:r>
          </a:p>
        </p:txBody>
      </p:sp>
      <p:sp>
        <p:nvSpPr>
          <p:cNvPr id="18" name="TextBox 17"/>
          <p:cNvSpPr txBox="1"/>
          <p:nvPr/>
        </p:nvSpPr>
        <p:spPr>
          <a:xfrm>
            <a:off x="5577840" y="2331720"/>
            <a:ext cx="4937760" cy="548640"/>
          </a:xfrm>
          <a:prstGeom prst="rect">
            <a:avLst/>
          </a:prstGeom>
          <a:noFill/>
        </p:spPr>
        <p:txBody>
          <a:bodyPr wrap="square" lIns="45720" rIns="45720" tIns="27432" bIns="27432" anchor="ctr">
            <a:spAutoFit/>
          </a:bodyPr>
          <a:lstStyle/>
          <a:p>
            <a:pPr algn="l"/>
            <a:r>
              <a:rPr sz="1200" b="0" i="0">
                <a:solidFill>
                  <a:srgbClr val="58595B"/>
                </a:solidFill>
                <a:latin typeface="Arial"/>
              </a:rPr>
              <a:t>Bảy mục, sáu mối nối, mục 1.1, ví dụ Chương 1 mẫu</a:t>
            </a:r>
          </a:p>
        </p:txBody>
      </p:sp>
      <p:sp>
        <p:nvSpPr>
          <p:cNvPr id="19" name="TextBox 18"/>
          <p:cNvSpPr txBox="1"/>
          <p:nvPr/>
        </p:nvSpPr>
        <p:spPr>
          <a:xfrm>
            <a:off x="10607040" y="2331720"/>
            <a:ext cx="1124712" cy="548640"/>
          </a:xfrm>
          <a:prstGeom prst="rect">
            <a:avLst/>
          </a:prstGeom>
          <a:noFill/>
        </p:spPr>
        <p:txBody>
          <a:bodyPr wrap="square" lIns="45720" rIns="45720" tIns="27432" bIns="27432" anchor="ctr">
            <a:spAutoFit/>
          </a:bodyPr>
          <a:lstStyle/>
          <a:p>
            <a:pPr algn="r"/>
            <a:r>
              <a:rPr sz="1200" b="0" i="0">
                <a:solidFill>
                  <a:srgbClr val="9E9E9E"/>
                </a:solidFill>
                <a:latin typeface="Arial"/>
              </a:rPr>
              <a:t>30 phút</a:t>
            </a:r>
          </a:p>
        </p:txBody>
      </p:sp>
      <p:cxnSp>
        <p:nvCxnSpPr>
          <p:cNvPr id="20" name="Connector 19"/>
          <p:cNvCxnSpPr/>
          <p:nvPr/>
        </p:nvCxnSpPr>
        <p:spPr>
          <a:xfrm>
            <a:off x="457200" y="2880360"/>
            <a:ext cx="1127455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880360"/>
            <a:ext cx="731520" cy="548640"/>
          </a:xfrm>
          <a:prstGeom prst="rect">
            <a:avLst/>
          </a:prstGeom>
          <a:noFill/>
        </p:spPr>
        <p:txBody>
          <a:bodyPr wrap="square" lIns="45720" rIns="45720" tIns="27432" bIns="27432" anchor="ctr">
            <a:spAutoFit/>
          </a:bodyPr>
          <a:lstStyle/>
          <a:p>
            <a:pPr algn="l"/>
            <a:r>
              <a:rPr sz="2000" b="1" i="0">
                <a:solidFill>
                  <a:srgbClr val="CC0000"/>
                </a:solidFill>
                <a:latin typeface="Arial"/>
              </a:rPr>
              <a:t>03</a:t>
            </a:r>
          </a:p>
        </p:txBody>
      </p:sp>
      <p:sp>
        <p:nvSpPr>
          <p:cNvPr id="22" name="TextBox 21"/>
          <p:cNvSpPr txBox="1"/>
          <p:nvPr/>
        </p:nvSpPr>
        <p:spPr>
          <a:xfrm>
            <a:off x="1280160" y="2880360"/>
            <a:ext cx="4206240" cy="548640"/>
          </a:xfrm>
          <a:prstGeom prst="rect">
            <a:avLst/>
          </a:prstGeom>
          <a:noFill/>
        </p:spPr>
        <p:txBody>
          <a:bodyPr wrap="square" lIns="45720" rIns="45720" tIns="27432" bIns="27432" anchor="ctr">
            <a:spAutoFit/>
          </a:bodyPr>
          <a:lstStyle/>
          <a:p>
            <a:pPr algn="l"/>
            <a:r>
              <a:rPr sz="1450" b="1" i="0">
                <a:solidFill>
                  <a:srgbClr val="262626"/>
                </a:solidFill>
                <a:latin typeface="Arial"/>
              </a:rPr>
              <a:t>Chương 2: Lý thuyết và mô hình</a:t>
            </a:r>
          </a:p>
        </p:txBody>
      </p:sp>
      <p:sp>
        <p:nvSpPr>
          <p:cNvPr id="23" name="TextBox 22"/>
          <p:cNvSpPr txBox="1"/>
          <p:nvPr/>
        </p:nvSpPr>
        <p:spPr>
          <a:xfrm>
            <a:off x="5577840" y="2880360"/>
            <a:ext cx="4937760" cy="548640"/>
          </a:xfrm>
          <a:prstGeom prst="rect">
            <a:avLst/>
          </a:prstGeom>
          <a:noFill/>
        </p:spPr>
        <p:txBody>
          <a:bodyPr wrap="square" lIns="45720" rIns="45720" tIns="27432" bIns="27432" anchor="ctr">
            <a:spAutoFit/>
          </a:bodyPr>
          <a:lstStyle/>
          <a:p>
            <a:pPr algn="l"/>
            <a:r>
              <a:rPr sz="1200" b="0" i="0">
                <a:solidFill>
                  <a:srgbClr val="58595B"/>
                </a:solidFill>
                <a:latin typeface="Arial"/>
              </a:rPr>
              <a:t>Tìm và tổng hợp tài liệu, khoảng trống, điểm mới, giả thuyết</a:t>
            </a:r>
          </a:p>
        </p:txBody>
      </p:sp>
      <p:sp>
        <p:nvSpPr>
          <p:cNvPr id="24" name="TextBox 23"/>
          <p:cNvSpPr txBox="1"/>
          <p:nvPr/>
        </p:nvSpPr>
        <p:spPr>
          <a:xfrm>
            <a:off x="10607040" y="2880360"/>
            <a:ext cx="1124712" cy="548640"/>
          </a:xfrm>
          <a:prstGeom prst="rect">
            <a:avLst/>
          </a:prstGeom>
          <a:noFill/>
        </p:spPr>
        <p:txBody>
          <a:bodyPr wrap="square" lIns="45720" rIns="45720" tIns="27432" bIns="27432" anchor="ctr">
            <a:spAutoFit/>
          </a:bodyPr>
          <a:lstStyle/>
          <a:p>
            <a:pPr algn="r"/>
            <a:r>
              <a:rPr sz="1200" b="0" i="0">
                <a:solidFill>
                  <a:srgbClr val="9E9E9E"/>
                </a:solidFill>
                <a:latin typeface="Arial"/>
              </a:rPr>
              <a:t>33 phút</a:t>
            </a:r>
          </a:p>
        </p:txBody>
      </p:sp>
      <p:cxnSp>
        <p:nvCxnSpPr>
          <p:cNvPr id="25" name="Connector 24"/>
          <p:cNvCxnSpPr/>
          <p:nvPr/>
        </p:nvCxnSpPr>
        <p:spPr>
          <a:xfrm>
            <a:off x="457200" y="3429000"/>
            <a:ext cx="1127455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3429000"/>
            <a:ext cx="731520" cy="548640"/>
          </a:xfrm>
          <a:prstGeom prst="rect">
            <a:avLst/>
          </a:prstGeom>
          <a:noFill/>
        </p:spPr>
        <p:txBody>
          <a:bodyPr wrap="square" lIns="45720" rIns="45720" tIns="27432" bIns="27432" anchor="ctr">
            <a:spAutoFit/>
          </a:bodyPr>
          <a:lstStyle/>
          <a:p>
            <a:pPr algn="l"/>
            <a:r>
              <a:rPr sz="2000" b="1" i="0">
                <a:solidFill>
                  <a:srgbClr val="CC0000"/>
                </a:solidFill>
                <a:latin typeface="Arial"/>
              </a:rPr>
              <a:t>04</a:t>
            </a:r>
          </a:p>
        </p:txBody>
      </p:sp>
      <p:sp>
        <p:nvSpPr>
          <p:cNvPr id="27" name="TextBox 26"/>
          <p:cNvSpPr txBox="1"/>
          <p:nvPr/>
        </p:nvSpPr>
        <p:spPr>
          <a:xfrm>
            <a:off x="1280160" y="3429000"/>
            <a:ext cx="4206240" cy="548640"/>
          </a:xfrm>
          <a:prstGeom prst="rect">
            <a:avLst/>
          </a:prstGeom>
          <a:noFill/>
        </p:spPr>
        <p:txBody>
          <a:bodyPr wrap="square" lIns="45720" rIns="45720" tIns="27432" bIns="27432" anchor="ctr">
            <a:spAutoFit/>
          </a:bodyPr>
          <a:lstStyle/>
          <a:p>
            <a:pPr algn="l"/>
            <a:r>
              <a:rPr sz="1450" b="1" i="0">
                <a:solidFill>
                  <a:srgbClr val="262626"/>
                </a:solidFill>
                <a:latin typeface="Arial"/>
              </a:rPr>
              <a:t>Chương 3: Phương pháp</a:t>
            </a:r>
          </a:p>
        </p:txBody>
      </p:sp>
      <p:sp>
        <p:nvSpPr>
          <p:cNvPr id="28" name="TextBox 27"/>
          <p:cNvSpPr txBox="1"/>
          <p:nvPr/>
        </p:nvSpPr>
        <p:spPr>
          <a:xfrm>
            <a:off x="5577840" y="3429000"/>
            <a:ext cx="4937760" cy="548640"/>
          </a:xfrm>
          <a:prstGeom prst="rect">
            <a:avLst/>
          </a:prstGeom>
          <a:noFill/>
        </p:spPr>
        <p:txBody>
          <a:bodyPr wrap="square" lIns="45720" rIns="45720" tIns="27432" bIns="27432" anchor="ctr">
            <a:spAutoFit/>
          </a:bodyPr>
          <a:lstStyle/>
          <a:p>
            <a:pPr algn="l"/>
            <a:r>
              <a:rPr sz="1200" b="0" i="0">
                <a:solidFill>
                  <a:srgbClr val="58595B"/>
                </a:solidFill>
                <a:latin typeface="Arial"/>
              </a:rPr>
              <a:t>Mẫu, dữ liệu sơ cấp và thứ cấp, đi khảo sát, phỏng vấn, sai lệch, phân tích</a:t>
            </a:r>
          </a:p>
        </p:txBody>
      </p:sp>
      <p:sp>
        <p:nvSpPr>
          <p:cNvPr id="29" name="TextBox 28"/>
          <p:cNvSpPr txBox="1"/>
          <p:nvPr/>
        </p:nvSpPr>
        <p:spPr>
          <a:xfrm>
            <a:off x="10607040" y="3429000"/>
            <a:ext cx="1124712" cy="548640"/>
          </a:xfrm>
          <a:prstGeom prst="rect">
            <a:avLst/>
          </a:prstGeom>
          <a:noFill/>
        </p:spPr>
        <p:txBody>
          <a:bodyPr wrap="square" lIns="45720" rIns="45720" tIns="27432" bIns="27432" anchor="ctr">
            <a:spAutoFit/>
          </a:bodyPr>
          <a:lstStyle/>
          <a:p>
            <a:pPr algn="r"/>
            <a:r>
              <a:rPr sz="1200" b="0" i="0">
                <a:solidFill>
                  <a:srgbClr val="9E9E9E"/>
                </a:solidFill>
                <a:latin typeface="Arial"/>
              </a:rPr>
              <a:t>67 phút</a:t>
            </a:r>
          </a:p>
        </p:txBody>
      </p:sp>
      <p:cxnSp>
        <p:nvCxnSpPr>
          <p:cNvPr id="30" name="Connector 29"/>
          <p:cNvCxnSpPr/>
          <p:nvPr/>
        </p:nvCxnSpPr>
        <p:spPr>
          <a:xfrm>
            <a:off x="457200" y="3977639"/>
            <a:ext cx="1127455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3977639"/>
            <a:ext cx="731520" cy="548640"/>
          </a:xfrm>
          <a:prstGeom prst="rect">
            <a:avLst/>
          </a:prstGeom>
          <a:noFill/>
        </p:spPr>
        <p:txBody>
          <a:bodyPr wrap="square" lIns="45720" rIns="45720" tIns="27432" bIns="27432" anchor="ctr">
            <a:spAutoFit/>
          </a:bodyPr>
          <a:lstStyle/>
          <a:p>
            <a:pPr algn="l"/>
            <a:r>
              <a:rPr sz="2000" b="1" i="0">
                <a:solidFill>
                  <a:srgbClr val="CC0000"/>
                </a:solidFill>
                <a:latin typeface="Arial"/>
              </a:rPr>
              <a:t>05</a:t>
            </a:r>
          </a:p>
        </p:txBody>
      </p:sp>
      <p:sp>
        <p:nvSpPr>
          <p:cNvPr id="32" name="TextBox 31"/>
          <p:cNvSpPr txBox="1"/>
          <p:nvPr/>
        </p:nvSpPr>
        <p:spPr>
          <a:xfrm>
            <a:off x="1280160" y="3977639"/>
            <a:ext cx="4206240" cy="548640"/>
          </a:xfrm>
          <a:prstGeom prst="rect">
            <a:avLst/>
          </a:prstGeom>
          <a:noFill/>
        </p:spPr>
        <p:txBody>
          <a:bodyPr wrap="square" lIns="45720" rIns="45720" tIns="27432" bIns="27432" anchor="ctr">
            <a:spAutoFit/>
          </a:bodyPr>
          <a:lstStyle/>
          <a:p>
            <a:pPr algn="l"/>
            <a:r>
              <a:rPr sz="1450" b="1" i="0">
                <a:solidFill>
                  <a:srgbClr val="262626"/>
                </a:solidFill>
                <a:latin typeface="Arial"/>
              </a:rPr>
              <a:t>Chương 4: Kết quả và thảo luận</a:t>
            </a:r>
          </a:p>
        </p:txBody>
      </p:sp>
      <p:sp>
        <p:nvSpPr>
          <p:cNvPr id="33" name="TextBox 32"/>
          <p:cNvSpPr txBox="1"/>
          <p:nvPr/>
        </p:nvSpPr>
        <p:spPr>
          <a:xfrm>
            <a:off x="5577840" y="3977639"/>
            <a:ext cx="4937760" cy="548640"/>
          </a:xfrm>
          <a:prstGeom prst="rect">
            <a:avLst/>
          </a:prstGeom>
          <a:noFill/>
        </p:spPr>
        <p:txBody>
          <a:bodyPr wrap="square" lIns="45720" rIns="45720" tIns="27432" bIns="27432" anchor="ctr">
            <a:spAutoFit/>
          </a:bodyPr>
          <a:lstStyle/>
          <a:p>
            <a:pPr algn="l"/>
            <a:r>
              <a:rPr sz="1200" b="0" i="0">
                <a:solidFill>
                  <a:srgbClr val="58595B"/>
                </a:solidFill>
                <a:latin typeface="Arial"/>
              </a:rPr>
              <a:t>Diễn giải bảng, ba loại bằng chứng, kết quả bất ngờ</a:t>
            </a:r>
          </a:p>
        </p:txBody>
      </p:sp>
      <p:sp>
        <p:nvSpPr>
          <p:cNvPr id="34" name="TextBox 33"/>
          <p:cNvSpPr txBox="1"/>
          <p:nvPr/>
        </p:nvSpPr>
        <p:spPr>
          <a:xfrm>
            <a:off x="10607040" y="3977639"/>
            <a:ext cx="1124712" cy="548640"/>
          </a:xfrm>
          <a:prstGeom prst="rect">
            <a:avLst/>
          </a:prstGeom>
          <a:noFill/>
        </p:spPr>
        <p:txBody>
          <a:bodyPr wrap="square" lIns="45720" rIns="45720" tIns="27432" bIns="27432" anchor="ctr">
            <a:spAutoFit/>
          </a:bodyPr>
          <a:lstStyle/>
          <a:p>
            <a:pPr algn="r"/>
            <a:r>
              <a:rPr sz="1200" b="0" i="0">
                <a:solidFill>
                  <a:srgbClr val="9E9E9E"/>
                </a:solidFill>
                <a:latin typeface="Arial"/>
              </a:rPr>
              <a:t>38 phút</a:t>
            </a:r>
          </a:p>
        </p:txBody>
      </p:sp>
      <p:cxnSp>
        <p:nvCxnSpPr>
          <p:cNvPr id="35" name="Connector 34"/>
          <p:cNvCxnSpPr/>
          <p:nvPr/>
        </p:nvCxnSpPr>
        <p:spPr>
          <a:xfrm>
            <a:off x="457200" y="4526279"/>
            <a:ext cx="1127455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57200" y="4526280"/>
            <a:ext cx="731520" cy="548640"/>
          </a:xfrm>
          <a:prstGeom prst="rect">
            <a:avLst/>
          </a:prstGeom>
          <a:noFill/>
        </p:spPr>
        <p:txBody>
          <a:bodyPr wrap="square" lIns="45720" rIns="45720" tIns="27432" bIns="27432" anchor="ctr">
            <a:spAutoFit/>
          </a:bodyPr>
          <a:lstStyle/>
          <a:p>
            <a:pPr algn="l"/>
            <a:r>
              <a:rPr sz="2000" b="1" i="0">
                <a:solidFill>
                  <a:srgbClr val="CC0000"/>
                </a:solidFill>
                <a:latin typeface="Arial"/>
              </a:rPr>
              <a:t>06</a:t>
            </a:r>
          </a:p>
        </p:txBody>
      </p:sp>
      <p:sp>
        <p:nvSpPr>
          <p:cNvPr id="37" name="TextBox 36"/>
          <p:cNvSpPr txBox="1"/>
          <p:nvPr/>
        </p:nvSpPr>
        <p:spPr>
          <a:xfrm>
            <a:off x="1280160" y="4526280"/>
            <a:ext cx="4206240" cy="548640"/>
          </a:xfrm>
          <a:prstGeom prst="rect">
            <a:avLst/>
          </a:prstGeom>
          <a:noFill/>
        </p:spPr>
        <p:txBody>
          <a:bodyPr wrap="square" lIns="45720" rIns="45720" tIns="27432" bIns="27432" anchor="ctr">
            <a:spAutoFit/>
          </a:bodyPr>
          <a:lstStyle/>
          <a:p>
            <a:pPr algn="l"/>
            <a:r>
              <a:rPr sz="1450" b="1" i="0">
                <a:solidFill>
                  <a:srgbClr val="262626"/>
                </a:solidFill>
                <a:latin typeface="Arial"/>
              </a:rPr>
              <a:t>Chương 5 và Kết luận</a:t>
            </a:r>
          </a:p>
        </p:txBody>
      </p:sp>
      <p:sp>
        <p:nvSpPr>
          <p:cNvPr id="38" name="TextBox 37"/>
          <p:cNvSpPr txBox="1"/>
          <p:nvPr/>
        </p:nvSpPr>
        <p:spPr>
          <a:xfrm>
            <a:off x="5577840" y="4526280"/>
            <a:ext cx="4937760" cy="548640"/>
          </a:xfrm>
          <a:prstGeom prst="rect">
            <a:avLst/>
          </a:prstGeom>
          <a:noFill/>
        </p:spPr>
        <p:txBody>
          <a:bodyPr wrap="square" lIns="45720" rIns="45720" tIns="27432" bIns="27432" anchor="ctr">
            <a:spAutoFit/>
          </a:bodyPr>
          <a:lstStyle/>
          <a:p>
            <a:pPr algn="l"/>
            <a:r>
              <a:rPr sz="1200" b="0" i="0">
                <a:solidFill>
                  <a:srgbClr val="58595B"/>
                </a:solidFill>
                <a:latin typeface="Arial"/>
              </a:rPr>
              <a:t>Trả lời câu hỏi, ma trận ưu tiên, hàm ý, tóm tắt</a:t>
            </a:r>
          </a:p>
        </p:txBody>
      </p:sp>
      <p:sp>
        <p:nvSpPr>
          <p:cNvPr id="39" name="TextBox 38"/>
          <p:cNvSpPr txBox="1"/>
          <p:nvPr/>
        </p:nvSpPr>
        <p:spPr>
          <a:xfrm>
            <a:off x="10607040" y="4526280"/>
            <a:ext cx="1124712" cy="548640"/>
          </a:xfrm>
          <a:prstGeom prst="rect">
            <a:avLst/>
          </a:prstGeom>
          <a:noFill/>
        </p:spPr>
        <p:txBody>
          <a:bodyPr wrap="square" lIns="45720" rIns="45720" tIns="27432" bIns="27432" anchor="ctr">
            <a:spAutoFit/>
          </a:bodyPr>
          <a:lstStyle/>
          <a:p>
            <a:pPr algn="r"/>
            <a:r>
              <a:rPr sz="1200" b="0" i="0">
                <a:solidFill>
                  <a:srgbClr val="9E9E9E"/>
                </a:solidFill>
                <a:latin typeface="Arial"/>
              </a:rPr>
              <a:t>24 phút</a:t>
            </a:r>
          </a:p>
        </p:txBody>
      </p:sp>
      <p:cxnSp>
        <p:nvCxnSpPr>
          <p:cNvPr id="40" name="Connector 39"/>
          <p:cNvCxnSpPr/>
          <p:nvPr/>
        </p:nvCxnSpPr>
        <p:spPr>
          <a:xfrm>
            <a:off x="457200" y="5074920"/>
            <a:ext cx="1127455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57200" y="5074920"/>
            <a:ext cx="731520" cy="548640"/>
          </a:xfrm>
          <a:prstGeom prst="rect">
            <a:avLst/>
          </a:prstGeom>
          <a:noFill/>
        </p:spPr>
        <p:txBody>
          <a:bodyPr wrap="square" lIns="45720" rIns="45720" tIns="27432" bIns="27432" anchor="ctr">
            <a:spAutoFit/>
          </a:bodyPr>
          <a:lstStyle/>
          <a:p>
            <a:pPr algn="l"/>
            <a:r>
              <a:rPr sz="2000" b="1" i="0">
                <a:solidFill>
                  <a:srgbClr val="CC0000"/>
                </a:solidFill>
                <a:latin typeface="Arial"/>
              </a:rPr>
              <a:t>07</a:t>
            </a:r>
          </a:p>
        </p:txBody>
      </p:sp>
      <p:sp>
        <p:nvSpPr>
          <p:cNvPr id="42" name="TextBox 41"/>
          <p:cNvSpPr txBox="1"/>
          <p:nvPr/>
        </p:nvSpPr>
        <p:spPr>
          <a:xfrm>
            <a:off x="1280160" y="5074920"/>
            <a:ext cx="4206240" cy="548640"/>
          </a:xfrm>
          <a:prstGeom prst="rect">
            <a:avLst/>
          </a:prstGeom>
          <a:noFill/>
        </p:spPr>
        <p:txBody>
          <a:bodyPr wrap="square" lIns="45720" rIns="45720" tIns="27432" bIns="27432" anchor="ctr">
            <a:spAutoFit/>
          </a:bodyPr>
          <a:lstStyle/>
          <a:p>
            <a:pPr algn="l"/>
            <a:r>
              <a:rPr sz="1450" b="1" i="0">
                <a:solidFill>
                  <a:srgbClr val="262626"/>
                </a:solidFill>
                <a:latin typeface="Arial"/>
              </a:rPr>
              <a:t>Hoàn thiện, nộp và bảo vệ</a:t>
            </a:r>
          </a:p>
        </p:txBody>
      </p:sp>
      <p:sp>
        <p:nvSpPr>
          <p:cNvPr id="43" name="TextBox 42"/>
          <p:cNvSpPr txBox="1"/>
          <p:nvPr/>
        </p:nvSpPr>
        <p:spPr>
          <a:xfrm>
            <a:off x="5577840" y="5074920"/>
            <a:ext cx="4937760" cy="548640"/>
          </a:xfrm>
          <a:prstGeom prst="rect">
            <a:avLst/>
          </a:prstGeom>
          <a:noFill/>
        </p:spPr>
        <p:txBody>
          <a:bodyPr wrap="square" lIns="45720" rIns="45720" tIns="27432" bIns="27432" anchor="ctr">
            <a:spAutoFit/>
          </a:bodyPr>
          <a:lstStyle/>
          <a:p>
            <a:pPr algn="l"/>
            <a:r>
              <a:rPr sz="1200" b="0" i="0">
                <a:solidFill>
                  <a:srgbClr val="58595B"/>
                </a:solidFill>
                <a:latin typeface="Arial"/>
              </a:rPr>
              <a:t>APA, định dạng, sáu cặp điểm nối, Hội đồng</a:t>
            </a:r>
          </a:p>
        </p:txBody>
      </p:sp>
      <p:sp>
        <p:nvSpPr>
          <p:cNvPr id="44" name="TextBox 43"/>
          <p:cNvSpPr txBox="1"/>
          <p:nvPr/>
        </p:nvSpPr>
        <p:spPr>
          <a:xfrm>
            <a:off x="10607040" y="5074920"/>
            <a:ext cx="1124712" cy="548640"/>
          </a:xfrm>
          <a:prstGeom prst="rect">
            <a:avLst/>
          </a:prstGeom>
          <a:noFill/>
        </p:spPr>
        <p:txBody>
          <a:bodyPr wrap="square" lIns="45720" rIns="45720" tIns="27432" bIns="27432" anchor="ctr">
            <a:spAutoFit/>
          </a:bodyPr>
          <a:lstStyle/>
          <a:p>
            <a:pPr algn="r"/>
            <a:r>
              <a:rPr sz="1200" b="0" i="0">
                <a:solidFill>
                  <a:srgbClr val="9E9E9E"/>
                </a:solidFill>
                <a:latin typeface="Arial"/>
              </a:rPr>
              <a:t>28 phút</a:t>
            </a:r>
          </a:p>
        </p:txBody>
      </p:sp>
      <p:cxnSp>
        <p:nvCxnSpPr>
          <p:cNvPr id="45" name="Connector 44"/>
          <p:cNvCxnSpPr/>
          <p:nvPr/>
        </p:nvCxnSpPr>
        <p:spPr>
          <a:xfrm>
            <a:off x="457200" y="5623559"/>
            <a:ext cx="1127455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148840"/>
            <a:ext cx="109728" cy="21945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011680"/>
            <a:ext cx="9144000" cy="914400"/>
          </a:xfrm>
          <a:prstGeom prst="rect">
            <a:avLst/>
          </a:prstGeom>
          <a:noFill/>
        </p:spPr>
        <p:txBody>
          <a:bodyPr wrap="square" lIns="45720" rIns="45720" tIns="27432" bIns="27432" anchor="t">
            <a:spAutoFit/>
          </a:bodyPr>
          <a:lstStyle/>
          <a:p>
            <a:pPr algn="l"/>
            <a:r>
              <a:rPr sz="6000" b="1" i="0">
                <a:solidFill>
                  <a:srgbClr val="CC0000"/>
                </a:solidFill>
                <a:latin typeface="Arial"/>
              </a:rPr>
              <a:t>01</a:t>
            </a:r>
          </a:p>
        </p:txBody>
      </p:sp>
      <p:sp>
        <p:nvSpPr>
          <p:cNvPr id="5" name="TextBox 4"/>
          <p:cNvSpPr txBox="1"/>
          <p:nvPr/>
        </p:nvSpPr>
        <p:spPr>
          <a:xfrm>
            <a:off x="1051560" y="2926080"/>
            <a:ext cx="10058400" cy="914400"/>
          </a:xfrm>
          <a:prstGeom prst="rect">
            <a:avLst/>
          </a:prstGeom>
          <a:noFill/>
        </p:spPr>
        <p:txBody>
          <a:bodyPr wrap="square" lIns="45720" rIns="45720" tIns="27432" bIns="27432" anchor="t">
            <a:spAutoFit/>
          </a:bodyPr>
          <a:lstStyle/>
          <a:p>
            <a:pPr algn="l"/>
            <a:r>
              <a:rPr sz="3400" b="1" i="0">
                <a:solidFill>
                  <a:srgbClr val="FFFFFF"/>
                </a:solidFill>
                <a:latin typeface="Arial"/>
              </a:rPr>
              <a:t>Nối tiếp Core Slide 1 và bức tranh chung</a:t>
            </a:r>
          </a:p>
        </p:txBody>
      </p:sp>
      <p:sp>
        <p:nvSpPr>
          <p:cNvPr id="6" name="TextBox 5"/>
          <p:cNvSpPr txBox="1"/>
          <p:nvPr/>
        </p:nvSpPr>
        <p:spPr>
          <a:xfrm>
            <a:off x="1051560" y="3794760"/>
            <a:ext cx="10058400" cy="822960"/>
          </a:xfrm>
          <a:prstGeom prst="rect">
            <a:avLst/>
          </a:prstGeom>
          <a:noFill/>
        </p:spPr>
        <p:txBody>
          <a:bodyPr wrap="square" lIns="45720" rIns="45720" tIns="27432" bIns="27432" anchor="t">
            <a:spAutoFit/>
          </a:bodyPr>
          <a:lstStyle/>
          <a:p>
            <a:pPr algn="l"/>
            <a:r>
              <a:rPr sz="1600" b="0" i="0">
                <a:solidFill>
                  <a:srgbClr val="D9D9D9"/>
                </a:solidFill>
                <a:latin typeface="Arial"/>
              </a:rPr>
              <a:t>Core Slide 1 cho các em khung; Core Slide 2 đi vào từng trang khóa luận, đối chiếu từng mục trong sách</a:t>
            </a:r>
          </a:p>
        </p:txBody>
      </p:sp>
      <p:sp>
        <p:nvSpPr>
          <p:cNvPr id="7" name="TextBox 6"/>
          <p:cNvSpPr txBox="1"/>
          <p:nvPr/>
        </p:nvSpPr>
        <p:spPr>
          <a:xfrm>
            <a:off x="1051560" y="4709160"/>
            <a:ext cx="10058400" cy="822960"/>
          </a:xfrm>
          <a:prstGeom prst="rect">
            <a:avLst/>
          </a:prstGeom>
          <a:noFill/>
        </p:spPr>
        <p:txBody>
          <a:bodyPr wrap="square" lIns="45720" rIns="45720" tIns="27432" bIns="27432" anchor="t">
            <a:spAutoFit/>
          </a:bodyPr>
          <a:lstStyle/>
          <a:p>
            <a:pPr algn="l"/>
            <a:r>
              <a:rPr sz="1300" b="1" i="0">
                <a:solidFill>
                  <a:srgbClr val="F29B9B"/>
                </a:solidFill>
                <a:latin typeface="Arial"/>
              </a:rPr>
              <a:t>ĐỌC TRONG SÁCH: Phần 0; Hình 0-1, 0-2 và 2-2; Bảng 0-1</a:t>
            </a:r>
          </a:p>
        </p:txBody>
      </p:sp>
      <p:sp>
        <p:nvSpPr>
          <p:cNvPr id="8" name="TextBox 7"/>
          <p:cNvSpPr txBox="1"/>
          <p:nvPr/>
        </p:nvSpPr>
        <p:spPr>
          <a:xfrm>
            <a:off x="1051560" y="5943600"/>
            <a:ext cx="10058400" cy="365760"/>
          </a:xfrm>
          <a:prstGeom prst="rect">
            <a:avLst/>
          </a:prstGeom>
          <a:noFill/>
        </p:spPr>
        <p:txBody>
          <a:bodyPr wrap="square" lIns="45720" rIns="45720" tIns="27432" bIns="27432" anchor="t">
            <a:spAutoFit/>
          </a:bodyPr>
          <a:lstStyle/>
          <a:p>
            <a:pPr algn="l"/>
            <a:r>
              <a:rPr sz="1200" b="0" i="0">
                <a:solidFill>
                  <a:srgbClr val="9E9E9E"/>
                </a:solidFill>
                <a:latin typeface="Arial"/>
              </a:rPr>
              <a:t>Thời lượng ước tính: 25 phút | 11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NỐI TIẾP CORE SLIDE 1</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Core Slide 1 trả lời "cần làm gì và vì sao"; Core Slide 2 trả lời "làm thế nào" trên từng trang khóa luận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Hôm nay các em đã có khung; Core Slide 2 đi vào từng mục của khung đó, đối chiếu từng trang trong sách hướng dẫn.</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Core Slide 1 (Phần I đến XV); Hướng dẫn Chuyên đề và Khóa luận tốt nghiệp</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a:t>
            </a:r>
          </a:p>
        </p:txBody>
      </p:sp>
      <p:sp>
        <p:nvSpPr>
          <p:cNvPr id="11" name="Rectangle 10"/>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Định hướng (Phần I đến III)</a:t>
            </a:r>
          </a:p>
        </p:txBody>
      </p:sp>
      <p:sp>
        <p:nvSpPr>
          <p:cNvPr id="14" name="TextBox 13"/>
          <p:cNvSpPr txBox="1"/>
          <p:nvPr/>
        </p:nvSpPr>
        <p:spPr>
          <a:xfrm>
            <a:off x="457200" y="2560320"/>
            <a:ext cx="3575304" cy="3017520"/>
          </a:xfrm>
          <a:prstGeom prst="rect">
            <a:avLst/>
          </a:prstGeom>
          <a:noFill/>
        </p:spPr>
        <p:txBody>
          <a:bodyPr wrap="square" lIns="45720" rIns="45720" tIns="27432" bIns="27432" anchor="t">
            <a:spAutoFit/>
          </a:bodyPr>
          <a:lstStyle/>
          <a:p>
            <a:pPr algn="l"/>
            <a:r>
              <a:rPr sz="1350" b="0" i="0">
                <a:solidFill>
                  <a:srgbClr val="58595B"/>
                </a:solidFill>
                <a:latin typeface="Arial"/>
              </a:rPr>
              <a:t>Khóa luận là nghiên cứu thật, không phải tổng hợp thông tin.</a:t>
            </a:r>
          </a:p>
          <a:p>
            <a:pPr algn="l">
              <a:spcBef>
                <a:spcPts val="607"/>
              </a:spcBef>
            </a:pPr>
          </a:p>
          <a:p>
            <a:pPr algn="l">
              <a:spcBef>
                <a:spcPts val="607"/>
              </a:spcBef>
            </a:pPr>
            <a:r>
              <a:rPr sz="1350" b="0" i="0">
                <a:solidFill>
                  <a:srgbClr val="58595B"/>
                </a:solidFill>
                <a:latin typeface="Arial"/>
              </a:rPr>
              <a:t>Tư duy nghiên cứu, vấn đề thực tế và khoảng trống nghiên cứu.</a:t>
            </a:r>
          </a:p>
          <a:p>
            <a:pPr algn="l">
              <a:spcBef>
                <a:spcPts val="607"/>
              </a:spcBef>
            </a:pPr>
          </a:p>
          <a:p>
            <a:pPr algn="l">
              <a:spcBef>
                <a:spcPts val="607"/>
              </a:spcBef>
            </a:pPr>
            <a:r>
              <a:rPr sz="1350" b="0" i="0">
                <a:solidFill>
                  <a:srgbClr val="58595B"/>
                </a:solidFill>
                <a:latin typeface="Arial"/>
              </a:rPr>
              <a:t>Chọn đề tài an toàn, thu hẹp phạm vi.</a:t>
            </a:r>
          </a:p>
        </p:txBody>
      </p:sp>
      <p:sp>
        <p:nvSpPr>
          <p:cNvPr id="15" name="Rectangle 14"/>
          <p:cNvSpPr/>
          <p:nvPr/>
        </p:nvSpPr>
        <p:spPr>
          <a:xfrm>
            <a:off x="4306824"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Thiết kế (Phần IV đến VII)</a:t>
            </a:r>
          </a:p>
        </p:txBody>
      </p:sp>
      <p:sp>
        <p:nvSpPr>
          <p:cNvPr id="18" name="TextBox 17"/>
          <p:cNvSpPr txBox="1"/>
          <p:nvPr/>
        </p:nvSpPr>
        <p:spPr>
          <a:xfrm>
            <a:off x="4306824" y="2560320"/>
            <a:ext cx="3575304" cy="3017520"/>
          </a:xfrm>
          <a:prstGeom prst="rect">
            <a:avLst/>
          </a:prstGeom>
          <a:noFill/>
        </p:spPr>
        <p:txBody>
          <a:bodyPr wrap="square" lIns="45720" rIns="45720" tIns="27432" bIns="27432" anchor="t">
            <a:spAutoFit/>
          </a:bodyPr>
          <a:lstStyle/>
          <a:p>
            <a:pPr algn="l"/>
            <a:r>
              <a:rPr sz="1350" b="0" i="0">
                <a:solidFill>
                  <a:srgbClr val="58595B"/>
                </a:solidFill>
                <a:latin typeface="Arial"/>
              </a:rPr>
              <a:t>Research proposal: bản thiết kế logic.</a:t>
            </a:r>
          </a:p>
          <a:p>
            <a:pPr algn="l">
              <a:spcBef>
                <a:spcPts val="607"/>
              </a:spcBef>
            </a:pPr>
          </a:p>
          <a:p>
            <a:pPr algn="l">
              <a:spcBef>
                <a:spcPts val="607"/>
              </a:spcBef>
            </a:pPr>
            <a:r>
              <a:rPr sz="1350" b="0" i="0">
                <a:solidFill>
                  <a:srgbClr val="58595B"/>
                </a:solidFill>
                <a:latin typeface="Arial"/>
              </a:rPr>
              <a:t>Đề cương mười mục bắt buộc.</a:t>
            </a:r>
          </a:p>
          <a:p>
            <a:pPr algn="l">
              <a:spcBef>
                <a:spcPts val="607"/>
              </a:spcBef>
            </a:pPr>
          </a:p>
          <a:p>
            <a:pPr algn="l">
              <a:spcBef>
                <a:spcPts val="607"/>
              </a:spcBef>
            </a:pPr>
            <a:r>
              <a:rPr sz="1350" b="0" i="0">
                <a:solidFill>
                  <a:srgbClr val="58595B"/>
                </a:solidFill>
                <a:latin typeface="Arial"/>
              </a:rPr>
              <a:t>Các thành phần ngoài năm chương; cấu trúc tổng quan năm chương.</a:t>
            </a:r>
          </a:p>
        </p:txBody>
      </p:sp>
      <p:sp>
        <p:nvSpPr>
          <p:cNvPr id="19" name="Rectangle 18"/>
          <p:cNvSpPr/>
          <p:nvPr/>
        </p:nvSpPr>
        <p:spPr>
          <a:xfrm>
            <a:off x="8156448"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Chuẩn mực và tiến độ (Phần VIII đến XV)</a:t>
            </a:r>
          </a:p>
        </p:txBody>
      </p:sp>
      <p:sp>
        <p:nvSpPr>
          <p:cNvPr id="22" name="TextBox 21"/>
          <p:cNvSpPr txBox="1"/>
          <p:nvPr/>
        </p:nvSpPr>
        <p:spPr>
          <a:xfrm>
            <a:off x="8156448" y="2560320"/>
            <a:ext cx="3575304" cy="3017520"/>
          </a:xfrm>
          <a:prstGeom prst="rect">
            <a:avLst/>
          </a:prstGeom>
          <a:noFill/>
        </p:spPr>
        <p:txBody>
          <a:bodyPr wrap="square" lIns="45720" rIns="45720" tIns="27432" bIns="27432" anchor="t">
            <a:spAutoFit/>
          </a:bodyPr>
          <a:lstStyle/>
          <a:p>
            <a:pPr algn="l"/>
            <a:r>
              <a:rPr sz="1350" b="0" i="0">
                <a:solidFill>
                  <a:srgbClr val="58595B"/>
                </a:solidFill>
                <a:latin typeface="Arial"/>
              </a:rPr>
              <a:t>Trích dẫn, APA, format.</a:t>
            </a:r>
          </a:p>
          <a:p>
            <a:pPr algn="l">
              <a:spcBef>
                <a:spcPts val="607"/>
              </a:spcBef>
            </a:pPr>
          </a:p>
          <a:p>
            <a:pPr algn="l">
              <a:spcBef>
                <a:spcPts val="607"/>
              </a:spcBef>
            </a:pPr>
            <a:r>
              <a:rPr sz="1350" b="0" i="0">
                <a:solidFill>
                  <a:srgbClr val="58595B"/>
                </a:solidFill>
                <a:latin typeface="Arial"/>
              </a:rPr>
              <a:t>Quy trình từ đăng ký đến nộp; tiêu chí chấm điểm.</a:t>
            </a:r>
          </a:p>
          <a:p>
            <a:pPr algn="l">
              <a:spcBef>
                <a:spcPts val="607"/>
              </a:spcBef>
            </a:pPr>
          </a:p>
          <a:p>
            <a:pPr algn="l">
              <a:spcBef>
                <a:spcPts val="607"/>
              </a:spcBef>
            </a:pPr>
            <a:r>
              <a:rPr sz="1350" b="0" i="0">
                <a:solidFill>
                  <a:srgbClr val="58595B"/>
                </a:solidFill>
                <a:latin typeface="Arial"/>
              </a:rPr>
              <a:t>Báo cáo tiến độ, timeline 8 tuần, checklist tổng kết.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NỐI TIẾP CORE SLIDE 1 | LỜI HỨA VÀ NƠI THỰC HIỆN</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Mười nội dung chuyên sâu và năm kỹ năng Core Slide 1 hẹn trước đều có chỗ trong sách và trong buổi hôm nay</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Hai nội dung sách không có bảng riêng: bốn slide ngay sau ghép khung của Core Slide 1 với "Thời gian gợi ý" và "Tiêu chí hoàn thành" của sách.</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Core Slide 1 (Slide 93, 94, 98); Hướng dẫn Chuyên đề và Khóa luận tốt nghiệp</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a:t>
            </a:r>
          </a:p>
        </p:txBody>
      </p:sp>
      <p:graphicFrame>
        <p:nvGraphicFramePr>
          <p:cNvPr id="12" name="Table 11"/>
          <p:cNvGraphicFramePr>
            <a:graphicFrameLocks noGrp="1"/>
          </p:cNvGraphicFramePr>
          <p:nvPr/>
        </p:nvGraphicFramePr>
        <p:xfrm>
          <a:off x="457200" y="1783080"/>
          <a:ext cx="11274550" cy="3950208"/>
        </p:xfrm>
        <a:graphic>
          <a:graphicData uri="http://schemas.openxmlformats.org/drawingml/2006/table">
            <a:tbl>
              <a:tblPr firstRow="1" bandRow="1">
                <a:tableStyleId>{5C22544A-7EE6-4342-B048-85BDC9FD1C3A}</a:tableStyleId>
              </a:tblPr>
              <a:tblGrid>
                <a:gridCol w="3543430"/>
                <a:gridCol w="5583587"/>
                <a:gridCol w="2147533"/>
              </a:tblGrid>
              <a:tr h="411480">
                <a:tc>
                  <a:txBody>
                    <a:bodyPr wrap="square"/>
                    <a:lstStyle/>
                    <a:p>
                      <a:pPr algn="l"/>
                      <a:r>
                        <a:rPr sz="1200" b="1">
                          <a:solidFill>
                            <a:srgbClr val="FFFFFF"/>
                          </a:solidFill>
                          <a:latin typeface="Arial"/>
                        </a:rPr>
                        <a:t>Core Slide 1 đã hẹn</a:t>
                      </a:r>
                    </a:p>
                  </a:txBody>
                  <a:tcPr marL="73152" marR="73152" marT="27432" marB="27432" anchor="ctr">
                    <a:solidFill>
                      <a:srgbClr val="262626"/>
                    </a:solidFill>
                  </a:tcPr>
                </a:tc>
                <a:tc>
                  <a:txBody>
                    <a:bodyPr wrap="square"/>
                    <a:lstStyle/>
                    <a:p>
                      <a:pPr algn="l"/>
                      <a:r>
                        <a:rPr sz="1200" b="1">
                          <a:solidFill>
                            <a:srgbClr val="FFFFFF"/>
                          </a:solidFill>
                          <a:latin typeface="Arial"/>
                        </a:rPr>
                        <a:t>Học ở đâu trong sách</a:t>
                      </a:r>
                    </a:p>
                  </a:txBody>
                  <a:tcPr marL="73152" marR="73152" marT="27432" marB="27432" anchor="ctr">
                    <a:solidFill>
                      <a:srgbClr val="262626"/>
                    </a:solidFill>
                  </a:tcPr>
                </a:tc>
                <a:tc>
                  <a:txBody>
                    <a:bodyPr wrap="square"/>
                    <a:lstStyle/>
                    <a:p>
                      <a:pPr algn="l"/>
                      <a:r>
                        <a:rPr sz="1200" b="1">
                          <a:solidFill>
                            <a:srgbClr val="FFFFFF"/>
                          </a:solidFill>
                          <a:latin typeface="Arial"/>
                        </a:rPr>
                        <a:t>Trong Core Slide 2</a:t>
                      </a:r>
                    </a:p>
                  </a:txBody>
                  <a:tcPr marL="73152" marR="73152" marT="27432" marB="27432" anchor="ctr">
                    <a:solidFill>
                      <a:srgbClr val="262626"/>
                    </a:solidFill>
                  </a:tcPr>
                </a:tc>
              </a:tr>
              <a:tr h="393192">
                <a:tc>
                  <a:txBody>
                    <a:bodyPr wrap="square"/>
                    <a:lstStyle/>
                    <a:p>
                      <a:pPr algn="l"/>
                      <a:r>
                        <a:rPr sz="1200" b="0">
                          <a:solidFill>
                            <a:srgbClr val="262626"/>
                          </a:solidFill>
                          <a:latin typeface="Arial"/>
                        </a:rPr>
                        <a:t>Công thức thống kê; kiểm định độ tin cậy</a:t>
                      </a:r>
                    </a:p>
                  </a:txBody>
                  <a:tcPr marL="73152" marR="73152" marT="27432" marB="27432" anchor="ctr">
                    <a:solidFill>
                      <a:srgbClr val="FFFFFF"/>
                    </a:solidFill>
                  </a:tcPr>
                </a:tc>
                <a:tc>
                  <a:txBody>
                    <a:bodyPr wrap="square"/>
                    <a:lstStyle/>
                    <a:p>
                      <a:pPr algn="l"/>
                      <a:r>
                        <a:rPr sz="1200" b="0">
                          <a:solidFill>
                            <a:srgbClr val="262626"/>
                          </a:solidFill>
                          <a:latin typeface="Arial"/>
                        </a:rPr>
                        <a:t>Phần 3, Mục 3.6.2; Bảng 3-20 và 3-21; Phần 4, Mục 4.2.1</a:t>
                      </a:r>
                    </a:p>
                  </a:txBody>
                  <a:tcPr marL="73152" marR="73152" marT="27432" marB="27432" anchor="ctr">
                    <a:solidFill>
                      <a:srgbClr val="FFFFFF"/>
                    </a:solidFill>
                  </a:tcPr>
                </a:tc>
                <a:tc>
                  <a:txBody>
                    <a:bodyPr wrap="square"/>
                    <a:lstStyle/>
                    <a:p>
                      <a:pPr algn="l"/>
                      <a:r>
                        <a:rPr sz="1200" b="0">
                          <a:solidFill>
                            <a:srgbClr val="262626"/>
                          </a:solidFill>
                          <a:latin typeface="Arial"/>
                        </a:rPr>
                        <a:t>Phần 04 và 05</a:t>
                      </a:r>
                    </a:p>
                  </a:txBody>
                  <a:tcPr marL="73152" marR="73152" marT="27432" marB="27432" anchor="ctr">
                    <a:solidFill>
                      <a:srgbClr val="FFFFFF"/>
                    </a:solidFill>
                  </a:tcPr>
                </a:tc>
              </a:tr>
              <a:tr h="393192">
                <a:tc>
                  <a:txBody>
                    <a:bodyPr wrap="square"/>
                    <a:lstStyle/>
                    <a:p>
                      <a:pPr algn="l"/>
                      <a:r>
                        <a:rPr sz="1200" b="0">
                          <a:solidFill>
                            <a:srgbClr val="262626"/>
                          </a:solidFill>
                          <a:latin typeface="Arial"/>
                        </a:rPr>
                        <a:t>Thao tác phần mềm; hồi quy</a:t>
                      </a:r>
                    </a:p>
                  </a:txBody>
                  <a:tcPr marL="73152" marR="73152" marT="27432" marB="27432" anchor="ctr">
                    <a:solidFill>
                      <a:srgbClr val="F3F3F3"/>
                    </a:solidFill>
                  </a:tcPr>
                </a:tc>
                <a:tc>
                  <a:txBody>
                    <a:bodyPr wrap="square"/>
                    <a:lstStyle/>
                    <a:p>
                      <a:pPr algn="l"/>
                      <a:r>
                        <a:rPr sz="1200" b="0">
                          <a:solidFill>
                            <a:srgbClr val="262626"/>
                          </a:solidFill>
                          <a:latin typeface="Arial"/>
                        </a:rPr>
                        <a:t>Phần 3, Mục 3.5 và 3.6.4; Bảng 3-19, 3-22 và 3-23; sheet GiaiThichCongThuc</a:t>
                      </a:r>
                    </a:p>
                  </a:txBody>
                  <a:tcPr marL="73152" marR="73152" marT="27432" marB="27432" anchor="ctr">
                    <a:solidFill>
                      <a:srgbClr val="F3F3F3"/>
                    </a:solidFill>
                  </a:tcPr>
                </a:tc>
                <a:tc>
                  <a:txBody>
                    <a:bodyPr wrap="square"/>
                    <a:lstStyle/>
                    <a:p>
                      <a:pPr algn="l"/>
                      <a:r>
                        <a:rPr sz="1200" b="0">
                          <a:solidFill>
                            <a:srgbClr val="262626"/>
                          </a:solidFill>
                          <a:latin typeface="Arial"/>
                        </a:rPr>
                        <a:t>Phần 04 và 05</a:t>
                      </a:r>
                    </a:p>
                  </a:txBody>
                  <a:tcPr marL="73152" marR="73152" marT="27432" marB="27432" anchor="ctr">
                    <a:solidFill>
                      <a:srgbClr val="F3F3F3"/>
                    </a:solidFill>
                  </a:tcPr>
                </a:tc>
              </a:tr>
              <a:tr h="393192">
                <a:tc>
                  <a:txBody>
                    <a:bodyPr wrap="square"/>
                    <a:lstStyle/>
                    <a:p>
                      <a:pPr algn="l"/>
                      <a:r>
                        <a:rPr sz="1200" b="0">
                          <a:solidFill>
                            <a:srgbClr val="262626"/>
                          </a:solidFill>
                          <a:latin typeface="Arial"/>
                        </a:rPr>
                        <a:t>Thiết kế bảng hỏi chi tiết</a:t>
                      </a:r>
                    </a:p>
                  </a:txBody>
                  <a:tcPr marL="73152" marR="73152" marT="27432" marB="27432" anchor="ctr">
                    <a:solidFill>
                      <a:srgbClr val="FFFFFF"/>
                    </a:solidFill>
                  </a:tcPr>
                </a:tc>
                <a:tc>
                  <a:txBody>
                    <a:bodyPr wrap="square"/>
                    <a:lstStyle/>
                    <a:p>
                      <a:pPr algn="l"/>
                      <a:r>
                        <a:rPr sz="1200" b="0">
                          <a:solidFill>
                            <a:srgbClr val="262626"/>
                          </a:solidFill>
                          <a:latin typeface="Arial"/>
                        </a:rPr>
                        <a:t>Phần 3, Mục 3.4.2, Mục 3.4.3; Bảng 3-9 đến 3-11</a:t>
                      </a:r>
                    </a:p>
                  </a:txBody>
                  <a:tcPr marL="73152" marR="73152" marT="27432" marB="27432" anchor="ctr">
                    <a:solidFill>
                      <a:srgbClr val="FFFFFF"/>
                    </a:solidFill>
                  </a:tcPr>
                </a:tc>
                <a:tc>
                  <a:txBody>
                    <a:bodyPr wrap="square"/>
                    <a:lstStyle/>
                    <a:p>
                      <a:pPr algn="l"/>
                      <a:r>
                        <a:rPr sz="1200" b="0">
                          <a:solidFill>
                            <a:srgbClr val="262626"/>
                          </a:solidFill>
                          <a:latin typeface="Arial"/>
                        </a:rPr>
                        <a:t>Phần 04</a:t>
                      </a:r>
                    </a:p>
                  </a:txBody>
                  <a:tcPr marL="73152" marR="73152" marT="27432" marB="27432" anchor="ctr">
                    <a:solidFill>
                      <a:srgbClr val="FFFFFF"/>
                    </a:solidFill>
                  </a:tcPr>
                </a:tc>
              </a:tr>
              <a:tr h="393192">
                <a:tc>
                  <a:txBody>
                    <a:bodyPr wrap="square"/>
                    <a:lstStyle/>
                    <a:p>
                      <a:pPr algn="l"/>
                      <a:r>
                        <a:rPr sz="1200" b="0">
                          <a:solidFill>
                            <a:srgbClr val="262626"/>
                          </a:solidFill>
                          <a:latin typeface="Arial"/>
                        </a:rPr>
                        <a:t>Cách đọc bài báo; tìm kiếm tài liệu</a:t>
                      </a:r>
                    </a:p>
                  </a:txBody>
                  <a:tcPr marL="73152" marR="73152" marT="27432" marB="27432" anchor="ctr">
                    <a:solidFill>
                      <a:srgbClr val="F3F3F3"/>
                    </a:solidFill>
                  </a:tcPr>
                </a:tc>
                <a:tc>
                  <a:txBody>
                    <a:bodyPr wrap="square"/>
                    <a:lstStyle/>
                    <a:p>
                      <a:pPr algn="l"/>
                      <a:r>
                        <a:rPr sz="1200" b="0">
                          <a:solidFill>
                            <a:srgbClr val="262626"/>
                          </a:solidFill>
                          <a:latin typeface="Arial"/>
                        </a:rPr>
                        <a:t>Phần 1, Hình 1-9 và 1-10; Phần 2, Mục 2.1.2, Kỹ thuật dùng cho Mục 2.1.2, mục E; Thực hành 2.1.3A</a:t>
                      </a:r>
                    </a:p>
                  </a:txBody>
                  <a:tcPr marL="73152" marR="73152" marT="27432" marB="27432" anchor="ctr">
                    <a:solidFill>
                      <a:srgbClr val="F3F3F3"/>
                    </a:solidFill>
                  </a:tcPr>
                </a:tc>
                <a:tc>
                  <a:txBody>
                    <a:bodyPr wrap="square"/>
                    <a:lstStyle/>
                    <a:p>
                      <a:pPr algn="l"/>
                      <a:r>
                        <a:rPr sz="1200" b="0">
                          <a:solidFill>
                            <a:srgbClr val="262626"/>
                          </a:solidFill>
                          <a:latin typeface="Arial"/>
                        </a:rPr>
                        <a:t>Phần 02 và 03</a:t>
                      </a:r>
                    </a:p>
                  </a:txBody>
                  <a:tcPr marL="73152" marR="73152" marT="27432" marB="27432" anchor="ctr">
                    <a:solidFill>
                      <a:srgbClr val="F3F3F3"/>
                    </a:solidFill>
                  </a:tcPr>
                </a:tc>
              </a:tr>
              <a:tr h="393192">
                <a:tc>
                  <a:txBody>
                    <a:bodyPr wrap="square"/>
                    <a:lstStyle/>
                    <a:p>
                      <a:pPr algn="l"/>
                      <a:r>
                        <a:rPr sz="1200" b="0">
                          <a:solidFill>
                            <a:srgbClr val="262626"/>
                          </a:solidFill>
                          <a:latin typeface="Arial"/>
                        </a:rPr>
                        <a:t>Bảng tra APA; quy định bảng, hình</a:t>
                      </a:r>
                    </a:p>
                  </a:txBody>
                  <a:tcPr marL="73152" marR="73152" marT="27432" marB="27432" anchor="ctr">
                    <a:solidFill>
                      <a:srgbClr val="FFFFFF"/>
                    </a:solidFill>
                  </a:tcPr>
                </a:tc>
                <a:tc>
                  <a:txBody>
                    <a:bodyPr wrap="square"/>
                    <a:lstStyle/>
                    <a:p>
                      <a:pPr algn="l"/>
                      <a:r>
                        <a:rPr sz="1200" b="0">
                          <a:solidFill>
                            <a:srgbClr val="262626"/>
                          </a:solidFill>
                          <a:latin typeface="Arial"/>
                        </a:rPr>
                        <a:t>Phần 2, Bảng 2-8; Phần 7, Bảng 7-1 đến 7-3; Phần 8, mục C</a:t>
                      </a:r>
                    </a:p>
                  </a:txBody>
                  <a:tcPr marL="73152" marR="73152" marT="27432" marB="27432" anchor="ctr">
                    <a:solidFill>
                      <a:srgbClr val="FFFFFF"/>
                    </a:solidFill>
                  </a:tcPr>
                </a:tc>
                <a:tc>
                  <a:txBody>
                    <a:bodyPr wrap="square"/>
                    <a:lstStyle/>
                    <a:p>
                      <a:pPr algn="l"/>
                      <a:r>
                        <a:rPr sz="1200" b="0">
                          <a:solidFill>
                            <a:srgbClr val="262626"/>
                          </a:solidFill>
                          <a:latin typeface="Arial"/>
                        </a:rPr>
                        <a:t>Phần 07</a:t>
                      </a:r>
                    </a:p>
                  </a:txBody>
                  <a:tcPr marL="73152" marR="73152" marT="27432" marB="27432" anchor="ctr">
                    <a:solidFill>
                      <a:srgbClr val="FFFFFF"/>
                    </a:solidFill>
                  </a:tcPr>
                </a:tc>
              </a:tr>
              <a:tr h="393192">
                <a:tc>
                  <a:txBody>
                    <a:bodyPr wrap="square"/>
                    <a:lstStyle/>
                    <a:p>
                      <a:pPr algn="l"/>
                      <a:r>
                        <a:rPr sz="1200" b="0">
                          <a:solidFill>
                            <a:srgbClr val="262626"/>
                          </a:solidFill>
                          <a:latin typeface="Arial"/>
                        </a:rPr>
                        <a:t>Viết đoạn văn học thuật</a:t>
                      </a:r>
                    </a:p>
                  </a:txBody>
                  <a:tcPr marL="73152" marR="73152" marT="27432" marB="27432" anchor="ctr">
                    <a:solidFill>
                      <a:srgbClr val="F3F3F3"/>
                    </a:solidFill>
                  </a:tcPr>
                </a:tc>
                <a:tc>
                  <a:txBody>
                    <a:bodyPr wrap="square"/>
                    <a:lstStyle/>
                    <a:p>
                      <a:pPr algn="l"/>
                      <a:r>
                        <a:rPr sz="1200" b="0">
                          <a:solidFill>
                            <a:srgbClr val="262626"/>
                          </a:solidFill>
                          <a:latin typeface="Arial"/>
                        </a:rPr>
                        <a:t>Phần 0, mục C; Phần 1, mục D (Trích dẫn); Phần 2, Kỹ thuật dùng cho Mục 2.1.2, Đọc kỹ một đoạn tổng quan mẫu</a:t>
                      </a:r>
                    </a:p>
                  </a:txBody>
                  <a:tcPr marL="73152" marR="73152" marT="27432" marB="27432" anchor="ctr">
                    <a:solidFill>
                      <a:srgbClr val="F3F3F3"/>
                    </a:solidFill>
                  </a:tcPr>
                </a:tc>
                <a:tc>
                  <a:txBody>
                    <a:bodyPr wrap="square"/>
                    <a:lstStyle/>
                    <a:p>
                      <a:pPr algn="l"/>
                      <a:r>
                        <a:rPr sz="1200" b="0">
                          <a:solidFill>
                            <a:srgbClr val="262626"/>
                          </a:solidFill>
                          <a:latin typeface="Arial"/>
                        </a:rPr>
                        <a:t>Phần 02 và 03</a:t>
                      </a:r>
                    </a:p>
                  </a:txBody>
                  <a:tcPr marL="73152" marR="73152" marT="27432" marB="27432" anchor="ctr">
                    <a:solidFill>
                      <a:srgbClr val="F3F3F3"/>
                    </a:solidFill>
                  </a:tcPr>
                </a:tc>
              </a:tr>
              <a:tr h="393192">
                <a:tc>
                  <a:txBody>
                    <a:bodyPr wrap="square"/>
                    <a:lstStyle/>
                    <a:p>
                      <a:pPr algn="l"/>
                      <a:r>
                        <a:rPr sz="1200" b="0">
                          <a:solidFill>
                            <a:srgbClr val="262626"/>
                          </a:solidFill>
                          <a:latin typeface="Arial"/>
                        </a:rPr>
                        <a:t>Làm sạch dữ liệu; diễn giải bảng kết quả</a:t>
                      </a:r>
                    </a:p>
                  </a:txBody>
                  <a:tcPr marL="73152" marR="73152" marT="27432" marB="27432" anchor="ctr">
                    <a:solidFill>
                      <a:srgbClr val="FFFFFF"/>
                    </a:solidFill>
                  </a:tcPr>
                </a:tc>
                <a:tc>
                  <a:txBody>
                    <a:bodyPr wrap="square"/>
                    <a:lstStyle/>
                    <a:p>
                      <a:pPr algn="l"/>
                      <a:r>
                        <a:rPr sz="1200" b="0">
                          <a:solidFill>
                            <a:srgbClr val="262626"/>
                          </a:solidFill>
                          <a:latin typeface="Arial"/>
                        </a:rPr>
                        <a:t>Phần 3, Mục 3.5; Phần 4, mục D và E</a:t>
                      </a:r>
                    </a:p>
                  </a:txBody>
                  <a:tcPr marL="73152" marR="73152" marT="27432" marB="27432" anchor="ctr">
                    <a:solidFill>
                      <a:srgbClr val="FFFFFF"/>
                    </a:solidFill>
                  </a:tcPr>
                </a:tc>
                <a:tc>
                  <a:txBody>
                    <a:bodyPr wrap="square"/>
                    <a:lstStyle/>
                    <a:p>
                      <a:pPr algn="l"/>
                      <a:r>
                        <a:rPr sz="1200" b="0">
                          <a:solidFill>
                            <a:srgbClr val="262626"/>
                          </a:solidFill>
                          <a:latin typeface="Arial"/>
                        </a:rPr>
                        <a:t>Phần 04 và 05</a:t>
                      </a:r>
                    </a:p>
                  </a:txBody>
                  <a:tcPr marL="73152" marR="73152" marT="27432" marB="27432" anchor="ctr">
                    <a:solidFill>
                      <a:srgbClr val="FFFFFF"/>
                    </a:solidFill>
                  </a:tcPr>
                </a:tc>
              </a:tr>
              <a:tr h="393192">
                <a:tc>
                  <a:txBody>
                    <a:bodyPr wrap="square"/>
                    <a:lstStyle/>
                    <a:p>
                      <a:pPr algn="l"/>
                      <a:r>
                        <a:rPr sz="1200" b="0">
                          <a:solidFill>
                            <a:srgbClr val="262626"/>
                          </a:solidFill>
                          <a:latin typeface="Arial"/>
                        </a:rPr>
                        <a:t>Trình bày và bảo vệ</a:t>
                      </a:r>
                    </a:p>
                  </a:txBody>
                  <a:tcPr marL="73152" marR="73152" marT="27432" marB="27432" anchor="ctr">
                    <a:solidFill>
                      <a:srgbClr val="F3F3F3"/>
                    </a:solidFill>
                  </a:tcPr>
                </a:tc>
                <a:tc>
                  <a:txBody>
                    <a:bodyPr wrap="square"/>
                    <a:lstStyle/>
                    <a:p>
                      <a:pPr algn="l"/>
                      <a:r>
                        <a:rPr sz="1200" b="0">
                          <a:solidFill>
                            <a:srgbClr val="262626"/>
                          </a:solidFill>
                          <a:latin typeface="Arial"/>
                        </a:rPr>
                        <a:t>Phần 10; Bảng 10-1 và 10-2</a:t>
                      </a:r>
                    </a:p>
                  </a:txBody>
                  <a:tcPr marL="73152" marR="73152" marT="27432" marB="27432" anchor="ctr">
                    <a:solidFill>
                      <a:srgbClr val="F3F3F3"/>
                    </a:solidFill>
                  </a:tcPr>
                </a:tc>
                <a:tc>
                  <a:txBody>
                    <a:bodyPr wrap="square"/>
                    <a:lstStyle/>
                    <a:p>
                      <a:pPr algn="l"/>
                      <a:r>
                        <a:rPr sz="1200" b="0">
                          <a:solidFill>
                            <a:srgbClr val="262626"/>
                          </a:solidFill>
                          <a:latin typeface="Arial"/>
                        </a:rPr>
                        <a:t>Phần 07</a:t>
                      </a:r>
                    </a:p>
                  </a:txBody>
                  <a:tcPr marL="73152" marR="73152" marT="27432" marB="27432" anchor="ctr">
                    <a:solidFill>
                      <a:srgbClr val="F3F3F3"/>
                    </a:solidFill>
                  </a:tcPr>
                </a:tc>
              </a:tr>
              <a:tr h="393192">
                <a:tc>
                  <a:txBody>
                    <a:bodyPr wrap="square"/>
                    <a:lstStyle/>
                    <a:p>
                      <a:pPr algn="l"/>
                      <a:r>
                        <a:rPr sz="1200" b="0">
                          <a:solidFill>
                            <a:srgbClr val="262626"/>
                          </a:solidFill>
                          <a:latin typeface="Arial"/>
                        </a:rPr>
                        <a:t>Mười tiêu chí chấm chi tiết; kế hoạch từng tuần</a:t>
                      </a:r>
                    </a:p>
                  </a:txBody>
                  <a:tcPr marL="73152" marR="73152" marT="27432" marB="27432" anchor="ctr">
                    <a:solidFill>
                      <a:srgbClr val="FBEAEA"/>
                    </a:solidFill>
                  </a:tcPr>
                </a:tc>
                <a:tc>
                  <a:txBody>
                    <a:bodyPr wrap="square"/>
                    <a:lstStyle/>
                    <a:p>
                      <a:pPr algn="l"/>
                      <a:r>
                        <a:rPr sz="1200" b="0">
                          <a:solidFill>
                            <a:srgbClr val="262626"/>
                          </a:solidFill>
                          <a:latin typeface="Arial"/>
                        </a:rPr>
                        <a:t>Sách không có bảng riêng; ghép từ "Tiêu chí hoàn thành" và "Thời gian gợi ý"</a:t>
                      </a:r>
                    </a:p>
                  </a:txBody>
                  <a:tcPr marL="73152" marR="73152" marT="27432" marB="27432" anchor="ctr">
                    <a:solidFill>
                      <a:srgbClr val="FBEAEA"/>
                    </a:solidFill>
                  </a:tcPr>
                </a:tc>
                <a:tc>
                  <a:txBody>
                    <a:bodyPr wrap="square"/>
                    <a:lstStyle/>
                    <a:p>
                      <a:pPr algn="l"/>
                      <a:r>
                        <a:rPr sz="1200" b="0">
                          <a:solidFill>
                            <a:srgbClr val="262626"/>
                          </a:solidFill>
                          <a:latin typeface="Arial"/>
                        </a:rPr>
                        <a:t>Bốn slide ngay sau</a:t>
                      </a:r>
                    </a:p>
                  </a:txBody>
                  <a:tcPr marL="73152" marR="73152" marT="27432" marB="27432" anchor="ctr">
                    <a:solidFill>
                      <a:srgbClr val="FBEAE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NỐI TIẾP CORE SLIDE 1 | KẾ HOẠCH TỪNG TUẦN (1)</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Tuần 1 đến 4 làm việc với ý tưởng: mỗi tuần có việc chính, việc phải xong trước, việc làm song song và rủi ro nếu chậm</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Ô "■" là tuần có mốc kiểm soát trong Core Slide 1: tuần 2 phải chốt đề tài và proposal.</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Core Slide 1, Phần XIII (Slide 88 đến 91); Hướng dẫn Chuyên đề và Khóa luận tốt nghiệp, dòng "Thời gian gợi ý" của từng mục</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a:t>
            </a:r>
          </a:p>
        </p:txBody>
      </p:sp>
      <p:graphicFrame>
        <p:nvGraphicFramePr>
          <p:cNvPr id="12" name="Table 11"/>
          <p:cNvGraphicFramePr>
            <a:graphicFrameLocks noGrp="1"/>
          </p:cNvGraphicFramePr>
          <p:nvPr/>
        </p:nvGraphicFramePr>
        <p:xfrm>
          <a:off x="457200" y="1783080"/>
          <a:ext cx="11274549" cy="3520440"/>
        </p:xfrm>
        <a:graphic>
          <a:graphicData uri="http://schemas.openxmlformats.org/drawingml/2006/table">
            <a:tbl>
              <a:tblPr firstRow="1" bandRow="1">
                <a:tableStyleId>{5C22544A-7EE6-4342-B048-85BDC9FD1C3A}</a:tableStyleId>
              </a:tblPr>
              <a:tblGrid>
                <a:gridCol w="657682"/>
                <a:gridCol w="4134002"/>
                <a:gridCol w="2160955"/>
                <a:gridCol w="2160955"/>
                <a:gridCol w="2160955"/>
              </a:tblGrid>
              <a:tr h="411480">
                <a:tc>
                  <a:txBody>
                    <a:bodyPr wrap="square"/>
                    <a:lstStyle/>
                    <a:p>
                      <a:pPr algn="l"/>
                      <a:r>
                        <a:rPr sz="1200" b="1">
                          <a:solidFill>
                            <a:srgbClr val="FFFFFF"/>
                          </a:solidFill>
                          <a:latin typeface="Arial"/>
                        </a:rPr>
                        <a:t>Tuần</a:t>
                      </a:r>
                    </a:p>
                  </a:txBody>
                  <a:tcPr marL="73152" marR="73152" marT="27432" marB="27432" anchor="ctr">
                    <a:solidFill>
                      <a:srgbClr val="262626"/>
                    </a:solidFill>
                  </a:tcPr>
                </a:tc>
                <a:tc>
                  <a:txBody>
                    <a:bodyPr wrap="square"/>
                    <a:lstStyle/>
                    <a:p>
                      <a:pPr algn="l"/>
                      <a:r>
                        <a:rPr sz="1200" b="1">
                          <a:solidFill>
                            <a:srgbClr val="FFFFFF"/>
                          </a:solidFill>
                          <a:latin typeface="Arial"/>
                        </a:rPr>
                        <a:t>Việc chính (đọc ở đâu trong sách)</a:t>
                      </a:r>
                    </a:p>
                  </a:txBody>
                  <a:tcPr marL="73152" marR="73152" marT="27432" marB="27432" anchor="ctr">
                    <a:solidFill>
                      <a:srgbClr val="262626"/>
                    </a:solidFill>
                  </a:tcPr>
                </a:tc>
                <a:tc>
                  <a:txBody>
                    <a:bodyPr wrap="square"/>
                    <a:lstStyle/>
                    <a:p>
                      <a:pPr algn="l"/>
                      <a:r>
                        <a:rPr sz="1200" b="1">
                          <a:solidFill>
                            <a:srgbClr val="FFFFFF"/>
                          </a:solidFill>
                          <a:latin typeface="Arial"/>
                        </a:rPr>
                        <a:t>Phải xong trước</a:t>
                      </a:r>
                    </a:p>
                  </a:txBody>
                  <a:tcPr marL="73152" marR="73152" marT="27432" marB="27432" anchor="ctr">
                    <a:solidFill>
                      <a:srgbClr val="262626"/>
                    </a:solidFill>
                  </a:tcPr>
                </a:tc>
                <a:tc>
                  <a:txBody>
                    <a:bodyPr wrap="square"/>
                    <a:lstStyle/>
                    <a:p>
                      <a:pPr algn="l"/>
                      <a:r>
                        <a:rPr sz="1200" b="1">
                          <a:solidFill>
                            <a:srgbClr val="FFFFFF"/>
                          </a:solidFill>
                          <a:latin typeface="Arial"/>
                        </a:rPr>
                        <a:t>Làm song song</a:t>
                      </a:r>
                    </a:p>
                  </a:txBody>
                  <a:tcPr marL="73152" marR="73152" marT="27432" marB="27432" anchor="ctr">
                    <a:solidFill>
                      <a:srgbClr val="262626"/>
                    </a:solidFill>
                  </a:tcPr>
                </a:tc>
                <a:tc>
                  <a:txBody>
                    <a:bodyPr wrap="square"/>
                    <a:lstStyle/>
                    <a:p>
                      <a:pPr algn="l"/>
                      <a:r>
                        <a:rPr sz="1200" b="1">
                          <a:solidFill>
                            <a:srgbClr val="FFFFFF"/>
                          </a:solidFill>
                          <a:latin typeface="Arial"/>
                        </a:rPr>
                        <a:t>Rủi ro nếu chậm</a:t>
                      </a:r>
                    </a:p>
                  </a:txBody>
                  <a:tcPr marL="73152" marR="73152" marT="27432" marB="27432" anchor="ctr">
                    <a:solidFill>
                      <a:srgbClr val="262626"/>
                    </a:solidFill>
                  </a:tcPr>
                </a:tc>
              </a:tr>
              <a:tr h="777240">
                <a:tc>
                  <a:txBody>
                    <a:bodyPr wrap="square"/>
                    <a:lstStyle/>
                    <a:p>
                      <a:pPr algn="l"/>
                      <a:r>
                        <a:rPr sz="1200" b="0">
                          <a:solidFill>
                            <a:srgbClr val="262626"/>
                          </a:solidFill>
                          <a:latin typeface="Arial"/>
                        </a:rPr>
                        <a:t>1</a:t>
                      </a:r>
                    </a:p>
                  </a:txBody>
                  <a:tcPr marL="73152" marR="73152" marT="27432" marB="27432" anchor="ctr">
                    <a:solidFill>
                      <a:srgbClr val="FFFFFF"/>
                    </a:solidFill>
                  </a:tcPr>
                </a:tc>
                <a:tc>
                  <a:txBody>
                    <a:bodyPr wrap="square"/>
                    <a:lstStyle/>
                    <a:p>
                      <a:pPr algn="l"/>
                      <a:r>
                        <a:rPr sz="1200" b="0">
                          <a:solidFill>
                            <a:srgbClr val="262626"/>
                          </a:solidFill>
                          <a:latin typeface="Arial"/>
                        </a:rPr>
                        <a:t>Nhận diện vấn đề, sàng lọc đề tài (Core Slide 1, Phần III)</a:t>
                      </a:r>
                    </a:p>
                  </a:txBody>
                  <a:tcPr marL="73152" marR="73152" marT="27432" marB="27432" anchor="ctr">
                    <a:solidFill>
                      <a:srgbClr val="FFFFFF"/>
                    </a:solidFill>
                  </a:tcPr>
                </a:tc>
                <a:tc>
                  <a:txBody>
                    <a:bodyPr wrap="square"/>
                    <a:lstStyle/>
                    <a:p>
                      <a:pPr algn="l"/>
                      <a:r>
                        <a:rPr sz="1200" b="0">
                          <a:solidFill>
                            <a:srgbClr val="262626"/>
                          </a:solidFill>
                          <a:latin typeface="Arial"/>
                        </a:rPr>
                        <a:t>Không có</a:t>
                      </a:r>
                    </a:p>
                  </a:txBody>
                  <a:tcPr marL="73152" marR="73152" marT="27432" marB="27432" anchor="ctr">
                    <a:solidFill>
                      <a:srgbClr val="FFFFFF"/>
                    </a:solidFill>
                  </a:tcPr>
                </a:tc>
                <a:tc>
                  <a:txBody>
                    <a:bodyPr wrap="square"/>
                    <a:lstStyle/>
                    <a:p>
                      <a:pPr algn="l"/>
                      <a:r>
                        <a:rPr sz="1200" b="0">
                          <a:solidFill>
                            <a:srgbClr val="262626"/>
                          </a:solidFill>
                          <a:latin typeface="Arial"/>
                        </a:rPr>
                        <a:t>Lập file ma trận tài liệu trống</a:t>
                      </a:r>
                    </a:p>
                  </a:txBody>
                  <a:tcPr marL="73152" marR="73152" marT="27432" marB="27432" anchor="ctr">
                    <a:solidFill>
                      <a:srgbClr val="FFFFFF"/>
                    </a:solidFill>
                  </a:tcPr>
                </a:tc>
                <a:tc>
                  <a:txBody>
                    <a:bodyPr wrap="square"/>
                    <a:lstStyle/>
                    <a:p>
                      <a:pPr algn="l"/>
                      <a:r>
                        <a:rPr sz="1200" b="0">
                          <a:solidFill>
                            <a:srgbClr val="262626"/>
                          </a:solidFill>
                          <a:latin typeface="Arial"/>
                        </a:rPr>
                        <a:t>Đề tài rộng, không có dữ liệu</a:t>
                      </a:r>
                    </a:p>
                  </a:txBody>
                  <a:tcPr marL="73152" marR="73152" marT="27432" marB="27432" anchor="ctr">
                    <a:solidFill>
                      <a:srgbClr val="FFFFFF"/>
                    </a:solidFill>
                  </a:tcPr>
                </a:tc>
              </a:tr>
              <a:tr h="777240">
                <a:tc>
                  <a:txBody>
                    <a:bodyPr wrap="square"/>
                    <a:lstStyle/>
                    <a:p>
                      <a:pPr algn="l"/>
                      <a:r>
                        <a:rPr sz="1200" b="0">
                          <a:solidFill>
                            <a:srgbClr val="262626"/>
                          </a:solidFill>
                          <a:latin typeface="Arial"/>
                        </a:rPr>
                        <a:t>2 ■</a:t>
                      </a:r>
                    </a:p>
                  </a:txBody>
                  <a:tcPr marL="73152" marR="73152" marT="27432" marB="27432" anchor="ctr">
                    <a:solidFill>
                      <a:srgbClr val="F3F3F3"/>
                    </a:solidFill>
                  </a:tcPr>
                </a:tc>
                <a:tc>
                  <a:txBody>
                    <a:bodyPr wrap="square"/>
                    <a:lstStyle/>
                    <a:p>
                      <a:pPr algn="l"/>
                      <a:r>
                        <a:rPr sz="1200" b="0">
                          <a:solidFill>
                            <a:srgbClr val="262626"/>
                          </a:solidFill>
                          <a:latin typeface="Arial"/>
                        </a:rPr>
                        <a:t>Chốt đề tài, proposal; viết mục tiêu và câu hỏi trước (Phần 1, Mục 1.2 và Mục 1.3)</a:t>
                      </a:r>
                    </a:p>
                  </a:txBody>
                  <a:tcPr marL="73152" marR="73152" marT="27432" marB="27432" anchor="ctr">
                    <a:solidFill>
                      <a:srgbClr val="F3F3F3"/>
                    </a:solidFill>
                  </a:tcPr>
                </a:tc>
                <a:tc>
                  <a:txBody>
                    <a:bodyPr wrap="square"/>
                    <a:lstStyle/>
                    <a:p>
                      <a:pPr algn="l"/>
                      <a:r>
                        <a:rPr sz="1200" b="0">
                          <a:solidFill>
                            <a:srgbClr val="262626"/>
                          </a:solidFill>
                          <a:latin typeface="Arial"/>
                        </a:rPr>
                        <a:t>Đề tài được GVHD xác nhận</a:t>
                      </a:r>
                    </a:p>
                  </a:txBody>
                  <a:tcPr marL="73152" marR="73152" marT="27432" marB="27432" anchor="ctr">
                    <a:solidFill>
                      <a:srgbClr val="F3F3F3"/>
                    </a:solidFill>
                  </a:tcPr>
                </a:tc>
                <a:tc>
                  <a:txBody>
                    <a:bodyPr wrap="square"/>
                    <a:lstStyle/>
                    <a:p>
                      <a:pPr algn="l"/>
                      <a:r>
                        <a:rPr sz="1200" b="0">
                          <a:solidFill>
                            <a:srgbClr val="262626"/>
                          </a:solidFill>
                          <a:latin typeface="Arial"/>
                        </a:rPr>
                        <a:t>Tìm số liệu bối cảnh có nguồn</a:t>
                      </a:r>
                    </a:p>
                  </a:txBody>
                  <a:tcPr marL="73152" marR="73152" marT="27432" marB="27432" anchor="ctr">
                    <a:solidFill>
                      <a:srgbClr val="F3F3F3"/>
                    </a:solidFill>
                  </a:tcPr>
                </a:tc>
                <a:tc>
                  <a:txBody>
                    <a:bodyPr wrap="square"/>
                    <a:lstStyle/>
                    <a:p>
                      <a:pPr algn="l"/>
                      <a:r>
                        <a:rPr sz="1200" b="0">
                          <a:solidFill>
                            <a:srgbClr val="262626"/>
                          </a:solidFill>
                          <a:latin typeface="Arial"/>
                        </a:rPr>
                        <a:t>Mọi chương sau không có lõi</a:t>
                      </a:r>
                    </a:p>
                  </a:txBody>
                  <a:tcPr marL="73152" marR="73152" marT="27432" marB="27432" anchor="ctr">
                    <a:solidFill>
                      <a:srgbClr val="F3F3F3"/>
                    </a:solidFill>
                  </a:tcPr>
                </a:tc>
              </a:tr>
              <a:tr h="777240">
                <a:tc>
                  <a:txBody>
                    <a:bodyPr wrap="square"/>
                    <a:lstStyle/>
                    <a:p>
                      <a:pPr algn="l"/>
                      <a:r>
                        <a:rPr sz="1200" b="0">
                          <a:solidFill>
                            <a:srgbClr val="262626"/>
                          </a:solidFill>
                          <a:latin typeface="Arial"/>
                        </a:rPr>
                        <a:t>3</a:t>
                      </a:r>
                    </a:p>
                  </a:txBody>
                  <a:tcPr marL="73152" marR="73152" marT="27432" marB="27432" anchor="ctr">
                    <a:solidFill>
                      <a:srgbClr val="FFFFFF"/>
                    </a:solidFill>
                  </a:tcPr>
                </a:tc>
                <a:tc>
                  <a:txBody>
                    <a:bodyPr wrap="square"/>
                    <a:lstStyle/>
                    <a:p>
                      <a:pPr algn="l"/>
                      <a:r>
                        <a:rPr sz="1200" b="0">
                          <a:solidFill>
                            <a:srgbClr val="262626"/>
                          </a:solidFill>
                          <a:latin typeface="Arial"/>
                        </a:rPr>
                        <a:t>Chương 1: mục 1.1 đến 1.7 (Phần 1, mục D; ví dụ ở mục E)</a:t>
                      </a:r>
                    </a:p>
                  </a:txBody>
                  <a:tcPr marL="73152" marR="73152" marT="27432" marB="27432" anchor="ctr">
                    <a:solidFill>
                      <a:srgbClr val="FFFFFF"/>
                    </a:solidFill>
                  </a:tcPr>
                </a:tc>
                <a:tc>
                  <a:txBody>
                    <a:bodyPr wrap="square"/>
                    <a:lstStyle/>
                    <a:p>
                      <a:pPr algn="l"/>
                      <a:r>
                        <a:rPr sz="1200" b="0">
                          <a:solidFill>
                            <a:srgbClr val="262626"/>
                          </a:solidFill>
                          <a:latin typeface="Arial"/>
                        </a:rPr>
                        <a:t>Mục tiêu, câu hỏi đã chốt</a:t>
                      </a:r>
                    </a:p>
                  </a:txBody>
                  <a:tcPr marL="73152" marR="73152" marT="27432" marB="27432" anchor="ctr">
                    <a:solidFill>
                      <a:srgbClr val="FFFFFF"/>
                    </a:solidFill>
                  </a:tcPr>
                </a:tc>
                <a:tc>
                  <a:txBody>
                    <a:bodyPr wrap="square"/>
                    <a:lstStyle/>
                    <a:p>
                      <a:pPr algn="l"/>
                      <a:r>
                        <a:rPr sz="1200" b="0">
                          <a:solidFill>
                            <a:srgbClr val="262626"/>
                          </a:solidFill>
                          <a:latin typeface="Arial"/>
                        </a:rPr>
                        <a:t>Đọc tài liệu, điền ma trận</a:t>
                      </a:r>
                    </a:p>
                  </a:txBody>
                  <a:tcPr marL="73152" marR="73152" marT="27432" marB="27432" anchor="ctr">
                    <a:solidFill>
                      <a:srgbClr val="FFFFFF"/>
                    </a:solidFill>
                  </a:tcPr>
                </a:tc>
                <a:tc>
                  <a:txBody>
                    <a:bodyPr wrap="square"/>
                    <a:lstStyle/>
                    <a:p>
                      <a:pPr algn="l"/>
                      <a:r>
                        <a:rPr sz="1200" b="0">
                          <a:solidFill>
                            <a:srgbClr val="262626"/>
                          </a:solidFill>
                          <a:latin typeface="Arial"/>
                        </a:rPr>
                        <a:t>Chương 2 thiếu câu hỏi để bám</a:t>
                      </a:r>
                    </a:p>
                  </a:txBody>
                  <a:tcPr marL="73152" marR="73152" marT="27432" marB="27432" anchor="ctr">
                    <a:solidFill>
                      <a:srgbClr val="FFFFFF"/>
                    </a:solidFill>
                  </a:tcPr>
                </a:tc>
              </a:tr>
              <a:tr h="777240">
                <a:tc>
                  <a:txBody>
                    <a:bodyPr wrap="square"/>
                    <a:lstStyle/>
                    <a:p>
                      <a:pPr algn="l"/>
                      <a:r>
                        <a:rPr sz="1200" b="0">
                          <a:solidFill>
                            <a:srgbClr val="262626"/>
                          </a:solidFill>
                          <a:latin typeface="Arial"/>
                        </a:rPr>
                        <a:t>4</a:t>
                      </a:r>
                    </a:p>
                  </a:txBody>
                  <a:tcPr marL="73152" marR="73152" marT="27432" marB="27432" anchor="ctr">
                    <a:solidFill>
                      <a:srgbClr val="F3F3F3"/>
                    </a:solidFill>
                  </a:tcPr>
                </a:tc>
                <a:tc>
                  <a:txBody>
                    <a:bodyPr wrap="square"/>
                    <a:lstStyle/>
                    <a:p>
                      <a:pPr algn="l"/>
                      <a:r>
                        <a:rPr sz="1200" b="0">
                          <a:solidFill>
                            <a:srgbClr val="262626"/>
                          </a:solidFill>
                          <a:latin typeface="Arial"/>
                        </a:rPr>
                        <a:t>Chương 2: tổng quan, khoảng trống, lý thuyết, mô hình, giả thuyết (Phần 2, mục D và các phần Kỹ thuật)</a:t>
                      </a:r>
                    </a:p>
                  </a:txBody>
                  <a:tcPr marL="73152" marR="73152" marT="27432" marB="27432" anchor="ctr">
                    <a:solidFill>
                      <a:srgbClr val="F3F3F3"/>
                    </a:solidFill>
                  </a:tcPr>
                </a:tc>
                <a:tc>
                  <a:txBody>
                    <a:bodyPr wrap="square"/>
                    <a:lstStyle/>
                    <a:p>
                      <a:pPr algn="l"/>
                      <a:r>
                        <a:rPr sz="1200" b="0">
                          <a:solidFill>
                            <a:srgbClr val="262626"/>
                          </a:solidFill>
                          <a:latin typeface="Arial"/>
                        </a:rPr>
                        <a:t>15 đến 20 tài liệu trong ma trận</a:t>
                      </a:r>
                    </a:p>
                  </a:txBody>
                  <a:tcPr marL="73152" marR="73152" marT="27432" marB="27432" anchor="ctr">
                    <a:solidFill>
                      <a:srgbClr val="F3F3F3"/>
                    </a:solidFill>
                  </a:tcPr>
                </a:tc>
                <a:tc>
                  <a:txBody>
                    <a:bodyPr wrap="square"/>
                    <a:lstStyle/>
                    <a:p>
                      <a:pPr algn="l"/>
                      <a:r>
                        <a:rPr sz="1200" b="0">
                          <a:solidFill>
                            <a:srgbClr val="262626"/>
                          </a:solidFill>
                          <a:latin typeface="Arial"/>
                        </a:rPr>
                        <a:t>Dựng file khung format (Styles)</a:t>
                      </a:r>
                    </a:p>
                  </a:txBody>
                  <a:tcPr marL="73152" marR="73152" marT="27432" marB="27432" anchor="ctr">
                    <a:solidFill>
                      <a:srgbClr val="F3F3F3"/>
                    </a:solidFill>
                  </a:tcPr>
                </a:tc>
                <a:tc>
                  <a:txBody>
                    <a:bodyPr wrap="square"/>
                    <a:lstStyle/>
                    <a:p>
                      <a:pPr algn="l"/>
                      <a:r>
                        <a:rPr sz="1200" b="0">
                          <a:solidFill>
                            <a:srgbClr val="262626"/>
                          </a:solidFill>
                          <a:latin typeface="Arial"/>
                        </a:rPr>
                        <a:t>Tuần 5 không thiết kế được bảng hỏi</a:t>
                      </a:r>
                    </a:p>
                  </a:txBody>
                  <a:tcPr marL="73152" marR="73152" marT="27432" marB="27432" anchor="ctr">
                    <a:solidFill>
                      <a:srgbClr val="F3F3F3"/>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NỐI TIẾP CORE SLIDE 1 | KẾ HOẠCH TỪNG TUẦN (2)</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Tuần 5 đến 8 làm việc với dữ liệu thật: ba trong sáu mốc kiểm soát nằm ở khâu dữ liệu, khâu các em ít kiểm soát nhất</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Thấy một mốc có nguy cơ trễ thì báo giảng viên hướng dẫn ngay, không dồn vào tuần 8.</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Core Slide 1, Phần XIII (Slide 88 đến 91); Hướng dẫn Chuyên đề và Khóa luận tốt nghiệp, dòng "Thời gian gợi ý" của từng mục; Phần 3, Mục 3.5.1 (2 đến 3 tuần thu thập)</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a:t>
            </a:r>
          </a:p>
        </p:txBody>
      </p:sp>
      <p:graphicFrame>
        <p:nvGraphicFramePr>
          <p:cNvPr id="12" name="Table 11"/>
          <p:cNvGraphicFramePr>
            <a:graphicFrameLocks noGrp="1"/>
          </p:cNvGraphicFramePr>
          <p:nvPr/>
        </p:nvGraphicFramePr>
        <p:xfrm>
          <a:off x="457200" y="1783080"/>
          <a:ext cx="11274549" cy="3520440"/>
        </p:xfrm>
        <a:graphic>
          <a:graphicData uri="http://schemas.openxmlformats.org/drawingml/2006/table">
            <a:tbl>
              <a:tblPr firstRow="1" bandRow="1">
                <a:tableStyleId>{5C22544A-7EE6-4342-B048-85BDC9FD1C3A}</a:tableStyleId>
              </a:tblPr>
              <a:tblGrid>
                <a:gridCol w="657682"/>
                <a:gridCol w="4134002"/>
                <a:gridCol w="2160955"/>
                <a:gridCol w="2160955"/>
                <a:gridCol w="2160955"/>
              </a:tblGrid>
              <a:tr h="411480">
                <a:tc>
                  <a:txBody>
                    <a:bodyPr wrap="square"/>
                    <a:lstStyle/>
                    <a:p>
                      <a:pPr algn="l"/>
                      <a:r>
                        <a:rPr sz="1200" b="1">
                          <a:solidFill>
                            <a:srgbClr val="FFFFFF"/>
                          </a:solidFill>
                          <a:latin typeface="Arial"/>
                        </a:rPr>
                        <a:t>Tuần</a:t>
                      </a:r>
                    </a:p>
                  </a:txBody>
                  <a:tcPr marL="73152" marR="73152" marT="27432" marB="27432" anchor="ctr">
                    <a:solidFill>
                      <a:srgbClr val="262626"/>
                    </a:solidFill>
                  </a:tcPr>
                </a:tc>
                <a:tc>
                  <a:txBody>
                    <a:bodyPr wrap="square"/>
                    <a:lstStyle/>
                    <a:p>
                      <a:pPr algn="l"/>
                      <a:r>
                        <a:rPr sz="1200" b="1">
                          <a:solidFill>
                            <a:srgbClr val="FFFFFF"/>
                          </a:solidFill>
                          <a:latin typeface="Arial"/>
                        </a:rPr>
                        <a:t>Việc chính (đọc ở đâu trong sách)</a:t>
                      </a:r>
                    </a:p>
                  </a:txBody>
                  <a:tcPr marL="73152" marR="73152" marT="27432" marB="27432" anchor="ctr">
                    <a:solidFill>
                      <a:srgbClr val="262626"/>
                    </a:solidFill>
                  </a:tcPr>
                </a:tc>
                <a:tc>
                  <a:txBody>
                    <a:bodyPr wrap="square"/>
                    <a:lstStyle/>
                    <a:p>
                      <a:pPr algn="l"/>
                      <a:r>
                        <a:rPr sz="1200" b="1">
                          <a:solidFill>
                            <a:srgbClr val="FFFFFF"/>
                          </a:solidFill>
                          <a:latin typeface="Arial"/>
                        </a:rPr>
                        <a:t>Phải xong trước</a:t>
                      </a:r>
                    </a:p>
                  </a:txBody>
                  <a:tcPr marL="73152" marR="73152" marT="27432" marB="27432" anchor="ctr">
                    <a:solidFill>
                      <a:srgbClr val="262626"/>
                    </a:solidFill>
                  </a:tcPr>
                </a:tc>
                <a:tc>
                  <a:txBody>
                    <a:bodyPr wrap="square"/>
                    <a:lstStyle/>
                    <a:p>
                      <a:pPr algn="l"/>
                      <a:r>
                        <a:rPr sz="1200" b="1">
                          <a:solidFill>
                            <a:srgbClr val="FFFFFF"/>
                          </a:solidFill>
                          <a:latin typeface="Arial"/>
                        </a:rPr>
                        <a:t>Làm song song</a:t>
                      </a:r>
                    </a:p>
                  </a:txBody>
                  <a:tcPr marL="73152" marR="73152" marT="27432" marB="27432" anchor="ctr">
                    <a:solidFill>
                      <a:srgbClr val="262626"/>
                    </a:solidFill>
                  </a:tcPr>
                </a:tc>
                <a:tc>
                  <a:txBody>
                    <a:bodyPr wrap="square"/>
                    <a:lstStyle/>
                    <a:p>
                      <a:pPr algn="l"/>
                      <a:r>
                        <a:rPr sz="1200" b="1">
                          <a:solidFill>
                            <a:srgbClr val="FFFFFF"/>
                          </a:solidFill>
                          <a:latin typeface="Arial"/>
                        </a:rPr>
                        <a:t>Rủi ro nếu chậm</a:t>
                      </a:r>
                    </a:p>
                  </a:txBody>
                  <a:tcPr marL="73152" marR="73152" marT="27432" marB="27432" anchor="ctr">
                    <a:solidFill>
                      <a:srgbClr val="262626"/>
                    </a:solidFill>
                  </a:tcPr>
                </a:tc>
              </a:tr>
              <a:tr h="777240">
                <a:tc>
                  <a:txBody>
                    <a:bodyPr wrap="square"/>
                    <a:lstStyle/>
                    <a:p>
                      <a:pPr algn="l"/>
                      <a:r>
                        <a:rPr sz="1200" b="0">
                          <a:solidFill>
                            <a:srgbClr val="262626"/>
                          </a:solidFill>
                          <a:latin typeface="Arial"/>
                        </a:rPr>
                        <a:t>5 ■</a:t>
                      </a:r>
                    </a:p>
                  </a:txBody>
                  <a:tcPr marL="73152" marR="73152" marT="27432" marB="27432" anchor="ctr">
                    <a:solidFill>
                      <a:srgbClr val="FFFFFF"/>
                    </a:solidFill>
                  </a:tcPr>
                </a:tc>
                <a:tc>
                  <a:txBody>
                    <a:bodyPr wrap="square"/>
                    <a:lstStyle/>
                    <a:p>
                      <a:pPr algn="l"/>
                      <a:r>
                        <a:rPr sz="1200" b="0">
                          <a:solidFill>
                            <a:srgbClr val="262626"/>
                          </a:solidFill>
                          <a:latin typeface="Arial"/>
                        </a:rPr>
                        <a:t>Chốt Chương 3; bảng hỏi; đọc thử 5 người, thử 30 người (Phần 3, Mục 3.1 đến 3.4)</a:t>
                      </a:r>
                    </a:p>
                  </a:txBody>
                  <a:tcPr marL="73152" marR="73152" marT="27432" marB="27432" anchor="ctr">
                    <a:solidFill>
                      <a:srgbClr val="FFFFFF"/>
                    </a:solidFill>
                  </a:tcPr>
                </a:tc>
                <a:tc>
                  <a:txBody>
                    <a:bodyPr wrap="square"/>
                    <a:lstStyle/>
                    <a:p>
                      <a:pPr algn="l"/>
                      <a:r>
                        <a:rPr sz="1200" b="0">
                          <a:solidFill>
                            <a:srgbClr val="262626"/>
                          </a:solidFill>
                          <a:latin typeface="Arial"/>
                        </a:rPr>
                        <a:t>Mô hình, giả thuyết đã chốt</a:t>
                      </a:r>
                    </a:p>
                  </a:txBody>
                  <a:tcPr marL="73152" marR="73152" marT="27432" marB="27432" anchor="ctr">
                    <a:solidFill>
                      <a:srgbClr val="FFFFFF"/>
                    </a:solidFill>
                  </a:tcPr>
                </a:tc>
                <a:tc>
                  <a:txBody>
                    <a:bodyPr wrap="square"/>
                    <a:lstStyle/>
                    <a:p>
                      <a:pPr algn="l"/>
                      <a:r>
                        <a:rPr sz="1200" b="0">
                          <a:solidFill>
                            <a:srgbClr val="262626"/>
                          </a:solidFill>
                          <a:latin typeface="Arial"/>
                        </a:rPr>
                        <a:t>Xin phép đơn vị khảo sát</a:t>
                      </a:r>
                    </a:p>
                  </a:txBody>
                  <a:tcPr marL="73152" marR="73152" marT="27432" marB="27432" anchor="ctr">
                    <a:solidFill>
                      <a:srgbClr val="FFFFFF"/>
                    </a:solidFill>
                  </a:tcPr>
                </a:tc>
                <a:tc>
                  <a:txBody>
                    <a:bodyPr wrap="square"/>
                    <a:lstStyle/>
                    <a:p>
                      <a:pPr algn="l"/>
                      <a:r>
                        <a:rPr sz="1200" b="0">
                          <a:solidFill>
                            <a:srgbClr val="262626"/>
                          </a:solidFill>
                          <a:latin typeface="Arial"/>
                        </a:rPr>
                        <a:t>Bảng hỏi sai biến, phải thu lại</a:t>
                      </a:r>
                    </a:p>
                  </a:txBody>
                  <a:tcPr marL="73152" marR="73152" marT="27432" marB="27432" anchor="ctr">
                    <a:solidFill>
                      <a:srgbClr val="FFFFFF"/>
                    </a:solidFill>
                  </a:tcPr>
                </a:tc>
              </a:tr>
              <a:tr h="777240">
                <a:tc>
                  <a:txBody>
                    <a:bodyPr wrap="square"/>
                    <a:lstStyle/>
                    <a:p>
                      <a:pPr algn="l"/>
                      <a:r>
                        <a:rPr sz="1200" b="0">
                          <a:solidFill>
                            <a:srgbClr val="262626"/>
                          </a:solidFill>
                          <a:latin typeface="Arial"/>
                        </a:rPr>
                        <a:t>6 ■</a:t>
                      </a:r>
                    </a:p>
                  </a:txBody>
                  <a:tcPr marL="73152" marR="73152" marT="27432" marB="27432" anchor="ctr">
                    <a:solidFill>
                      <a:srgbClr val="F3F3F3"/>
                    </a:solidFill>
                  </a:tcPr>
                </a:tc>
                <a:tc>
                  <a:txBody>
                    <a:bodyPr wrap="square"/>
                    <a:lstStyle/>
                    <a:p>
                      <a:pPr algn="l"/>
                      <a:r>
                        <a:rPr sz="1200" b="0">
                          <a:solidFill>
                            <a:srgbClr val="262626"/>
                          </a:solidFill>
                          <a:latin typeface="Arial"/>
                        </a:rPr>
                        <a:t>Thu dữ liệu; làm sạch theo quy tắc đặt trước (Phần 3, Mục 3.5; sheet 2, 3)</a:t>
                      </a:r>
                    </a:p>
                  </a:txBody>
                  <a:tcPr marL="73152" marR="73152" marT="27432" marB="27432" anchor="ctr">
                    <a:solidFill>
                      <a:srgbClr val="F3F3F3"/>
                    </a:solidFill>
                  </a:tcPr>
                </a:tc>
                <a:tc>
                  <a:txBody>
                    <a:bodyPr wrap="square"/>
                    <a:lstStyle/>
                    <a:p>
                      <a:pPr algn="l"/>
                      <a:r>
                        <a:rPr sz="1200" b="0">
                          <a:solidFill>
                            <a:srgbClr val="262626"/>
                          </a:solidFill>
                          <a:latin typeface="Arial"/>
                        </a:rPr>
                        <a:t>Bảng hỏi đã thử</a:t>
                      </a:r>
                    </a:p>
                  </a:txBody>
                  <a:tcPr marL="73152" marR="73152" marT="27432" marB="27432" anchor="ctr">
                    <a:solidFill>
                      <a:srgbClr val="F3F3F3"/>
                    </a:solidFill>
                  </a:tcPr>
                </a:tc>
                <a:tc>
                  <a:txBody>
                    <a:bodyPr wrap="square"/>
                    <a:lstStyle/>
                    <a:p>
                      <a:pPr algn="l"/>
                      <a:r>
                        <a:rPr sz="1200" b="0">
                          <a:solidFill>
                            <a:srgbClr val="262626"/>
                          </a:solidFill>
                          <a:latin typeface="Arial"/>
                        </a:rPr>
                        <a:t>Sắp danh mục TLTK; khung bảng kết quả</a:t>
                      </a:r>
                    </a:p>
                  </a:txBody>
                  <a:tcPr marL="73152" marR="73152" marT="27432" marB="27432" anchor="ctr">
                    <a:solidFill>
                      <a:srgbClr val="F3F3F3"/>
                    </a:solidFill>
                  </a:tcPr>
                </a:tc>
                <a:tc>
                  <a:txBody>
                    <a:bodyPr wrap="square"/>
                    <a:lstStyle/>
                    <a:p>
                      <a:pPr algn="l"/>
                      <a:r>
                        <a:rPr sz="1200" b="0">
                          <a:solidFill>
                            <a:srgbClr val="262626"/>
                          </a:solidFill>
                          <a:latin typeface="Arial"/>
                        </a:rPr>
                        <a:t>Thiếu phiếu hợp lệ</a:t>
                      </a:r>
                    </a:p>
                  </a:txBody>
                  <a:tcPr marL="73152" marR="73152" marT="27432" marB="27432" anchor="ctr">
                    <a:solidFill>
                      <a:srgbClr val="F3F3F3"/>
                    </a:solidFill>
                  </a:tcPr>
                </a:tc>
              </a:tr>
              <a:tr h="777240">
                <a:tc>
                  <a:txBody>
                    <a:bodyPr wrap="square"/>
                    <a:lstStyle/>
                    <a:p>
                      <a:pPr algn="l"/>
                      <a:r>
                        <a:rPr sz="1200" b="0">
                          <a:solidFill>
                            <a:srgbClr val="262626"/>
                          </a:solidFill>
                          <a:latin typeface="Arial"/>
                        </a:rPr>
                        <a:t>7</a:t>
                      </a:r>
                    </a:p>
                  </a:txBody>
                  <a:tcPr marL="73152" marR="73152" marT="27432" marB="27432" anchor="ctr">
                    <a:solidFill>
                      <a:srgbClr val="FFFFFF"/>
                    </a:solidFill>
                  </a:tcPr>
                </a:tc>
                <a:tc>
                  <a:txBody>
                    <a:bodyPr wrap="square"/>
                    <a:lstStyle/>
                    <a:p>
                      <a:pPr algn="l"/>
                      <a:r>
                        <a:rPr sz="1200" b="0">
                          <a:solidFill>
                            <a:srgbClr val="262626"/>
                          </a:solidFill>
                          <a:latin typeface="Arial"/>
                        </a:rPr>
                        <a:t>Mô tả, Alpha, tương quan, hồi quy; viết Chương 4 (Phần 4, mục D và E)</a:t>
                      </a:r>
                    </a:p>
                  </a:txBody>
                  <a:tcPr marL="73152" marR="73152" marT="27432" marB="27432" anchor="ctr">
                    <a:solidFill>
                      <a:srgbClr val="FFFFFF"/>
                    </a:solidFill>
                  </a:tcPr>
                </a:tc>
                <a:tc>
                  <a:txBody>
                    <a:bodyPr wrap="square"/>
                    <a:lstStyle/>
                    <a:p>
                      <a:pPr algn="l"/>
                      <a:r>
                        <a:rPr sz="1200" b="0">
                          <a:solidFill>
                            <a:srgbClr val="262626"/>
                          </a:solidFill>
                          <a:latin typeface="Arial"/>
                        </a:rPr>
                        <a:t>Dữ liệu sạch, đủ cỡ mẫu</a:t>
                      </a:r>
                    </a:p>
                  </a:txBody>
                  <a:tcPr marL="73152" marR="73152" marT="27432" marB="27432" anchor="ctr">
                    <a:solidFill>
                      <a:srgbClr val="FFFFFF"/>
                    </a:solidFill>
                  </a:tcPr>
                </a:tc>
                <a:tc>
                  <a:txBody>
                    <a:bodyPr wrap="square"/>
                    <a:lstStyle/>
                    <a:p>
                      <a:pPr algn="l"/>
                      <a:r>
                        <a:rPr sz="1200" b="0">
                          <a:solidFill>
                            <a:srgbClr val="262626"/>
                          </a:solidFill>
                          <a:latin typeface="Arial"/>
                        </a:rPr>
                        <a:t>Vẽ biểu đồ (sheet 11)</a:t>
                      </a:r>
                    </a:p>
                  </a:txBody>
                  <a:tcPr marL="73152" marR="73152" marT="27432" marB="27432" anchor="ctr">
                    <a:solidFill>
                      <a:srgbClr val="FFFFFF"/>
                    </a:solidFill>
                  </a:tcPr>
                </a:tc>
                <a:tc>
                  <a:txBody>
                    <a:bodyPr wrap="square"/>
                    <a:lstStyle/>
                    <a:p>
                      <a:pPr algn="l"/>
                      <a:r>
                        <a:rPr sz="1200" b="0">
                          <a:solidFill>
                            <a:srgbClr val="262626"/>
                          </a:solidFill>
                          <a:latin typeface="Arial"/>
                        </a:rPr>
                        <a:t>Không kịp thảo luận</a:t>
                      </a:r>
                    </a:p>
                  </a:txBody>
                  <a:tcPr marL="73152" marR="73152" marT="27432" marB="27432" anchor="ctr">
                    <a:solidFill>
                      <a:srgbClr val="FFFFFF"/>
                    </a:solidFill>
                  </a:tcPr>
                </a:tc>
              </a:tr>
              <a:tr h="777240">
                <a:tc>
                  <a:txBody>
                    <a:bodyPr wrap="square"/>
                    <a:lstStyle/>
                    <a:p>
                      <a:pPr algn="l"/>
                      <a:r>
                        <a:rPr sz="1200" b="0">
                          <a:solidFill>
                            <a:srgbClr val="262626"/>
                          </a:solidFill>
                          <a:latin typeface="Arial"/>
                        </a:rPr>
                        <a:t>8 ■</a:t>
                      </a:r>
                    </a:p>
                  </a:txBody>
                  <a:tcPr marL="73152" marR="73152" marT="27432" marB="27432" anchor="ctr">
                    <a:solidFill>
                      <a:srgbClr val="F3F3F3"/>
                    </a:solidFill>
                  </a:tcPr>
                </a:tc>
                <a:tc>
                  <a:txBody>
                    <a:bodyPr wrap="square"/>
                    <a:lstStyle/>
                    <a:p>
                      <a:pPr algn="l"/>
                      <a:r>
                        <a:rPr sz="1200" b="0">
                          <a:solidFill>
                            <a:srgbClr val="262626"/>
                          </a:solidFill>
                          <a:latin typeface="Arial"/>
                        </a:rPr>
                        <a:t>Chương 5, tóm tắt, kết luận; kiểm tra sáu cặp điểm nối (Phần 5; Phần 9)</a:t>
                      </a:r>
                    </a:p>
                  </a:txBody>
                  <a:tcPr marL="73152" marR="73152" marT="27432" marB="27432" anchor="ctr">
                    <a:solidFill>
                      <a:srgbClr val="F3F3F3"/>
                    </a:solidFill>
                  </a:tcPr>
                </a:tc>
                <a:tc>
                  <a:txBody>
                    <a:bodyPr wrap="square"/>
                    <a:lstStyle/>
                    <a:p>
                      <a:pPr algn="l"/>
                      <a:r>
                        <a:rPr sz="1200" b="0">
                          <a:solidFill>
                            <a:srgbClr val="262626"/>
                          </a:solidFill>
                          <a:latin typeface="Arial"/>
                        </a:rPr>
                        <a:t>Bảng kết quả kiểm định</a:t>
                      </a:r>
                    </a:p>
                  </a:txBody>
                  <a:tcPr marL="73152" marR="73152" marT="27432" marB="27432" anchor="ctr">
                    <a:solidFill>
                      <a:srgbClr val="F3F3F3"/>
                    </a:solidFill>
                  </a:tcPr>
                </a:tc>
                <a:tc>
                  <a:txBody>
                    <a:bodyPr wrap="square"/>
                    <a:lstStyle/>
                    <a:p>
                      <a:pPr algn="l"/>
                      <a:r>
                        <a:rPr sz="1200" b="0">
                          <a:solidFill>
                            <a:srgbClr val="262626"/>
                          </a:solidFill>
                          <a:latin typeface="Arial"/>
                        </a:rPr>
                        <a:t>Slide bảo vệ nháp</a:t>
                      </a:r>
                    </a:p>
                  </a:txBody>
                  <a:tcPr marL="73152" marR="73152" marT="27432" marB="27432" anchor="ctr">
                    <a:solidFill>
                      <a:srgbClr val="F3F3F3"/>
                    </a:solidFill>
                  </a:tcPr>
                </a:tc>
                <a:tc>
                  <a:txBody>
                    <a:bodyPr wrap="square"/>
                    <a:lstStyle/>
                    <a:p>
                      <a:pPr algn="l"/>
                      <a:r>
                        <a:rPr sz="1200" b="0">
                          <a:solidFill>
                            <a:srgbClr val="262626"/>
                          </a:solidFill>
                          <a:latin typeface="Arial"/>
                        </a:rPr>
                        <a:t>Con số lệch giữa các phần</a:t>
                      </a:r>
                    </a:p>
                  </a:txBody>
                  <a:tcPr marL="73152" marR="73152" marT="27432" marB="27432" anchor="ctr">
                    <a:solidFill>
                      <a:srgbClr val="F3F3F3"/>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NỐI TIẾP CORE SLIDE 1 | TIÊU CHÍ TỰ KIỂM TRA CHI TIẾT (1)</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Bốn nhóm tiêu chí đầu của Core Slide 1, tách thành tiêu chí nhỏ lấy từ khối "Tiêu chí hoàn thành" của sách</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Đây là công cụ tự kiểm tra, không phải thang điểm chính thức: trọng số điểm do khoa quy định.</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Core Slide 1, Phần XI (Slide 76, 80, 81); Hướng dẫn Chuyên đề và Khóa luận tốt nghiệp, khối "Tiêu chí hoàn thành" các chương, Bảng 3-27</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a:t>
            </a:r>
          </a:p>
        </p:txBody>
      </p:sp>
      <p:graphicFrame>
        <p:nvGraphicFramePr>
          <p:cNvPr id="12" name="Table 11"/>
          <p:cNvGraphicFramePr>
            <a:graphicFrameLocks noGrp="1"/>
          </p:cNvGraphicFramePr>
          <p:nvPr/>
        </p:nvGraphicFramePr>
        <p:xfrm>
          <a:off x="457200" y="1783080"/>
          <a:ext cx="11274551" cy="3703320"/>
        </p:xfrm>
        <a:graphic>
          <a:graphicData uri="http://schemas.openxmlformats.org/drawingml/2006/table">
            <a:tbl>
              <a:tblPr firstRow="1" bandRow="1">
                <a:tableStyleId>{5C22544A-7EE6-4342-B048-85BDC9FD1C3A}</a:tableStyleId>
              </a:tblPr>
              <a:tblGrid>
                <a:gridCol w="2664894"/>
                <a:gridCol w="6354747"/>
                <a:gridCol w="2254910"/>
              </a:tblGrid>
              <a:tr h="411480">
                <a:tc>
                  <a:txBody>
                    <a:bodyPr wrap="square"/>
                    <a:lstStyle/>
                    <a:p>
                      <a:pPr algn="l"/>
                      <a:r>
                        <a:rPr sz="1200" b="1">
                          <a:solidFill>
                            <a:srgbClr val="FFFFFF"/>
                          </a:solidFill>
                          <a:latin typeface="Arial"/>
                        </a:rPr>
                        <a:t>Nhóm tiêu chí (Core Slide 1)</a:t>
                      </a:r>
                    </a:p>
                  </a:txBody>
                  <a:tcPr marL="73152" marR="73152" marT="27432" marB="27432" anchor="ctr">
                    <a:solidFill>
                      <a:srgbClr val="262626"/>
                    </a:solidFill>
                  </a:tcPr>
                </a:tc>
                <a:tc>
                  <a:txBody>
                    <a:bodyPr wrap="square"/>
                    <a:lstStyle/>
                    <a:p>
                      <a:pPr algn="l"/>
                      <a:r>
                        <a:rPr sz="1200" b="1">
                          <a:solidFill>
                            <a:srgbClr val="FFFFFF"/>
                          </a:solidFill>
                          <a:latin typeface="Arial"/>
                        </a:rPr>
                        <a:t>Tiêu chí chi tiết (lấy từ sách)</a:t>
                      </a:r>
                    </a:p>
                  </a:txBody>
                  <a:tcPr marL="73152" marR="73152" marT="27432" marB="27432" anchor="ctr">
                    <a:solidFill>
                      <a:srgbClr val="262626"/>
                    </a:solidFill>
                  </a:tcPr>
                </a:tc>
                <a:tc>
                  <a:txBody>
                    <a:bodyPr wrap="square"/>
                    <a:lstStyle/>
                    <a:p>
                      <a:pPr algn="l"/>
                      <a:r>
                        <a:rPr sz="1200" b="1">
                          <a:solidFill>
                            <a:srgbClr val="FFFFFF"/>
                          </a:solidFill>
                          <a:latin typeface="Arial"/>
                        </a:rPr>
                        <a:t>Ví dụ đạt và chưa đạt ở slide</a:t>
                      </a:r>
                    </a:p>
                  </a:txBody>
                  <a:tcPr marL="73152" marR="73152" marT="27432" marB="27432" anchor="ctr">
                    <a:solidFill>
                      <a:srgbClr val="262626"/>
                    </a:solidFill>
                  </a:tcPr>
                </a:tc>
              </a:tr>
              <a:tr h="822960">
                <a:tc>
                  <a:txBody>
                    <a:bodyPr wrap="square"/>
                    <a:lstStyle/>
                    <a:p>
                      <a:pPr algn="l"/>
                      <a:r>
                        <a:rPr sz="1200" b="0">
                          <a:solidFill>
                            <a:srgbClr val="262626"/>
                          </a:solidFill>
                          <a:latin typeface="Arial"/>
                        </a:rPr>
                        <a:t>1. Đề tài, mục tiêu, proposal</a:t>
                      </a:r>
                    </a:p>
                  </a:txBody>
                  <a:tcPr marL="73152" marR="73152" marT="27432" marB="27432" anchor="ctr">
                    <a:solidFill>
                      <a:srgbClr val="FFFFFF"/>
                    </a:solidFill>
                  </a:tcPr>
                </a:tc>
                <a:tc>
                  <a:txBody>
                    <a:bodyPr wrap="square"/>
                    <a:lstStyle/>
                    <a:p>
                      <a:pPr algn="l"/>
                      <a:r>
                        <a:rPr sz="1200" b="0">
                          <a:solidFill>
                            <a:srgbClr val="262626"/>
                          </a:solidFill>
                          <a:latin typeface="Arial"/>
                        </a:rPr>
                        <a:t>Câu "Mặc dù... vẫn... Hệ quả là... Hiện chưa rõ..." có số liệu có nguồn; một mục tiêu tổng quát, 2 đến 4 mục tiêu cụ thể bắt đầu bằng động từ; số câu hỏi bằng số mục tiêu</a:t>
                      </a:r>
                    </a:p>
                  </a:txBody>
                  <a:tcPr marL="73152" marR="73152" marT="27432" marB="27432" anchor="ctr">
                    <a:solidFill>
                      <a:srgbClr val="FFFFFF"/>
                    </a:solidFill>
                  </a:tcPr>
                </a:tc>
                <a:tc>
                  <a:txBody>
                    <a:bodyPr wrap="square"/>
                    <a:lstStyle/>
                    <a:p>
                      <a:pPr algn="l"/>
                      <a:r>
                        <a:rPr sz="1200" b="0">
                          <a:solidFill>
                            <a:srgbClr val="262626"/>
                          </a:solidFill>
                          <a:latin typeface="Arial"/>
                        </a:rPr>
                        <a:t>Câu nêu vấn đề; mục tiêu và câu hỏi</a:t>
                      </a:r>
                    </a:p>
                  </a:txBody>
                  <a:tcPr marL="73152" marR="73152" marT="27432" marB="27432" anchor="ctr">
                    <a:solidFill>
                      <a:srgbClr val="FFFFFF"/>
                    </a:solidFill>
                  </a:tcPr>
                </a:tc>
              </a:tr>
              <a:tr h="822960">
                <a:tc>
                  <a:txBody>
                    <a:bodyPr wrap="square"/>
                    <a:lstStyle/>
                    <a:p>
                      <a:pPr algn="l"/>
                      <a:r>
                        <a:rPr sz="1200" b="0">
                          <a:solidFill>
                            <a:srgbClr val="262626"/>
                          </a:solidFill>
                          <a:latin typeface="Arial"/>
                        </a:rPr>
                        <a:t>2. Cơ sở lý thuyết, mô hình</a:t>
                      </a:r>
                    </a:p>
                  </a:txBody>
                  <a:tcPr marL="73152" marR="73152" marT="27432" marB="27432" anchor="ctr">
                    <a:solidFill>
                      <a:srgbClr val="F3F3F3"/>
                    </a:solidFill>
                  </a:tcPr>
                </a:tc>
                <a:tc>
                  <a:txBody>
                    <a:bodyPr wrap="square"/>
                    <a:lstStyle/>
                    <a:p>
                      <a:pPr algn="l"/>
                      <a:r>
                        <a:rPr sz="1200" b="0">
                          <a:solidFill>
                            <a:srgbClr val="262626"/>
                          </a:solidFill>
                          <a:latin typeface="Arial"/>
                        </a:rPr>
                        <a:t>Mỗi khái niệm có 2 nguồn và định nghĩa riêng; tổng hợp theo nhóm; khoảng trống có giới hạn phạm vi; 3 đến 5 biến có lý thuyết gốc; giả thuyết có chiều</a:t>
                      </a:r>
                    </a:p>
                  </a:txBody>
                  <a:tcPr marL="73152" marR="73152" marT="27432" marB="27432" anchor="ctr">
                    <a:solidFill>
                      <a:srgbClr val="F3F3F3"/>
                    </a:solidFill>
                  </a:tcPr>
                </a:tc>
                <a:tc>
                  <a:txBody>
                    <a:bodyPr wrap="square"/>
                    <a:lstStyle/>
                    <a:p>
                      <a:pPr algn="l"/>
                      <a:r>
                        <a:rPr sz="1200" b="0">
                          <a:solidFill>
                            <a:srgbClr val="262626"/>
                          </a:solidFill>
                          <a:latin typeface="Arial"/>
                        </a:rPr>
                        <a:t>Khái niệm; tổng hợp; giả thuyết</a:t>
                      </a:r>
                    </a:p>
                  </a:txBody>
                  <a:tcPr marL="73152" marR="73152" marT="27432" marB="27432" anchor="ctr">
                    <a:solidFill>
                      <a:srgbClr val="F3F3F3"/>
                    </a:solidFill>
                  </a:tcPr>
                </a:tc>
              </a:tr>
              <a:tr h="822960">
                <a:tc>
                  <a:txBody>
                    <a:bodyPr wrap="square"/>
                    <a:lstStyle/>
                    <a:p>
                      <a:pPr algn="l"/>
                      <a:r>
                        <a:rPr sz="1200" b="0">
                          <a:solidFill>
                            <a:srgbClr val="262626"/>
                          </a:solidFill>
                          <a:latin typeface="Arial"/>
                        </a:rPr>
                        <a:t>3. Phương pháp, đối tượng, dữ liệu</a:t>
                      </a:r>
                    </a:p>
                  </a:txBody>
                  <a:tcPr marL="73152" marR="73152" marT="27432" marB="27432" anchor="ctr">
                    <a:solidFill>
                      <a:srgbClr val="FFFFFF"/>
                    </a:solidFill>
                  </a:tcPr>
                </a:tc>
                <a:tc>
                  <a:txBody>
                    <a:bodyPr wrap="square"/>
                    <a:lstStyle/>
                    <a:p>
                      <a:pPr algn="l"/>
                      <a:r>
                        <a:rPr sz="1200" b="0">
                          <a:solidFill>
                            <a:srgbClr val="262626"/>
                          </a:solidFill>
                          <a:latin typeface="Arial"/>
                        </a:rPr>
                        <a:t>Tổng thể có ai, ở đâu, điều kiện; cỡ mẫu theo hai quy tắc có nguồn; mỗi câu hỏi một ý; bốn con số mời, thu, loại, hợp lệ</a:t>
                      </a:r>
                    </a:p>
                  </a:txBody>
                  <a:tcPr marL="73152" marR="73152" marT="27432" marB="27432" anchor="ctr">
                    <a:solidFill>
                      <a:srgbClr val="FFFFFF"/>
                    </a:solidFill>
                  </a:tcPr>
                </a:tc>
                <a:tc>
                  <a:txBody>
                    <a:bodyPr wrap="square"/>
                    <a:lstStyle/>
                    <a:p>
                      <a:pPr algn="l"/>
                      <a:r>
                        <a:rPr sz="1200" b="0">
                          <a:solidFill>
                            <a:srgbClr val="262626"/>
                          </a:solidFill>
                          <a:latin typeface="Arial"/>
                        </a:rPr>
                        <a:t>Bảng hỏi; nguồn dữ liệu; làm sạch</a:t>
                      </a:r>
                    </a:p>
                  </a:txBody>
                  <a:tcPr marL="73152" marR="73152" marT="27432" marB="27432" anchor="ctr">
                    <a:solidFill>
                      <a:srgbClr val="FFFFFF"/>
                    </a:solidFill>
                  </a:tcPr>
                </a:tc>
              </a:tr>
              <a:tr h="822960">
                <a:tc>
                  <a:txBody>
                    <a:bodyPr wrap="square"/>
                    <a:lstStyle/>
                    <a:p>
                      <a:pPr algn="l"/>
                      <a:r>
                        <a:rPr sz="1200" b="0">
                          <a:solidFill>
                            <a:srgbClr val="262626"/>
                          </a:solidFill>
                          <a:latin typeface="Arial"/>
                        </a:rPr>
                        <a:t>4. Tính trung thực, kết luận</a:t>
                      </a:r>
                    </a:p>
                  </a:txBody>
                  <a:tcPr marL="73152" marR="73152" marT="27432" marB="27432" anchor="ctr">
                    <a:solidFill>
                      <a:srgbClr val="F3F3F3"/>
                    </a:solidFill>
                  </a:tcPr>
                </a:tc>
                <a:tc>
                  <a:txBody>
                    <a:bodyPr wrap="square"/>
                    <a:lstStyle/>
                    <a:p>
                      <a:pPr algn="l"/>
                      <a:r>
                        <a:rPr sz="1200" b="0">
                          <a:solidFill>
                            <a:srgbClr val="262626"/>
                          </a:solidFill>
                          <a:latin typeface="Arial"/>
                        </a:rPr>
                        <a:t>Quy tắc loại phiếu đặt trước; kết luận bằng dấu và P-value; dùng "được ủng hộ"; kết luận không vượt mẫu</a:t>
                      </a:r>
                    </a:p>
                  </a:txBody>
                  <a:tcPr marL="73152" marR="73152" marT="27432" marB="27432" anchor="ctr">
                    <a:solidFill>
                      <a:srgbClr val="F3F3F3"/>
                    </a:solidFill>
                  </a:tcPr>
                </a:tc>
                <a:tc>
                  <a:txBody>
                    <a:bodyPr wrap="square"/>
                    <a:lstStyle/>
                    <a:p>
                      <a:pPr algn="l"/>
                      <a:r>
                        <a:rPr sz="1200" b="0">
                          <a:solidFill>
                            <a:srgbClr val="262626"/>
                          </a:solidFill>
                          <a:latin typeface="Arial"/>
                        </a:rPr>
                        <a:t>Kiểm định giả thuyết; kết luận chung</a:t>
                      </a:r>
                    </a:p>
                  </a:txBody>
                  <a:tcPr marL="73152" marR="73152" marT="27432" marB="27432" anchor="ctr">
                    <a:solidFill>
                      <a:srgbClr val="F3F3F3"/>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NỐI TIẾP CORE SLIDE 1 | TIÊU CHÍ TỰ KIỂM TRA CHI TIẾT (2)</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Bốn nhóm tiêu chí sau của Core Slide 1, từ diễn giải kết quả đến khả năng giải thích quyết định</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Tiêu chí nào chưa đạt thì mở đúng slide ở cột cuối, đặt đoạn mình viết cạnh ví dụ đạt để sửa.</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Core Slide 1, Phần XI (Slide 81); Hướng dẫn Chuyên đề và Khóa luận tốt nghiệp, Phần 3 đến Phần 10, khối "Tiêu chí hoàn thành"</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a:t>
            </a:r>
          </a:p>
        </p:txBody>
      </p:sp>
      <p:graphicFrame>
        <p:nvGraphicFramePr>
          <p:cNvPr id="12" name="Table 11"/>
          <p:cNvGraphicFramePr>
            <a:graphicFrameLocks noGrp="1"/>
          </p:cNvGraphicFramePr>
          <p:nvPr/>
        </p:nvGraphicFramePr>
        <p:xfrm>
          <a:off x="457200" y="1783080"/>
          <a:ext cx="11274551" cy="3703320"/>
        </p:xfrm>
        <a:graphic>
          <a:graphicData uri="http://schemas.openxmlformats.org/drawingml/2006/table">
            <a:tbl>
              <a:tblPr firstRow="1" bandRow="1">
                <a:tableStyleId>{5C22544A-7EE6-4342-B048-85BDC9FD1C3A}</a:tableStyleId>
              </a:tblPr>
              <a:tblGrid>
                <a:gridCol w="2664894"/>
                <a:gridCol w="6354747"/>
                <a:gridCol w="2254910"/>
              </a:tblGrid>
              <a:tr h="411480">
                <a:tc>
                  <a:txBody>
                    <a:bodyPr wrap="square"/>
                    <a:lstStyle/>
                    <a:p>
                      <a:pPr algn="l"/>
                      <a:r>
                        <a:rPr sz="1200" b="1">
                          <a:solidFill>
                            <a:srgbClr val="FFFFFF"/>
                          </a:solidFill>
                          <a:latin typeface="Arial"/>
                        </a:rPr>
                        <a:t>Nhóm tiêu chí (Core Slide 1)</a:t>
                      </a:r>
                    </a:p>
                  </a:txBody>
                  <a:tcPr marL="73152" marR="73152" marT="27432" marB="27432" anchor="ctr">
                    <a:solidFill>
                      <a:srgbClr val="262626"/>
                    </a:solidFill>
                  </a:tcPr>
                </a:tc>
                <a:tc>
                  <a:txBody>
                    <a:bodyPr wrap="square"/>
                    <a:lstStyle/>
                    <a:p>
                      <a:pPr algn="l"/>
                      <a:r>
                        <a:rPr sz="1200" b="1">
                          <a:solidFill>
                            <a:srgbClr val="FFFFFF"/>
                          </a:solidFill>
                          <a:latin typeface="Arial"/>
                        </a:rPr>
                        <a:t>Tiêu chí chi tiết (lấy từ sách)</a:t>
                      </a:r>
                    </a:p>
                  </a:txBody>
                  <a:tcPr marL="73152" marR="73152" marT="27432" marB="27432" anchor="ctr">
                    <a:solidFill>
                      <a:srgbClr val="262626"/>
                    </a:solidFill>
                  </a:tcPr>
                </a:tc>
                <a:tc>
                  <a:txBody>
                    <a:bodyPr wrap="square"/>
                    <a:lstStyle/>
                    <a:p>
                      <a:pPr algn="l"/>
                      <a:r>
                        <a:rPr sz="1200" b="1">
                          <a:solidFill>
                            <a:srgbClr val="FFFFFF"/>
                          </a:solidFill>
                          <a:latin typeface="Arial"/>
                        </a:rPr>
                        <a:t>Ví dụ đạt và chưa đạt ở slide</a:t>
                      </a:r>
                    </a:p>
                  </a:txBody>
                  <a:tcPr marL="73152" marR="73152" marT="27432" marB="27432" anchor="ctr">
                    <a:solidFill>
                      <a:srgbClr val="262626"/>
                    </a:solidFill>
                  </a:tcPr>
                </a:tc>
              </a:tr>
              <a:tr h="822960">
                <a:tc>
                  <a:txBody>
                    <a:bodyPr wrap="square"/>
                    <a:lstStyle/>
                    <a:p>
                      <a:pPr algn="l"/>
                      <a:r>
                        <a:rPr sz="1200" b="0">
                          <a:solidFill>
                            <a:srgbClr val="262626"/>
                          </a:solidFill>
                          <a:latin typeface="Arial"/>
                        </a:rPr>
                        <a:t>5. Diễn giải kết quả</a:t>
                      </a:r>
                    </a:p>
                  </a:txBody>
                  <a:tcPr marL="73152" marR="73152" marT="27432" marB="27432" anchor="ctr">
                    <a:solidFill>
                      <a:srgbClr val="FFFFFF"/>
                    </a:solidFill>
                  </a:tcPr>
                </a:tc>
                <a:tc>
                  <a:txBody>
                    <a:bodyPr wrap="square"/>
                    <a:lstStyle/>
                    <a:p>
                      <a:pPr algn="l"/>
                      <a:r>
                        <a:rPr sz="1200" b="0">
                          <a:solidFill>
                            <a:srgbClr val="262626"/>
                          </a:solidFill>
                          <a:latin typeface="Arial"/>
                        </a:rPr>
                        <a:t>Mỗi bảng có đoạn bốn bước Đọc, So sánh, Ý nghĩa, Liên hệ; báo cáo B, β, R², khoảng tin cậy; mỗi kết quả bất ngờ có 1 đến 3 cách giải thích có căn cứ</a:t>
                      </a:r>
                    </a:p>
                  </a:txBody>
                  <a:tcPr marL="73152" marR="73152" marT="27432" marB="27432" anchor="ctr">
                    <a:solidFill>
                      <a:srgbClr val="FFFFFF"/>
                    </a:solidFill>
                  </a:tcPr>
                </a:tc>
                <a:tc>
                  <a:txBody>
                    <a:bodyPr wrap="square"/>
                    <a:lstStyle/>
                    <a:p>
                      <a:pPr algn="l"/>
                      <a:r>
                        <a:rPr sz="1200" b="0">
                          <a:solidFill>
                            <a:srgbClr val="262626"/>
                          </a:solidFill>
                          <a:latin typeface="Arial"/>
                        </a:rPr>
                        <a:t>Diễn giải bảng; kết quả bất ngờ</a:t>
                      </a:r>
                    </a:p>
                  </a:txBody>
                  <a:tcPr marL="73152" marR="73152" marT="27432" marB="27432" anchor="ctr">
                    <a:solidFill>
                      <a:srgbClr val="FFFFFF"/>
                    </a:solidFill>
                  </a:tcPr>
                </a:tc>
              </a:tr>
              <a:tr h="822960">
                <a:tc>
                  <a:txBody>
                    <a:bodyPr wrap="square"/>
                    <a:lstStyle/>
                    <a:p>
                      <a:pPr algn="l"/>
                      <a:r>
                        <a:rPr sz="1200" b="0">
                          <a:solidFill>
                            <a:srgbClr val="262626"/>
                          </a:solidFill>
                          <a:latin typeface="Arial"/>
                        </a:rPr>
                        <a:t>6. Trích dẫn, văn phong</a:t>
                      </a:r>
                    </a:p>
                  </a:txBody>
                  <a:tcPr marL="73152" marR="73152" marT="27432" marB="27432" anchor="ctr">
                    <a:solidFill>
                      <a:srgbClr val="F3F3F3"/>
                    </a:solidFill>
                  </a:tcPr>
                </a:tc>
                <a:tc>
                  <a:txBody>
                    <a:bodyPr wrap="square"/>
                    <a:lstStyle/>
                    <a:p>
                      <a:pPr algn="l"/>
                      <a:r>
                        <a:rPr sz="1200" b="0">
                          <a:solidFill>
                            <a:srgbClr val="262626"/>
                          </a:solidFill>
                          <a:latin typeface="Arial"/>
                        </a:rPr>
                        <a:t>Trích dẫn và danh mục khớp hai chiều; không "tôi", "em", từ cảm tính; câu 15 đến 20 từ; không "chứng minh", "phát hiện mới"</a:t>
                      </a:r>
                    </a:p>
                  </a:txBody>
                  <a:tcPr marL="73152" marR="73152" marT="27432" marB="27432" anchor="ctr">
                    <a:solidFill>
                      <a:srgbClr val="F3F3F3"/>
                    </a:solidFill>
                  </a:tcPr>
                </a:tc>
                <a:tc>
                  <a:txBody>
                    <a:bodyPr wrap="square"/>
                    <a:lstStyle/>
                    <a:p>
                      <a:pPr algn="l"/>
                      <a:r>
                        <a:rPr sz="1200" b="0">
                          <a:solidFill>
                            <a:srgbClr val="262626"/>
                          </a:solidFill>
                          <a:latin typeface="Arial"/>
                        </a:rPr>
                        <a:t>Văn phong; APA 7</a:t>
                      </a:r>
                    </a:p>
                  </a:txBody>
                  <a:tcPr marL="73152" marR="73152" marT="27432" marB="27432" anchor="ctr">
                    <a:solidFill>
                      <a:srgbClr val="F3F3F3"/>
                    </a:solidFill>
                  </a:tcPr>
                </a:tc>
              </a:tr>
              <a:tr h="822960">
                <a:tc>
                  <a:txBody>
                    <a:bodyPr wrap="square"/>
                    <a:lstStyle/>
                    <a:p>
                      <a:pPr algn="l"/>
                      <a:r>
                        <a:rPr sz="1200" b="0">
                          <a:solidFill>
                            <a:srgbClr val="262626"/>
                          </a:solidFill>
                          <a:latin typeface="Arial"/>
                        </a:rPr>
                        <a:t>7. Format, tiến độ</a:t>
                      </a:r>
                    </a:p>
                  </a:txBody>
                  <a:tcPr marL="73152" marR="73152" marT="27432" marB="27432" anchor="ctr">
                    <a:solidFill>
                      <a:srgbClr val="FFFFFF"/>
                    </a:solidFill>
                  </a:tcPr>
                </a:tc>
                <a:tc>
                  <a:txBody>
                    <a:bodyPr wrap="square"/>
                    <a:lstStyle/>
                    <a:p>
                      <a:pPr algn="l"/>
                      <a:r>
                        <a:rPr sz="1200" b="0">
                          <a:solidFill>
                            <a:srgbClr val="262626"/>
                          </a:solidFill>
                          <a:latin typeface="Arial"/>
                        </a:rPr>
                        <a:t>Styles cho toàn bài; bảng, hình đánh số tự động; kiểm tra trên PDF; đủ báo cáo tiến độ tám tuần</a:t>
                      </a:r>
                    </a:p>
                  </a:txBody>
                  <a:tcPr marL="73152" marR="73152" marT="27432" marB="27432" anchor="ctr">
                    <a:solidFill>
                      <a:srgbClr val="FFFFFF"/>
                    </a:solidFill>
                  </a:tcPr>
                </a:tc>
                <a:tc>
                  <a:txBody>
                    <a:bodyPr wrap="square"/>
                    <a:lstStyle/>
                    <a:p>
                      <a:pPr algn="l"/>
                      <a:r>
                        <a:rPr sz="1200" b="0">
                          <a:solidFill>
                            <a:srgbClr val="262626"/>
                          </a:solidFill>
                          <a:latin typeface="Arial"/>
                        </a:rPr>
                        <a:t>Phần đầu và định dạng</a:t>
                      </a:r>
                    </a:p>
                  </a:txBody>
                  <a:tcPr marL="73152" marR="73152" marT="27432" marB="27432" anchor="ctr">
                    <a:solidFill>
                      <a:srgbClr val="FFFFFF"/>
                    </a:solidFill>
                  </a:tcPr>
                </a:tc>
              </a:tr>
              <a:tr h="822960">
                <a:tc>
                  <a:txBody>
                    <a:bodyPr wrap="square"/>
                    <a:lstStyle/>
                    <a:p>
                      <a:pPr algn="l"/>
                      <a:r>
                        <a:rPr sz="1200" b="0">
                          <a:solidFill>
                            <a:srgbClr val="262626"/>
                          </a:solidFill>
                          <a:latin typeface="Arial"/>
                        </a:rPr>
                        <a:t>8. Giải thích quyết định</a:t>
                      </a:r>
                    </a:p>
                  </a:txBody>
                  <a:tcPr marL="73152" marR="73152" marT="27432" marB="27432" anchor="ctr">
                    <a:solidFill>
                      <a:srgbClr val="F3F3F3"/>
                    </a:solidFill>
                  </a:tcPr>
                </a:tc>
                <a:tc>
                  <a:txBody>
                    <a:bodyPr wrap="square"/>
                    <a:lstStyle/>
                    <a:p>
                      <a:pPr algn="l"/>
                      <a:r>
                        <a:rPr sz="1200" b="0">
                          <a:solidFill>
                            <a:srgbClr val="262626"/>
                          </a:solidFill>
                          <a:latin typeface="Arial"/>
                        </a:rPr>
                        <a:t>Mỗi lựa chọn ở Chương 3 có câu "được chọn vì"; ít nhất 10 câu hỏi dự kiến có căn cứ và số trang</a:t>
                      </a:r>
                    </a:p>
                  </a:txBody>
                  <a:tcPr marL="73152" marR="73152" marT="27432" marB="27432" anchor="ctr">
                    <a:solidFill>
                      <a:srgbClr val="F3F3F3"/>
                    </a:solidFill>
                  </a:tcPr>
                </a:tc>
                <a:tc>
                  <a:txBody>
                    <a:bodyPr wrap="square"/>
                    <a:lstStyle/>
                    <a:p>
                      <a:pPr algn="l"/>
                      <a:r>
                        <a:rPr sz="1200" b="0">
                          <a:solidFill>
                            <a:srgbClr val="262626"/>
                          </a:solidFill>
                          <a:latin typeface="Arial"/>
                        </a:rPr>
                        <a:t>Câu hỏi Hội đồng; trả lời bốn bước</a:t>
                      </a:r>
                    </a:p>
                  </a:txBody>
                  <a:tcPr marL="73152" marR="73152" marT="27432" marB="27432" anchor="ctr">
                    <a:solidFill>
                      <a:srgbClr val="F3F3F3"/>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NỐI TIẾP CORE SLIDE 1 | CÁCH DÙNG SÁCH</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mục trong sách có cùng một khuôn, nên các em đọc sách như tra một bảng kiểm, không đọc như tiểu thuyết</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Quy định của trường là căn cứ cuối cùng: khi khác với sách, các em theo quy định của trường.</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0, mục B (Cách dùng sách; Quy ước đánh số), Hình 0-2</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a:t>
            </a:r>
          </a:p>
        </p:txBody>
      </p:sp>
      <p:sp>
        <p:nvSpPr>
          <p:cNvPr id="11" name="Oval 10"/>
          <p:cNvSpPr/>
          <p:nvPr/>
        </p:nvSpPr>
        <p:spPr>
          <a:xfrm>
            <a:off x="457200" y="1828800"/>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2" name="TextBox 11"/>
          <p:cNvSpPr txBox="1"/>
          <p:nvPr/>
        </p:nvSpPr>
        <p:spPr>
          <a:xfrm>
            <a:off x="960120" y="178308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KẾT LUẬN và bảng mục đích, thời gian</a:t>
            </a:r>
            <a:r>
              <a:rPr sz="1350" b="0" i="0">
                <a:solidFill>
                  <a:srgbClr val="58595B"/>
                </a:solidFill>
                <a:latin typeface="Arial"/>
              </a:rPr>
              <a:t>  Điều quan trọng nhất của mục; mục để làm gì, mất bao lâu, mở file Excel nào.</a:t>
            </a:r>
          </a:p>
        </p:txBody>
      </p:sp>
      <p:cxnSp>
        <p:nvCxnSpPr>
          <p:cNvPr id="13" name="Connector 12"/>
          <p:cNvCxnSpPr/>
          <p:nvPr/>
        </p:nvCxnSpPr>
        <p:spPr>
          <a:xfrm>
            <a:off x="960120" y="236829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57200" y="2468879"/>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5" name="TextBox 14"/>
          <p:cNvSpPr txBox="1"/>
          <p:nvPr/>
        </p:nvSpPr>
        <p:spPr>
          <a:xfrm>
            <a:off x="960120" y="242316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Hiểu đúng trước khi viết</a:t>
            </a:r>
            <a:r>
              <a:rPr sz="1350" b="0" i="0">
                <a:solidFill>
                  <a:srgbClr val="58595B"/>
                </a:solidFill>
                <a:latin typeface="Arial"/>
              </a:rPr>
              <a:t>  Vì sao phải viết như vậy; mỗi dòng một ý.</a:t>
            </a:r>
          </a:p>
        </p:txBody>
      </p:sp>
      <p:cxnSp>
        <p:nvCxnSpPr>
          <p:cNvPr id="16" name="Connector 15"/>
          <p:cNvCxnSpPr/>
          <p:nvPr/>
        </p:nvCxnSpPr>
        <p:spPr>
          <a:xfrm>
            <a:off x="960120" y="300837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57200" y="3108960"/>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18" name="TextBox 17"/>
          <p:cNvSpPr txBox="1"/>
          <p:nvPr/>
        </p:nvSpPr>
        <p:spPr>
          <a:xfrm>
            <a:off x="960120" y="306324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Các bước thực hiện</a:t>
            </a:r>
            <a:r>
              <a:rPr sz="1350" b="0" i="0">
                <a:solidFill>
                  <a:srgbClr val="58595B"/>
                </a:solidFill>
                <a:latin typeface="Arial"/>
              </a:rPr>
              <a:t>  Làm theo thứ tự, thường có khung câu mẫu.</a:t>
            </a:r>
          </a:p>
        </p:txBody>
      </p:sp>
      <p:cxnSp>
        <p:nvCxnSpPr>
          <p:cNvPr id="19" name="Connector 18"/>
          <p:cNvCxnSpPr/>
          <p:nvPr/>
        </p:nvCxnSpPr>
        <p:spPr>
          <a:xfrm>
            <a:off x="960120" y="364845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57200" y="3749039"/>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1" name="TextBox 20"/>
          <p:cNvSpPr txBox="1"/>
          <p:nvPr/>
        </p:nvSpPr>
        <p:spPr>
          <a:xfrm>
            <a:off x="960120" y="370332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Ví dụ chưa đạt và đạt</a:t>
            </a:r>
            <a:r>
              <a:rPr sz="1350" b="0" i="0">
                <a:solidFill>
                  <a:srgbClr val="58595B"/>
                </a:solidFill>
                <a:latin typeface="Arial"/>
              </a:rPr>
              <a:t>  Hai cột đặt cạnh nhau, phân tích theo ba góc: logic, bằng chứng, văn phong.</a:t>
            </a:r>
          </a:p>
        </p:txBody>
      </p:sp>
      <p:cxnSp>
        <p:nvCxnSpPr>
          <p:cNvPr id="22" name="Connector 21"/>
          <p:cNvCxnSpPr/>
          <p:nvPr/>
        </p:nvCxnSpPr>
        <p:spPr>
          <a:xfrm>
            <a:off x="960120" y="428853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57200" y="4389120"/>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5</a:t>
            </a:r>
          </a:p>
        </p:txBody>
      </p:sp>
      <p:sp>
        <p:nvSpPr>
          <p:cNvPr id="24" name="TextBox 23"/>
          <p:cNvSpPr txBox="1"/>
          <p:nvPr/>
        </p:nvSpPr>
        <p:spPr>
          <a:xfrm>
            <a:off x="960120" y="434340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Lỗi thường gặp và cách tránh</a:t>
            </a:r>
            <a:r>
              <a:rPr sz="1350" b="0" i="0">
                <a:solidFill>
                  <a:srgbClr val="58595B"/>
                </a:solidFill>
                <a:latin typeface="Arial"/>
              </a:rPr>
              <a:t>  Hai cột để đối chiếu nhanh những lỗi người chấm gặp nhiều nhất.</a:t>
            </a:r>
          </a:p>
        </p:txBody>
      </p:sp>
      <p:cxnSp>
        <p:nvCxnSpPr>
          <p:cNvPr id="25" name="Connector 24"/>
          <p:cNvCxnSpPr/>
          <p:nvPr/>
        </p:nvCxnSpPr>
        <p:spPr>
          <a:xfrm>
            <a:off x="960120" y="492861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57200" y="5029200"/>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6</a:t>
            </a:r>
          </a:p>
        </p:txBody>
      </p:sp>
      <p:sp>
        <p:nvSpPr>
          <p:cNvPr id="27" name="TextBox 26"/>
          <p:cNvSpPr txBox="1"/>
          <p:nvPr/>
        </p:nvSpPr>
        <p:spPr>
          <a:xfrm>
            <a:off x="960120" y="498348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Tiêu chí hoàn thành và POINT</a:t>
            </a:r>
            <a:r>
              <a:rPr sz="1350" b="0" i="0">
                <a:solidFill>
                  <a:srgbClr val="58595B"/>
                </a:solidFill>
                <a:latin typeface="Arial"/>
              </a:rPr>
              <a:t>  Danh sách ô vuông để biết khi nào dừng viết; một câu để nhớ.</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NỐI TIẾP CORE SLIDE 1 | BẢN ĐỒ SÁCH</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phần của sách ứng với một phần của khóa luận: viết đến phần nào thì mở phần cùng tên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Mọi con số minh họa trong sách lấy từ bốn file Excel đi kèm: sinh viên mở file, làm lại từng bước và đối chiếu với sách.</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0, mục A, Hình 0-1 và Bảng 0-1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a:t>
            </a:r>
          </a:p>
        </p:txBody>
      </p:sp>
      <p:sp>
        <p:nvSpPr>
          <p:cNvPr id="11" name="Rectangle 10"/>
          <p:cNvSpPr/>
          <p:nvPr/>
        </p:nvSpPr>
        <p:spPr>
          <a:xfrm>
            <a:off x="1523105" y="1728216"/>
            <a:ext cx="5183389" cy="39502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1_new.png"/>
          <p:cNvPicPr>
            <a:picLocks noChangeAspect="1"/>
          </p:cNvPicPr>
          <p:nvPr/>
        </p:nvPicPr>
        <p:blipFill>
          <a:blip r:embed="rId2"/>
          <a:stretch>
            <a:fillRect/>
          </a:stretch>
        </p:blipFill>
        <p:spPr>
          <a:xfrm>
            <a:off x="1577969" y="1783080"/>
            <a:ext cx="5073661" cy="3840480"/>
          </a:xfrm>
          <a:prstGeom prst="rect">
            <a:avLst/>
          </a:prstGeom>
        </p:spPr>
      </p:pic>
      <p:sp>
        <p:nvSpPr>
          <p:cNvPr id="13" name="TextBox 12"/>
          <p:cNvSpPr txBox="1"/>
          <p:nvPr/>
        </p:nvSpPr>
        <p:spPr>
          <a:xfrm>
            <a:off x="8092440" y="1783080"/>
            <a:ext cx="3639312" cy="274320"/>
          </a:xfrm>
          <a:prstGeom prst="rect">
            <a:avLst/>
          </a:prstGeom>
          <a:noFill/>
        </p:spPr>
        <p:txBody>
          <a:bodyPr wrap="square" lIns="45720" rIns="45720" tIns="27432" bIns="27432" anchor="t">
            <a:spAutoFit/>
          </a:bodyPr>
          <a:lstStyle/>
          <a:p>
            <a:pPr algn="l"/>
            <a:r>
              <a:rPr sz="1000" b="1" i="0">
                <a:solidFill>
                  <a:srgbClr val="CC0000"/>
                </a:solidFill>
                <a:latin typeface="Arial"/>
              </a:rPr>
              <a:t>BA ĐIỂM TRÊN BẢN ĐỒ</a:t>
            </a:r>
          </a:p>
        </p:txBody>
      </p:sp>
      <p:cxnSp>
        <p:nvCxnSpPr>
          <p:cNvPr id="14" name="Connector 13"/>
          <p:cNvCxnSpPr/>
          <p:nvPr/>
        </p:nvCxnSpPr>
        <p:spPr>
          <a:xfrm>
            <a:off x="8092440" y="2103120"/>
            <a:ext cx="36393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09244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8503919" y="2194560"/>
            <a:ext cx="3227832" cy="1143000"/>
          </a:xfrm>
          <a:prstGeom prst="rect">
            <a:avLst/>
          </a:prstGeom>
          <a:noFill/>
        </p:spPr>
        <p:txBody>
          <a:bodyPr wrap="square" lIns="45720" rIns="45720" tIns="27432" bIns="27432" anchor="t">
            <a:spAutoFit/>
          </a:bodyPr>
          <a:lstStyle/>
          <a:p>
            <a:pPr algn="l"/>
            <a:r>
              <a:rPr sz="1350" b="1" i="0">
                <a:solidFill>
                  <a:srgbClr val="58595B"/>
                </a:solidFill>
                <a:latin typeface="Arial"/>
              </a:rPr>
              <a:t>Sản phẩm của phần trước là đầu vào của phần sau:</a:t>
            </a:r>
            <a:r>
              <a:rPr sz="1350" b="0" i="0">
                <a:solidFill>
                  <a:srgbClr val="58595B"/>
                </a:solidFill>
                <a:latin typeface="Arial"/>
              </a:rPr>
              <a:t> câu hỏi, mô hình, kế hoạch, kết quả, câu trả lời.</a:t>
            </a:r>
          </a:p>
        </p:txBody>
      </p:sp>
      <p:sp>
        <p:nvSpPr>
          <p:cNvPr id="17" name="Oval 16"/>
          <p:cNvSpPr/>
          <p:nvPr/>
        </p:nvSpPr>
        <p:spPr>
          <a:xfrm>
            <a:off x="8092440" y="3355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8503919" y="3337560"/>
            <a:ext cx="3227832" cy="1143000"/>
          </a:xfrm>
          <a:prstGeom prst="rect">
            <a:avLst/>
          </a:prstGeom>
          <a:noFill/>
        </p:spPr>
        <p:txBody>
          <a:bodyPr wrap="square" lIns="45720" rIns="45720" tIns="27432" bIns="27432" anchor="t">
            <a:spAutoFit/>
          </a:bodyPr>
          <a:lstStyle/>
          <a:p>
            <a:pPr algn="l"/>
            <a:r>
              <a:rPr sz="1350" b="1" i="0">
                <a:solidFill>
                  <a:srgbClr val="58595B"/>
                </a:solidFill>
                <a:latin typeface="Arial"/>
              </a:rPr>
              <a:t>Bốn file Excel</a:t>
            </a:r>
            <a:r>
              <a:rPr sz="1350" b="0" i="0">
                <a:solidFill>
                  <a:srgbClr val="58595B"/>
                </a:solidFill>
                <a:latin typeface="Arial"/>
              </a:rPr>
              <a:t> gắn với Phần 2 đến Phần 5 (Bảng 0-1).</a:t>
            </a:r>
          </a:p>
        </p:txBody>
      </p:sp>
      <p:sp>
        <p:nvSpPr>
          <p:cNvPr id="19" name="Oval 18"/>
          <p:cNvSpPr/>
          <p:nvPr/>
        </p:nvSpPr>
        <p:spPr>
          <a:xfrm>
            <a:off x="8092440" y="4498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8503919" y="4480560"/>
            <a:ext cx="3227832" cy="1143000"/>
          </a:xfrm>
          <a:prstGeom prst="rect">
            <a:avLst/>
          </a:prstGeom>
          <a:noFill/>
        </p:spPr>
        <p:txBody>
          <a:bodyPr wrap="square" lIns="45720" rIns="45720" tIns="27432" bIns="27432" anchor="t">
            <a:spAutoFit/>
          </a:bodyPr>
          <a:lstStyle/>
          <a:p>
            <a:pPr algn="l"/>
            <a:r>
              <a:rPr sz="1350" b="1" i="0">
                <a:solidFill>
                  <a:srgbClr val="58595B"/>
                </a:solidFill>
                <a:latin typeface="Arial"/>
              </a:rPr>
              <a:t>Phần 0 và Phần 7 đến Phần 10</a:t>
            </a:r>
            <a:r>
              <a:rPr sz="1350" b="0" i="0">
                <a:solidFill>
                  <a:srgbClr val="58595B"/>
                </a:solidFill>
                <a:latin typeface="Arial"/>
              </a:rPr>
              <a:t> không ứng với chương nào của khóa luận: cách dùng sách và tư duy viết; tài liệu tham khảo và phụ lục, trình bày, kiểm tra, bảo vệ.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BỨC TRANH CHUNG | NGUYÊN TẮC XUYÊN SUỐT</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Ba chữ "khớp" là thước đo mà Hội đồng dùng để đọc cả cuốn khóa luận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Mọi kết quả khớp giả thuyết, mọi kết luận khớp câu hỏi, mọi con số khớp file dữ liệu.</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0); Phần 9</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12</a:t>
            </a:r>
          </a:p>
        </p:txBody>
      </p:sp>
      <p:sp>
        <p:nvSpPr>
          <p:cNvPr id="11" name="Rectangle 10"/>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Chương 4 khớp Chương 2</a:t>
            </a:r>
          </a:p>
        </p:txBody>
      </p:sp>
      <p:sp>
        <p:nvSpPr>
          <p:cNvPr id="14" name="TextBox 13"/>
          <p:cNvSpPr txBox="1"/>
          <p:nvPr/>
        </p:nvSpPr>
        <p:spPr>
          <a:xfrm>
            <a:off x="457200" y="2560320"/>
            <a:ext cx="3575304" cy="3017520"/>
          </a:xfrm>
          <a:prstGeom prst="rect">
            <a:avLst/>
          </a:prstGeom>
          <a:noFill/>
        </p:spPr>
        <p:txBody>
          <a:bodyPr wrap="square" lIns="45720" rIns="45720" tIns="27432" bIns="27432" anchor="t">
            <a:spAutoFit/>
          </a:bodyPr>
          <a:lstStyle/>
          <a:p>
            <a:pPr algn="l"/>
            <a:r>
              <a:rPr sz="1400" b="0" i="0">
                <a:solidFill>
                  <a:srgbClr val="58595B"/>
                </a:solidFill>
                <a:latin typeface="Arial"/>
              </a:rPr>
              <a:t>Mọi kết quả ở Chương 4 phải trả lời đúng các giả thuyết đã đặt ra ở Chương 2.</a:t>
            </a:r>
          </a:p>
          <a:p>
            <a:pPr algn="l">
              <a:spcBef>
                <a:spcPts val="630"/>
              </a:spcBef>
            </a:pPr>
          </a:p>
          <a:p>
            <a:pPr algn="l">
              <a:spcBef>
                <a:spcPts val="630"/>
              </a:spcBef>
            </a:pPr>
            <a:r>
              <a:rPr sz="1400" b="0" i="0">
                <a:solidFill>
                  <a:srgbClr val="58595B"/>
                </a:solidFill>
                <a:latin typeface="Arial"/>
              </a:rPr>
              <a:t>Mô hình có bốn mũi tên thì Chương 4 kết luận đủ bốn giả thuyết, không thêm, không bớt.</a:t>
            </a:r>
          </a:p>
        </p:txBody>
      </p:sp>
      <p:sp>
        <p:nvSpPr>
          <p:cNvPr id="15" name="Rectangle 14"/>
          <p:cNvSpPr/>
          <p:nvPr/>
        </p:nvSpPr>
        <p:spPr>
          <a:xfrm>
            <a:off x="4306824"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Chương 5 khớp Chương 1</a:t>
            </a:r>
          </a:p>
        </p:txBody>
      </p:sp>
      <p:sp>
        <p:nvSpPr>
          <p:cNvPr id="18" name="TextBox 17"/>
          <p:cNvSpPr txBox="1"/>
          <p:nvPr/>
        </p:nvSpPr>
        <p:spPr>
          <a:xfrm>
            <a:off x="4306824" y="2560320"/>
            <a:ext cx="3575304" cy="3017520"/>
          </a:xfrm>
          <a:prstGeom prst="rect">
            <a:avLst/>
          </a:prstGeom>
          <a:noFill/>
        </p:spPr>
        <p:txBody>
          <a:bodyPr wrap="square" lIns="45720" rIns="45720" tIns="27432" bIns="27432" anchor="t">
            <a:spAutoFit/>
          </a:bodyPr>
          <a:lstStyle/>
          <a:p>
            <a:pPr algn="l"/>
            <a:r>
              <a:rPr sz="1400" b="0" i="0">
                <a:solidFill>
                  <a:srgbClr val="58595B"/>
                </a:solidFill>
                <a:latin typeface="Arial"/>
              </a:rPr>
              <a:t>Mọi kết luận ở Chương 5 phải trả lời đúng câu hỏi nghiên cứu đã đặt ra ở Chương 1.</a:t>
            </a:r>
          </a:p>
          <a:p>
            <a:pPr algn="l">
              <a:spcBef>
                <a:spcPts val="630"/>
              </a:spcBef>
            </a:pPr>
          </a:p>
          <a:p>
            <a:pPr algn="l">
              <a:spcBef>
                <a:spcPts val="630"/>
              </a:spcBef>
            </a:pPr>
            <a:r>
              <a:rPr sz="1400" b="0" i="0">
                <a:solidFill>
                  <a:srgbClr val="58595B"/>
                </a:solidFill>
                <a:latin typeface="Arial"/>
              </a:rPr>
              <a:t>Người chấm đặt trang đầu và trang cuối cạnh nhau để đối chiếu.</a:t>
            </a:r>
          </a:p>
        </p:txBody>
      </p:sp>
      <p:sp>
        <p:nvSpPr>
          <p:cNvPr id="19" name="Rectangle 18"/>
          <p:cNvSpPr/>
          <p:nvPr/>
        </p:nvSpPr>
        <p:spPr>
          <a:xfrm>
            <a:off x="8156448" y="1783080"/>
            <a:ext cx="3575304"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Con số khớp file dữ liệu</a:t>
            </a:r>
          </a:p>
        </p:txBody>
      </p:sp>
      <p:sp>
        <p:nvSpPr>
          <p:cNvPr id="22" name="TextBox 21"/>
          <p:cNvSpPr txBox="1"/>
          <p:nvPr/>
        </p:nvSpPr>
        <p:spPr>
          <a:xfrm>
            <a:off x="8156448" y="2560320"/>
            <a:ext cx="3575304" cy="3017520"/>
          </a:xfrm>
          <a:prstGeom prst="rect">
            <a:avLst/>
          </a:prstGeom>
          <a:noFill/>
        </p:spPr>
        <p:txBody>
          <a:bodyPr wrap="square" lIns="45720" rIns="45720" tIns="27432" bIns="27432" anchor="t">
            <a:spAutoFit/>
          </a:bodyPr>
          <a:lstStyle/>
          <a:p>
            <a:pPr algn="l"/>
            <a:r>
              <a:rPr sz="1400" b="0" i="0">
                <a:solidFill>
                  <a:srgbClr val="58595B"/>
                </a:solidFill>
                <a:latin typeface="Arial"/>
              </a:rPr>
              <a:t>Mọi con số trong bài phải tìm lại được trong file Excel.</a:t>
            </a:r>
          </a:p>
          <a:p>
            <a:pPr algn="l">
              <a:spcBef>
                <a:spcPts val="630"/>
              </a:spcBef>
            </a:pPr>
          </a:p>
          <a:p>
            <a:pPr algn="l">
              <a:spcBef>
                <a:spcPts val="630"/>
              </a:spcBef>
            </a:pPr>
            <a:r>
              <a:rPr sz="1400" b="0" i="0">
                <a:solidFill>
                  <a:srgbClr val="58595B"/>
                </a:solidFill>
                <a:latin typeface="Arial"/>
              </a:rPr>
              <a:t>Tóm tắt ghi 53,5% trong khi Chương 4 ghi 53,7% là đủ để Hội đồng nghi ngờ độ chính xác của cả bài.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BỨC TRANH CHUNG | CHUỖI NĂM CHƯƠNG</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chương nhận một sản phẩm từ chương trước và giao một sản phẩm cho chương sau</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Ba chương đầu là lời hứa; Chương 4 và Chương 5 là phần thực hiện lời hứa đó.</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Hình 2-2 và phần mở đầu của Phần 4</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13</a:t>
            </a:r>
          </a:p>
        </p:txBody>
      </p:sp>
      <p:sp>
        <p:nvSpPr>
          <p:cNvPr id="11" name="Pentagon 10"/>
          <p:cNvSpPr/>
          <p:nvPr/>
        </p:nvSpPr>
        <p:spPr>
          <a:xfrm>
            <a:off x="457200" y="1783080"/>
            <a:ext cx="2364638" cy="731520"/>
          </a:xfrm>
          <a:prstGeom prst="homePlat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Chương 1</a:t>
            </a:r>
          </a:p>
        </p:txBody>
      </p:sp>
      <p:sp>
        <p:nvSpPr>
          <p:cNvPr id="12" name="TextBox 11"/>
          <p:cNvSpPr txBox="1"/>
          <p:nvPr/>
        </p:nvSpPr>
        <p:spPr>
          <a:xfrm>
            <a:off x="566928"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Hỏi:</a:t>
            </a:r>
            <a:r>
              <a:rPr sz="1350" b="0" i="0">
                <a:solidFill>
                  <a:srgbClr val="58595B"/>
                </a:solidFill>
                <a:latin typeface="Arial"/>
              </a:rPr>
              <a:t> vấn đề gì cần nghiên cứu và vì sao?</a:t>
            </a:r>
          </a:p>
          <a:p>
            <a:pPr algn="l">
              <a:spcBef>
                <a:spcPts val="607"/>
              </a:spcBef>
            </a:pPr>
          </a:p>
          <a:p>
            <a:pPr algn="l">
              <a:spcBef>
                <a:spcPts val="607"/>
              </a:spcBef>
            </a:pPr>
            <a:r>
              <a:rPr sz="1350" b="1" i="0">
                <a:solidFill>
                  <a:srgbClr val="58595B"/>
                </a:solidFill>
                <a:latin typeface="Arial"/>
              </a:rPr>
              <a:t>Giao:</a:t>
            </a:r>
            <a:r>
              <a:rPr sz="1350" b="0" i="0">
                <a:solidFill>
                  <a:srgbClr val="58595B"/>
                </a:solidFill>
                <a:latin typeface="Arial"/>
              </a:rPr>
              <a:t> bộ câu hỏi nghiên cứu rõ ràng.</a:t>
            </a:r>
          </a:p>
        </p:txBody>
      </p:sp>
      <p:sp>
        <p:nvSpPr>
          <p:cNvPr id="13" name="Chevron 12"/>
          <p:cNvSpPr/>
          <p:nvPr/>
        </p:nvSpPr>
        <p:spPr>
          <a:xfrm>
            <a:off x="2712110"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Chương 2</a:t>
            </a:r>
          </a:p>
        </p:txBody>
      </p:sp>
      <p:sp>
        <p:nvSpPr>
          <p:cNvPr id="14" name="TextBox 13"/>
          <p:cNvSpPr txBox="1"/>
          <p:nvPr/>
        </p:nvSpPr>
        <p:spPr>
          <a:xfrm>
            <a:off x="2821838"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Hỏi:</a:t>
            </a:r>
            <a:r>
              <a:rPr sz="1350" b="0" i="0">
                <a:solidFill>
                  <a:srgbClr val="58595B"/>
                </a:solidFill>
                <a:latin typeface="Arial"/>
              </a:rPr>
              <a:t> dựa vào lý thuyết nào để dự đoán câu trả lời?</a:t>
            </a:r>
          </a:p>
          <a:p>
            <a:pPr algn="l">
              <a:spcBef>
                <a:spcPts val="607"/>
              </a:spcBef>
            </a:pPr>
          </a:p>
          <a:p>
            <a:pPr algn="l">
              <a:spcBef>
                <a:spcPts val="607"/>
              </a:spcBef>
            </a:pPr>
            <a:r>
              <a:rPr sz="1350" b="1" i="0">
                <a:solidFill>
                  <a:srgbClr val="58595B"/>
                </a:solidFill>
                <a:latin typeface="Arial"/>
              </a:rPr>
              <a:t>Giao:</a:t>
            </a:r>
            <a:r>
              <a:rPr sz="1350" b="0" i="0">
                <a:solidFill>
                  <a:srgbClr val="58595B"/>
                </a:solidFill>
                <a:latin typeface="Arial"/>
              </a:rPr>
              <a:t> mô hình và các giả thuyết.</a:t>
            </a:r>
          </a:p>
        </p:txBody>
      </p:sp>
      <p:cxnSp>
        <p:nvCxnSpPr>
          <p:cNvPr id="15" name="Connector 14"/>
          <p:cNvCxnSpPr/>
          <p:nvPr/>
        </p:nvCxnSpPr>
        <p:spPr>
          <a:xfrm>
            <a:off x="2730398"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6" name="Chevron 15"/>
          <p:cNvSpPr/>
          <p:nvPr/>
        </p:nvSpPr>
        <p:spPr>
          <a:xfrm>
            <a:off x="4967020"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Chương 3</a:t>
            </a:r>
          </a:p>
        </p:txBody>
      </p:sp>
      <p:sp>
        <p:nvSpPr>
          <p:cNvPr id="17" name="TextBox 16"/>
          <p:cNvSpPr txBox="1"/>
          <p:nvPr/>
        </p:nvSpPr>
        <p:spPr>
          <a:xfrm>
            <a:off x="5076748"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Hỏi:</a:t>
            </a:r>
            <a:r>
              <a:rPr sz="1350" b="0" i="0">
                <a:solidFill>
                  <a:srgbClr val="58595B"/>
                </a:solidFill>
                <a:latin typeface="Arial"/>
              </a:rPr>
              <a:t> kiểm tra dự đoán đó bằng cách nào?</a:t>
            </a:r>
          </a:p>
          <a:p>
            <a:pPr algn="l">
              <a:spcBef>
                <a:spcPts val="607"/>
              </a:spcBef>
            </a:pPr>
          </a:p>
          <a:p>
            <a:pPr algn="l">
              <a:spcBef>
                <a:spcPts val="607"/>
              </a:spcBef>
            </a:pPr>
            <a:r>
              <a:rPr sz="1350" b="1" i="0">
                <a:solidFill>
                  <a:srgbClr val="58595B"/>
                </a:solidFill>
                <a:latin typeface="Arial"/>
              </a:rPr>
              <a:t>Giao:</a:t>
            </a:r>
            <a:r>
              <a:rPr sz="1350" b="0" i="0">
                <a:solidFill>
                  <a:srgbClr val="58595B"/>
                </a:solidFill>
                <a:latin typeface="Arial"/>
              </a:rPr>
              <a:t> kế hoạch thu thập và phân tích dữ liệu.</a:t>
            </a:r>
          </a:p>
        </p:txBody>
      </p:sp>
      <p:cxnSp>
        <p:nvCxnSpPr>
          <p:cNvPr id="18" name="Connector 17"/>
          <p:cNvCxnSpPr/>
          <p:nvPr/>
        </p:nvCxnSpPr>
        <p:spPr>
          <a:xfrm>
            <a:off x="4985308"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221931"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Chương 4</a:t>
            </a:r>
          </a:p>
        </p:txBody>
      </p:sp>
      <p:sp>
        <p:nvSpPr>
          <p:cNvPr id="20" name="TextBox 19"/>
          <p:cNvSpPr txBox="1"/>
          <p:nvPr/>
        </p:nvSpPr>
        <p:spPr>
          <a:xfrm>
            <a:off x="7331659"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Hỏi:</a:t>
            </a:r>
            <a:r>
              <a:rPr sz="1350" b="0" i="0">
                <a:solidFill>
                  <a:srgbClr val="58595B"/>
                </a:solidFill>
                <a:latin typeface="Arial"/>
              </a:rPr>
              <a:t> dữ liệu nói gì?</a:t>
            </a:r>
          </a:p>
          <a:p>
            <a:pPr algn="l">
              <a:spcBef>
                <a:spcPts val="607"/>
              </a:spcBef>
            </a:pPr>
          </a:p>
          <a:p>
            <a:pPr algn="l">
              <a:spcBef>
                <a:spcPts val="607"/>
              </a:spcBef>
            </a:pPr>
            <a:r>
              <a:rPr sz="1350" b="1" i="0">
                <a:solidFill>
                  <a:srgbClr val="58595B"/>
                </a:solidFill>
                <a:latin typeface="Arial"/>
              </a:rPr>
              <a:t>Giao:</a:t>
            </a:r>
            <a:r>
              <a:rPr sz="1350" b="0" i="0">
                <a:solidFill>
                  <a:srgbClr val="58595B"/>
                </a:solidFill>
                <a:latin typeface="Arial"/>
              </a:rPr>
              <a:t> bảng kết quả kiểm định từng giả thuyết.</a:t>
            </a:r>
          </a:p>
        </p:txBody>
      </p:sp>
      <p:cxnSp>
        <p:nvCxnSpPr>
          <p:cNvPr id="21" name="Connector 20"/>
          <p:cNvCxnSpPr/>
          <p:nvPr/>
        </p:nvCxnSpPr>
        <p:spPr>
          <a:xfrm>
            <a:off x="7240219"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9476841"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Chương 5</a:t>
            </a:r>
          </a:p>
        </p:txBody>
      </p:sp>
      <p:sp>
        <p:nvSpPr>
          <p:cNvPr id="23" name="TextBox 22"/>
          <p:cNvSpPr txBox="1"/>
          <p:nvPr/>
        </p:nvSpPr>
        <p:spPr>
          <a:xfrm>
            <a:off x="9586569"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Hỏi:</a:t>
            </a:r>
            <a:r>
              <a:rPr sz="1350" b="0" i="0">
                <a:solidFill>
                  <a:srgbClr val="58595B"/>
                </a:solidFill>
                <a:latin typeface="Arial"/>
              </a:rPr>
              <a:t> ta học được gì và nên làm gì?</a:t>
            </a:r>
          </a:p>
          <a:p>
            <a:pPr algn="l">
              <a:spcBef>
                <a:spcPts val="607"/>
              </a:spcBef>
            </a:pPr>
          </a:p>
          <a:p>
            <a:pPr algn="l">
              <a:spcBef>
                <a:spcPts val="607"/>
              </a:spcBef>
            </a:pPr>
            <a:r>
              <a:rPr sz="1350" b="1" i="0">
                <a:solidFill>
                  <a:srgbClr val="58595B"/>
                </a:solidFill>
                <a:latin typeface="Arial"/>
              </a:rPr>
              <a:t>Giao:</a:t>
            </a:r>
            <a:r>
              <a:rPr sz="1350" b="0" i="0">
                <a:solidFill>
                  <a:srgbClr val="58595B"/>
                </a:solidFill>
                <a:latin typeface="Arial"/>
              </a:rPr>
              <a:t> câu trả lời, hàm ý, hạn chế.</a:t>
            </a:r>
          </a:p>
        </p:txBody>
      </p:sp>
      <p:cxnSp>
        <p:nvCxnSpPr>
          <p:cNvPr id="24" name="Connector 23"/>
          <p:cNvCxnSpPr/>
          <p:nvPr/>
        </p:nvCxnSpPr>
        <p:spPr>
          <a:xfrm>
            <a:off x="9495129"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BỨC TRANH CHUNG | HAI ĐỀ TÀI VÍ DỤ</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Hai đề tài giả định đi xuyên suốt sách, mỗi con số đều mở lại được trong file Excel</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Đây là ví dụ sư phạm, không phải số liệu thật: các em học cách làm rồi làm lại trên dữ liệu của mình.</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0); Bảng 0-1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14</a:t>
            </a:r>
          </a:p>
        </p:txBody>
      </p:sp>
      <p:graphicFrame>
        <p:nvGraphicFramePr>
          <p:cNvPr id="11" name="Table 10"/>
          <p:cNvGraphicFramePr>
            <a:graphicFrameLocks noGrp="1"/>
          </p:cNvGraphicFramePr>
          <p:nvPr/>
        </p:nvGraphicFramePr>
        <p:xfrm>
          <a:off x="457200" y="1783080"/>
          <a:ext cx="11274551" cy="3483864"/>
        </p:xfrm>
        <a:graphic>
          <a:graphicData uri="http://schemas.openxmlformats.org/drawingml/2006/table">
            <a:tbl>
              <a:tblPr firstRow="1" bandRow="1">
                <a:tableStyleId>{5C22544A-7EE6-4342-B048-85BDC9FD1C3A}</a:tableStyleId>
              </a:tblPr>
              <a:tblGrid>
                <a:gridCol w="1768557"/>
                <a:gridCol w="4752997"/>
                <a:gridCol w="4752997"/>
              </a:tblGrid>
              <a:tr h="411480">
                <a:tc>
                  <a:txBody>
                    <a:bodyPr wrap="square"/>
                    <a:lstStyle/>
                    <a:p>
                      <a:pPr algn="l"/>
                    </a:p>
                  </a:txBody>
                  <a:tcPr marL="73152" marR="73152" marT="27432" marB="27432" anchor="ctr">
                    <a:solidFill>
                      <a:srgbClr val="262626"/>
                    </a:solidFill>
                  </a:tcPr>
                </a:tc>
                <a:tc>
                  <a:txBody>
                    <a:bodyPr wrap="square"/>
                    <a:lstStyle/>
                    <a:p>
                      <a:pPr algn="l"/>
                      <a:r>
                        <a:rPr sz="1200" b="1">
                          <a:solidFill>
                            <a:srgbClr val="FFFFFF"/>
                          </a:solidFill>
                          <a:latin typeface="Arial"/>
                        </a:rPr>
                        <a:t>Đề tài 1: Ngân hàng X</a:t>
                      </a:r>
                    </a:p>
                  </a:txBody>
                  <a:tcPr marL="73152" marR="73152" marT="27432" marB="27432" anchor="ctr">
                    <a:solidFill>
                      <a:srgbClr val="262626"/>
                    </a:solidFill>
                  </a:tcPr>
                </a:tc>
                <a:tc>
                  <a:txBody>
                    <a:bodyPr wrap="square"/>
                    <a:lstStyle/>
                    <a:p>
                      <a:pPr algn="l"/>
                      <a:r>
                        <a:rPr sz="1200" b="1">
                          <a:solidFill>
                            <a:srgbClr val="FFFFFF"/>
                          </a:solidFill>
                          <a:latin typeface="Arial"/>
                        </a:rPr>
                        <a:t>Đề tài 2: Trường Tiểu học Y</a:t>
                      </a:r>
                    </a:p>
                  </a:txBody>
                  <a:tcPr marL="73152" marR="73152" marT="27432" marB="27432" anchor="ctr">
                    <a:solidFill>
                      <a:srgbClr val="262626"/>
                    </a:solidFill>
                  </a:tcPr>
                </a:tc>
              </a:tr>
              <a:tr h="512064">
                <a:tc>
                  <a:txBody>
                    <a:bodyPr wrap="square"/>
                    <a:lstStyle/>
                    <a:p>
                      <a:pPr algn="l"/>
                      <a:r>
                        <a:rPr sz="1200" b="0">
                          <a:solidFill>
                            <a:srgbClr val="262626"/>
                          </a:solidFill>
                          <a:latin typeface="Arial"/>
                        </a:rPr>
                        <a:t>Tên đề tài</a:t>
                      </a:r>
                    </a:p>
                  </a:txBody>
                  <a:tcPr marL="73152" marR="73152" marT="27432" marB="27432" anchor="ctr">
                    <a:solidFill>
                      <a:srgbClr val="FFFFFF"/>
                    </a:solidFill>
                  </a:tcPr>
                </a:tc>
                <a:tc>
                  <a:txBody>
                    <a:bodyPr wrap="square"/>
                    <a:lstStyle/>
                    <a:p>
                      <a:pPr algn="l"/>
                      <a:r>
                        <a:rPr sz="1200" b="0">
                          <a:solidFill>
                            <a:srgbClr val="262626"/>
                          </a:solidFill>
                          <a:latin typeface="Arial"/>
                        </a:rPr>
                        <a:t>Các yếu tố ảnh hưởng đến ý định sử dụng dịch vụ ngân hàng số của khách hàng cá nhân</a:t>
                      </a:r>
                    </a:p>
                  </a:txBody>
                  <a:tcPr marL="73152" marR="73152" marT="27432" marB="27432" anchor="ctr">
                    <a:solidFill>
                      <a:srgbClr val="FFFFFF"/>
                    </a:solidFill>
                  </a:tcPr>
                </a:tc>
                <a:tc>
                  <a:txBody>
                    <a:bodyPr wrap="square"/>
                    <a:lstStyle/>
                    <a:p>
                      <a:pPr algn="l"/>
                      <a:r>
                        <a:rPr sz="1200" b="0">
                          <a:solidFill>
                            <a:srgbClr val="262626"/>
                          </a:solidFill>
                          <a:latin typeface="Arial"/>
                        </a:rPr>
                        <a:t>Các yếu tố ảnh hưởng đến mức độ hài lòng của phụ huynh đối với dịch vụ hành chính</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Biến độc lập</a:t>
                      </a:r>
                    </a:p>
                  </a:txBody>
                  <a:tcPr marL="73152" marR="73152" marT="27432" marB="27432" anchor="ctr">
                    <a:solidFill>
                      <a:srgbClr val="F3F3F3"/>
                    </a:solidFill>
                  </a:tcPr>
                </a:tc>
                <a:tc>
                  <a:txBody>
                    <a:bodyPr wrap="square"/>
                    <a:lstStyle/>
                    <a:p>
                      <a:pPr algn="l"/>
                      <a:r>
                        <a:rPr sz="1200" b="0">
                          <a:solidFill>
                            <a:srgbClr val="262626"/>
                          </a:solidFill>
                          <a:latin typeface="Arial"/>
                        </a:rPr>
                        <a:t>Sự hữu ích (HI), sự dễ sử dụng (SD), niềm tin (NT), ảnh hưởng xã hội (XH)</a:t>
                      </a:r>
                    </a:p>
                  </a:txBody>
                  <a:tcPr marL="73152" marR="73152" marT="27432" marB="27432" anchor="ctr">
                    <a:solidFill>
                      <a:srgbClr val="F3F3F3"/>
                    </a:solidFill>
                  </a:tcPr>
                </a:tc>
                <a:tc>
                  <a:txBody>
                    <a:bodyPr wrap="square"/>
                    <a:lstStyle/>
                    <a:p>
                      <a:pPr algn="l"/>
                      <a:r>
                        <a:rPr sz="1200" b="0">
                          <a:solidFill>
                            <a:srgbClr val="262626"/>
                          </a:solidFill>
                          <a:latin typeface="Arial"/>
                        </a:rPr>
                        <a:t>Cơ sở vật chất (CSVC), thái độ nhân viên (TDNV), quy trình hành chính (QTHC)</a:t>
                      </a:r>
                    </a:p>
                  </a:txBody>
                  <a:tcPr marL="73152" marR="73152" marT="27432" marB="27432" anchor="ctr">
                    <a:solidFill>
                      <a:srgbClr val="F3F3F3"/>
                    </a:solidFill>
                  </a:tcPr>
                </a:tc>
              </a:tr>
              <a:tr h="512064">
                <a:tc>
                  <a:txBody>
                    <a:bodyPr wrap="square"/>
                    <a:lstStyle/>
                    <a:p>
                      <a:pPr algn="l"/>
                      <a:r>
                        <a:rPr sz="1200" b="0">
                          <a:solidFill>
                            <a:srgbClr val="262626"/>
                          </a:solidFill>
                          <a:latin typeface="Arial"/>
                        </a:rPr>
                        <a:t>Biến phụ thuộc</a:t>
                      </a:r>
                    </a:p>
                  </a:txBody>
                  <a:tcPr marL="73152" marR="73152" marT="27432" marB="27432" anchor="ctr">
                    <a:solidFill>
                      <a:srgbClr val="FFFFFF"/>
                    </a:solidFill>
                  </a:tcPr>
                </a:tc>
                <a:tc>
                  <a:txBody>
                    <a:bodyPr wrap="square"/>
                    <a:lstStyle/>
                    <a:p>
                      <a:pPr algn="l"/>
                      <a:r>
                        <a:rPr sz="1200" b="0">
                          <a:solidFill>
                            <a:srgbClr val="262626"/>
                          </a:solidFill>
                          <a:latin typeface="Arial"/>
                        </a:rPr>
                        <a:t>Ý định sử dụng (YD)</a:t>
                      </a:r>
                    </a:p>
                  </a:txBody>
                  <a:tcPr marL="73152" marR="73152" marT="27432" marB="27432" anchor="ctr">
                    <a:solidFill>
                      <a:srgbClr val="FFFFFF"/>
                    </a:solidFill>
                  </a:tcPr>
                </a:tc>
                <a:tc>
                  <a:txBody>
                    <a:bodyPr wrap="square"/>
                    <a:lstStyle/>
                    <a:p>
                      <a:pPr algn="l"/>
                      <a:r>
                        <a:rPr sz="1200" b="0">
                          <a:solidFill>
                            <a:srgbClr val="262626"/>
                          </a:solidFill>
                          <a:latin typeface="Arial"/>
                        </a:rPr>
                        <a:t>Sự hài lòng của phụ huynh (HL)</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Lý thuyết nền</a:t>
                      </a:r>
                    </a:p>
                  </a:txBody>
                  <a:tcPr marL="73152" marR="73152" marT="27432" marB="27432" anchor="ctr">
                    <a:solidFill>
                      <a:srgbClr val="F3F3F3"/>
                    </a:solidFill>
                  </a:tcPr>
                </a:tc>
                <a:tc>
                  <a:txBody>
                    <a:bodyPr wrap="square"/>
                    <a:lstStyle/>
                    <a:p>
                      <a:pPr algn="l"/>
                      <a:r>
                        <a:rPr sz="1200" b="0">
                          <a:solidFill>
                            <a:srgbClr val="262626"/>
                          </a:solidFill>
                          <a:latin typeface="Arial"/>
                        </a:rPr>
                        <a:t>TAM, lý thuyết cam kết và niềm tin, TPB</a:t>
                      </a:r>
                    </a:p>
                  </a:txBody>
                  <a:tcPr marL="73152" marR="73152" marT="27432" marB="27432" anchor="ctr">
                    <a:solidFill>
                      <a:srgbClr val="F3F3F3"/>
                    </a:solidFill>
                  </a:tcPr>
                </a:tc>
                <a:tc>
                  <a:txBody>
                    <a:bodyPr wrap="square"/>
                    <a:lstStyle/>
                    <a:p>
                      <a:pPr algn="l"/>
                      <a:r>
                        <a:rPr sz="1200" b="0">
                          <a:solidFill>
                            <a:srgbClr val="262626"/>
                          </a:solidFill>
                          <a:latin typeface="Arial"/>
                        </a:rPr>
                        <a:t>SERVQUAL</a:t>
                      </a:r>
                    </a:p>
                  </a:txBody>
                  <a:tcPr marL="73152" marR="73152" marT="27432" marB="27432" anchor="ctr">
                    <a:solidFill>
                      <a:srgbClr val="F3F3F3"/>
                    </a:solidFill>
                  </a:tcPr>
                </a:tc>
              </a:tr>
              <a:tr h="512064">
                <a:tc>
                  <a:txBody>
                    <a:bodyPr wrap="square"/>
                    <a:lstStyle/>
                    <a:p>
                      <a:pPr algn="l"/>
                      <a:r>
                        <a:rPr sz="1200" b="0">
                          <a:solidFill>
                            <a:srgbClr val="262626"/>
                          </a:solidFill>
                          <a:latin typeface="Arial"/>
                        </a:rPr>
                        <a:t>Dữ liệu</a:t>
                      </a:r>
                    </a:p>
                  </a:txBody>
                  <a:tcPr marL="73152" marR="73152" marT="27432" marB="27432" anchor="ctr">
                    <a:solidFill>
                      <a:srgbClr val="FFFFFF"/>
                    </a:solidFill>
                  </a:tcPr>
                </a:tc>
                <a:tc>
                  <a:txBody>
                    <a:bodyPr wrap="square"/>
                    <a:lstStyle/>
                    <a:p>
                      <a:pPr algn="l"/>
                      <a:r>
                        <a:rPr sz="1200" b="0">
                          <a:solidFill>
                            <a:srgbClr val="262626"/>
                          </a:solidFill>
                          <a:latin typeface="Arial"/>
                        </a:rPr>
                        <a:t>165 phiếu thô, 150 phiếu hợp lệ, 19 câu</a:t>
                      </a:r>
                    </a:p>
                  </a:txBody>
                  <a:tcPr marL="73152" marR="73152" marT="27432" marB="27432" anchor="ctr">
                    <a:solidFill>
                      <a:srgbClr val="FFFFFF"/>
                    </a:solidFill>
                  </a:tcPr>
                </a:tc>
                <a:tc>
                  <a:txBody>
                    <a:bodyPr wrap="square"/>
                    <a:lstStyle/>
                    <a:p>
                      <a:pPr algn="l"/>
                      <a:r>
                        <a:rPr sz="1200" b="0">
                          <a:solidFill>
                            <a:srgbClr val="262626"/>
                          </a:solidFill>
                          <a:latin typeface="Arial"/>
                        </a:rPr>
                        <a:t>131 phiếu thô, 120 phiếu hợp lệ, 16 câu</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File Excel</a:t>
                      </a:r>
                    </a:p>
                  </a:txBody>
                  <a:tcPr marL="73152" marR="73152" marT="27432" marB="27432" anchor="ctr">
                    <a:solidFill>
                      <a:srgbClr val="F3F3F3"/>
                    </a:solidFill>
                  </a:tcPr>
                </a:tc>
                <a:tc>
                  <a:txBody>
                    <a:bodyPr wrap="square"/>
                    <a:lstStyle/>
                    <a:p>
                      <a:pPr algn="l"/>
                      <a:r>
                        <a:rPr sz="1200" b="0">
                          <a:solidFill>
                            <a:srgbClr val="262626"/>
                          </a:solidFill>
                          <a:latin typeface="Arial"/>
                        </a:rPr>
                        <a:t>2.Chapter_2_and_Chapter_3_Practice
3.Chapter_4_and_Chapter_5_Practice_NH_X</a:t>
                      </a:r>
                    </a:p>
                  </a:txBody>
                  <a:tcPr marL="73152" marR="73152" marT="27432" marB="27432" anchor="ctr">
                    <a:solidFill>
                      <a:srgbClr val="F3F3F3"/>
                    </a:solidFill>
                  </a:tcPr>
                </a:tc>
                <a:tc>
                  <a:txBody>
                    <a:bodyPr wrap="square"/>
                    <a:lstStyle/>
                    <a:p>
                      <a:pPr algn="l"/>
                      <a:r>
                        <a:rPr sz="1200" b="0">
                          <a:solidFill>
                            <a:srgbClr val="262626"/>
                          </a:solidFill>
                          <a:latin typeface="Arial"/>
                        </a:rPr>
                        <a:t>3.Chapter_4_and_Chapter_5_Practice_Truong_Y</a:t>
                      </a:r>
                    </a:p>
                  </a:txBody>
                  <a:tcPr marL="73152" marR="73152" marT="27432" marB="27432" anchor="ctr">
                    <a:solidFill>
                      <a:srgbClr val="F3F3F3"/>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148840"/>
            <a:ext cx="109728" cy="21945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011680"/>
            <a:ext cx="9144000" cy="914400"/>
          </a:xfrm>
          <a:prstGeom prst="rect">
            <a:avLst/>
          </a:prstGeom>
          <a:noFill/>
        </p:spPr>
        <p:txBody>
          <a:bodyPr wrap="square" lIns="45720" rIns="45720" tIns="27432" bIns="27432" anchor="t">
            <a:spAutoFit/>
          </a:bodyPr>
          <a:lstStyle/>
          <a:p>
            <a:pPr algn="l"/>
            <a:r>
              <a:rPr sz="6000" b="1" i="0">
                <a:solidFill>
                  <a:srgbClr val="CC0000"/>
                </a:solidFill>
                <a:latin typeface="Arial"/>
              </a:rPr>
              <a:t>02</a:t>
            </a:r>
          </a:p>
        </p:txBody>
      </p:sp>
      <p:sp>
        <p:nvSpPr>
          <p:cNvPr id="5" name="TextBox 4"/>
          <p:cNvSpPr txBox="1"/>
          <p:nvPr/>
        </p:nvSpPr>
        <p:spPr>
          <a:xfrm>
            <a:off x="1051560" y="2926080"/>
            <a:ext cx="10058400" cy="914400"/>
          </a:xfrm>
          <a:prstGeom prst="rect">
            <a:avLst/>
          </a:prstGeom>
          <a:noFill/>
        </p:spPr>
        <p:txBody>
          <a:bodyPr wrap="square" lIns="45720" rIns="45720" tIns="27432" bIns="27432" anchor="t">
            <a:spAutoFit/>
          </a:bodyPr>
          <a:lstStyle/>
          <a:p>
            <a:pPr algn="l"/>
            <a:r>
              <a:rPr sz="3400" b="1" i="0">
                <a:solidFill>
                  <a:srgbClr val="FFFFFF"/>
                </a:solidFill>
                <a:latin typeface="Arial"/>
              </a:rPr>
              <a:t>Phần mở đầu và Chương 1</a:t>
            </a:r>
          </a:p>
        </p:txBody>
      </p:sp>
      <p:sp>
        <p:nvSpPr>
          <p:cNvPr id="6" name="TextBox 5"/>
          <p:cNvSpPr txBox="1"/>
          <p:nvPr/>
        </p:nvSpPr>
        <p:spPr>
          <a:xfrm>
            <a:off x="1051560" y="3794760"/>
            <a:ext cx="10058400" cy="822960"/>
          </a:xfrm>
          <a:prstGeom prst="rect">
            <a:avLst/>
          </a:prstGeom>
          <a:noFill/>
        </p:spPr>
        <p:txBody>
          <a:bodyPr wrap="square" lIns="45720" rIns="45720" tIns="27432" bIns="27432" anchor="t">
            <a:spAutoFit/>
          </a:bodyPr>
          <a:lstStyle/>
          <a:p>
            <a:pPr algn="l"/>
            <a:r>
              <a:rPr sz="1600" b="0" i="0">
                <a:solidFill>
                  <a:srgbClr val="D9D9D9"/>
                </a:solidFill>
                <a:latin typeface="Arial"/>
              </a:rPr>
              <a:t>Tấm bản đồ của khóa luận: nghiên cứu làm gì, vì sao và bằng cách nào</a:t>
            </a:r>
          </a:p>
        </p:txBody>
      </p:sp>
      <p:sp>
        <p:nvSpPr>
          <p:cNvPr id="7" name="TextBox 6"/>
          <p:cNvSpPr txBox="1"/>
          <p:nvPr/>
        </p:nvSpPr>
        <p:spPr>
          <a:xfrm>
            <a:off x="1051560" y="4709160"/>
            <a:ext cx="10058400" cy="822960"/>
          </a:xfrm>
          <a:prstGeom prst="rect">
            <a:avLst/>
          </a:prstGeom>
          <a:noFill/>
        </p:spPr>
        <p:txBody>
          <a:bodyPr wrap="square" lIns="45720" rIns="45720" tIns="27432" bIns="27432" anchor="t">
            <a:spAutoFit/>
          </a:bodyPr>
          <a:lstStyle/>
          <a:p>
            <a:pPr algn="l"/>
            <a:r>
              <a:rPr sz="1300" b="1" i="0">
                <a:solidFill>
                  <a:srgbClr val="F29B9B"/>
                </a:solidFill>
                <a:latin typeface="Arial"/>
              </a:rPr>
              <a:t>ĐỌC TRONG SÁCH: Phần 1 (mục A đến G); Hình 0-4 và 1-1 đến 1-20; Bảng 1-10 và 1-11</a:t>
            </a:r>
          </a:p>
        </p:txBody>
      </p:sp>
      <p:sp>
        <p:nvSpPr>
          <p:cNvPr id="8" name="TextBox 7"/>
          <p:cNvSpPr txBox="1"/>
          <p:nvPr/>
        </p:nvSpPr>
        <p:spPr>
          <a:xfrm>
            <a:off x="1051560" y="5943600"/>
            <a:ext cx="10058400" cy="365760"/>
          </a:xfrm>
          <a:prstGeom prst="rect">
            <a:avLst/>
          </a:prstGeom>
          <a:noFill/>
        </p:spPr>
        <p:txBody>
          <a:bodyPr wrap="square" lIns="45720" rIns="45720" tIns="27432" bIns="27432" anchor="t">
            <a:spAutoFit/>
          </a:bodyPr>
          <a:lstStyle/>
          <a:p>
            <a:pPr algn="l"/>
            <a:r>
              <a:rPr sz="1200" b="0" i="0">
                <a:solidFill>
                  <a:srgbClr val="9E9E9E"/>
                </a:solidFill>
                <a:latin typeface="Arial"/>
              </a:rPr>
              <a:t>Thời lượng ước tính: 30 phút | 14 slide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VÀ CHƯƠNG 1 | BẢN ĐỒ ĐỐI CHIẾU SÁCH</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Bản đồ đọc sách cho Phần mở đầu và Chương 1: mục tiêu và câu hỏi viết trước, lý do chọn đề tài viết sau</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Thời gian ghi dạng "phần mở đầu / Chương 1": phần mở đầu chỉ rút gọn từ Chương 1 nên nhanh hơn nhiều.</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16</a:t>
            </a:r>
          </a:p>
        </p:txBody>
      </p:sp>
      <p:graphicFrame>
        <p:nvGraphicFramePr>
          <p:cNvPr id="12" name="Table 11"/>
          <p:cNvGraphicFramePr>
            <a:graphicFrameLocks noGrp="1"/>
          </p:cNvGraphicFramePr>
          <p:nvPr/>
        </p:nvGraphicFramePr>
        <p:xfrm>
          <a:off x="457200" y="1783080"/>
          <a:ext cx="11274551" cy="3840480"/>
        </p:xfrm>
        <a:graphic>
          <a:graphicData uri="http://schemas.openxmlformats.org/drawingml/2006/table">
            <a:tbl>
              <a:tblPr firstRow="1" bandRow="1">
                <a:tableStyleId>{5C22544A-7EE6-4342-B048-85BDC9FD1C3A}</a:tableStyleId>
              </a:tblPr>
              <a:tblGrid>
                <a:gridCol w="3083638"/>
                <a:gridCol w="3276365"/>
                <a:gridCol w="3083638"/>
                <a:gridCol w="1830910"/>
              </a:tblGrid>
              <a:tr h="411480">
                <a:tc>
                  <a:txBody>
                    <a:bodyPr wrap="square"/>
                    <a:lstStyle/>
                    <a:p>
                      <a:pPr algn="l"/>
                      <a:r>
                        <a:rPr sz="1200" b="1">
                          <a:solidFill>
                            <a:srgbClr val="FFFFFF"/>
                          </a:solidFill>
                          <a:latin typeface="Arial"/>
                        </a:rPr>
                        <a:t>Mục trong khóa luận</a:t>
                      </a:r>
                    </a:p>
                  </a:txBody>
                  <a:tcPr marL="73152" marR="73152" marT="27432" marB="27432" anchor="ctr">
                    <a:solidFill>
                      <a:srgbClr val="262626"/>
                    </a:solidFill>
                  </a:tcPr>
                </a:tc>
                <a:tc>
                  <a:txBody>
                    <a:bodyPr wrap="square"/>
                    <a:lstStyle/>
                    <a:p>
                      <a:pPr algn="l"/>
                      <a:r>
                        <a:rPr sz="1200" b="1">
                          <a:solidFill>
                            <a:srgbClr val="FFFFFF"/>
                          </a:solidFill>
                          <a:latin typeface="Arial"/>
                        </a:rPr>
                        <a:t>Đọc ở đâu trong sách</a:t>
                      </a:r>
                    </a:p>
                  </a:txBody>
                  <a:tcPr marL="73152" marR="73152" marT="27432" marB="27432" anchor="ctr">
                    <a:solidFill>
                      <a:srgbClr val="262626"/>
                    </a:solidFill>
                  </a:tcPr>
                </a:tc>
                <a:tc>
                  <a:txBody>
                    <a:bodyPr wrap="square"/>
                    <a:lstStyle/>
                    <a:p>
                      <a:pPr algn="l"/>
                      <a:r>
                        <a:rPr sz="1200" b="1">
                          <a:solidFill>
                            <a:srgbClr val="FFFFFF"/>
                          </a:solidFill>
                          <a:latin typeface="Arial"/>
                        </a:rPr>
                        <a:t>Hình, bảng, sheet</a:t>
                      </a:r>
                    </a:p>
                  </a:txBody>
                  <a:tcPr marL="73152" marR="73152" marT="27432" marB="27432" anchor="ctr">
                    <a:solidFill>
                      <a:srgbClr val="262626"/>
                    </a:solidFill>
                  </a:tcPr>
                </a:tc>
                <a:tc>
                  <a:txBody>
                    <a:bodyPr wrap="square"/>
                    <a:lstStyle/>
                    <a:p>
                      <a:pPr algn="l"/>
                      <a:r>
                        <a:rPr sz="1200" b="1">
                          <a:solidFill>
                            <a:srgbClr val="FFFFFF"/>
                          </a:solidFill>
                          <a:latin typeface="Arial"/>
                        </a:rPr>
                        <a:t>Thời gian gợi ý</a:t>
                      </a:r>
                    </a:p>
                  </a:txBody>
                  <a:tcPr marL="73152" marR="73152" marT="27432" marB="27432" anchor="ctr">
                    <a:solidFill>
                      <a:srgbClr val="262626"/>
                    </a:solidFill>
                  </a:tcPr>
                </a:tc>
              </a:tr>
              <a:tr h="428625">
                <a:tc>
                  <a:txBody>
                    <a:bodyPr wrap="square"/>
                    <a:lstStyle/>
                    <a:p>
                      <a:pPr algn="l"/>
                      <a:r>
                        <a:rPr sz="1200" b="0">
                          <a:solidFill>
                            <a:srgbClr val="262626"/>
                          </a:solidFill>
                          <a:latin typeface="Arial"/>
                        </a:rPr>
                        <a:t>Lý do chọn đề tài / 1.1</a:t>
                      </a:r>
                    </a:p>
                  </a:txBody>
                  <a:tcPr marL="73152" marR="73152" marT="27432" marB="27432" anchor="ctr">
                    <a:solidFill>
                      <a:srgbClr val="FFFFFF"/>
                    </a:solidFill>
                  </a:tcPr>
                </a:tc>
                <a:tc>
                  <a:txBody>
                    <a:bodyPr wrap="square"/>
                    <a:lstStyle/>
                    <a:p>
                      <a:pPr algn="l"/>
                      <a:r>
                        <a:rPr sz="1200" b="0">
                          <a:solidFill>
                            <a:srgbClr val="262626"/>
                          </a:solidFill>
                          <a:latin typeface="Arial"/>
                        </a:rPr>
                        <a:t>Phần 1, Mục 1.1</a:t>
                      </a:r>
                    </a:p>
                  </a:txBody>
                  <a:tcPr marL="73152" marR="73152" marT="27432" marB="27432" anchor="ctr">
                    <a:solidFill>
                      <a:srgbClr val="FFFFFF"/>
                    </a:solidFill>
                  </a:tcPr>
                </a:tc>
                <a:tc>
                  <a:txBody>
                    <a:bodyPr wrap="square"/>
                    <a:lstStyle/>
                    <a:p>
                      <a:pPr algn="l"/>
                      <a:r>
                        <a:rPr sz="1200" b="0">
                          <a:solidFill>
                            <a:srgbClr val="262626"/>
                          </a:solidFill>
                          <a:latin typeface="Arial"/>
                        </a:rPr>
                        <a:t>Hình 1-7 đến 1-10</a:t>
                      </a:r>
                    </a:p>
                  </a:txBody>
                  <a:tcPr marL="73152" marR="73152" marT="27432" marB="27432" anchor="ctr">
                    <a:solidFill>
                      <a:srgbClr val="FFFFFF"/>
                    </a:solidFill>
                  </a:tcPr>
                </a:tc>
                <a:tc>
                  <a:txBody>
                    <a:bodyPr wrap="square"/>
                    <a:lstStyle/>
                    <a:p>
                      <a:pPr algn="l"/>
                      <a:r>
                        <a:rPr sz="1200" b="0">
                          <a:solidFill>
                            <a:srgbClr val="262626"/>
                          </a:solidFill>
                          <a:latin typeface="Arial"/>
                        </a:rPr>
                        <a:t>2 đến 3 giờ / 1 đến 2 ngày</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Mục tiêu, câu hỏi / 1.2, 1.3</a:t>
                      </a:r>
                    </a:p>
                  </a:txBody>
                  <a:tcPr marL="73152" marR="73152" marT="27432" marB="27432" anchor="ctr">
                    <a:solidFill>
                      <a:srgbClr val="F3F3F3"/>
                    </a:solidFill>
                  </a:tcPr>
                </a:tc>
                <a:tc>
                  <a:txBody>
                    <a:bodyPr wrap="square"/>
                    <a:lstStyle/>
                    <a:p>
                      <a:pPr algn="l"/>
                      <a:r>
                        <a:rPr sz="1200" b="0">
                          <a:solidFill>
                            <a:srgbClr val="262626"/>
                          </a:solidFill>
                          <a:latin typeface="Arial"/>
                        </a:rPr>
                        <a:t>Phần 1, Mục 1.2 và 1.3</a:t>
                      </a:r>
                    </a:p>
                  </a:txBody>
                  <a:tcPr marL="73152" marR="73152" marT="27432" marB="27432" anchor="ctr">
                    <a:solidFill>
                      <a:srgbClr val="F3F3F3"/>
                    </a:solidFill>
                  </a:tcPr>
                </a:tc>
                <a:tc>
                  <a:txBody>
                    <a:bodyPr wrap="square"/>
                    <a:lstStyle/>
                    <a:p>
                      <a:pPr algn="l"/>
                      <a:r>
                        <a:rPr sz="1200" b="0">
                          <a:solidFill>
                            <a:srgbClr val="262626"/>
                          </a:solidFill>
                          <a:latin typeface="Arial"/>
                        </a:rPr>
                        <a:t>Hình 1-5 và 1-11 đến 1-13</a:t>
                      </a:r>
                    </a:p>
                  </a:txBody>
                  <a:tcPr marL="73152" marR="73152" marT="27432" marB="27432" anchor="ctr">
                    <a:solidFill>
                      <a:srgbClr val="F3F3F3"/>
                    </a:solidFill>
                  </a:tcPr>
                </a:tc>
                <a:tc>
                  <a:txBody>
                    <a:bodyPr wrap="square"/>
                    <a:lstStyle/>
                    <a:p>
                      <a:pPr algn="l"/>
                      <a:r>
                        <a:rPr sz="1200" b="0">
                          <a:solidFill>
                            <a:srgbClr val="262626"/>
                          </a:solidFill>
                          <a:latin typeface="Arial"/>
                        </a:rPr>
                        <a:t>30 phút mỗi mục / nửa ngày</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Đối tượng, phạm vi / 1.4</a:t>
                      </a:r>
                    </a:p>
                  </a:txBody>
                  <a:tcPr marL="73152" marR="73152" marT="27432" marB="27432" anchor="ctr">
                    <a:solidFill>
                      <a:srgbClr val="FFFFFF"/>
                    </a:solidFill>
                  </a:tcPr>
                </a:tc>
                <a:tc>
                  <a:txBody>
                    <a:bodyPr wrap="square"/>
                    <a:lstStyle/>
                    <a:p>
                      <a:pPr algn="l"/>
                      <a:r>
                        <a:rPr sz="1200" b="0">
                          <a:solidFill>
                            <a:srgbClr val="262626"/>
                          </a:solidFill>
                          <a:latin typeface="Arial"/>
                        </a:rPr>
                        <a:t>Phần 1, Mục 1.4</a:t>
                      </a:r>
                    </a:p>
                  </a:txBody>
                  <a:tcPr marL="73152" marR="73152" marT="27432" marB="27432" anchor="ctr">
                    <a:solidFill>
                      <a:srgbClr val="FFFFFF"/>
                    </a:solidFill>
                  </a:tcPr>
                </a:tc>
                <a:tc>
                  <a:txBody>
                    <a:bodyPr wrap="square"/>
                    <a:lstStyle/>
                    <a:p>
                      <a:pPr algn="l"/>
                      <a:r>
                        <a:rPr sz="1200" b="0">
                          <a:solidFill>
                            <a:srgbClr val="262626"/>
                          </a:solidFill>
                          <a:latin typeface="Arial"/>
                        </a:rPr>
                        <a:t>Hình 1-14</a:t>
                      </a:r>
                    </a:p>
                  </a:txBody>
                  <a:tcPr marL="73152" marR="73152" marT="27432" marB="27432" anchor="ctr">
                    <a:solidFill>
                      <a:srgbClr val="FFFFFF"/>
                    </a:solidFill>
                  </a:tcPr>
                </a:tc>
                <a:tc>
                  <a:txBody>
                    <a:bodyPr wrap="square"/>
                    <a:lstStyle/>
                    <a:p>
                      <a:pPr algn="l"/>
                      <a:r>
                        <a:rPr sz="1200" b="0">
                          <a:solidFill>
                            <a:srgbClr val="262626"/>
                          </a:solidFill>
                          <a:latin typeface="Arial"/>
                        </a:rPr>
                        <a:t>30 phút / 2 giờ</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Phương pháp / 1.5</a:t>
                      </a:r>
                    </a:p>
                  </a:txBody>
                  <a:tcPr marL="73152" marR="73152" marT="27432" marB="27432" anchor="ctr">
                    <a:solidFill>
                      <a:srgbClr val="F3F3F3"/>
                    </a:solidFill>
                  </a:tcPr>
                </a:tc>
                <a:tc>
                  <a:txBody>
                    <a:bodyPr wrap="square"/>
                    <a:lstStyle/>
                    <a:p>
                      <a:pPr algn="l"/>
                      <a:r>
                        <a:rPr sz="1200" b="0">
                          <a:solidFill>
                            <a:srgbClr val="262626"/>
                          </a:solidFill>
                          <a:latin typeface="Arial"/>
                        </a:rPr>
                        <a:t>Phần 1, Mục 1.5</a:t>
                      </a:r>
                    </a:p>
                  </a:txBody>
                  <a:tcPr marL="73152" marR="73152" marT="27432" marB="27432" anchor="ctr">
                    <a:solidFill>
                      <a:srgbClr val="F3F3F3"/>
                    </a:solidFill>
                  </a:tcPr>
                </a:tc>
                <a:tc>
                  <a:txBody>
                    <a:bodyPr wrap="square"/>
                    <a:lstStyle/>
                    <a:p>
                      <a:pPr algn="l"/>
                      <a:r>
                        <a:rPr sz="1200" b="0">
                          <a:solidFill>
                            <a:srgbClr val="262626"/>
                          </a:solidFill>
                          <a:latin typeface="Arial"/>
                        </a:rPr>
                        <a:t>Hình 1-15 đến 1-18</a:t>
                      </a:r>
                    </a:p>
                  </a:txBody>
                  <a:tcPr marL="73152" marR="73152" marT="27432" marB="27432" anchor="ctr">
                    <a:solidFill>
                      <a:srgbClr val="F3F3F3"/>
                    </a:solidFill>
                  </a:tcPr>
                </a:tc>
                <a:tc>
                  <a:txBody>
                    <a:bodyPr wrap="square"/>
                    <a:lstStyle/>
                    <a:p>
                      <a:pPr algn="l"/>
                      <a:r>
                        <a:rPr sz="1200" b="0">
                          <a:solidFill>
                            <a:srgbClr val="262626"/>
                          </a:solidFill>
                          <a:latin typeface="Arial"/>
                        </a:rPr>
                        <a:t>30 phút / 2 giờ</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Ý nghĩa, kết cấu / 1.6, 1.7</a:t>
                      </a:r>
                    </a:p>
                  </a:txBody>
                  <a:tcPr marL="73152" marR="73152" marT="27432" marB="27432" anchor="ctr">
                    <a:solidFill>
                      <a:srgbClr val="FFFFFF"/>
                    </a:solidFill>
                  </a:tcPr>
                </a:tc>
                <a:tc>
                  <a:txBody>
                    <a:bodyPr wrap="square"/>
                    <a:lstStyle/>
                    <a:p>
                      <a:pPr algn="l"/>
                      <a:r>
                        <a:rPr sz="1200" b="0">
                          <a:solidFill>
                            <a:srgbClr val="262626"/>
                          </a:solidFill>
                          <a:latin typeface="Arial"/>
                        </a:rPr>
                        <a:t>Phần 1, Mục 1.6 và 1.7</a:t>
                      </a:r>
                    </a:p>
                  </a:txBody>
                  <a:tcPr marL="73152" marR="73152" marT="27432" marB="27432" anchor="ctr">
                    <a:solidFill>
                      <a:srgbClr val="FFFFFF"/>
                    </a:solidFill>
                  </a:tcPr>
                </a:tc>
                <a:tc>
                  <a:txBody>
                    <a:bodyPr wrap="square"/>
                    <a:lstStyle/>
                    <a:p>
                      <a:pPr algn="l"/>
                      <a:r>
                        <a:rPr sz="1200" b="0">
                          <a:solidFill>
                            <a:srgbClr val="262626"/>
                          </a:solidFill>
                          <a:latin typeface="Arial"/>
                        </a:rPr>
                        <a:t>Hình 1-19</a:t>
                      </a:r>
                    </a:p>
                  </a:txBody>
                  <a:tcPr marL="73152" marR="73152" marT="27432" marB="27432" anchor="ctr">
                    <a:solidFill>
                      <a:srgbClr val="FFFFFF"/>
                    </a:solidFill>
                  </a:tcPr>
                </a:tc>
                <a:tc>
                  <a:txBody>
                    <a:bodyPr wrap="square"/>
                    <a:lstStyle/>
                    <a:p>
                      <a:pPr algn="l"/>
                      <a:r>
                        <a:rPr sz="1200" b="0">
                          <a:solidFill>
                            <a:srgbClr val="262626"/>
                          </a:solidFill>
                          <a:latin typeface="Arial"/>
                        </a:rPr>
                        <a:t>30 phút / 1 đến 2 giờ</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Hành văn, trích dẫn</a:t>
                      </a:r>
                    </a:p>
                  </a:txBody>
                  <a:tcPr marL="73152" marR="73152" marT="27432" marB="27432" anchor="ctr">
                    <a:solidFill>
                      <a:srgbClr val="F3F3F3"/>
                    </a:solidFill>
                  </a:tcPr>
                </a:tc>
                <a:tc>
                  <a:txBody>
                    <a:bodyPr wrap="square"/>
                    <a:lstStyle/>
                    <a:p>
                      <a:pPr algn="l"/>
                      <a:r>
                        <a:rPr sz="1200" b="0">
                          <a:solidFill>
                            <a:srgbClr val="262626"/>
                          </a:solidFill>
                          <a:latin typeface="Arial"/>
                        </a:rPr>
                        <a:t>Phần 0, mục C; Phần 1, mục D (Trích dẫn)</a:t>
                      </a:r>
                    </a:p>
                  </a:txBody>
                  <a:tcPr marL="73152" marR="73152" marT="27432" marB="27432" anchor="ctr">
                    <a:solidFill>
                      <a:srgbClr val="F3F3F3"/>
                    </a:solidFill>
                  </a:tcPr>
                </a:tc>
                <a:tc>
                  <a:txBody>
                    <a:bodyPr wrap="square"/>
                    <a:lstStyle/>
                    <a:p>
                      <a:pPr algn="l"/>
                      <a:r>
                        <a:rPr sz="1200" b="0">
                          <a:solidFill>
                            <a:srgbClr val="262626"/>
                          </a:solidFill>
                          <a:latin typeface="Arial"/>
                        </a:rPr>
                        <a:t>Hình 0-4</a:t>
                      </a:r>
                    </a:p>
                  </a:txBody>
                  <a:tcPr marL="73152" marR="73152" marT="27432" marB="27432" anchor="ctr">
                    <a:solidFill>
                      <a:srgbClr val="F3F3F3"/>
                    </a:solidFill>
                  </a:tcPr>
                </a:tc>
                <a:tc>
                  <a:txBody>
                    <a:bodyPr wrap="square"/>
                    <a:lstStyle/>
                    <a:p>
                      <a:pPr algn="l"/>
                      <a:r>
                        <a:rPr sz="1200" b="0">
                          <a:solidFill>
                            <a:srgbClr val="262626"/>
                          </a:solidFill>
                          <a:latin typeface="Arial"/>
                        </a:rPr>
                        <a:t>Áp dụng khi viết</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Ví dụ trọn vẹn</a:t>
                      </a:r>
                    </a:p>
                  </a:txBody>
                  <a:tcPr marL="73152" marR="73152" marT="27432" marB="27432" anchor="ctr">
                    <a:solidFill>
                      <a:srgbClr val="FFFFFF"/>
                    </a:solidFill>
                  </a:tcPr>
                </a:tc>
                <a:tc>
                  <a:txBody>
                    <a:bodyPr wrap="square"/>
                    <a:lstStyle/>
                    <a:p>
                      <a:pPr algn="l"/>
                      <a:r>
                        <a:rPr sz="1200" b="0">
                          <a:solidFill>
                            <a:srgbClr val="262626"/>
                          </a:solidFill>
                          <a:latin typeface="Arial"/>
                        </a:rPr>
                        <a:t>Phần 1, mục E (Ví dụ 1 và Ví dụ 2)</a:t>
                      </a:r>
                    </a:p>
                  </a:txBody>
                  <a:tcPr marL="73152" marR="73152" marT="27432" marB="27432" anchor="ctr">
                    <a:solidFill>
                      <a:srgbClr val="FFFFFF"/>
                    </a:solidFill>
                  </a:tcPr>
                </a:tc>
                <a:tc>
                  <a:txBody>
                    <a:bodyPr wrap="square"/>
                    <a:lstStyle/>
                    <a:p>
                      <a:pPr algn="l"/>
                      <a:r>
                        <a:rPr sz="1200" b="0">
                          <a:solidFill>
                            <a:srgbClr val="262626"/>
                          </a:solidFill>
                          <a:latin typeface="Arial"/>
                        </a:rPr>
                        <a:t>Hình 1-20</a:t>
                      </a:r>
                    </a:p>
                  </a:txBody>
                  <a:tcPr marL="73152" marR="73152" marT="27432" marB="27432" anchor="ctr">
                    <a:solidFill>
                      <a:srgbClr val="FFFFFF"/>
                    </a:solidFill>
                  </a:tcPr>
                </a:tc>
                <a:tc>
                  <a:txBody>
                    <a:bodyPr wrap="square"/>
                    <a:lstStyle/>
                    <a:p>
                      <a:pPr algn="l"/>
                      <a:r>
                        <a:rPr sz="1200" b="0">
                          <a:solidFill>
                            <a:srgbClr val="262626"/>
                          </a:solidFill>
                          <a:latin typeface="Arial"/>
                        </a:rPr>
                        <a:t>Đọc trước khi viết</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Tự kiểm tra</a:t>
                      </a:r>
                    </a:p>
                  </a:txBody>
                  <a:tcPr marL="73152" marR="73152" marT="27432" marB="27432" anchor="ctr">
                    <a:solidFill>
                      <a:srgbClr val="F3F3F3"/>
                    </a:solidFill>
                  </a:tcPr>
                </a:tc>
                <a:tc>
                  <a:txBody>
                    <a:bodyPr wrap="square"/>
                    <a:lstStyle/>
                    <a:p>
                      <a:pPr algn="l"/>
                      <a:r>
                        <a:rPr sz="1200" b="0">
                          <a:solidFill>
                            <a:srgbClr val="262626"/>
                          </a:solidFill>
                          <a:latin typeface="Arial"/>
                        </a:rPr>
                        <a:t>Phần 1, mục F</a:t>
                      </a:r>
                    </a:p>
                  </a:txBody>
                  <a:tcPr marL="73152" marR="73152" marT="27432" marB="27432" anchor="ctr">
                    <a:solidFill>
                      <a:srgbClr val="F3F3F3"/>
                    </a:solidFill>
                  </a:tcPr>
                </a:tc>
                <a:tc>
                  <a:txBody>
                    <a:bodyPr wrap="square"/>
                    <a:lstStyle/>
                    <a:p>
                      <a:pPr algn="l"/>
                      <a:r>
                        <a:rPr sz="1200" b="0">
                          <a:solidFill>
                            <a:srgbClr val="262626"/>
                          </a:solidFill>
                          <a:latin typeface="Arial"/>
                        </a:rPr>
                        <a:t>Bảng 1-10 và 1-11; hai checklist</a:t>
                      </a:r>
                    </a:p>
                  </a:txBody>
                  <a:tcPr marL="73152" marR="73152" marT="27432" marB="27432" anchor="ctr">
                    <a:solidFill>
                      <a:srgbClr val="F3F3F3"/>
                    </a:solidFill>
                  </a:tcPr>
                </a:tc>
                <a:tc>
                  <a:txBody>
                    <a:bodyPr wrap="square"/>
                    <a:lstStyle/>
                    <a:p>
                      <a:pPr algn="l"/>
                      <a:r>
                        <a:rPr sz="1200" b="0">
                          <a:solidFill>
                            <a:srgbClr val="262626"/>
                          </a:solidFill>
                          <a:latin typeface="Arial"/>
                        </a:rPr>
                        <a:t>Sau khi viết</a:t>
                      </a:r>
                    </a:p>
                  </a:txBody>
                  <a:tcPr marL="73152" marR="73152" marT="27432" marB="27432" anchor="ctr">
                    <a:solidFill>
                      <a:srgbClr val="F3F3F3"/>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 NGƯỜI CHẤM ĐỌC GÌ</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Người chấm đọc phần mở đầu để kiểm tra vấn đề có thật và các mục có khớp nhau</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Phần mở đầu chỉ được 1,5 trên 10 điểm nhưng một lỗi ở đây kéo điểm của mọi chương phía sau xuống theo.</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B và Hình 1-3</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17</a:t>
            </a:r>
          </a:p>
        </p:txBody>
      </p:sp>
      <p:sp>
        <p:nvSpPr>
          <p:cNvPr id="11" name="Oval 10"/>
          <p:cNvSpPr/>
          <p:nvPr/>
        </p:nvSpPr>
        <p:spPr>
          <a:xfrm>
            <a:off x="457200" y="1828800"/>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2" name="TextBox 11"/>
          <p:cNvSpPr txBox="1"/>
          <p:nvPr/>
        </p:nvSpPr>
        <p:spPr>
          <a:xfrm>
            <a:off x="960120" y="1783080"/>
            <a:ext cx="5212080" cy="640080"/>
          </a:xfrm>
          <a:prstGeom prst="rect">
            <a:avLst/>
          </a:prstGeom>
          <a:noFill/>
        </p:spPr>
        <p:txBody>
          <a:bodyPr wrap="square" lIns="45720" rIns="45720" tIns="27432" bIns="27432" anchor="t">
            <a:spAutoFit/>
          </a:bodyPr>
          <a:lstStyle/>
          <a:p>
            <a:pPr algn="l"/>
            <a:r>
              <a:rPr sz="1300" b="1" i="0">
                <a:solidFill>
                  <a:srgbClr val="58595B"/>
                </a:solidFill>
                <a:latin typeface="Arial"/>
              </a:rPr>
              <a:t>Vấn đề có thật và có ý nghĩa?</a:t>
            </a:r>
            <a:r>
              <a:rPr sz="1300" b="0" i="0">
                <a:solidFill>
                  <a:srgbClr val="58595B"/>
                </a:solidFill>
                <a:latin typeface="Arial"/>
              </a:rPr>
              <a:t>  Một câu "ngân hàng số đang phát triển mạnh" chưa phải là vấn đề.</a:t>
            </a:r>
          </a:p>
        </p:txBody>
      </p:sp>
      <p:cxnSp>
        <p:nvCxnSpPr>
          <p:cNvPr id="13" name="Connector 12"/>
          <p:cNvCxnSpPr/>
          <p:nvPr/>
        </p:nvCxnSpPr>
        <p:spPr>
          <a:xfrm>
            <a:off x="960120" y="2368296"/>
            <a:ext cx="5257800"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57200" y="2468879"/>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5" name="TextBox 14"/>
          <p:cNvSpPr txBox="1"/>
          <p:nvPr/>
        </p:nvSpPr>
        <p:spPr>
          <a:xfrm>
            <a:off x="960120" y="2423160"/>
            <a:ext cx="5212080" cy="640080"/>
          </a:xfrm>
          <a:prstGeom prst="rect">
            <a:avLst/>
          </a:prstGeom>
          <a:noFill/>
        </p:spPr>
        <p:txBody>
          <a:bodyPr wrap="square" lIns="45720" rIns="45720" tIns="27432" bIns="27432" anchor="t">
            <a:spAutoFit/>
          </a:bodyPr>
          <a:lstStyle/>
          <a:p>
            <a:pPr algn="l"/>
            <a:r>
              <a:rPr sz="1300" b="1" i="0">
                <a:solidFill>
                  <a:srgbClr val="58595B"/>
                </a:solidFill>
                <a:latin typeface="Arial"/>
              </a:rPr>
              <a:t>Mục tiêu, câu hỏi và vấn đề có khớp nhau?</a:t>
            </a:r>
            <a:r>
              <a:rPr sz="1300" b="0" i="0">
                <a:solidFill>
                  <a:srgbClr val="58595B"/>
                </a:solidFill>
                <a:latin typeface="Arial"/>
              </a:rPr>
              <a:t>  Mục tiêu tổng quát phải giải quyết đúng vấn đề đã nêu.</a:t>
            </a:r>
          </a:p>
        </p:txBody>
      </p:sp>
      <p:cxnSp>
        <p:nvCxnSpPr>
          <p:cNvPr id="16" name="Connector 15"/>
          <p:cNvCxnSpPr/>
          <p:nvPr/>
        </p:nvCxnSpPr>
        <p:spPr>
          <a:xfrm>
            <a:off x="960120" y="3008376"/>
            <a:ext cx="5257800"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57200" y="3108960"/>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18" name="TextBox 17"/>
          <p:cNvSpPr txBox="1"/>
          <p:nvPr/>
        </p:nvSpPr>
        <p:spPr>
          <a:xfrm>
            <a:off x="960120" y="3063240"/>
            <a:ext cx="5212080" cy="640080"/>
          </a:xfrm>
          <a:prstGeom prst="rect">
            <a:avLst/>
          </a:prstGeom>
          <a:noFill/>
        </p:spPr>
        <p:txBody>
          <a:bodyPr wrap="square" lIns="45720" rIns="45720" tIns="27432" bIns="27432" anchor="t">
            <a:spAutoFit/>
          </a:bodyPr>
          <a:lstStyle/>
          <a:p>
            <a:pPr algn="l"/>
            <a:r>
              <a:rPr sz="1300" b="1" i="0">
                <a:solidFill>
                  <a:srgbClr val="58595B"/>
                </a:solidFill>
                <a:latin typeface="Arial"/>
              </a:rPr>
              <a:t>Phạm vi rõ và làm được trong thời gian cho phép?</a:t>
            </a:r>
            <a:r>
              <a:rPr sz="1300" b="0" i="0">
                <a:solidFill>
                  <a:srgbClr val="58595B"/>
                </a:solidFill>
                <a:latin typeface="Arial"/>
              </a:rPr>
              <a:t>  Phạm vi quá rộng là nguyên nhân chính khiến đề tài rủi ro.</a:t>
            </a:r>
          </a:p>
        </p:txBody>
      </p:sp>
      <p:cxnSp>
        <p:nvCxnSpPr>
          <p:cNvPr id="19" name="Connector 18"/>
          <p:cNvCxnSpPr/>
          <p:nvPr/>
        </p:nvCxnSpPr>
        <p:spPr>
          <a:xfrm>
            <a:off x="960120" y="3648456"/>
            <a:ext cx="5257800"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57200" y="3749039"/>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1" name="TextBox 20"/>
          <p:cNvSpPr txBox="1"/>
          <p:nvPr/>
        </p:nvSpPr>
        <p:spPr>
          <a:xfrm>
            <a:off x="960120" y="3703320"/>
            <a:ext cx="5212080" cy="640080"/>
          </a:xfrm>
          <a:prstGeom prst="rect">
            <a:avLst/>
          </a:prstGeom>
          <a:noFill/>
        </p:spPr>
        <p:txBody>
          <a:bodyPr wrap="square" lIns="45720" rIns="45720" tIns="27432" bIns="27432" anchor="t">
            <a:spAutoFit/>
          </a:bodyPr>
          <a:lstStyle/>
          <a:p>
            <a:pPr algn="l"/>
            <a:r>
              <a:rPr sz="1300" b="1" i="0">
                <a:solidFill>
                  <a:srgbClr val="58595B"/>
                </a:solidFill>
                <a:latin typeface="Arial"/>
              </a:rPr>
              <a:t>Phương pháp trả lời được câu hỏi?</a:t>
            </a:r>
            <a:r>
              <a:rPr sz="1300" b="0" i="0">
                <a:solidFill>
                  <a:srgbClr val="58595B"/>
                </a:solidFill>
                <a:latin typeface="Arial"/>
              </a:rPr>
              <a:t>  Mỗi câu hỏi phải có một con đường để đi tới câu trả lời.</a:t>
            </a:r>
          </a:p>
        </p:txBody>
      </p:sp>
      <p:cxnSp>
        <p:nvCxnSpPr>
          <p:cNvPr id="22" name="Connector 21"/>
          <p:cNvCxnSpPr/>
          <p:nvPr/>
        </p:nvCxnSpPr>
        <p:spPr>
          <a:xfrm>
            <a:off x="960120" y="4288536"/>
            <a:ext cx="5257800"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57200" y="4389120"/>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5</a:t>
            </a:r>
          </a:p>
        </p:txBody>
      </p:sp>
      <p:sp>
        <p:nvSpPr>
          <p:cNvPr id="24" name="TextBox 23"/>
          <p:cNvSpPr txBox="1"/>
          <p:nvPr/>
        </p:nvSpPr>
        <p:spPr>
          <a:xfrm>
            <a:off x="960120" y="4343400"/>
            <a:ext cx="5212080" cy="640080"/>
          </a:xfrm>
          <a:prstGeom prst="rect">
            <a:avLst/>
          </a:prstGeom>
          <a:noFill/>
        </p:spPr>
        <p:txBody>
          <a:bodyPr wrap="square" lIns="45720" rIns="45720" tIns="27432" bIns="27432" anchor="t">
            <a:spAutoFit/>
          </a:bodyPr>
          <a:lstStyle/>
          <a:p>
            <a:pPr algn="l"/>
            <a:r>
              <a:rPr sz="1300" b="1" i="0">
                <a:solidFill>
                  <a:srgbClr val="58595B"/>
                </a:solidFill>
                <a:latin typeface="Arial"/>
              </a:rPr>
              <a:t>Văn phong khách quan, có dẫn nguồn?</a:t>
            </a:r>
            <a:r>
              <a:rPr sz="1300" b="0" i="0">
                <a:solidFill>
                  <a:srgbClr val="58595B"/>
                </a:solidFill>
                <a:latin typeface="Arial"/>
              </a:rPr>
              <a:t>  Thiếu nguồn có thể bị xem là có hiện tượng đạo văn.</a:t>
            </a:r>
          </a:p>
        </p:txBody>
      </p:sp>
      <p:cxnSp>
        <p:nvCxnSpPr>
          <p:cNvPr id="25" name="Connector 24"/>
          <p:cNvCxnSpPr/>
          <p:nvPr/>
        </p:nvCxnSpPr>
        <p:spPr>
          <a:xfrm>
            <a:off x="960120" y="4928616"/>
            <a:ext cx="5257800"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57200" y="5029200"/>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6</a:t>
            </a:r>
          </a:p>
        </p:txBody>
      </p:sp>
      <p:sp>
        <p:nvSpPr>
          <p:cNvPr id="27" name="TextBox 26"/>
          <p:cNvSpPr txBox="1"/>
          <p:nvPr/>
        </p:nvSpPr>
        <p:spPr>
          <a:xfrm>
            <a:off x="960120" y="4983480"/>
            <a:ext cx="5212080" cy="640080"/>
          </a:xfrm>
          <a:prstGeom prst="rect">
            <a:avLst/>
          </a:prstGeom>
          <a:noFill/>
        </p:spPr>
        <p:txBody>
          <a:bodyPr wrap="square" lIns="45720" rIns="45720" tIns="27432" bIns="27432" anchor="t">
            <a:spAutoFit/>
          </a:bodyPr>
          <a:lstStyle/>
          <a:p>
            <a:pPr algn="l"/>
            <a:r>
              <a:rPr sz="1300" b="1" i="0">
                <a:solidFill>
                  <a:srgbClr val="58595B"/>
                </a:solidFill>
                <a:latin typeface="Arial"/>
              </a:rPr>
              <a:t>Đề tài có trùng với nghiên cứu trước?</a:t>
            </a:r>
            <a:r>
              <a:rPr sz="1300" b="0" i="0">
                <a:solidFill>
                  <a:srgbClr val="58595B"/>
                </a:solidFill>
                <a:latin typeface="Arial"/>
              </a:rPr>
              <a:t>  Khoảng trống phải được nêu có giới hạn phạm vi tìm kiếm.</a:t>
            </a:r>
          </a:p>
        </p:txBody>
      </p:sp>
      <p:sp>
        <p:nvSpPr>
          <p:cNvPr id="28" name="Rectangle 27"/>
          <p:cNvSpPr/>
          <p:nvPr/>
        </p:nvSpPr>
        <p:spPr>
          <a:xfrm>
            <a:off x="6437376" y="2167751"/>
            <a:ext cx="5321808" cy="3071137"/>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02_new.png"/>
          <p:cNvPicPr>
            <a:picLocks noChangeAspect="1"/>
          </p:cNvPicPr>
          <p:nvPr/>
        </p:nvPicPr>
        <p:blipFill>
          <a:blip r:embed="rId2"/>
          <a:stretch>
            <a:fillRect/>
          </a:stretch>
        </p:blipFill>
        <p:spPr>
          <a:xfrm>
            <a:off x="6492240" y="2222615"/>
            <a:ext cx="5212080" cy="296140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 THỨ TỰ CÁC MỤC</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Thứ tự bảy mục phản ánh logic nhân quả: vấn đề quyết định mục tiêu, mục tiêu quyết định câu hỏi</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Thứ tự viết khác thứ tự trình bày: viết mục tiêu và câu hỏi trước, viết kết cấu sau cùng.</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C</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18</a:t>
            </a:r>
          </a:p>
        </p:txBody>
      </p:sp>
      <p:sp>
        <p:nvSpPr>
          <p:cNvPr id="11" name="Pentagon 10"/>
          <p:cNvSpPr/>
          <p:nvPr/>
        </p:nvSpPr>
        <p:spPr>
          <a:xfrm>
            <a:off x="457200" y="1783080"/>
            <a:ext cx="1988820" cy="731520"/>
          </a:xfrm>
          <a:prstGeom prst="homePlat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Vấn đề</a:t>
            </a:r>
          </a:p>
        </p:txBody>
      </p:sp>
      <p:sp>
        <p:nvSpPr>
          <p:cNvPr id="12" name="TextBox 11"/>
          <p:cNvSpPr txBox="1"/>
          <p:nvPr/>
        </p:nvSpPr>
        <p:spPr>
          <a:xfrm>
            <a:off x="566928"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Bối cảnh rộng, thu hẹp về vấn đề cụ thể của đơn vị, rồi đến khoảng trống.</a:t>
            </a:r>
          </a:p>
        </p:txBody>
      </p:sp>
      <p:sp>
        <p:nvSpPr>
          <p:cNvPr id="13" name="Chevron 12"/>
          <p:cNvSpPr/>
          <p:nvPr/>
        </p:nvSpPr>
        <p:spPr>
          <a:xfrm>
            <a:off x="2336292" y="1783080"/>
            <a:ext cx="1988820" cy="73152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Mục tiêu</a:t>
            </a:r>
          </a:p>
        </p:txBody>
      </p:sp>
      <p:sp>
        <p:nvSpPr>
          <p:cNvPr id="14" name="TextBox 13"/>
          <p:cNvSpPr txBox="1"/>
          <p:nvPr/>
        </p:nvSpPr>
        <p:spPr>
          <a:xfrm>
            <a:off x="2446020"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Điều nghiên cứu muốn đạt được để giải quyết vấn đề.</a:t>
            </a:r>
          </a:p>
        </p:txBody>
      </p:sp>
      <p:cxnSp>
        <p:nvCxnSpPr>
          <p:cNvPr id="15" name="Connector 14"/>
          <p:cNvCxnSpPr/>
          <p:nvPr/>
        </p:nvCxnSpPr>
        <p:spPr>
          <a:xfrm>
            <a:off x="2354580"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6" name="Chevron 15"/>
          <p:cNvSpPr/>
          <p:nvPr/>
        </p:nvSpPr>
        <p:spPr>
          <a:xfrm>
            <a:off x="4215384" y="1783080"/>
            <a:ext cx="1988820" cy="73152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Câu hỏi</a:t>
            </a:r>
          </a:p>
        </p:txBody>
      </p:sp>
      <p:sp>
        <p:nvSpPr>
          <p:cNvPr id="17" name="TextBox 16"/>
          <p:cNvSpPr txBox="1"/>
          <p:nvPr/>
        </p:nvSpPr>
        <p:spPr>
          <a:xfrm>
            <a:off x="4325112"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Mục tiêu viết lại thành điều trả lời được bằng dữ liệu.</a:t>
            </a:r>
          </a:p>
        </p:txBody>
      </p:sp>
      <p:cxnSp>
        <p:nvCxnSpPr>
          <p:cNvPr id="18" name="Connector 17"/>
          <p:cNvCxnSpPr/>
          <p:nvPr/>
        </p:nvCxnSpPr>
        <p:spPr>
          <a:xfrm>
            <a:off x="4233672"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6094476"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Phạm vi</a:t>
            </a:r>
          </a:p>
        </p:txBody>
      </p:sp>
      <p:sp>
        <p:nvSpPr>
          <p:cNvPr id="20" name="TextBox 19"/>
          <p:cNvSpPr txBox="1"/>
          <p:nvPr/>
        </p:nvSpPr>
        <p:spPr>
          <a:xfrm>
            <a:off x="6204204"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Nghiên cứu cái gì, lấy dữ liệu từ ai, ở đâu, khi nào.</a:t>
            </a:r>
          </a:p>
        </p:txBody>
      </p:sp>
      <p:cxnSp>
        <p:nvCxnSpPr>
          <p:cNvPr id="21" name="Connector 20"/>
          <p:cNvCxnSpPr/>
          <p:nvPr/>
        </p:nvCxnSpPr>
        <p:spPr>
          <a:xfrm>
            <a:off x="6112764"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73568"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Phương pháp</a:t>
            </a:r>
          </a:p>
        </p:txBody>
      </p:sp>
      <p:sp>
        <p:nvSpPr>
          <p:cNvPr id="23" name="TextBox 22"/>
          <p:cNvSpPr txBox="1"/>
          <p:nvPr/>
        </p:nvSpPr>
        <p:spPr>
          <a:xfrm>
            <a:off x="8083296"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Con đường trả lời từng câu hỏi.</a:t>
            </a:r>
          </a:p>
        </p:txBody>
      </p:sp>
      <p:cxnSp>
        <p:nvCxnSpPr>
          <p:cNvPr id="24" name="Connector 23"/>
          <p:cNvCxnSpPr/>
          <p:nvPr/>
        </p:nvCxnSpPr>
        <p:spPr>
          <a:xfrm>
            <a:off x="7991856"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5" name="Chevron 24"/>
          <p:cNvSpPr/>
          <p:nvPr/>
        </p:nvSpPr>
        <p:spPr>
          <a:xfrm>
            <a:off x="9852660"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Ý nghĩa và kết cấu</a:t>
            </a:r>
          </a:p>
        </p:txBody>
      </p:sp>
      <p:sp>
        <p:nvSpPr>
          <p:cNvPr id="26" name="TextBox 25"/>
          <p:cNvSpPr txBox="1"/>
          <p:nvPr/>
        </p:nvSpPr>
        <p:spPr>
          <a:xfrm>
            <a:off x="9962388"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Ai được lợi; chương nào trả lời câu hỏi nào.</a:t>
            </a:r>
          </a:p>
        </p:txBody>
      </p:sp>
      <p:cxnSp>
        <p:nvCxnSpPr>
          <p:cNvPr id="27" name="Connector 26"/>
          <p:cNvCxnSpPr/>
          <p:nvPr/>
        </p:nvCxnSpPr>
        <p:spPr>
          <a:xfrm>
            <a:off x="9870948"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 SÁU MỐI NỐI</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Sáu mối nối giữa các mục là cách tự kiểm tra phần mở đầu trước khi đưa cho giảng viên hướng dẫn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Chỉ cần một mối nối hở là người đọc thấy phần mở đầu rời rạc, dù từng mục riêng lẻ viết đúng.</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C (Sáu mối nối để tự kiểm tra) và Hình 1-5</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19</a:t>
            </a:r>
          </a:p>
        </p:txBody>
      </p:sp>
      <p:graphicFrame>
        <p:nvGraphicFramePr>
          <p:cNvPr id="11" name="Table 10"/>
          <p:cNvGraphicFramePr>
            <a:graphicFrameLocks noGrp="1"/>
          </p:cNvGraphicFramePr>
          <p:nvPr/>
        </p:nvGraphicFramePr>
        <p:xfrm>
          <a:off x="457200" y="1783080"/>
          <a:ext cx="11274551" cy="3483864"/>
        </p:xfrm>
        <a:graphic>
          <a:graphicData uri="http://schemas.openxmlformats.org/drawingml/2006/table">
            <a:tbl>
              <a:tblPr firstRow="1" bandRow="1">
                <a:tableStyleId>{5C22544A-7EE6-4342-B048-85BDC9FD1C3A}</a:tableStyleId>
              </a:tblPr>
              <a:tblGrid>
                <a:gridCol w="3829093"/>
                <a:gridCol w="7445458"/>
              </a:tblGrid>
              <a:tr h="411480">
                <a:tc>
                  <a:txBody>
                    <a:bodyPr wrap="square"/>
                    <a:lstStyle/>
                    <a:p>
                      <a:pPr algn="l"/>
                      <a:r>
                        <a:rPr sz="1250" b="1">
                          <a:solidFill>
                            <a:srgbClr val="FFFFFF"/>
                          </a:solidFill>
                          <a:latin typeface="Arial"/>
                        </a:rPr>
                        <a:t>Mối nối</a:t>
                      </a:r>
                    </a:p>
                  </a:txBody>
                  <a:tcPr marL="73152" marR="73152" marT="27432" marB="27432" anchor="ctr">
                    <a:solidFill>
                      <a:srgbClr val="262626"/>
                    </a:solidFill>
                  </a:tcPr>
                </a:tc>
                <a:tc>
                  <a:txBody>
                    <a:bodyPr wrap="square"/>
                    <a:lstStyle/>
                    <a:p>
                      <a:pPr algn="l"/>
                      <a:r>
                        <a:rPr sz="1250" b="1">
                          <a:solidFill>
                            <a:srgbClr val="FFFFFF"/>
                          </a:solidFill>
                          <a:latin typeface="Arial"/>
                        </a:rPr>
                        <a:t>Câu hỏi tự kiểm tra</a:t>
                      </a:r>
                    </a:p>
                  </a:txBody>
                  <a:tcPr marL="73152" marR="73152" marT="27432" marB="27432" anchor="ctr">
                    <a:solidFill>
                      <a:srgbClr val="262626"/>
                    </a:solidFill>
                  </a:tcPr>
                </a:tc>
              </a:tr>
              <a:tr h="512064">
                <a:tc>
                  <a:txBody>
                    <a:bodyPr wrap="square"/>
                    <a:lstStyle/>
                    <a:p>
                      <a:pPr algn="l"/>
                      <a:r>
                        <a:rPr sz="1250" b="0">
                          <a:solidFill>
                            <a:srgbClr val="262626"/>
                          </a:solidFill>
                          <a:latin typeface="Arial"/>
                        </a:rPr>
                        <a:t>(1) Lý do chọn đề tài và Mục tiêu</a:t>
                      </a:r>
                    </a:p>
                  </a:txBody>
                  <a:tcPr marL="73152" marR="73152" marT="27432" marB="27432" anchor="ctr">
                    <a:solidFill>
                      <a:srgbClr val="FFFFFF"/>
                    </a:solidFill>
                  </a:tcPr>
                </a:tc>
                <a:tc>
                  <a:txBody>
                    <a:bodyPr wrap="square"/>
                    <a:lstStyle/>
                    <a:p>
                      <a:pPr algn="l"/>
                      <a:r>
                        <a:rPr sz="1250" b="0">
                          <a:solidFill>
                            <a:srgbClr val="262626"/>
                          </a:solidFill>
                          <a:latin typeface="Arial"/>
                        </a:rPr>
                        <a:t>Mục tiêu tổng quát có giải quyết đúng vấn đề đã nêu trong câu nêu vấn đề không?</a:t>
                      </a:r>
                    </a:p>
                  </a:txBody>
                  <a:tcPr marL="73152" marR="73152" marT="27432" marB="27432" anchor="ctr">
                    <a:solidFill>
                      <a:srgbClr val="FFFFFF"/>
                    </a:solidFill>
                  </a:tcPr>
                </a:tc>
              </a:tr>
              <a:tr h="512064">
                <a:tc>
                  <a:txBody>
                    <a:bodyPr wrap="square"/>
                    <a:lstStyle/>
                    <a:p>
                      <a:pPr algn="l"/>
                      <a:r>
                        <a:rPr sz="1250" b="0">
                          <a:solidFill>
                            <a:srgbClr val="262626"/>
                          </a:solidFill>
                          <a:latin typeface="Arial"/>
                        </a:rPr>
                        <a:t>(2) Mục tiêu và Câu hỏi</a:t>
                      </a:r>
                    </a:p>
                  </a:txBody>
                  <a:tcPr marL="73152" marR="73152" marT="27432" marB="27432" anchor="ctr">
                    <a:solidFill>
                      <a:srgbClr val="F3F3F3"/>
                    </a:solidFill>
                  </a:tcPr>
                </a:tc>
                <a:tc>
                  <a:txBody>
                    <a:bodyPr wrap="square"/>
                    <a:lstStyle/>
                    <a:p>
                      <a:pPr algn="l"/>
                      <a:r>
                        <a:rPr sz="1250" b="0">
                          <a:solidFill>
                            <a:srgbClr val="262626"/>
                          </a:solidFill>
                          <a:latin typeface="Arial"/>
                        </a:rPr>
                        <a:t>Mỗi mục tiêu cụ thể có đúng một câu hỏi không? Tên biến ở hai mục có giống nhau không?</a:t>
                      </a:r>
                    </a:p>
                  </a:txBody>
                  <a:tcPr marL="73152" marR="73152" marT="27432" marB="27432" anchor="ctr">
                    <a:solidFill>
                      <a:srgbClr val="F3F3F3"/>
                    </a:solidFill>
                  </a:tcPr>
                </a:tc>
              </a:tr>
              <a:tr h="512064">
                <a:tc>
                  <a:txBody>
                    <a:bodyPr wrap="square"/>
                    <a:lstStyle/>
                    <a:p>
                      <a:pPr algn="l"/>
                      <a:r>
                        <a:rPr sz="1250" b="0">
                          <a:solidFill>
                            <a:srgbClr val="262626"/>
                          </a:solidFill>
                          <a:latin typeface="Arial"/>
                        </a:rPr>
                        <a:t>(3) Câu hỏi và Đối tượng, phạm vi</a:t>
                      </a:r>
                    </a:p>
                  </a:txBody>
                  <a:tcPr marL="73152" marR="73152" marT="27432" marB="27432" anchor="ctr">
                    <a:solidFill>
                      <a:srgbClr val="FFFFFF"/>
                    </a:solidFill>
                  </a:tcPr>
                </a:tc>
                <a:tc>
                  <a:txBody>
                    <a:bodyPr wrap="square"/>
                    <a:lstStyle/>
                    <a:p>
                      <a:pPr algn="l"/>
                      <a:r>
                        <a:rPr sz="1250" b="0">
                          <a:solidFill>
                            <a:srgbClr val="262626"/>
                          </a:solidFill>
                          <a:latin typeface="Arial"/>
                        </a:rPr>
                        <a:t>Mọi câu hỏi có nằm trong phạm vi không? Người được khảo sát có trả lời được câu hỏi không?</a:t>
                      </a:r>
                    </a:p>
                  </a:txBody>
                  <a:tcPr marL="73152" marR="73152" marT="27432" marB="27432" anchor="ctr">
                    <a:solidFill>
                      <a:srgbClr val="FFFFFF"/>
                    </a:solidFill>
                  </a:tcPr>
                </a:tc>
              </a:tr>
              <a:tr h="512064">
                <a:tc>
                  <a:txBody>
                    <a:bodyPr wrap="square"/>
                    <a:lstStyle/>
                    <a:p>
                      <a:pPr algn="l"/>
                      <a:r>
                        <a:rPr sz="1250" b="0">
                          <a:solidFill>
                            <a:srgbClr val="262626"/>
                          </a:solidFill>
                          <a:latin typeface="Arial"/>
                        </a:rPr>
                        <a:t>(4) Câu hỏi và Phương pháp</a:t>
                      </a:r>
                    </a:p>
                  </a:txBody>
                  <a:tcPr marL="73152" marR="73152" marT="27432" marB="27432" anchor="ctr">
                    <a:solidFill>
                      <a:srgbClr val="F3F3F3"/>
                    </a:solidFill>
                  </a:tcPr>
                </a:tc>
                <a:tc>
                  <a:txBody>
                    <a:bodyPr wrap="square"/>
                    <a:lstStyle/>
                    <a:p>
                      <a:pPr algn="l"/>
                      <a:r>
                        <a:rPr sz="1250" b="0">
                          <a:solidFill>
                            <a:srgbClr val="262626"/>
                          </a:solidFill>
                          <a:latin typeface="Arial"/>
                        </a:rPr>
                        <a:t>Mỗi câu hỏi có phương pháp và dữ liệu để trả lời không?</a:t>
                      </a:r>
                    </a:p>
                  </a:txBody>
                  <a:tcPr marL="73152" marR="73152" marT="27432" marB="27432" anchor="ctr">
                    <a:solidFill>
                      <a:srgbClr val="F3F3F3"/>
                    </a:solidFill>
                  </a:tcPr>
                </a:tc>
              </a:tr>
              <a:tr h="512064">
                <a:tc>
                  <a:txBody>
                    <a:bodyPr wrap="square"/>
                    <a:lstStyle/>
                    <a:p>
                      <a:pPr algn="l"/>
                      <a:r>
                        <a:rPr sz="1250" b="0">
                          <a:solidFill>
                            <a:srgbClr val="262626"/>
                          </a:solidFill>
                          <a:latin typeface="Arial"/>
                        </a:rPr>
                        <a:t>(5) Mục tiêu và Ý nghĩa</a:t>
                      </a:r>
                    </a:p>
                  </a:txBody>
                  <a:tcPr marL="73152" marR="73152" marT="27432" marB="27432" anchor="ctr">
                    <a:solidFill>
                      <a:srgbClr val="FFFFFF"/>
                    </a:solidFill>
                  </a:tcPr>
                </a:tc>
                <a:tc>
                  <a:txBody>
                    <a:bodyPr wrap="square"/>
                    <a:lstStyle/>
                    <a:p>
                      <a:pPr algn="l"/>
                      <a:r>
                        <a:rPr sz="1250" b="0">
                          <a:solidFill>
                            <a:srgbClr val="262626"/>
                          </a:solidFill>
                          <a:latin typeface="Arial"/>
                        </a:rPr>
                        <a:t>Mỗi ý nghĩa có gắn với ít nhất một mục tiêu không?</a:t>
                      </a:r>
                    </a:p>
                  </a:txBody>
                  <a:tcPr marL="73152" marR="73152" marT="27432" marB="27432" anchor="ctr">
                    <a:solidFill>
                      <a:srgbClr val="FFFFFF"/>
                    </a:solidFill>
                  </a:tcPr>
                </a:tc>
              </a:tr>
              <a:tr h="512064">
                <a:tc>
                  <a:txBody>
                    <a:bodyPr wrap="square"/>
                    <a:lstStyle/>
                    <a:p>
                      <a:pPr algn="l"/>
                      <a:r>
                        <a:rPr sz="1250" b="0">
                          <a:solidFill>
                            <a:srgbClr val="262626"/>
                          </a:solidFill>
                          <a:latin typeface="Arial"/>
                        </a:rPr>
                        <a:t>(6) Toàn bộ các mục và Kết cấu</a:t>
                      </a:r>
                    </a:p>
                  </a:txBody>
                  <a:tcPr marL="73152" marR="73152" marT="27432" marB="27432" anchor="ctr">
                    <a:solidFill>
                      <a:srgbClr val="F3F3F3"/>
                    </a:solidFill>
                  </a:tcPr>
                </a:tc>
                <a:tc>
                  <a:txBody>
                    <a:bodyPr wrap="square"/>
                    <a:lstStyle/>
                    <a:p>
                      <a:pPr algn="l"/>
                      <a:r>
                        <a:rPr sz="1250" b="0">
                          <a:solidFill>
                            <a:srgbClr val="262626"/>
                          </a:solidFill>
                          <a:latin typeface="Arial"/>
                        </a:rPr>
                        <a:t>Mục kết cấu có cho thấy chương nào trả lời câu hỏi nào không?</a:t>
                      </a:r>
                    </a:p>
                  </a:txBody>
                  <a:tcPr marL="73152" marR="73152" marT="27432" marB="27432" anchor="ctr">
                    <a:solidFill>
                      <a:srgbClr val="F3F3F3"/>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 LÝ DO CHỌN ĐỀ TÀI</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Lý do chọn đề tài là một lập luận hình phễu, không phải bài giới thiệu ngành</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Thiếu câu "Mặc dù... vẫn... Hệ quả là... Hiện chưa rõ..." thì người đọc không biết nghiên cứu sẽ tìm hiểu điều gì.</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1.1, Hình 1-7 và Hình 1-8; Creswell và Creswell (2018, tr. 164)</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20</a:t>
            </a:r>
          </a:p>
        </p:txBody>
      </p:sp>
      <p:sp>
        <p:nvSpPr>
          <p:cNvPr id="11" name="Rectangle 10"/>
          <p:cNvSpPr/>
          <p:nvPr/>
        </p:nvSpPr>
        <p:spPr>
          <a:xfrm>
            <a:off x="402336" y="2130171"/>
            <a:ext cx="6144768" cy="314629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6_new.png"/>
          <p:cNvPicPr>
            <a:picLocks noChangeAspect="1"/>
          </p:cNvPicPr>
          <p:nvPr/>
        </p:nvPicPr>
        <p:blipFill>
          <a:blip r:embed="rId2"/>
          <a:stretch>
            <a:fillRect/>
          </a:stretch>
        </p:blipFill>
        <p:spPr>
          <a:xfrm>
            <a:off x="457200" y="2185035"/>
            <a:ext cx="6035040" cy="3036570"/>
          </a:xfrm>
          <a:prstGeom prst="rect">
            <a:avLst/>
          </a:prstGeom>
        </p:spPr>
      </p:pic>
      <p:sp>
        <p:nvSpPr>
          <p:cNvPr id="13" name="TextBox 12"/>
          <p:cNvSpPr txBox="1"/>
          <p:nvPr/>
        </p:nvSpPr>
        <p:spPr>
          <a:xfrm>
            <a:off x="6812279" y="1783080"/>
            <a:ext cx="4919472" cy="274320"/>
          </a:xfrm>
          <a:prstGeom prst="rect">
            <a:avLst/>
          </a:prstGeom>
          <a:noFill/>
        </p:spPr>
        <p:txBody>
          <a:bodyPr wrap="square" lIns="45720" rIns="45720" tIns="27432" bIns="27432" anchor="t">
            <a:spAutoFit/>
          </a:bodyPr>
          <a:lstStyle/>
          <a:p>
            <a:pPr algn="l"/>
            <a:r>
              <a:rPr sz="1000" b="1" i="0">
                <a:solidFill>
                  <a:srgbClr val="CC0000"/>
                </a:solidFill>
                <a:latin typeface="Arial"/>
              </a:rPr>
              <a:t>BỐN ĐOẠN THEO BỐN TẦNG PHỄU</a:t>
            </a:r>
          </a:p>
        </p:txBody>
      </p:sp>
      <p:cxnSp>
        <p:nvCxnSpPr>
          <p:cNvPr id="14" name="Connector 13"/>
          <p:cNvCxnSpPr/>
          <p:nvPr/>
        </p:nvCxnSpPr>
        <p:spPr>
          <a:xfrm>
            <a:off x="6812279" y="2103120"/>
            <a:ext cx="4919473"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812279"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223759" y="219456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Đoạn bối cảnh:</a:t>
            </a:r>
            <a:r>
              <a:rPr sz="1350" b="0" i="0">
                <a:solidFill>
                  <a:srgbClr val="58595B"/>
                </a:solidFill>
                <a:latin typeface="Arial"/>
              </a:rPr>
              <a:t> xu hướng hoặc chính sách, một đến hai số liệu có nguồn; đi từ quốc gia, ngành về tổ chức.</a:t>
            </a:r>
          </a:p>
        </p:txBody>
      </p:sp>
      <p:sp>
        <p:nvSpPr>
          <p:cNvPr id="17" name="Oval 16"/>
          <p:cNvSpPr/>
          <p:nvPr/>
        </p:nvSpPr>
        <p:spPr>
          <a:xfrm>
            <a:off x="6812279"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223759" y="305181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Đoạn vấn đề:</a:t>
            </a:r>
            <a:r>
              <a:rPr sz="1350" b="0" i="0">
                <a:solidFill>
                  <a:srgbClr val="58595B"/>
                </a:solidFill>
                <a:latin typeface="Arial"/>
              </a:rPr>
              <a:t> "Mặc dù [điều đã làm], [đối tượng] vẫn [điều đang xảy ra, có số liệu]. Hệ quả là [ảnh hưởng]. Hiện chưa rõ [điều cần giải thích]."</a:t>
            </a:r>
          </a:p>
        </p:txBody>
      </p:sp>
      <p:sp>
        <p:nvSpPr>
          <p:cNvPr id="19" name="Oval 18"/>
          <p:cNvSpPr/>
          <p:nvPr/>
        </p:nvSpPr>
        <p:spPr>
          <a:xfrm>
            <a:off x="6812279"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223759" y="390906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Đoạn khoảng trống</a:t>
            </a:r>
            <a:r>
              <a:rPr sz="1350" b="0" i="0">
                <a:solidFill>
                  <a:srgbClr val="58595B"/>
                </a:solidFill>
                <a:latin typeface="Arial"/>
              </a:rPr>
              <a:t> (nếu khoa yêu cầu): tóm lược nhóm nghiên cứu trước, chỉ ra điều còn thiếu.</a:t>
            </a:r>
          </a:p>
        </p:txBody>
      </p:sp>
      <p:sp>
        <p:nvSpPr>
          <p:cNvPr id="21" name="Oval 20"/>
          <p:cNvSpPr/>
          <p:nvPr/>
        </p:nvSpPr>
        <p:spPr>
          <a:xfrm>
            <a:off x="6812279"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223759" y="476631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Đoạn tuyên bố đề tài:</a:t>
            </a:r>
            <a:r>
              <a:rPr sz="1350" b="0" i="0">
                <a:solidFill>
                  <a:srgbClr val="58595B"/>
                </a:solidFill>
                <a:latin typeface="Arial"/>
              </a:rPr>
              <a:t> nối vấn đề và khoảng trống với tên đề tài.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 CÂU NÊU VẤN ĐỀ</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Câu nêu vấn đề đạt phải có đối tượng, số liệu có nguồn, hệ quả và điều còn chưa rõ</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Người chấm cần biết vấn đề của ai, ở đâu, lớn cỡ nào và điều gì chưa được giải thích.</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1.1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21</a:t>
            </a:r>
          </a:p>
        </p:txBody>
      </p:sp>
      <p:sp>
        <p:nvSpPr>
          <p:cNvPr id="11" name="Rectangle 10"/>
          <p:cNvSpPr/>
          <p:nvPr/>
        </p:nvSpPr>
        <p:spPr>
          <a:xfrm>
            <a:off x="457200" y="1783080"/>
            <a:ext cx="5486400" cy="365760"/>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CHƯA ĐẠT</a:t>
            </a:r>
          </a:p>
        </p:txBody>
      </p:sp>
      <p:sp>
        <p:nvSpPr>
          <p:cNvPr id="12" name="Rectangle 11"/>
          <p:cNvSpPr/>
          <p:nvPr/>
        </p:nvSpPr>
        <p:spPr>
          <a:xfrm>
            <a:off x="457200" y="2148840"/>
            <a:ext cx="5486400" cy="2103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240280"/>
            <a:ext cx="5212080" cy="1920240"/>
          </a:xfrm>
          <a:prstGeom prst="rect">
            <a:avLst/>
          </a:prstGeom>
          <a:noFill/>
        </p:spPr>
        <p:txBody>
          <a:bodyPr wrap="square" lIns="45720" rIns="45720" tIns="27432" bIns="27432" anchor="t">
            <a:spAutoFit/>
          </a:bodyPr>
          <a:lstStyle/>
          <a:p>
            <a:pPr algn="l"/>
            <a:r>
              <a:rPr sz="1250" b="0" i="1">
                <a:solidFill>
                  <a:srgbClr val="58595B"/>
                </a:solidFill>
                <a:latin typeface="Arial"/>
              </a:rPr>
              <a:t>"Ngân hàng số là xu hướng tất yếu nên cần được phát triển."</a:t>
            </a:r>
          </a:p>
        </p:txBody>
      </p:sp>
      <p:sp>
        <p:nvSpPr>
          <p:cNvPr id="14" name="Rectangle 13"/>
          <p:cNvSpPr/>
          <p:nvPr/>
        </p:nvSpPr>
        <p:spPr>
          <a:xfrm>
            <a:off x="6245352" y="1783080"/>
            <a:ext cx="5486400" cy="3657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ĐẠT</a:t>
            </a:r>
          </a:p>
        </p:txBody>
      </p:sp>
      <p:sp>
        <p:nvSpPr>
          <p:cNvPr id="15" name="Rectangle 14"/>
          <p:cNvSpPr/>
          <p:nvPr/>
        </p:nvSpPr>
        <p:spPr>
          <a:xfrm>
            <a:off x="6245352" y="2148840"/>
            <a:ext cx="5486400" cy="2103120"/>
          </a:xfrm>
          <a:prstGeom prst="rect">
            <a:avLst/>
          </a:prstGeom>
          <a:solidFill>
            <a:srgbClr val="FFFFFF"/>
          </a:solidFill>
          <a:ln w="95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2240280"/>
            <a:ext cx="5212080" cy="1920240"/>
          </a:xfrm>
          <a:prstGeom prst="rect">
            <a:avLst/>
          </a:prstGeom>
          <a:noFill/>
        </p:spPr>
        <p:txBody>
          <a:bodyPr wrap="square" lIns="45720" rIns="45720" tIns="27432" bIns="27432" anchor="t">
            <a:spAutoFit/>
          </a:bodyPr>
          <a:lstStyle/>
          <a:p>
            <a:pPr algn="l"/>
            <a:r>
              <a:rPr sz="1250" b="0" i="1">
                <a:solidFill>
                  <a:srgbClr val="262626"/>
                </a:solidFill>
                <a:latin typeface="Arial"/>
              </a:rPr>
              <a:t>"Mặc dù Ngân hàng X đã triển khai ứng dụng ngân hàng số từ năm [năm], [tỷ lệ] khách hàng cá nhân vẫn chưa kích hoạt ứng dụng (Ngân hàng X, [năm]). Hệ quả là số giao dịch tại quầy chưa giảm như kế hoạch. Hiện chưa rõ yếu tố nào ảnh hưởng đến ý định sử dụng của nhóm khách hàng này."</a:t>
            </a:r>
          </a:p>
        </p:txBody>
      </p:sp>
      <p:sp>
        <p:nvSpPr>
          <p:cNvPr id="17" name="TextBox 16"/>
          <p:cNvSpPr txBox="1"/>
          <p:nvPr/>
        </p:nvSpPr>
        <p:spPr>
          <a:xfrm>
            <a:off x="457200" y="4434840"/>
            <a:ext cx="2743200" cy="274320"/>
          </a:xfrm>
          <a:prstGeom prst="rect">
            <a:avLst/>
          </a:prstGeom>
          <a:noFill/>
        </p:spPr>
        <p:txBody>
          <a:bodyPr wrap="square" lIns="45720" rIns="45720" tIns="27432" bIns="27432" anchor="t">
            <a:spAutoFit/>
          </a:bodyPr>
          <a:lstStyle/>
          <a:p>
            <a:pPr algn="l"/>
            <a:r>
              <a:rPr sz="1000" b="1" i="0">
                <a:solidFill>
                  <a:srgbClr val="CC0000"/>
                </a:solidFill>
                <a:latin typeface="Arial"/>
              </a:rPr>
              <a:t>VÌ SAO BẢN CHƯA ĐẠT BỊ TRỪ ĐIỂM</a:t>
            </a:r>
          </a:p>
        </p:txBody>
      </p:sp>
      <p:cxnSp>
        <p:nvCxnSpPr>
          <p:cNvPr id="18" name="Connector 17"/>
          <p:cNvCxnSpPr/>
          <p:nvPr/>
        </p:nvCxnSpPr>
        <p:spPr>
          <a:xfrm>
            <a:off x="457200"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logic.</a:t>
            </a:r>
            <a:r>
              <a:rPr sz="1200" b="0" i="0">
                <a:solidFill>
                  <a:srgbClr val="58595B"/>
                </a:solidFill>
                <a:latin typeface="Arial"/>
              </a:rPr>
              <a:t> Đi thẳng từ nhận định chung đến "cần được phát triển"; không nói vấn đề của ai, ở đâu, điều gì chưa rõ.</a:t>
            </a:r>
          </a:p>
        </p:txBody>
      </p:sp>
      <p:cxnSp>
        <p:nvCxnSpPr>
          <p:cNvPr id="20" name="Connector 19"/>
          <p:cNvCxnSpPr/>
          <p:nvPr/>
        </p:nvCxnSpPr>
        <p:spPr>
          <a:xfrm>
            <a:off x="4306824"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06824"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bằng chứng.</a:t>
            </a:r>
            <a:r>
              <a:rPr sz="1200" b="0" i="0">
                <a:solidFill>
                  <a:srgbClr val="58595B"/>
                </a:solidFill>
                <a:latin typeface="Arial"/>
              </a:rPr>
              <a:t> Không có số liệu, không có nguồn; "xu hướng tất yếu" là khẳng định không kiểm chứng được.</a:t>
            </a:r>
          </a:p>
        </p:txBody>
      </p:sp>
      <p:cxnSp>
        <p:nvCxnSpPr>
          <p:cNvPr id="22" name="Connector 21"/>
          <p:cNvCxnSpPr/>
          <p:nvPr/>
        </p:nvCxnSpPr>
        <p:spPr>
          <a:xfrm>
            <a:off x="8156448"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156448"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văn phong.</a:t>
            </a:r>
            <a:r>
              <a:rPr sz="1200" b="0" i="0">
                <a:solidFill>
                  <a:srgbClr val="58595B"/>
                </a:solidFill>
                <a:latin typeface="Arial"/>
              </a:rPr>
              <a:t> "Tất yếu", "cần được phát triển" mang tính khẩu hiệu, không phải cách viết khách quan.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 MỤC TIÊU VÀ CÂU HỎI</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mục tiêu cụ thể bắt đầu bằng một động từ hành động và ghép đúng một câu hỏi</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Làm xong tất cả mục tiêu cụ thể thì mục tiêu tổng quát phải đạt được; số câu hỏi bằng số mục tiêu cụ thể.</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1.2 và Mục 1.3; Creswell và Creswell (2018, tr. 184)</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22</a:t>
            </a:r>
          </a:p>
        </p:txBody>
      </p:sp>
      <p:graphicFrame>
        <p:nvGraphicFramePr>
          <p:cNvPr id="11" name="Table 10"/>
          <p:cNvGraphicFramePr>
            <a:graphicFrameLocks noGrp="1"/>
          </p:cNvGraphicFramePr>
          <p:nvPr/>
        </p:nvGraphicFramePr>
        <p:xfrm>
          <a:off x="457200" y="1783080"/>
          <a:ext cx="8412478" cy="3017520"/>
        </p:xfrm>
        <a:graphic>
          <a:graphicData uri="http://schemas.openxmlformats.org/drawingml/2006/table">
            <a:tbl>
              <a:tblPr firstRow="1" bandRow="1">
                <a:tableStyleId>{5C22544A-7EE6-4342-B048-85BDC9FD1C3A}</a:tableStyleId>
              </a:tblPr>
              <a:tblGrid>
                <a:gridCol w="3333246"/>
                <a:gridCol w="1745986"/>
                <a:gridCol w="3333246"/>
              </a:tblGrid>
              <a:tr h="411480">
                <a:tc>
                  <a:txBody>
                    <a:bodyPr wrap="square"/>
                    <a:lstStyle/>
                    <a:p>
                      <a:pPr algn="l"/>
                      <a:r>
                        <a:rPr sz="1200" b="1">
                          <a:solidFill>
                            <a:srgbClr val="FFFFFF"/>
                          </a:solidFill>
                          <a:latin typeface="Arial"/>
                        </a:rPr>
                        <a:t>Mục tiêu cụ thể (động từ + biến + đối tượng + bối cảnh)</a:t>
                      </a:r>
                    </a:p>
                  </a:txBody>
                  <a:tcPr marL="73152" marR="73152" marT="27432" marB="27432" anchor="ctr">
                    <a:solidFill>
                      <a:srgbClr val="262626"/>
                    </a:solidFill>
                  </a:tcPr>
                </a:tc>
                <a:tc>
                  <a:txBody>
                    <a:bodyPr wrap="square"/>
                    <a:lstStyle/>
                    <a:p>
                      <a:pPr algn="l"/>
                      <a:r>
                        <a:rPr sz="1200" b="1">
                          <a:solidFill>
                            <a:srgbClr val="FFFFFF"/>
                          </a:solidFill>
                          <a:latin typeface="Arial"/>
                        </a:rPr>
                        <a:t>Đổi động từ thành từ để hỏi</a:t>
                      </a:r>
                    </a:p>
                  </a:txBody>
                  <a:tcPr marL="73152" marR="73152" marT="27432" marB="27432" anchor="ctr">
                    <a:solidFill>
                      <a:srgbClr val="262626"/>
                    </a:solidFill>
                  </a:tcPr>
                </a:tc>
                <a:tc>
                  <a:txBody>
                    <a:bodyPr wrap="square"/>
                    <a:lstStyle/>
                    <a:p>
                      <a:pPr algn="l"/>
                      <a:r>
                        <a:rPr sz="1200" b="1">
                          <a:solidFill>
                            <a:srgbClr val="FFFFFF"/>
                          </a:solidFill>
                          <a:latin typeface="Arial"/>
                        </a:rPr>
                        <a:t>Câu hỏi nghiên cứu</a:t>
                      </a:r>
                    </a:p>
                  </a:txBody>
                  <a:tcPr marL="73152" marR="73152" marT="27432" marB="27432" anchor="ctr">
                    <a:solidFill>
                      <a:srgbClr val="262626"/>
                    </a:solidFill>
                  </a:tcPr>
                </a:tc>
              </a:tr>
              <a:tr h="868680">
                <a:tc>
                  <a:txBody>
                    <a:bodyPr wrap="square"/>
                    <a:lstStyle/>
                    <a:p>
                      <a:pPr algn="l"/>
                      <a:r>
                        <a:rPr sz="1200" b="0">
                          <a:solidFill>
                            <a:srgbClr val="262626"/>
                          </a:solidFill>
                          <a:latin typeface="Arial"/>
                        </a:rPr>
                        <a:t>(1) </a:t>
                      </a:r>
                      <a:r>
                        <a:rPr sz="1200" b="1">
                          <a:solidFill>
                            <a:srgbClr val="262626"/>
                          </a:solidFill>
                          <a:latin typeface="Arial"/>
                        </a:rPr>
                        <a:t>Xác định</a:t>
                      </a:r>
                      <a:r>
                        <a:rPr sz="1200" b="0">
                          <a:solidFill>
                            <a:srgbClr val="262626"/>
                          </a:solidFill>
                          <a:latin typeface="Arial"/>
                        </a:rPr>
                        <a:t> các yếu tố ảnh hưởng đến ý định sử dụng dịch vụ ngân hàng số của khách hàng cá nhân tại Ngân hàng X</a:t>
                      </a:r>
                    </a:p>
                  </a:txBody>
                  <a:tcPr marL="73152" marR="73152" marT="27432" marB="27432" anchor="ctr">
                    <a:solidFill>
                      <a:srgbClr val="FFFFFF"/>
                    </a:solidFill>
                  </a:tcPr>
                </a:tc>
                <a:tc>
                  <a:txBody>
                    <a:bodyPr wrap="square"/>
                    <a:lstStyle/>
                    <a:p>
                      <a:pPr algn="l"/>
                      <a:r>
                        <a:rPr sz="1200" b="0">
                          <a:solidFill>
                            <a:srgbClr val="262626"/>
                          </a:solidFill>
                          <a:latin typeface="Arial"/>
                        </a:rPr>
                        <a:t>"xác định" thành "những yếu tố nào"</a:t>
                      </a:r>
                    </a:p>
                  </a:txBody>
                  <a:tcPr marL="73152" marR="73152" marT="27432" marB="27432" anchor="ctr">
                    <a:solidFill>
                      <a:srgbClr val="FFFFFF"/>
                    </a:solidFill>
                  </a:tcPr>
                </a:tc>
                <a:tc>
                  <a:txBody>
                    <a:bodyPr wrap="square"/>
                    <a:lstStyle/>
                    <a:p>
                      <a:pPr algn="l"/>
                      <a:r>
                        <a:rPr sz="1200" b="0">
                          <a:solidFill>
                            <a:srgbClr val="262626"/>
                          </a:solidFill>
                          <a:latin typeface="Arial"/>
                        </a:rPr>
                        <a:t>(1) Những yếu tố nào ảnh hưởng đến ý định sử dụng dịch vụ ngân hàng số của khách hàng cá nhân tại Ngân hàng X?</a:t>
                      </a:r>
                    </a:p>
                  </a:txBody>
                  <a:tcPr marL="73152" marR="73152" marT="27432" marB="27432" anchor="ctr">
                    <a:solidFill>
                      <a:srgbClr val="FFFFFF"/>
                    </a:solidFill>
                  </a:tcPr>
                </a:tc>
              </a:tr>
              <a:tr h="868680">
                <a:tc>
                  <a:txBody>
                    <a:bodyPr wrap="square"/>
                    <a:lstStyle/>
                    <a:p>
                      <a:pPr algn="l"/>
                      <a:r>
                        <a:rPr sz="1200" b="0">
                          <a:solidFill>
                            <a:srgbClr val="262626"/>
                          </a:solidFill>
                          <a:latin typeface="Arial"/>
                        </a:rPr>
                        <a:t>(2) </a:t>
                      </a:r>
                      <a:r>
                        <a:rPr sz="1200" b="1">
                          <a:solidFill>
                            <a:srgbClr val="262626"/>
                          </a:solidFill>
                          <a:latin typeface="Arial"/>
                        </a:rPr>
                        <a:t>Đo lường</a:t>
                      </a:r>
                      <a:r>
                        <a:rPr sz="1200" b="0">
                          <a:solidFill>
                            <a:srgbClr val="262626"/>
                          </a:solidFill>
                          <a:latin typeface="Arial"/>
                        </a:rPr>
                        <a:t> mức độ ảnh hưởng của từng yếu tố</a:t>
                      </a:r>
                    </a:p>
                  </a:txBody>
                  <a:tcPr marL="73152" marR="73152" marT="27432" marB="27432" anchor="ctr">
                    <a:solidFill>
                      <a:srgbClr val="F3F3F3"/>
                    </a:solidFill>
                  </a:tcPr>
                </a:tc>
                <a:tc>
                  <a:txBody>
                    <a:bodyPr wrap="square"/>
                    <a:lstStyle/>
                    <a:p>
                      <a:pPr algn="l"/>
                      <a:r>
                        <a:rPr sz="1200" b="0">
                          <a:solidFill>
                            <a:srgbClr val="262626"/>
                          </a:solidFill>
                          <a:latin typeface="Arial"/>
                        </a:rPr>
                        <a:t>"đo lường" thành "mức độ... như thế nào"</a:t>
                      </a:r>
                    </a:p>
                  </a:txBody>
                  <a:tcPr marL="73152" marR="73152" marT="27432" marB="27432" anchor="ctr">
                    <a:solidFill>
                      <a:srgbClr val="F3F3F3"/>
                    </a:solidFill>
                  </a:tcPr>
                </a:tc>
                <a:tc>
                  <a:txBody>
                    <a:bodyPr wrap="square"/>
                    <a:lstStyle/>
                    <a:p>
                      <a:pPr algn="l"/>
                      <a:r>
                        <a:rPr sz="1200" b="0">
                          <a:solidFill>
                            <a:srgbClr val="262626"/>
                          </a:solidFill>
                          <a:latin typeface="Arial"/>
                        </a:rPr>
                        <a:t>(2) Mức độ ảnh hưởng của từng yếu tố như thế nào?</a:t>
                      </a:r>
                    </a:p>
                  </a:txBody>
                  <a:tcPr marL="73152" marR="73152" marT="27432" marB="27432" anchor="ctr">
                    <a:solidFill>
                      <a:srgbClr val="F3F3F3"/>
                    </a:solidFill>
                  </a:tcPr>
                </a:tc>
              </a:tr>
              <a:tr h="868680">
                <a:tc>
                  <a:txBody>
                    <a:bodyPr wrap="square"/>
                    <a:lstStyle/>
                    <a:p>
                      <a:pPr algn="l"/>
                      <a:r>
                        <a:rPr sz="1200" b="0">
                          <a:solidFill>
                            <a:srgbClr val="262626"/>
                          </a:solidFill>
                          <a:latin typeface="Arial"/>
                        </a:rPr>
                        <a:t>(3) </a:t>
                      </a:r>
                      <a:r>
                        <a:rPr sz="1200" b="1">
                          <a:solidFill>
                            <a:srgbClr val="262626"/>
                          </a:solidFill>
                          <a:latin typeface="Arial"/>
                        </a:rPr>
                        <a:t>Đề xuất</a:t>
                      </a:r>
                      <a:r>
                        <a:rPr sz="1200" b="0">
                          <a:solidFill>
                            <a:srgbClr val="262626"/>
                          </a:solidFill>
                          <a:latin typeface="Arial"/>
                        </a:rPr>
                        <a:t> hàm ý quản trị giúp Ngân hàng X tăng tỷ lệ khách hàng sử dụng dịch vụ</a:t>
                      </a:r>
                    </a:p>
                  </a:txBody>
                  <a:tcPr marL="73152" marR="73152" marT="27432" marB="27432" anchor="ctr">
                    <a:solidFill>
                      <a:srgbClr val="FFFFFF"/>
                    </a:solidFill>
                  </a:tcPr>
                </a:tc>
                <a:tc>
                  <a:txBody>
                    <a:bodyPr wrap="square"/>
                    <a:lstStyle/>
                    <a:p>
                      <a:pPr algn="l"/>
                      <a:r>
                        <a:rPr sz="1200" b="0">
                          <a:solidFill>
                            <a:srgbClr val="262626"/>
                          </a:solidFill>
                          <a:latin typeface="Arial"/>
                        </a:rPr>
                        <a:t>"đề xuất" thành "những hàm ý nào"</a:t>
                      </a:r>
                    </a:p>
                  </a:txBody>
                  <a:tcPr marL="73152" marR="73152" marT="27432" marB="27432" anchor="ctr">
                    <a:solidFill>
                      <a:srgbClr val="FFFFFF"/>
                    </a:solidFill>
                  </a:tcPr>
                </a:tc>
                <a:tc>
                  <a:txBody>
                    <a:bodyPr wrap="square"/>
                    <a:lstStyle/>
                    <a:p>
                      <a:pPr algn="l"/>
                      <a:r>
                        <a:rPr sz="1200" b="0">
                          <a:solidFill>
                            <a:srgbClr val="262626"/>
                          </a:solidFill>
                          <a:latin typeface="Arial"/>
                        </a:rPr>
                        <a:t>(3) Những hàm ý quản trị nào giúp Ngân hàng X tăng tỷ lệ khách hàng sử dụng dịch vụ?</a:t>
                      </a:r>
                    </a:p>
                  </a:txBody>
                  <a:tcPr marL="73152" marR="73152" marT="27432" marB="27432" anchor="ctr">
                    <a:solidFill>
                      <a:srgbClr val="FFFFFF"/>
                    </a:solidFill>
                  </a:tcPr>
                </a:tc>
              </a:tr>
            </a:tbl>
          </a:graphicData>
        </a:graphic>
      </p:graphicFrame>
      <p:sp>
        <p:nvSpPr>
          <p:cNvPr id="12" name="TextBox 11"/>
          <p:cNvSpPr txBox="1"/>
          <p:nvPr/>
        </p:nvSpPr>
        <p:spPr>
          <a:xfrm>
            <a:off x="9144000" y="1783080"/>
            <a:ext cx="2587752" cy="274320"/>
          </a:xfrm>
          <a:prstGeom prst="rect">
            <a:avLst/>
          </a:prstGeom>
          <a:noFill/>
        </p:spPr>
        <p:txBody>
          <a:bodyPr wrap="square" lIns="45720" rIns="45720" tIns="27432" bIns="27432" anchor="t">
            <a:spAutoFit/>
          </a:bodyPr>
          <a:lstStyle/>
          <a:p>
            <a:pPr algn="l"/>
            <a:r>
              <a:rPr sz="1000" b="1" i="0">
                <a:solidFill>
                  <a:srgbClr val="CC0000"/>
                </a:solidFill>
                <a:latin typeface="Arial"/>
              </a:rPr>
              <a:t>ĐỘNG TỪ HÀNH ĐỘNG</a:t>
            </a:r>
          </a:p>
        </p:txBody>
      </p:sp>
      <p:cxnSp>
        <p:nvCxnSpPr>
          <p:cNvPr id="13" name="Connector 12"/>
          <p:cNvCxnSpPr/>
          <p:nvPr/>
        </p:nvCxnSpPr>
        <p:spPr>
          <a:xfrm>
            <a:off x="9144000" y="2103120"/>
            <a:ext cx="25877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0" y="2167128"/>
            <a:ext cx="2587752" cy="3383280"/>
          </a:xfrm>
          <a:prstGeom prst="rect">
            <a:avLst/>
          </a:prstGeom>
          <a:noFill/>
        </p:spPr>
        <p:txBody>
          <a:bodyPr wrap="square" lIns="45720" rIns="45720" tIns="27432" bIns="27432" anchor="t">
            <a:spAutoFit/>
          </a:bodyPr>
          <a:lstStyle/>
          <a:p>
            <a:pPr algn="l"/>
            <a:r>
              <a:rPr sz="1250" b="1" i="0">
                <a:solidFill>
                  <a:srgbClr val="58595B"/>
                </a:solidFill>
                <a:latin typeface="Arial"/>
              </a:rPr>
              <a:t>Nên dùng:</a:t>
            </a:r>
            <a:r>
              <a:rPr sz="1250" b="0" i="0">
                <a:solidFill>
                  <a:srgbClr val="58595B"/>
                </a:solidFill>
                <a:latin typeface="Arial"/>
              </a:rPr>
              <a:t> xác định, đo lường, kiểm định, so sánh, đánh giá, phân tích, đề xuất.</a:t>
            </a:r>
          </a:p>
          <a:p>
            <a:pPr algn="l">
              <a:spcBef>
                <a:spcPts val="562"/>
              </a:spcBef>
            </a:pPr>
          </a:p>
          <a:p>
            <a:pPr algn="l">
              <a:spcBef>
                <a:spcPts val="562"/>
              </a:spcBef>
            </a:pPr>
            <a:r>
              <a:rPr sz="1250" b="1" i="0">
                <a:solidFill>
                  <a:srgbClr val="58595B"/>
                </a:solidFill>
                <a:latin typeface="Arial"/>
              </a:rPr>
              <a:t>Nên tránh:</a:t>
            </a:r>
            <a:r>
              <a:rPr sz="1250" b="0" i="0">
                <a:solidFill>
                  <a:srgbClr val="58595B"/>
                </a:solidFill>
                <a:latin typeface="Arial"/>
              </a:rPr>
              <a:t> "nghiên cứu về" (không nói làm gì); "nâng cao", "hoàn thiện", "góp phần" (không đo được, là việc của tổ chức).</a:t>
            </a:r>
          </a:p>
          <a:p>
            <a:pPr algn="l">
              <a:spcBef>
                <a:spcPts val="562"/>
              </a:spcBef>
            </a:pPr>
          </a:p>
          <a:p>
            <a:pPr algn="l">
              <a:spcBef>
                <a:spcPts val="562"/>
              </a:spcBef>
            </a:pPr>
            <a:r>
              <a:rPr sz="1250" b="1" i="0">
                <a:solidFill>
                  <a:srgbClr val="58595B"/>
                </a:solidFill>
                <a:latin typeface="Arial"/>
              </a:rPr>
              <a:t>Đủ khi:</a:t>
            </a:r>
            <a:r>
              <a:rPr sz="1250" b="0" i="0">
                <a:solidFill>
                  <a:srgbClr val="58595B"/>
                </a:solidFill>
                <a:latin typeface="Arial"/>
              </a:rPr>
              <a:t> một mục tiêu tổng quát, hai đến bốn mục tiêu cụ thể cộng lại thành mục tiêu tổng quát.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 ĐỐI TƯỢNG VÀ PHẠM VI</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Đối tượng nghiên cứu là điều cần tìm hiểu; đối tượng khảo sát là người cung cấp dữ liệu</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Tự hỏi "nghiên cứu tìm hiểu điều gì?" để viết đối tượng nghiên cứu và "ai trả lời bảng hỏi?" để viết đối tượng khảo sát.</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1.4 và Hình 1-14</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23</a:t>
            </a:r>
          </a:p>
        </p:txBody>
      </p:sp>
      <p:sp>
        <p:nvSpPr>
          <p:cNvPr id="11" name="Rectangle 10"/>
          <p:cNvSpPr/>
          <p:nvPr/>
        </p:nvSpPr>
        <p:spPr>
          <a:xfrm>
            <a:off x="402336" y="2431565"/>
            <a:ext cx="6327648" cy="254350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0_new.png"/>
          <p:cNvPicPr>
            <a:picLocks noChangeAspect="1"/>
          </p:cNvPicPr>
          <p:nvPr/>
        </p:nvPicPr>
        <p:blipFill>
          <a:blip r:embed="rId2"/>
          <a:stretch>
            <a:fillRect/>
          </a:stretch>
        </p:blipFill>
        <p:spPr>
          <a:xfrm>
            <a:off x="457200" y="2486429"/>
            <a:ext cx="6217920" cy="2433781"/>
          </a:xfrm>
          <a:prstGeom prst="rect">
            <a:avLst/>
          </a:prstGeom>
        </p:spPr>
      </p:pic>
      <p:sp>
        <p:nvSpPr>
          <p:cNvPr id="13" name="TextBox 12"/>
          <p:cNvSpPr txBox="1"/>
          <p:nvPr/>
        </p:nvSpPr>
        <p:spPr>
          <a:xfrm>
            <a:off x="6995159" y="1783080"/>
            <a:ext cx="4736592" cy="274320"/>
          </a:xfrm>
          <a:prstGeom prst="rect">
            <a:avLst/>
          </a:prstGeom>
          <a:noFill/>
        </p:spPr>
        <p:txBody>
          <a:bodyPr wrap="square" lIns="45720" rIns="45720" tIns="27432" bIns="27432" anchor="t">
            <a:spAutoFit/>
          </a:bodyPr>
          <a:lstStyle/>
          <a:p>
            <a:pPr algn="l"/>
            <a:r>
              <a:rPr sz="1000" b="1" i="0">
                <a:solidFill>
                  <a:srgbClr val="CC0000"/>
                </a:solidFill>
                <a:latin typeface="Arial"/>
              </a:rPr>
              <a:t>BỐN ĐIỀU PHẢI CÓ</a:t>
            </a:r>
          </a:p>
        </p:txBody>
      </p:sp>
      <p:cxnSp>
        <p:nvCxnSpPr>
          <p:cNvPr id="14" name="Connector 13"/>
          <p:cNvCxnSpPr/>
          <p:nvPr/>
        </p:nvCxnSpPr>
        <p:spPr>
          <a:xfrm>
            <a:off x="6995159" y="2103120"/>
            <a:ext cx="4736593"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995159"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406640" y="2194560"/>
            <a:ext cx="4325112" cy="857250"/>
          </a:xfrm>
          <a:prstGeom prst="rect">
            <a:avLst/>
          </a:prstGeom>
          <a:noFill/>
        </p:spPr>
        <p:txBody>
          <a:bodyPr wrap="square" lIns="45720" rIns="45720" tIns="27432" bIns="27432" anchor="t">
            <a:spAutoFit/>
          </a:bodyPr>
          <a:lstStyle/>
          <a:p>
            <a:pPr algn="l"/>
            <a:r>
              <a:rPr sz="1350" b="1" i="0">
                <a:solidFill>
                  <a:srgbClr val="58595B"/>
                </a:solidFill>
                <a:latin typeface="Arial"/>
              </a:rPr>
              <a:t>Đối tượng nghiên cứu:</a:t>
            </a:r>
            <a:r>
              <a:rPr sz="1350" b="0" i="0">
                <a:solidFill>
                  <a:srgbClr val="58595B"/>
                </a:solidFill>
                <a:latin typeface="Arial"/>
              </a:rPr>
              <a:t> các yếu tố ảnh hưởng đến ý định sử dụng dịch vụ ngân hàng số.</a:t>
            </a:r>
          </a:p>
        </p:txBody>
      </p:sp>
      <p:sp>
        <p:nvSpPr>
          <p:cNvPr id="17" name="Oval 16"/>
          <p:cNvSpPr/>
          <p:nvPr/>
        </p:nvSpPr>
        <p:spPr>
          <a:xfrm>
            <a:off x="6995159"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406640" y="3051810"/>
            <a:ext cx="4325112" cy="857250"/>
          </a:xfrm>
          <a:prstGeom prst="rect">
            <a:avLst/>
          </a:prstGeom>
          <a:noFill/>
        </p:spPr>
        <p:txBody>
          <a:bodyPr wrap="square" lIns="45720" rIns="45720" tIns="27432" bIns="27432" anchor="t">
            <a:spAutoFit/>
          </a:bodyPr>
          <a:lstStyle/>
          <a:p>
            <a:pPr algn="l"/>
            <a:r>
              <a:rPr sz="1350" b="1" i="0">
                <a:solidFill>
                  <a:srgbClr val="58595B"/>
                </a:solidFill>
                <a:latin typeface="Arial"/>
              </a:rPr>
              <a:t>Đối tượng khảo sát:</a:t>
            </a:r>
            <a:r>
              <a:rPr sz="1350" b="0" i="0">
                <a:solidFill>
                  <a:srgbClr val="58595B"/>
                </a:solidFill>
                <a:latin typeface="Arial"/>
              </a:rPr>
              <a:t> khách hàng cá nhân từ 18 tuổi, có tài khoản tại Ngân hàng X và chưa kích hoạt ứng dụng.</a:t>
            </a:r>
          </a:p>
        </p:txBody>
      </p:sp>
      <p:sp>
        <p:nvSpPr>
          <p:cNvPr id="19" name="Oval 18"/>
          <p:cNvSpPr/>
          <p:nvPr/>
        </p:nvSpPr>
        <p:spPr>
          <a:xfrm>
            <a:off x="6995159"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406640" y="3909060"/>
            <a:ext cx="4325112" cy="857250"/>
          </a:xfrm>
          <a:prstGeom prst="rect">
            <a:avLst/>
          </a:prstGeom>
          <a:noFill/>
        </p:spPr>
        <p:txBody>
          <a:bodyPr wrap="square" lIns="45720" rIns="45720" tIns="27432" bIns="27432" anchor="t">
            <a:spAutoFit/>
          </a:bodyPr>
          <a:lstStyle/>
          <a:p>
            <a:pPr algn="l"/>
            <a:r>
              <a:rPr sz="1350" b="1" i="0">
                <a:solidFill>
                  <a:srgbClr val="58595B"/>
                </a:solidFill>
                <a:latin typeface="Arial"/>
              </a:rPr>
              <a:t>Ba chiều phạm vi:</a:t>
            </a:r>
            <a:r>
              <a:rPr sz="1350" b="0" i="0">
                <a:solidFill>
                  <a:srgbClr val="58595B"/>
                </a:solidFill>
                <a:latin typeface="Arial"/>
              </a:rPr>
              <a:t> nội dung, không gian, thời gian; không viết "hiện nay", không đưa giai đoạn vào tên đề tài.</a:t>
            </a:r>
          </a:p>
        </p:txBody>
      </p:sp>
      <p:sp>
        <p:nvSpPr>
          <p:cNvPr id="21" name="Oval 20"/>
          <p:cNvSpPr/>
          <p:nvPr/>
        </p:nvSpPr>
        <p:spPr>
          <a:xfrm>
            <a:off x="6995159"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406640" y="4766310"/>
            <a:ext cx="4325112" cy="857250"/>
          </a:xfrm>
          <a:prstGeom prst="rect">
            <a:avLst/>
          </a:prstGeom>
          <a:noFill/>
        </p:spPr>
        <p:txBody>
          <a:bodyPr wrap="square" lIns="45720" rIns="45720" tIns="27432" bIns="27432" anchor="t">
            <a:spAutoFit/>
          </a:bodyPr>
          <a:lstStyle/>
          <a:p>
            <a:pPr algn="l"/>
            <a:r>
              <a:rPr sz="1350" b="1" i="0">
                <a:solidFill>
                  <a:srgbClr val="58595B"/>
                </a:solidFill>
                <a:latin typeface="Arial"/>
              </a:rPr>
              <a:t>Ít nhất một điều không xem xét:</a:t>
            </a:r>
            <a:r>
              <a:rPr sz="1350" b="0" i="0">
                <a:solidFill>
                  <a:srgbClr val="58595B"/>
                </a:solidFill>
                <a:latin typeface="Arial"/>
              </a:rPr>
              <a:t> ví dụ không xem xét hành vi sử dụng thực tế.</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 PHƯƠNG PHÁP, Ý NGHĨA, KẾT CẤU</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Ba mục cuối đều bị trừ điểm vì cùng một lỗi: viết chung chung, đúng với mọi đề tài</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Một câu đúng với gần như mọi đề tài thì không nói được điều gì riêng về đề tài đang viết.</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1.5 đến Mục 1.7</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24</a:t>
            </a:r>
          </a:p>
        </p:txBody>
      </p:sp>
      <p:sp>
        <p:nvSpPr>
          <p:cNvPr id="11" name="Rectangle 10"/>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Phương pháp</a:t>
            </a:r>
          </a:p>
        </p:txBody>
      </p:sp>
      <p:sp>
        <p:nvSpPr>
          <p:cNvPr id="14" name="TextBox 13"/>
          <p:cNvSpPr txBox="1"/>
          <p:nvPr/>
        </p:nvSpPr>
        <p:spPr>
          <a:xfrm>
            <a:off x="457200" y="2560320"/>
            <a:ext cx="3575304" cy="3017520"/>
          </a:xfrm>
          <a:prstGeom prst="rect">
            <a:avLst/>
          </a:prstGeom>
          <a:noFill/>
        </p:spPr>
        <p:txBody>
          <a:bodyPr wrap="square" lIns="45720" rIns="45720" tIns="27432" bIns="27432" anchor="t">
            <a:spAutoFit/>
          </a:bodyPr>
          <a:lstStyle/>
          <a:p>
            <a:pPr algn="l"/>
            <a:r>
              <a:rPr sz="1350" b="1" i="0">
                <a:solidFill>
                  <a:srgbClr val="58595B"/>
                </a:solidFill>
                <a:latin typeface="Arial"/>
              </a:rPr>
              <a:t>Chưa đạt:</a:t>
            </a:r>
            <a:r>
              <a:rPr sz="1350" b="0" i="0">
                <a:solidFill>
                  <a:srgbClr val="58595B"/>
                </a:solidFill>
                <a:latin typeface="Arial"/>
              </a:rPr>
              <a:t> "Đề tài sử dụng các phương pháp phân tích, tổng hợp, so sánh, thống kê, quy nạp, diễn dịch."</a:t>
            </a:r>
          </a:p>
          <a:p>
            <a:pPr algn="l">
              <a:spcBef>
                <a:spcPts val="607"/>
              </a:spcBef>
            </a:pPr>
          </a:p>
          <a:p>
            <a:pPr algn="l">
              <a:spcBef>
                <a:spcPts val="607"/>
              </a:spcBef>
            </a:pPr>
            <a:r>
              <a:rPr sz="1350" b="1" i="0">
                <a:solidFill>
                  <a:srgbClr val="58595B"/>
                </a:solidFill>
                <a:latin typeface="Arial"/>
              </a:rPr>
              <a:t>Đạt:</a:t>
            </a:r>
            <a:r>
              <a:rPr sz="1350" b="0" i="0">
                <a:solidFill>
                  <a:srgbClr val="58595B"/>
                </a:solidFill>
                <a:latin typeface="Arial"/>
              </a:rPr>
              <a:t> một đoạn nêu cách tiếp cận, nguồn dữ liệu, cách chọn mẫu và kỹ thuật trả lời từng câu hỏi.</a:t>
            </a:r>
          </a:p>
        </p:txBody>
      </p:sp>
      <p:sp>
        <p:nvSpPr>
          <p:cNvPr id="15" name="Rectangle 14"/>
          <p:cNvSpPr/>
          <p:nvPr/>
        </p:nvSpPr>
        <p:spPr>
          <a:xfrm>
            <a:off x="4306824"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Ý nghĩa</a:t>
            </a:r>
          </a:p>
        </p:txBody>
      </p:sp>
      <p:sp>
        <p:nvSpPr>
          <p:cNvPr id="18" name="TextBox 17"/>
          <p:cNvSpPr txBox="1"/>
          <p:nvPr/>
        </p:nvSpPr>
        <p:spPr>
          <a:xfrm>
            <a:off x="4306824" y="2560320"/>
            <a:ext cx="3575304" cy="3017520"/>
          </a:xfrm>
          <a:prstGeom prst="rect">
            <a:avLst/>
          </a:prstGeom>
          <a:noFill/>
        </p:spPr>
        <p:txBody>
          <a:bodyPr wrap="square" lIns="45720" rIns="45720" tIns="27432" bIns="27432" anchor="t">
            <a:spAutoFit/>
          </a:bodyPr>
          <a:lstStyle/>
          <a:p>
            <a:pPr algn="l"/>
            <a:r>
              <a:rPr sz="1350" b="1" i="0">
                <a:solidFill>
                  <a:srgbClr val="58595B"/>
                </a:solidFill>
                <a:latin typeface="Arial"/>
              </a:rPr>
              <a:t>Chưa đạt:</a:t>
            </a:r>
            <a:r>
              <a:rPr sz="1350" b="0" i="0">
                <a:solidFill>
                  <a:srgbClr val="58595B"/>
                </a:solidFill>
                <a:latin typeface="Arial"/>
              </a:rPr>
              <a:t> "Đề tài có ý nghĩa khoa học và thực tiễn to lớn."</a:t>
            </a:r>
          </a:p>
          <a:p>
            <a:pPr algn="l">
              <a:spcBef>
                <a:spcPts val="607"/>
              </a:spcBef>
            </a:pPr>
          </a:p>
          <a:p>
            <a:pPr algn="l">
              <a:spcBef>
                <a:spcPts val="607"/>
              </a:spcBef>
            </a:pPr>
            <a:r>
              <a:rPr sz="1350" b="1" i="0">
                <a:solidFill>
                  <a:srgbClr val="58595B"/>
                </a:solidFill>
                <a:latin typeface="Arial"/>
              </a:rPr>
              <a:t>Đạt:</a:t>
            </a:r>
            <a:r>
              <a:rPr sz="1350" b="0" i="0">
                <a:solidFill>
                  <a:srgbClr val="58595B"/>
                </a:solidFill>
                <a:latin typeface="Arial"/>
              </a:rPr>
              <a:t> gọi tên người được lợi và việc họ dùng kết quả để làm; dùng cách nói dự kiến như "cung cấp", "giúp xác định".</a:t>
            </a:r>
          </a:p>
        </p:txBody>
      </p:sp>
      <p:sp>
        <p:nvSpPr>
          <p:cNvPr id="19" name="Rectangle 18"/>
          <p:cNvSpPr/>
          <p:nvPr/>
        </p:nvSpPr>
        <p:spPr>
          <a:xfrm>
            <a:off x="8156448"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Kết cấu</a:t>
            </a:r>
          </a:p>
        </p:txBody>
      </p:sp>
      <p:sp>
        <p:nvSpPr>
          <p:cNvPr id="22" name="TextBox 21"/>
          <p:cNvSpPr txBox="1"/>
          <p:nvPr/>
        </p:nvSpPr>
        <p:spPr>
          <a:xfrm>
            <a:off x="8156448" y="2560320"/>
            <a:ext cx="3575304" cy="3017520"/>
          </a:xfrm>
          <a:prstGeom prst="rect">
            <a:avLst/>
          </a:prstGeom>
          <a:noFill/>
        </p:spPr>
        <p:txBody>
          <a:bodyPr wrap="square" lIns="45720" rIns="45720" tIns="27432" bIns="27432" anchor="t">
            <a:spAutoFit/>
          </a:bodyPr>
          <a:lstStyle/>
          <a:p>
            <a:pPr algn="l"/>
            <a:r>
              <a:rPr sz="1350" b="1" i="0">
                <a:solidFill>
                  <a:srgbClr val="58595B"/>
                </a:solidFill>
                <a:latin typeface="Arial"/>
              </a:rPr>
              <a:t>Chưa đạt:</a:t>
            </a:r>
            <a:r>
              <a:rPr sz="1350" b="0" i="0">
                <a:solidFill>
                  <a:srgbClr val="58595B"/>
                </a:solidFill>
                <a:latin typeface="Arial"/>
              </a:rPr>
              <a:t> "Chương 1: Giới thiệu. Chương 2: Lý thuyết..."</a:t>
            </a:r>
          </a:p>
          <a:p>
            <a:pPr algn="l">
              <a:spcBef>
                <a:spcPts val="607"/>
              </a:spcBef>
            </a:pPr>
          </a:p>
          <a:p>
            <a:pPr algn="l">
              <a:spcBef>
                <a:spcPts val="607"/>
              </a:spcBef>
            </a:pPr>
            <a:r>
              <a:rPr sz="1350" b="1" i="0">
                <a:solidFill>
                  <a:srgbClr val="58595B"/>
                </a:solidFill>
                <a:latin typeface="Arial"/>
              </a:rPr>
              <a:t>Đạt:</a:t>
            </a:r>
            <a:r>
              <a:rPr sz="1350" b="0" i="0">
                <a:solidFill>
                  <a:srgbClr val="58595B"/>
                </a:solidFill>
                <a:latin typeface="Arial"/>
              </a:rPr>
              <a:t> mỗi chương có tên đúng mục lục, một câu nhiệm vụ và cho thấy chương đó trả lời câu hỏi nào.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1 | QUAN HỆ VỚI PHẦN MỞ ĐẦU</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Chương 1 không chép lại phần mở đầu mà bổ sung số liệu, lý do lựa chọn và tiểu mục</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Câu hỏi đặt ra ở Chương 1 là sợi chỉ xuyên suốt: nếu Chương 1 thay đổi, các chương sau phải được rà lại.</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B và mục D, Hình 1-1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25</a:t>
            </a:r>
          </a:p>
        </p:txBody>
      </p:sp>
      <p:sp>
        <p:nvSpPr>
          <p:cNvPr id="11" name="Rectangle 10"/>
          <p:cNvSpPr/>
          <p:nvPr/>
        </p:nvSpPr>
        <p:spPr>
          <a:xfrm>
            <a:off x="402336" y="2968659"/>
            <a:ext cx="5961888" cy="14693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6_new.png"/>
          <p:cNvPicPr>
            <a:picLocks noChangeAspect="1"/>
          </p:cNvPicPr>
          <p:nvPr/>
        </p:nvPicPr>
        <p:blipFill>
          <a:blip r:embed="rId2"/>
          <a:stretch>
            <a:fillRect/>
          </a:stretch>
        </p:blipFill>
        <p:spPr>
          <a:xfrm>
            <a:off x="457200" y="3023523"/>
            <a:ext cx="5852160" cy="1359592"/>
          </a:xfrm>
          <a:prstGeom prst="rect">
            <a:avLst/>
          </a:prstGeom>
        </p:spPr>
      </p:pic>
      <p:sp>
        <p:nvSpPr>
          <p:cNvPr id="13" name="TextBox 12"/>
          <p:cNvSpPr txBox="1"/>
          <p:nvPr/>
        </p:nvSpPr>
        <p:spPr>
          <a:xfrm>
            <a:off x="6629400" y="1783080"/>
            <a:ext cx="5102352" cy="274320"/>
          </a:xfrm>
          <a:prstGeom prst="rect">
            <a:avLst/>
          </a:prstGeom>
          <a:noFill/>
        </p:spPr>
        <p:txBody>
          <a:bodyPr wrap="square" lIns="45720" rIns="45720" tIns="27432" bIns="27432" anchor="t">
            <a:spAutoFit/>
          </a:bodyPr>
          <a:lstStyle/>
          <a:p>
            <a:pPr algn="l"/>
            <a:r>
              <a:rPr sz="1000" b="1" i="0">
                <a:solidFill>
                  <a:srgbClr val="CC0000"/>
                </a:solidFill>
                <a:latin typeface="Arial"/>
              </a:rPr>
              <a:t>CHƯƠNG 1 BỔ SUNG GÌ</a:t>
            </a:r>
          </a:p>
        </p:txBody>
      </p:sp>
      <p:cxnSp>
        <p:nvCxnSpPr>
          <p:cNvPr id="14" name="Connector 13"/>
          <p:cNvCxnSpPr/>
          <p:nvPr/>
        </p:nvCxnSpPr>
        <p:spPr>
          <a:xfrm>
            <a:off x="6629400" y="2103120"/>
            <a:ext cx="51023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62940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040880" y="219456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Mục 1.1</a:t>
            </a:r>
            <a:r>
              <a:rPr sz="1350" b="0" i="0">
                <a:solidFill>
                  <a:srgbClr val="58595B"/>
                </a:solidFill>
                <a:latin typeface="Arial"/>
              </a:rPr>
              <a:t> chia ba tiểu mục: bối cảnh; thực trạng và vấn đề tại đơn vị; khảo lược và khoảng trống.</a:t>
            </a:r>
          </a:p>
        </p:txBody>
      </p:sp>
      <p:sp>
        <p:nvSpPr>
          <p:cNvPr id="17" name="Oval 16"/>
          <p:cNvSpPr/>
          <p:nvPr/>
        </p:nvSpPr>
        <p:spPr>
          <a:xfrm>
            <a:off x="662940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040880" y="305181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Mục 1.4</a:t>
            </a:r>
            <a:r>
              <a:rPr sz="1350" b="0" i="0">
                <a:solidFill>
                  <a:srgbClr val="58595B"/>
                </a:solidFill>
                <a:latin typeface="Arial"/>
              </a:rPr>
              <a:t> thêm điều kiện chọn đối tượng khảo sát, lý do chọn địa bàn và hai loại thời gian.</a:t>
            </a:r>
          </a:p>
        </p:txBody>
      </p:sp>
      <p:sp>
        <p:nvSpPr>
          <p:cNvPr id="19" name="Oval 18"/>
          <p:cNvSpPr/>
          <p:nvPr/>
        </p:nvSpPr>
        <p:spPr>
          <a:xfrm>
            <a:off x="662940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040880" y="390906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Mục 1.5</a:t>
            </a:r>
            <a:r>
              <a:rPr sz="1350" b="0" i="0">
                <a:solidFill>
                  <a:srgbClr val="58595B"/>
                </a:solidFill>
                <a:latin typeface="Arial"/>
              </a:rPr>
              <a:t> thêm quy trình các bước và tên kỹ thuật cho từng câu hỏi; chi tiết hẹn ở Chương 3.</a:t>
            </a:r>
          </a:p>
        </p:txBody>
      </p:sp>
      <p:sp>
        <p:nvSpPr>
          <p:cNvPr id="21" name="Oval 20"/>
          <p:cNvSpPr/>
          <p:nvPr/>
        </p:nvSpPr>
        <p:spPr>
          <a:xfrm>
            <a:off x="662940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040880" y="476631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Kết luận chương</a:t>
            </a:r>
            <a:r>
              <a:rPr sz="1350" b="0" i="0">
                <a:solidFill>
                  <a:srgbClr val="58595B"/>
                </a:solidFill>
                <a:latin typeface="Arial"/>
              </a:rPr>
              <a:t> tóm lược rồi dẫn sang Chương 2, không lặp nguyên văn đoạn giới thiệu.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1 | MỤC 1.1 VÀ TÌM TÀI LIỆU</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Không tìm thấy nghiên cứu đúng đề tài thì mở rộng dần phạm vi tìm kiếm theo tam giác ngược, không kết luận "chưa ai nghiên cứu"</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Mục 1.1.3 chỉ dài 3 đến 5 câu; biến nó thành tổng quan tài liệu dài là để Chương 1 lấn sang nhiệm vụ của Chương 2.</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1.1, Hình 1-9 và 1-10, Bảng 1-11; Creswell và Creswell (2018, tr. 76, 169)</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26</a:t>
            </a:r>
          </a:p>
        </p:txBody>
      </p:sp>
      <p:sp>
        <p:nvSpPr>
          <p:cNvPr id="11" name="Rectangle 10"/>
          <p:cNvSpPr/>
          <p:nvPr/>
        </p:nvSpPr>
        <p:spPr>
          <a:xfrm>
            <a:off x="402336" y="2345436"/>
            <a:ext cx="6144768" cy="27157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9_new.png"/>
          <p:cNvPicPr>
            <a:picLocks noChangeAspect="1"/>
          </p:cNvPicPr>
          <p:nvPr/>
        </p:nvPicPr>
        <p:blipFill>
          <a:blip r:embed="rId2"/>
          <a:stretch>
            <a:fillRect/>
          </a:stretch>
        </p:blipFill>
        <p:spPr>
          <a:xfrm>
            <a:off x="457200" y="2400300"/>
            <a:ext cx="6035040" cy="2606040"/>
          </a:xfrm>
          <a:prstGeom prst="rect">
            <a:avLst/>
          </a:prstGeom>
        </p:spPr>
      </p:pic>
      <p:sp>
        <p:nvSpPr>
          <p:cNvPr id="13" name="TextBox 12"/>
          <p:cNvSpPr txBox="1"/>
          <p:nvPr/>
        </p:nvSpPr>
        <p:spPr>
          <a:xfrm>
            <a:off x="6812279" y="1783080"/>
            <a:ext cx="4919472" cy="274320"/>
          </a:xfrm>
          <a:prstGeom prst="rect">
            <a:avLst/>
          </a:prstGeom>
          <a:noFill/>
        </p:spPr>
        <p:txBody>
          <a:bodyPr wrap="square" lIns="45720" rIns="45720" tIns="27432" bIns="27432" anchor="t">
            <a:spAutoFit/>
          </a:bodyPr>
          <a:lstStyle/>
          <a:p>
            <a:pPr algn="l"/>
            <a:r>
              <a:rPr sz="1000" b="1" i="0">
                <a:solidFill>
                  <a:srgbClr val="CC0000"/>
                </a:solidFill>
                <a:latin typeface="Arial"/>
              </a:rPr>
              <a:t>MỤC 1.1 GỒM BA TIỂU MỤC</a:t>
            </a:r>
          </a:p>
        </p:txBody>
      </p:sp>
      <p:cxnSp>
        <p:nvCxnSpPr>
          <p:cNvPr id="14" name="Connector 13"/>
          <p:cNvCxnSpPr/>
          <p:nvPr/>
        </p:nvCxnSpPr>
        <p:spPr>
          <a:xfrm>
            <a:off x="6812279" y="2103120"/>
            <a:ext cx="4919473"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812279"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223759" y="219456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1.1.1 Bối cảnh</a:t>
            </a:r>
            <a:r>
              <a:rPr sz="1350" b="0" i="0">
                <a:solidFill>
                  <a:srgbClr val="58595B"/>
                </a:solidFill>
                <a:latin typeface="Arial"/>
              </a:rPr>
              <a:t> (hai đến ba đoạn): ít nhất hai số liệu hoặc văn bản có nguồn; có thể chia "góc độ khoa học" và "góc độ thực tiễn".</a:t>
            </a:r>
          </a:p>
        </p:txBody>
      </p:sp>
      <p:sp>
        <p:nvSpPr>
          <p:cNvPr id="17" name="Oval 16"/>
          <p:cNvSpPr/>
          <p:nvPr/>
        </p:nvSpPr>
        <p:spPr>
          <a:xfrm>
            <a:off x="6812279"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223759" y="305181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1.1.2 Thực trạng và vấn đề</a:t>
            </a:r>
            <a:r>
              <a:rPr sz="1350" b="0" i="0">
                <a:solidFill>
                  <a:srgbClr val="58595B"/>
                </a:solidFill>
                <a:latin typeface="Arial"/>
              </a:rPr>
              <a:t> (hai đến ba đoạn): điều đơn vị đã làm, số liệu vấn đề, câu "Mặc dù... vẫn...".</a:t>
            </a:r>
          </a:p>
        </p:txBody>
      </p:sp>
      <p:sp>
        <p:nvSpPr>
          <p:cNvPr id="19" name="Oval 18"/>
          <p:cNvSpPr/>
          <p:nvPr/>
        </p:nvSpPr>
        <p:spPr>
          <a:xfrm>
            <a:off x="6812279"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223759" y="390906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1.1.3 Khảo lược và khoảng trống</a:t>
            </a:r>
            <a:r>
              <a:rPr sz="1350" b="0" i="0">
                <a:solidFill>
                  <a:srgbClr val="58595B"/>
                </a:solidFill>
                <a:latin typeface="Arial"/>
              </a:rPr>
              <a:t> (3 đến 5 câu): gom theo nhóm; tổng quan chi tiết để dành cho Chương 2.</a:t>
            </a:r>
          </a:p>
        </p:txBody>
      </p:sp>
      <p:sp>
        <p:nvSpPr>
          <p:cNvPr id="21" name="Oval 20"/>
          <p:cNvSpPr/>
          <p:nvPr/>
        </p:nvSpPr>
        <p:spPr>
          <a:xfrm>
            <a:off x="6812279"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223759" y="476631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Trước khi viết 1.1.3:</a:t>
            </a:r>
            <a:r>
              <a:rPr sz="1350" b="0" i="0">
                <a:solidFill>
                  <a:srgbClr val="58595B"/>
                </a:solidFill>
                <a:latin typeface="Arial"/>
              </a:rPr>
              <a:t> vẽ bản đồ tài liệu (Hình 1-9) để thấy vị trí còn trống.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1 | VÍ DỤ TRỌN VẸN</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Đọc Chương 1 mẫu theo từng đoạn: mỗi đoạn làm đúng một nhiệm vụ và nối sang đoạn sau</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Kết luận chương tóm lược và dẫn sang Chương 2, không lặp nguyên văn đoạn giới thiệu chương.</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D (đoạn giới thiệu, chuyển tiếp, kết luận chương), mục E (Ví dụ 2) và Hình 1-20</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27</a:t>
            </a:r>
          </a:p>
        </p:txBody>
      </p:sp>
      <p:sp>
        <p:nvSpPr>
          <p:cNvPr id="11" name="Rectangle 10"/>
          <p:cNvSpPr/>
          <p:nvPr/>
        </p:nvSpPr>
        <p:spPr>
          <a:xfrm>
            <a:off x="1178734" y="1728216"/>
            <a:ext cx="4774850" cy="39502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22_new.png"/>
          <p:cNvPicPr>
            <a:picLocks noChangeAspect="1"/>
          </p:cNvPicPr>
          <p:nvPr/>
        </p:nvPicPr>
        <p:blipFill>
          <a:blip r:embed="rId2"/>
          <a:stretch>
            <a:fillRect/>
          </a:stretch>
        </p:blipFill>
        <p:spPr>
          <a:xfrm>
            <a:off x="1233598" y="1783080"/>
            <a:ext cx="4665122" cy="3840480"/>
          </a:xfrm>
          <a:prstGeom prst="rect">
            <a:avLst/>
          </a:prstGeom>
        </p:spPr>
      </p:pic>
      <p:sp>
        <p:nvSpPr>
          <p:cNvPr id="13" name="TextBox 12"/>
          <p:cNvSpPr txBox="1"/>
          <p:nvPr/>
        </p:nvSpPr>
        <p:spPr>
          <a:xfrm>
            <a:off x="6995159" y="1783080"/>
            <a:ext cx="4736592" cy="274320"/>
          </a:xfrm>
          <a:prstGeom prst="rect">
            <a:avLst/>
          </a:prstGeom>
          <a:noFill/>
        </p:spPr>
        <p:txBody>
          <a:bodyPr wrap="square" lIns="45720" rIns="45720" tIns="27432" bIns="27432" anchor="t">
            <a:spAutoFit/>
          </a:bodyPr>
          <a:lstStyle/>
          <a:p>
            <a:pPr algn="l"/>
            <a:r>
              <a:rPr sz="1000" b="1" i="0">
                <a:solidFill>
                  <a:srgbClr val="CC0000"/>
                </a:solidFill>
                <a:latin typeface="Arial"/>
              </a:rPr>
              <a:t>MƯỜI TÁM ĐOẠN, SÁU NHIỆM VỤ</a:t>
            </a:r>
          </a:p>
        </p:txBody>
      </p:sp>
      <p:cxnSp>
        <p:nvCxnSpPr>
          <p:cNvPr id="14" name="Connector 13"/>
          <p:cNvCxnSpPr/>
          <p:nvPr/>
        </p:nvCxnSpPr>
        <p:spPr>
          <a:xfrm>
            <a:off x="6995159" y="2103120"/>
            <a:ext cx="4736593"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995159"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406640" y="2194560"/>
            <a:ext cx="4325112" cy="857250"/>
          </a:xfrm>
          <a:prstGeom prst="rect">
            <a:avLst/>
          </a:prstGeom>
          <a:noFill/>
        </p:spPr>
        <p:txBody>
          <a:bodyPr wrap="square" lIns="45720" rIns="45720" tIns="27432" bIns="27432" anchor="t">
            <a:spAutoFit/>
          </a:bodyPr>
          <a:lstStyle/>
          <a:p>
            <a:pPr algn="l"/>
            <a:r>
              <a:rPr sz="1350" b="1" i="0">
                <a:solidFill>
                  <a:srgbClr val="58595B"/>
                </a:solidFill>
                <a:latin typeface="Arial"/>
              </a:rPr>
              <a:t>[1]</a:t>
            </a:r>
            <a:r>
              <a:rPr sz="1350" b="0" i="0">
                <a:solidFill>
                  <a:srgbClr val="58595B"/>
                </a:solidFill>
                <a:latin typeface="Arial"/>
              </a:rPr>
              <a:t> giới thiệu chương; </a:t>
            </a:r>
            <a:r>
              <a:rPr sz="1350" b="1" i="0">
                <a:solidFill>
                  <a:srgbClr val="58595B"/>
                </a:solidFill>
                <a:latin typeface="Arial"/>
              </a:rPr>
              <a:t>[2] [3]</a:t>
            </a:r>
            <a:r>
              <a:rPr sz="1350" b="0" i="0">
                <a:solidFill>
                  <a:srgbClr val="58595B"/>
                </a:solidFill>
                <a:latin typeface="Arial"/>
              </a:rPr>
              <a:t> bối cảnh có chính sách, số liệu có nguồn.</a:t>
            </a:r>
          </a:p>
        </p:txBody>
      </p:sp>
      <p:sp>
        <p:nvSpPr>
          <p:cNvPr id="17" name="Oval 16"/>
          <p:cNvSpPr/>
          <p:nvPr/>
        </p:nvSpPr>
        <p:spPr>
          <a:xfrm>
            <a:off x="6995159"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406640" y="3051810"/>
            <a:ext cx="4325112" cy="857250"/>
          </a:xfrm>
          <a:prstGeom prst="rect">
            <a:avLst/>
          </a:prstGeom>
          <a:noFill/>
        </p:spPr>
        <p:txBody>
          <a:bodyPr wrap="square" lIns="45720" rIns="45720" tIns="27432" bIns="27432" anchor="t">
            <a:spAutoFit/>
          </a:bodyPr>
          <a:lstStyle/>
          <a:p>
            <a:pPr algn="l"/>
            <a:r>
              <a:rPr sz="1350" b="1" i="0">
                <a:solidFill>
                  <a:srgbClr val="58595B"/>
                </a:solidFill>
                <a:latin typeface="Arial"/>
              </a:rPr>
              <a:t>[4] [5]</a:t>
            </a:r>
            <a:r>
              <a:rPr sz="1350" b="0" i="0">
                <a:solidFill>
                  <a:srgbClr val="58595B"/>
                </a:solidFill>
                <a:latin typeface="Arial"/>
              </a:rPr>
              <a:t> điều Ngân hàng X đã làm, rồi nghịch lý: kích hoạt thấp hơn mục tiêu.</a:t>
            </a:r>
          </a:p>
        </p:txBody>
      </p:sp>
      <p:sp>
        <p:nvSpPr>
          <p:cNvPr id="19" name="Oval 18"/>
          <p:cNvSpPr/>
          <p:nvPr/>
        </p:nvSpPr>
        <p:spPr>
          <a:xfrm>
            <a:off x="6995159"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406640" y="3909060"/>
            <a:ext cx="4325112" cy="857250"/>
          </a:xfrm>
          <a:prstGeom prst="rect">
            <a:avLst/>
          </a:prstGeom>
          <a:noFill/>
        </p:spPr>
        <p:txBody>
          <a:bodyPr wrap="square" lIns="45720" rIns="45720" tIns="27432" bIns="27432" anchor="t">
            <a:spAutoFit/>
          </a:bodyPr>
          <a:lstStyle/>
          <a:p>
            <a:pPr algn="l"/>
            <a:r>
              <a:rPr sz="1350" b="1" i="0">
                <a:solidFill>
                  <a:srgbClr val="58595B"/>
                </a:solidFill>
                <a:latin typeface="Arial"/>
              </a:rPr>
              <a:t>[6] [7]</a:t>
            </a:r>
            <a:r>
              <a:rPr sz="1350" b="0" i="0">
                <a:solidFill>
                  <a:srgbClr val="58595B"/>
                </a:solidFill>
                <a:latin typeface="Arial"/>
              </a:rPr>
              <a:t> khảo lược đúng một đoạn năm câu, rồi câu nối với tên đề tài.</a:t>
            </a:r>
          </a:p>
        </p:txBody>
      </p:sp>
      <p:sp>
        <p:nvSpPr>
          <p:cNvPr id="21" name="Oval 20"/>
          <p:cNvSpPr/>
          <p:nvPr/>
        </p:nvSpPr>
        <p:spPr>
          <a:xfrm>
            <a:off x="6995159"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406640" y="4766310"/>
            <a:ext cx="4325112" cy="857250"/>
          </a:xfrm>
          <a:prstGeom prst="rect">
            <a:avLst/>
          </a:prstGeom>
          <a:noFill/>
        </p:spPr>
        <p:txBody>
          <a:bodyPr wrap="square" lIns="45720" rIns="45720" tIns="27432" bIns="27432" anchor="t">
            <a:spAutoFit/>
          </a:bodyPr>
          <a:lstStyle/>
          <a:p>
            <a:pPr algn="l"/>
            <a:r>
              <a:rPr sz="1350" b="1" i="0">
                <a:solidFill>
                  <a:srgbClr val="58595B"/>
                </a:solidFill>
                <a:latin typeface="Arial"/>
              </a:rPr>
              <a:t>[8] đến [14]</a:t>
            </a:r>
            <a:r>
              <a:rPr sz="1350" b="0" i="0">
                <a:solidFill>
                  <a:srgbClr val="58595B"/>
                </a:solidFill>
                <a:latin typeface="Arial"/>
              </a:rPr>
              <a:t> mục tiêu, câu hỏi, đối tượng, phạm vi, phương pháp; </a:t>
            </a:r>
            <a:r>
              <a:rPr sz="1350" b="1" i="0">
                <a:solidFill>
                  <a:srgbClr val="58595B"/>
                </a:solidFill>
                <a:latin typeface="Arial"/>
              </a:rPr>
              <a:t>[15] đến [18]</a:t>
            </a:r>
            <a:r>
              <a:rPr sz="1350" b="0" i="0">
                <a:solidFill>
                  <a:srgbClr val="58595B"/>
                </a:solidFill>
                <a:latin typeface="Arial"/>
              </a:rPr>
              <a:t> ý nghĩa, kết cấu, kết luận chương.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VÀ CHƯƠNG 1 | VĂN PHONG</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từ cảm tính hoặc mơ hồ được thay bằng một con số có nguồn hoặc một việc cụ thể</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Để dữ liệu và lập luận lên tiếng thay cho cảm xúc của người viết.</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0 mục C; Phần 1, mục D (Trích dẫn); Creswell và Creswell (2018, tr. 139)</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28</a:t>
            </a:r>
          </a:p>
        </p:txBody>
      </p:sp>
      <p:graphicFrame>
        <p:nvGraphicFramePr>
          <p:cNvPr id="11" name="Table 10"/>
          <p:cNvGraphicFramePr>
            <a:graphicFrameLocks noGrp="1"/>
          </p:cNvGraphicFramePr>
          <p:nvPr/>
        </p:nvGraphicFramePr>
        <p:xfrm>
          <a:off x="457200" y="1783080"/>
          <a:ext cx="7315199" cy="3264408"/>
        </p:xfrm>
        <a:graphic>
          <a:graphicData uri="http://schemas.openxmlformats.org/drawingml/2006/table">
            <a:tbl>
              <a:tblPr firstRow="1" bandRow="1">
                <a:tableStyleId>{5C22544A-7EE6-4342-B048-85BDC9FD1C3A}</a:tableStyleId>
              </a:tblPr>
              <a:tblGrid>
                <a:gridCol w="3483428"/>
                <a:gridCol w="3831771"/>
              </a:tblGrid>
              <a:tr h="411480">
                <a:tc>
                  <a:txBody>
                    <a:bodyPr wrap="square"/>
                    <a:lstStyle/>
                    <a:p>
                      <a:pPr algn="l"/>
                      <a:r>
                        <a:rPr sz="1200" b="1">
                          <a:solidFill>
                            <a:srgbClr val="FFFFFF"/>
                          </a:solidFill>
                          <a:latin typeface="Arial"/>
                        </a:rPr>
                        <a:t>Cách viết cần tránh</a:t>
                      </a:r>
                    </a:p>
                  </a:txBody>
                  <a:tcPr marL="73152" marR="73152" marT="27432" marB="27432" anchor="ctr">
                    <a:solidFill>
                      <a:srgbClr val="262626"/>
                    </a:solidFill>
                  </a:tcPr>
                </a:tc>
                <a:tc>
                  <a:txBody>
                    <a:bodyPr wrap="square"/>
                    <a:lstStyle/>
                    <a:p>
                      <a:pPr algn="l"/>
                      <a:r>
                        <a:rPr sz="1200" b="1">
                          <a:solidFill>
                            <a:srgbClr val="FFFFFF"/>
                          </a:solidFill>
                          <a:latin typeface="Arial"/>
                        </a:rPr>
                        <a:t>Thay bằng</a:t>
                      </a:r>
                    </a:p>
                  </a:txBody>
                  <a:tcPr marL="73152" marR="73152" marT="27432" marB="27432" anchor="ctr">
                    <a:solidFill>
                      <a:srgbClr val="262626"/>
                    </a:solidFill>
                  </a:tcPr>
                </a:tc>
              </a:tr>
              <a:tr h="475488">
                <a:tc>
                  <a:txBody>
                    <a:bodyPr wrap="square"/>
                    <a:lstStyle/>
                    <a:p>
                      <a:pPr algn="l"/>
                      <a:r>
                        <a:rPr sz="1200" b="0">
                          <a:solidFill>
                            <a:srgbClr val="262626"/>
                          </a:solidFill>
                          <a:latin typeface="Arial"/>
                        </a:rPr>
                        <a:t>"vô cùng quan trọng", "cực kỳ cần thiết"</a:t>
                      </a:r>
                    </a:p>
                  </a:txBody>
                  <a:tcPr marL="73152" marR="73152" marT="27432" marB="27432" anchor="ctr">
                    <a:solidFill>
                      <a:srgbClr val="FFFFFF"/>
                    </a:solidFill>
                  </a:tcPr>
                </a:tc>
                <a:tc>
                  <a:txBody>
                    <a:bodyPr wrap="square"/>
                    <a:lstStyle/>
                    <a:p>
                      <a:pPr algn="l"/>
                      <a:r>
                        <a:rPr sz="1200" b="0">
                          <a:solidFill>
                            <a:srgbClr val="262626"/>
                          </a:solidFill>
                          <a:latin typeface="Arial"/>
                        </a:rPr>
                        <a:t>Vai trò cụ thể kèm số liệu có nguồn</a:t>
                      </a:r>
                    </a:p>
                  </a:txBody>
                  <a:tcPr marL="73152" marR="73152" marT="27432" marB="27432" anchor="ctr">
                    <a:solidFill>
                      <a:srgbClr val="FFFFFF"/>
                    </a:solidFill>
                  </a:tcPr>
                </a:tc>
              </a:tr>
              <a:tr h="475488">
                <a:tc>
                  <a:txBody>
                    <a:bodyPr wrap="square"/>
                    <a:lstStyle/>
                    <a:p>
                      <a:pPr algn="l"/>
                      <a:r>
                        <a:rPr sz="1200" b="0">
                          <a:solidFill>
                            <a:srgbClr val="262626"/>
                          </a:solidFill>
                          <a:latin typeface="Arial"/>
                        </a:rPr>
                        <a:t>"rất nhiều", "phần lớn"</a:t>
                      </a:r>
                    </a:p>
                  </a:txBody>
                  <a:tcPr marL="73152" marR="73152" marT="27432" marB="27432" anchor="ctr">
                    <a:solidFill>
                      <a:srgbClr val="F3F3F3"/>
                    </a:solidFill>
                  </a:tcPr>
                </a:tc>
                <a:tc>
                  <a:txBody>
                    <a:bodyPr wrap="square"/>
                    <a:lstStyle/>
                    <a:p>
                      <a:pPr algn="l"/>
                      <a:r>
                        <a:rPr sz="1200" b="0">
                          <a:solidFill>
                            <a:srgbClr val="262626"/>
                          </a:solidFill>
                          <a:latin typeface="Arial"/>
                        </a:rPr>
                        <a:t>Con số có nguồn</a:t>
                      </a:r>
                    </a:p>
                  </a:txBody>
                  <a:tcPr marL="73152" marR="73152" marT="27432" marB="27432" anchor="ctr">
                    <a:solidFill>
                      <a:srgbClr val="F3F3F3"/>
                    </a:solidFill>
                  </a:tcPr>
                </a:tc>
              </a:tr>
              <a:tr h="475488">
                <a:tc>
                  <a:txBody>
                    <a:bodyPr wrap="square"/>
                    <a:lstStyle/>
                    <a:p>
                      <a:pPr algn="l"/>
                      <a:r>
                        <a:rPr sz="1200" b="0">
                          <a:solidFill>
                            <a:srgbClr val="262626"/>
                          </a:solidFill>
                          <a:latin typeface="Arial"/>
                        </a:rPr>
                        <a:t>"ai cũng biết", "hiển nhiên"</a:t>
                      </a:r>
                    </a:p>
                  </a:txBody>
                  <a:tcPr marL="73152" marR="73152" marT="27432" marB="27432" anchor="ctr">
                    <a:solidFill>
                      <a:srgbClr val="FFFFFF"/>
                    </a:solidFill>
                  </a:tcPr>
                </a:tc>
                <a:tc>
                  <a:txBody>
                    <a:bodyPr wrap="square"/>
                    <a:lstStyle/>
                    <a:p>
                      <a:pPr algn="l"/>
                      <a:r>
                        <a:rPr sz="1200" b="0">
                          <a:solidFill>
                            <a:srgbClr val="262626"/>
                          </a:solidFill>
                          <a:latin typeface="Arial"/>
                        </a:rPr>
                        <a:t>Dẫn nguồn hoặc bỏ câu</a:t>
                      </a:r>
                    </a:p>
                  </a:txBody>
                  <a:tcPr marL="73152" marR="73152" marT="27432" marB="27432" anchor="ctr">
                    <a:solidFill>
                      <a:srgbClr val="FFFFFF"/>
                    </a:solidFill>
                  </a:tcPr>
                </a:tc>
              </a:tr>
              <a:tr h="475488">
                <a:tc>
                  <a:txBody>
                    <a:bodyPr wrap="square"/>
                    <a:lstStyle/>
                    <a:p>
                      <a:pPr algn="l"/>
                      <a:r>
                        <a:rPr sz="1200" b="0">
                          <a:solidFill>
                            <a:srgbClr val="262626"/>
                          </a:solidFill>
                          <a:latin typeface="Arial"/>
                        </a:rPr>
                        <a:t>"chắc chắn sẽ"</a:t>
                      </a:r>
                    </a:p>
                  </a:txBody>
                  <a:tcPr marL="73152" marR="73152" marT="27432" marB="27432" anchor="ctr">
                    <a:solidFill>
                      <a:srgbClr val="F3F3F3"/>
                    </a:solidFill>
                  </a:tcPr>
                </a:tc>
                <a:tc>
                  <a:txBody>
                    <a:bodyPr wrap="square"/>
                    <a:lstStyle/>
                    <a:p>
                      <a:pPr algn="l"/>
                      <a:r>
                        <a:rPr sz="1200" b="0">
                          <a:solidFill>
                            <a:srgbClr val="262626"/>
                          </a:solidFill>
                          <a:latin typeface="Arial"/>
                        </a:rPr>
                        <a:t>"dự kiến"</a:t>
                      </a:r>
                    </a:p>
                  </a:txBody>
                  <a:tcPr marL="73152" marR="73152" marT="27432" marB="27432" anchor="ctr">
                    <a:solidFill>
                      <a:srgbClr val="F3F3F3"/>
                    </a:solidFill>
                  </a:tcPr>
                </a:tc>
              </a:tr>
              <a:tr h="475488">
                <a:tc>
                  <a:txBody>
                    <a:bodyPr wrap="square"/>
                    <a:lstStyle/>
                    <a:p>
                      <a:pPr algn="l"/>
                      <a:r>
                        <a:rPr sz="1200" b="0">
                          <a:solidFill>
                            <a:srgbClr val="262626"/>
                          </a:solidFill>
                          <a:latin typeface="Arial"/>
                        </a:rPr>
                        <a:t>"chưa có ai nghiên cứu"</a:t>
                      </a:r>
                    </a:p>
                  </a:txBody>
                  <a:tcPr marL="73152" marR="73152" marT="27432" marB="27432" anchor="ctr">
                    <a:solidFill>
                      <a:srgbClr val="FFFFFF"/>
                    </a:solidFill>
                  </a:tcPr>
                </a:tc>
                <a:tc>
                  <a:txBody>
                    <a:bodyPr wrap="square"/>
                    <a:lstStyle/>
                    <a:p>
                      <a:pPr algn="l"/>
                      <a:r>
                        <a:rPr sz="1200" b="0">
                          <a:solidFill>
                            <a:srgbClr val="262626"/>
                          </a:solidFill>
                          <a:latin typeface="Arial"/>
                        </a:rPr>
                        <a:t>"trong phạm vi tài liệu tác giả tiếp cận được, chưa tìm thấy..."</a:t>
                      </a:r>
                    </a:p>
                  </a:txBody>
                  <a:tcPr marL="73152" marR="73152" marT="27432" marB="27432" anchor="ctr">
                    <a:solidFill>
                      <a:srgbClr val="FFFFFF"/>
                    </a:solidFill>
                  </a:tcPr>
                </a:tc>
              </a:tr>
              <a:tr h="475488">
                <a:tc>
                  <a:txBody>
                    <a:bodyPr wrap="square"/>
                    <a:lstStyle/>
                    <a:p>
                      <a:pPr algn="l"/>
                      <a:r>
                        <a:rPr sz="1200" b="0">
                          <a:solidFill>
                            <a:srgbClr val="262626"/>
                          </a:solidFill>
                          <a:latin typeface="Arial"/>
                        </a:rPr>
                        <a:t>"em thích", "em đam mê"; "tôi", "em", "chúng tôi"</a:t>
                      </a:r>
                    </a:p>
                  </a:txBody>
                  <a:tcPr marL="73152" marR="73152" marT="27432" marB="27432" anchor="ctr">
                    <a:solidFill>
                      <a:srgbClr val="F3F3F3"/>
                    </a:solidFill>
                  </a:tcPr>
                </a:tc>
                <a:tc>
                  <a:txBody>
                    <a:bodyPr wrap="square"/>
                    <a:lstStyle/>
                    <a:p>
                      <a:pPr algn="l"/>
                      <a:r>
                        <a:rPr sz="1200" b="0">
                          <a:solidFill>
                            <a:srgbClr val="262626"/>
                          </a:solidFill>
                          <a:latin typeface="Arial"/>
                        </a:rPr>
                        <a:t>Bỏ; dùng "nghiên cứu này", "khóa luận", "tác giả"</a:t>
                      </a:r>
                    </a:p>
                  </a:txBody>
                  <a:tcPr marL="73152" marR="73152" marT="27432" marB="27432" anchor="ctr">
                    <a:solidFill>
                      <a:srgbClr val="F3F3F3"/>
                    </a:solidFill>
                  </a:tcPr>
                </a:tc>
              </a:tr>
            </a:tbl>
          </a:graphicData>
        </a:graphic>
      </p:graphicFrame>
      <p:sp>
        <p:nvSpPr>
          <p:cNvPr id="12" name="TextBox 11"/>
          <p:cNvSpPr txBox="1"/>
          <p:nvPr/>
        </p:nvSpPr>
        <p:spPr>
          <a:xfrm>
            <a:off x="8046720" y="1783080"/>
            <a:ext cx="3685031" cy="274320"/>
          </a:xfrm>
          <a:prstGeom prst="rect">
            <a:avLst/>
          </a:prstGeom>
          <a:noFill/>
        </p:spPr>
        <p:txBody>
          <a:bodyPr wrap="square" lIns="45720" rIns="45720" tIns="27432" bIns="27432" anchor="t">
            <a:spAutoFit/>
          </a:bodyPr>
          <a:lstStyle/>
          <a:p>
            <a:pPr algn="l"/>
            <a:r>
              <a:rPr sz="1000" b="1" i="0">
                <a:solidFill>
                  <a:srgbClr val="CC0000"/>
                </a:solidFill>
                <a:latin typeface="Arial"/>
              </a:rPr>
              <a:t>BA QUY TẮC HÀNH VĂN</a:t>
            </a:r>
          </a:p>
        </p:txBody>
      </p:sp>
      <p:cxnSp>
        <p:nvCxnSpPr>
          <p:cNvPr id="13" name="Connector 12"/>
          <p:cNvCxnSpPr/>
          <p:nvPr/>
        </p:nvCxnSpPr>
        <p:spPr>
          <a:xfrm>
            <a:off x="8046720" y="2103120"/>
            <a:ext cx="36850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46720" y="2167128"/>
            <a:ext cx="3685031" cy="3383280"/>
          </a:xfrm>
          <a:prstGeom prst="rect">
            <a:avLst/>
          </a:prstGeom>
          <a:noFill/>
        </p:spPr>
        <p:txBody>
          <a:bodyPr wrap="square" lIns="45720" rIns="45720" tIns="27432" bIns="27432" anchor="t">
            <a:spAutoFit/>
          </a:bodyPr>
          <a:lstStyle/>
          <a:p>
            <a:pPr algn="l"/>
            <a:r>
              <a:rPr sz="1250" b="0" i="0">
                <a:solidFill>
                  <a:srgbClr val="58595B"/>
                </a:solidFill>
                <a:latin typeface="Arial"/>
              </a:rPr>
              <a:t>Câu ngắn khoảng </a:t>
            </a:r>
            <a:r>
              <a:rPr sz="1250" b="1" i="0">
                <a:solidFill>
                  <a:srgbClr val="58595B"/>
                </a:solidFill>
                <a:latin typeface="Arial"/>
              </a:rPr>
              <a:t>15 đến 20 từ</a:t>
            </a:r>
            <a:r>
              <a:rPr sz="1250" b="0" i="0">
                <a:solidFill>
                  <a:srgbClr val="58595B"/>
                </a:solidFill>
                <a:latin typeface="Arial"/>
              </a:rPr>
              <a:t>; câu trên 30 từ tách làm hai.</a:t>
            </a:r>
          </a:p>
          <a:p>
            <a:pPr algn="l">
              <a:spcBef>
                <a:spcPts val="562"/>
              </a:spcBef>
            </a:pPr>
          </a:p>
          <a:p>
            <a:pPr algn="l">
              <a:spcBef>
                <a:spcPts val="562"/>
              </a:spcBef>
            </a:pPr>
            <a:r>
              <a:rPr sz="1250" b="0" i="0">
                <a:solidFill>
                  <a:srgbClr val="58595B"/>
                </a:solidFill>
                <a:latin typeface="Arial"/>
              </a:rPr>
              <a:t>Mỗi đoạn một ý; câu sau móc vào từ khóa của câu trước (</a:t>
            </a:r>
            <a:r>
              <a:rPr sz="1250" b="1" i="0">
                <a:solidFill>
                  <a:srgbClr val="58595B"/>
                </a:solidFill>
                <a:latin typeface="Arial"/>
              </a:rPr>
              <a:t>hook-and-eye</a:t>
            </a:r>
            <a:r>
              <a:rPr sz="1250" b="0" i="0">
                <a:solidFill>
                  <a:srgbClr val="58595B"/>
                </a:solidFill>
                <a:latin typeface="Arial"/>
              </a:rPr>
              <a:t>).</a:t>
            </a:r>
          </a:p>
          <a:p>
            <a:pPr algn="l">
              <a:spcBef>
                <a:spcPts val="562"/>
              </a:spcBef>
            </a:pPr>
          </a:p>
          <a:p>
            <a:pPr algn="l">
              <a:spcBef>
                <a:spcPts val="562"/>
              </a:spcBef>
            </a:pPr>
            <a:r>
              <a:rPr sz="1250" b="0" i="0">
                <a:solidFill>
                  <a:srgbClr val="58595B"/>
                </a:solidFill>
                <a:latin typeface="Arial"/>
              </a:rPr>
              <a:t>Trích dẫn (Tác giả, Năm); từ ba tác giả trở lên ghi "và cộng sự" ngay lần đầu; trích nguyên văn phải có số trang.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PHẦN MỞ ĐẦU VÀ CHƯƠNG 1 | LỖI THƯỜNG GẶP</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Bảy lỗi của phần mở đầu và bảy lỗi của Chương 1 đều có cách khắc phục chỉ về đúng mục trong sách</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Checklist phần mở đầu có 14 câu, checklist Chương 1 có 13 câu: câu nào chưa đánh dấu "có" thì quay lại đúng mục đó.</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 mục F, Bảng 1-10; Hướng dẫn Chuyên đề và Khóa luận tốt nghiệp, Phần 1, mục F, Bảng 1-11</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29</a:t>
            </a:r>
          </a:p>
        </p:txBody>
      </p:sp>
      <p:graphicFrame>
        <p:nvGraphicFramePr>
          <p:cNvPr id="12" name="Table 11"/>
          <p:cNvGraphicFramePr>
            <a:graphicFrameLocks noGrp="1"/>
          </p:cNvGraphicFramePr>
          <p:nvPr/>
        </p:nvGraphicFramePr>
        <p:xfrm>
          <a:off x="457200" y="1783080"/>
          <a:ext cx="11274551" cy="3611880"/>
        </p:xfrm>
        <a:graphic>
          <a:graphicData uri="http://schemas.openxmlformats.org/drawingml/2006/table">
            <a:tbl>
              <a:tblPr firstRow="1" bandRow="1">
                <a:tableStyleId>{5C22544A-7EE6-4342-B048-85BDC9FD1C3A}</a:tableStyleId>
              </a:tblPr>
              <a:tblGrid>
                <a:gridCol w="3758183"/>
                <a:gridCol w="3340608"/>
                <a:gridCol w="4175760"/>
              </a:tblGrid>
              <a:tr h="411480">
                <a:tc>
                  <a:txBody>
                    <a:bodyPr wrap="square"/>
                    <a:lstStyle/>
                    <a:p>
                      <a:pPr algn="l"/>
                      <a:r>
                        <a:rPr sz="1200" b="1">
                          <a:solidFill>
                            <a:srgbClr val="FFFFFF"/>
                          </a:solidFill>
                          <a:latin typeface="Arial"/>
                        </a:rPr>
                        <a:t>Lỗi thường gặp</a:t>
                      </a:r>
                    </a:p>
                  </a:txBody>
                  <a:tcPr marL="73152" marR="73152" marT="27432" marB="27432" anchor="ctr">
                    <a:solidFill>
                      <a:srgbClr val="262626"/>
                    </a:solidFill>
                  </a:tcPr>
                </a:tc>
                <a:tc>
                  <a:txBody>
                    <a:bodyPr wrap="square"/>
                    <a:lstStyle/>
                    <a:p>
                      <a:pPr algn="l"/>
                      <a:r>
                        <a:rPr sz="1200" b="1">
                          <a:solidFill>
                            <a:srgbClr val="FFFFFF"/>
                          </a:solidFill>
                          <a:latin typeface="Arial"/>
                        </a:rPr>
                        <a:t>Hậu quả</a:t>
                      </a:r>
                    </a:p>
                  </a:txBody>
                  <a:tcPr marL="73152" marR="73152" marT="27432" marB="27432" anchor="ctr">
                    <a:solidFill>
                      <a:srgbClr val="262626"/>
                    </a:solidFill>
                  </a:tcPr>
                </a:tc>
                <a:tc>
                  <a:txBody>
                    <a:bodyPr wrap="square"/>
                    <a:lstStyle/>
                    <a:p>
                      <a:pPr algn="l"/>
                      <a:r>
                        <a:rPr sz="1200" b="1">
                          <a:solidFill>
                            <a:srgbClr val="FFFFFF"/>
                          </a:solidFill>
                          <a:latin typeface="Arial"/>
                        </a:rPr>
                        <a:t>Cách khắc phục</a:t>
                      </a:r>
                    </a:p>
                  </a:txBody>
                  <a:tcPr marL="73152" marR="73152" marT="27432" marB="27432" anchor="ctr">
                    <a:solidFill>
                      <a:srgbClr val="262626"/>
                    </a:solidFill>
                  </a:tcPr>
                </a:tc>
              </a:tr>
              <a:tr h="457200">
                <a:tc>
                  <a:txBody>
                    <a:bodyPr wrap="square"/>
                    <a:lstStyle/>
                    <a:p>
                      <a:pPr algn="l"/>
                      <a:r>
                        <a:rPr sz="1200" b="0">
                          <a:solidFill>
                            <a:srgbClr val="262626"/>
                          </a:solidFill>
                          <a:latin typeface="Arial"/>
                        </a:rPr>
                        <a:t>Lý do chọn đề tài chung chung</a:t>
                      </a:r>
                    </a:p>
                  </a:txBody>
                  <a:tcPr marL="73152" marR="73152" marT="27432" marB="27432" anchor="ctr">
                    <a:solidFill>
                      <a:srgbClr val="FFFFFF"/>
                    </a:solidFill>
                  </a:tcPr>
                </a:tc>
                <a:tc>
                  <a:txBody>
                    <a:bodyPr wrap="square"/>
                    <a:lstStyle/>
                    <a:p>
                      <a:pPr algn="l"/>
                      <a:r>
                        <a:rPr sz="1200" b="0">
                          <a:solidFill>
                            <a:srgbClr val="262626"/>
                          </a:solidFill>
                          <a:latin typeface="Arial"/>
                        </a:rPr>
                        <a:t>Không thấy vấn đề cụ thể</a:t>
                      </a:r>
                    </a:p>
                  </a:txBody>
                  <a:tcPr marL="73152" marR="73152" marT="27432" marB="27432" anchor="ctr">
                    <a:solidFill>
                      <a:srgbClr val="FFFFFF"/>
                    </a:solidFill>
                  </a:tcPr>
                </a:tc>
                <a:tc>
                  <a:txBody>
                    <a:bodyPr wrap="square"/>
                    <a:lstStyle/>
                    <a:p>
                      <a:pPr algn="l"/>
                      <a:r>
                        <a:rPr sz="1200" b="0">
                          <a:solidFill>
                            <a:srgbClr val="262626"/>
                          </a:solidFill>
                          <a:latin typeface="Arial"/>
                        </a:rPr>
                        <a:t>Mô hình phễu; một câu nêu vấn đề riêng</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Mục tiêu mơ hồ; mục tiêu và câu hỏi không khớp</a:t>
                      </a:r>
                    </a:p>
                  </a:txBody>
                  <a:tcPr marL="73152" marR="73152" marT="27432" marB="27432" anchor="ctr">
                    <a:solidFill>
                      <a:srgbClr val="F3F3F3"/>
                    </a:solidFill>
                  </a:tcPr>
                </a:tc>
                <a:tc>
                  <a:txBody>
                    <a:bodyPr wrap="square"/>
                    <a:lstStyle/>
                    <a:p>
                      <a:pPr algn="l"/>
                      <a:r>
                        <a:rPr sz="1200" b="0">
                          <a:solidFill>
                            <a:srgbClr val="262626"/>
                          </a:solidFill>
                          <a:latin typeface="Arial"/>
                        </a:rPr>
                        <a:t>Không đo được mức hoàn thành; kết quả trả lời lệch</a:t>
                      </a:r>
                    </a:p>
                  </a:txBody>
                  <a:tcPr marL="73152" marR="73152" marT="27432" marB="27432" anchor="ctr">
                    <a:solidFill>
                      <a:srgbClr val="F3F3F3"/>
                    </a:solidFill>
                  </a:tcPr>
                </a:tc>
                <a:tc>
                  <a:txBody>
                    <a:bodyPr wrap="square"/>
                    <a:lstStyle/>
                    <a:p>
                      <a:pPr algn="l"/>
                      <a:r>
                        <a:rPr sz="1200" b="0">
                          <a:solidFill>
                            <a:srgbClr val="262626"/>
                          </a:solidFill>
                          <a:latin typeface="Arial"/>
                        </a:rPr>
                        <a:t>Công thức bốn thành phần; ghép từng cặp trước khi viết</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Phạm vi quá rộng hoặc không khớp dữ liệu</a:t>
                      </a:r>
                    </a:p>
                  </a:txBody>
                  <a:tcPr marL="73152" marR="73152" marT="27432" marB="27432" anchor="ctr">
                    <a:solidFill>
                      <a:srgbClr val="FFFFFF"/>
                    </a:solidFill>
                  </a:tcPr>
                </a:tc>
                <a:tc>
                  <a:txBody>
                    <a:bodyPr wrap="square"/>
                    <a:lstStyle/>
                    <a:p>
                      <a:pPr algn="l"/>
                      <a:r>
                        <a:rPr sz="1200" b="0">
                          <a:solidFill>
                            <a:srgbClr val="262626"/>
                          </a:solidFill>
                          <a:latin typeface="Arial"/>
                        </a:rPr>
                        <a:t>Kết luận vượt quá dữ liệu</a:t>
                      </a:r>
                    </a:p>
                  </a:txBody>
                  <a:tcPr marL="73152" marR="73152" marT="27432" marB="27432" anchor="ctr">
                    <a:solidFill>
                      <a:srgbClr val="FFFFFF"/>
                    </a:solidFill>
                  </a:tcPr>
                </a:tc>
                <a:tc>
                  <a:txBody>
                    <a:bodyPr wrap="square"/>
                    <a:lstStyle/>
                    <a:p>
                      <a:pPr algn="l"/>
                      <a:r>
                        <a:rPr sz="1200" b="0">
                          <a:solidFill>
                            <a:srgbClr val="262626"/>
                          </a:solidFill>
                          <a:latin typeface="Arial"/>
                        </a:rPr>
                        <a:t>Viết phạm vi theo nơi và thời gian thật sự thu dữ liệu</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Văn phong cảm tính; nêu kết quả trước</a:t>
                      </a:r>
                    </a:p>
                  </a:txBody>
                  <a:tcPr marL="73152" marR="73152" marT="27432" marB="27432" anchor="ctr">
                    <a:solidFill>
                      <a:srgbClr val="F3F3F3"/>
                    </a:solidFill>
                  </a:tcPr>
                </a:tc>
                <a:tc>
                  <a:txBody>
                    <a:bodyPr wrap="square"/>
                    <a:lstStyle/>
                    <a:p>
                      <a:pPr algn="l"/>
                      <a:r>
                        <a:rPr sz="1200" b="0">
                          <a:solidFill>
                            <a:srgbClr val="262626"/>
                          </a:solidFill>
                          <a:latin typeface="Arial"/>
                        </a:rPr>
                        <a:t>Người chấm nghi ngờ tính khách quan</a:t>
                      </a:r>
                    </a:p>
                  </a:txBody>
                  <a:tcPr marL="73152" marR="73152" marT="27432" marB="27432" anchor="ctr">
                    <a:solidFill>
                      <a:srgbClr val="F3F3F3"/>
                    </a:solidFill>
                  </a:tcPr>
                </a:tc>
                <a:tc>
                  <a:txBody>
                    <a:bodyPr wrap="square"/>
                    <a:lstStyle/>
                    <a:p>
                      <a:pPr algn="l"/>
                      <a:r>
                        <a:rPr sz="1200" b="0">
                          <a:solidFill>
                            <a:srgbClr val="262626"/>
                          </a:solidFill>
                          <a:latin typeface="Arial"/>
                        </a:rPr>
                        <a:t>Thay từ cảm tính; không viết kết quả ở phần mở đầu</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Chương 1 chép nguyên văn phần mở đầu</a:t>
                      </a:r>
                    </a:p>
                  </a:txBody>
                  <a:tcPr marL="73152" marR="73152" marT="27432" marB="27432" anchor="ctr">
                    <a:solidFill>
                      <a:srgbClr val="FFFFFF"/>
                    </a:solidFill>
                  </a:tcPr>
                </a:tc>
                <a:tc>
                  <a:txBody>
                    <a:bodyPr wrap="square"/>
                    <a:lstStyle/>
                    <a:p>
                      <a:pPr algn="l"/>
                      <a:r>
                        <a:rPr sz="1200" b="0">
                          <a:solidFill>
                            <a:srgbClr val="262626"/>
                          </a:solidFill>
                          <a:latin typeface="Arial"/>
                        </a:rPr>
                        <a:t>Dài thêm mà không có thông tin mới</a:t>
                      </a:r>
                    </a:p>
                  </a:txBody>
                  <a:tcPr marL="73152" marR="73152" marT="27432" marB="27432" anchor="ctr">
                    <a:solidFill>
                      <a:srgbClr val="FFFFFF"/>
                    </a:solidFill>
                  </a:tcPr>
                </a:tc>
                <a:tc>
                  <a:txBody>
                    <a:bodyPr wrap="square"/>
                    <a:lstStyle/>
                    <a:p>
                      <a:pPr algn="l"/>
                      <a:r>
                        <a:rPr sz="1200" b="0">
                          <a:solidFill>
                            <a:srgbClr val="262626"/>
                          </a:solidFill>
                          <a:latin typeface="Arial"/>
                        </a:rPr>
                        <a:t>Bổ sung số liệu, lập luận, lý do lựa chọn</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Mô tả phương pháp chi tiết như Chương 3</a:t>
                      </a:r>
                    </a:p>
                  </a:txBody>
                  <a:tcPr marL="73152" marR="73152" marT="27432" marB="27432" anchor="ctr">
                    <a:solidFill>
                      <a:srgbClr val="F3F3F3"/>
                    </a:solidFill>
                  </a:tcPr>
                </a:tc>
                <a:tc>
                  <a:txBody>
                    <a:bodyPr wrap="square"/>
                    <a:lstStyle/>
                    <a:p>
                      <a:pPr algn="l"/>
                      <a:r>
                        <a:rPr sz="1200" b="0">
                          <a:solidFill>
                            <a:srgbClr val="262626"/>
                          </a:solidFill>
                          <a:latin typeface="Arial"/>
                        </a:rPr>
                        <a:t>Hai chương lặp nhau</a:t>
                      </a:r>
                    </a:p>
                  </a:txBody>
                  <a:tcPr marL="73152" marR="73152" marT="27432" marB="27432" anchor="ctr">
                    <a:solidFill>
                      <a:srgbClr val="F3F3F3"/>
                    </a:solidFill>
                  </a:tcPr>
                </a:tc>
                <a:tc>
                  <a:txBody>
                    <a:bodyPr wrap="square"/>
                    <a:lstStyle/>
                    <a:p>
                      <a:pPr algn="l"/>
                      <a:r>
                        <a:rPr sz="1200" b="0">
                          <a:solidFill>
                            <a:srgbClr val="262626"/>
                          </a:solidFill>
                          <a:latin typeface="Arial"/>
                        </a:rPr>
                        <a:t>Chỉ nêu cách tiếp cận, quy trình, tên kỹ thuật</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Mục tiêu ở Chương 1 khác đề cương</a:t>
                      </a:r>
                    </a:p>
                  </a:txBody>
                  <a:tcPr marL="73152" marR="73152" marT="27432" marB="27432" anchor="ctr">
                    <a:solidFill>
                      <a:srgbClr val="FFFFFF"/>
                    </a:solidFill>
                  </a:tcPr>
                </a:tc>
                <a:tc>
                  <a:txBody>
                    <a:bodyPr wrap="square"/>
                    <a:lstStyle/>
                    <a:p>
                      <a:pPr algn="l"/>
                      <a:r>
                        <a:rPr sz="1200" b="0">
                          <a:solidFill>
                            <a:srgbClr val="262626"/>
                          </a:solidFill>
                          <a:latin typeface="Arial"/>
                        </a:rPr>
                        <a:t>Bài thiếu nhất quán</a:t>
                      </a:r>
                    </a:p>
                  </a:txBody>
                  <a:tcPr marL="73152" marR="73152" marT="27432" marB="27432" anchor="ctr">
                    <a:solidFill>
                      <a:srgbClr val="FFFFFF"/>
                    </a:solidFill>
                  </a:tcPr>
                </a:tc>
                <a:tc>
                  <a:txBody>
                    <a:bodyPr wrap="square"/>
                    <a:lstStyle/>
                    <a:p>
                      <a:pPr algn="l"/>
                      <a:r>
                        <a:rPr sz="1200" b="0">
                          <a:solidFill>
                            <a:srgbClr val="262626"/>
                          </a:solidFill>
                          <a:latin typeface="Arial"/>
                        </a:rPr>
                        <a:t>Sửa một nơi thì sửa ở tất cả các nơi</a:t>
                      </a:r>
                    </a:p>
                  </a:txBody>
                  <a:tcPr marL="73152" marR="73152" marT="27432" marB="27432"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148840"/>
            <a:ext cx="109728" cy="21945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011680"/>
            <a:ext cx="9144000" cy="914400"/>
          </a:xfrm>
          <a:prstGeom prst="rect">
            <a:avLst/>
          </a:prstGeom>
          <a:noFill/>
        </p:spPr>
        <p:txBody>
          <a:bodyPr wrap="square" lIns="45720" rIns="45720" tIns="27432" bIns="27432" anchor="t">
            <a:spAutoFit/>
          </a:bodyPr>
          <a:lstStyle/>
          <a:p>
            <a:pPr algn="l"/>
            <a:r>
              <a:rPr sz="6000" b="1" i="0">
                <a:solidFill>
                  <a:srgbClr val="CC0000"/>
                </a:solidFill>
                <a:latin typeface="Arial"/>
              </a:rPr>
              <a:t>03</a:t>
            </a:r>
          </a:p>
        </p:txBody>
      </p:sp>
      <p:sp>
        <p:nvSpPr>
          <p:cNvPr id="5" name="TextBox 4"/>
          <p:cNvSpPr txBox="1"/>
          <p:nvPr/>
        </p:nvSpPr>
        <p:spPr>
          <a:xfrm>
            <a:off x="1051560" y="2926080"/>
            <a:ext cx="10058400" cy="914400"/>
          </a:xfrm>
          <a:prstGeom prst="rect">
            <a:avLst/>
          </a:prstGeom>
          <a:noFill/>
        </p:spPr>
        <p:txBody>
          <a:bodyPr wrap="square" lIns="45720" rIns="45720" tIns="27432" bIns="27432" anchor="t">
            <a:spAutoFit/>
          </a:bodyPr>
          <a:lstStyle/>
          <a:p>
            <a:pPr algn="l"/>
            <a:r>
              <a:rPr sz="3400" b="1" i="0">
                <a:solidFill>
                  <a:srgbClr val="FFFFFF"/>
                </a:solidFill>
                <a:latin typeface="Arial"/>
              </a:rPr>
              <a:t>Chương 2: Cơ sở lý thuyết và mô hình</a:t>
            </a:r>
          </a:p>
        </p:txBody>
      </p:sp>
      <p:sp>
        <p:nvSpPr>
          <p:cNvPr id="6" name="TextBox 5"/>
          <p:cNvSpPr txBox="1"/>
          <p:nvPr/>
        </p:nvSpPr>
        <p:spPr>
          <a:xfrm>
            <a:off x="1051560" y="3794760"/>
            <a:ext cx="10058400" cy="822960"/>
          </a:xfrm>
          <a:prstGeom prst="rect">
            <a:avLst/>
          </a:prstGeom>
          <a:noFill/>
        </p:spPr>
        <p:txBody>
          <a:bodyPr wrap="square" lIns="45720" rIns="45720" tIns="27432" bIns="27432" anchor="t">
            <a:spAutoFit/>
          </a:bodyPr>
          <a:lstStyle/>
          <a:p>
            <a:pPr algn="l"/>
            <a:r>
              <a:rPr sz="1600" b="0" i="0">
                <a:solidFill>
                  <a:srgbClr val="D9D9D9"/>
                </a:solidFill>
                <a:latin typeface="Arial"/>
              </a:rPr>
              <a:t>Dựa vào lý thuyết nào để dự đoán câu trả lời? Sản phẩm là mô hình và các giả thuyết</a:t>
            </a:r>
          </a:p>
        </p:txBody>
      </p:sp>
      <p:sp>
        <p:nvSpPr>
          <p:cNvPr id="7" name="TextBox 6"/>
          <p:cNvSpPr txBox="1"/>
          <p:nvPr/>
        </p:nvSpPr>
        <p:spPr>
          <a:xfrm>
            <a:off x="1051560" y="4709160"/>
            <a:ext cx="10058400" cy="822960"/>
          </a:xfrm>
          <a:prstGeom prst="rect">
            <a:avLst/>
          </a:prstGeom>
          <a:noFill/>
        </p:spPr>
        <p:txBody>
          <a:bodyPr wrap="square" lIns="45720" rIns="45720" tIns="27432" bIns="27432" anchor="t">
            <a:spAutoFit/>
          </a:bodyPr>
          <a:lstStyle/>
          <a:p>
            <a:pPr algn="l"/>
            <a:r>
              <a:rPr sz="1300" b="1" i="0">
                <a:solidFill>
                  <a:srgbClr val="F29B9B"/>
                </a:solidFill>
                <a:latin typeface="Arial"/>
              </a:rPr>
              <a:t>ĐỌC TRONG SÁCH: Phần 2 (mục A đến G, Thực hành 2.1.3A); Hình 2-1 đến 2-12; Bảng 2-1 đến 2-9</a:t>
            </a:r>
          </a:p>
        </p:txBody>
      </p:sp>
      <p:sp>
        <p:nvSpPr>
          <p:cNvPr id="8" name="TextBox 7"/>
          <p:cNvSpPr txBox="1"/>
          <p:nvPr/>
        </p:nvSpPr>
        <p:spPr>
          <a:xfrm>
            <a:off x="1051560" y="5943600"/>
            <a:ext cx="10058400" cy="365760"/>
          </a:xfrm>
          <a:prstGeom prst="rect">
            <a:avLst/>
          </a:prstGeom>
          <a:noFill/>
        </p:spPr>
        <p:txBody>
          <a:bodyPr wrap="square" lIns="45720" rIns="45720" tIns="27432" bIns="27432" anchor="t">
            <a:spAutoFit/>
          </a:bodyPr>
          <a:lstStyle/>
          <a:p>
            <a:pPr algn="l"/>
            <a:r>
              <a:rPr sz="1200" b="0" i="0">
                <a:solidFill>
                  <a:srgbClr val="9E9E9E"/>
                </a:solidFill>
                <a:latin typeface="Arial"/>
              </a:rPr>
              <a:t>Thời lượng ước tính: 33 phút | 15 slide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BẢN ĐỒ ĐỐI CHIẾU SÁCH</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Bản đồ đọc sách cho Chương 2: phần lớn thời gian nằm ở đọc tài liệu, không nằm ở viết</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Mục 2.1.2 cần 3 đến 5 ngày đọc: ai bắt đầu Chương 2 mà chưa có ma trận tài liệu là đang bắt đầu muộn.</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31</a:t>
            </a:r>
          </a:p>
        </p:txBody>
      </p:sp>
      <p:graphicFrame>
        <p:nvGraphicFramePr>
          <p:cNvPr id="12" name="Table 11"/>
          <p:cNvGraphicFramePr>
            <a:graphicFrameLocks noGrp="1"/>
          </p:cNvGraphicFramePr>
          <p:nvPr/>
        </p:nvGraphicFramePr>
        <p:xfrm>
          <a:off x="457200" y="1783080"/>
          <a:ext cx="11274551" cy="3840480"/>
        </p:xfrm>
        <a:graphic>
          <a:graphicData uri="http://schemas.openxmlformats.org/drawingml/2006/table">
            <a:tbl>
              <a:tblPr firstRow="1" bandRow="1">
                <a:tableStyleId>{5C22544A-7EE6-4342-B048-85BDC9FD1C3A}</a:tableStyleId>
              </a:tblPr>
              <a:tblGrid>
                <a:gridCol w="3083638"/>
                <a:gridCol w="3276365"/>
                <a:gridCol w="3083638"/>
                <a:gridCol w="1830910"/>
              </a:tblGrid>
              <a:tr h="411480">
                <a:tc>
                  <a:txBody>
                    <a:bodyPr wrap="square"/>
                    <a:lstStyle/>
                    <a:p>
                      <a:pPr algn="l"/>
                      <a:r>
                        <a:rPr sz="1200" b="1">
                          <a:solidFill>
                            <a:srgbClr val="FFFFFF"/>
                          </a:solidFill>
                          <a:latin typeface="Arial"/>
                        </a:rPr>
                        <a:t>Mục trong khóa luận</a:t>
                      </a:r>
                    </a:p>
                  </a:txBody>
                  <a:tcPr marL="73152" marR="73152" marT="27432" marB="27432" anchor="ctr">
                    <a:solidFill>
                      <a:srgbClr val="262626"/>
                    </a:solidFill>
                  </a:tcPr>
                </a:tc>
                <a:tc>
                  <a:txBody>
                    <a:bodyPr wrap="square"/>
                    <a:lstStyle/>
                    <a:p>
                      <a:pPr algn="l"/>
                      <a:r>
                        <a:rPr sz="1200" b="1">
                          <a:solidFill>
                            <a:srgbClr val="FFFFFF"/>
                          </a:solidFill>
                          <a:latin typeface="Arial"/>
                        </a:rPr>
                        <a:t>Đọc ở đâu trong sách</a:t>
                      </a:r>
                    </a:p>
                  </a:txBody>
                  <a:tcPr marL="73152" marR="73152" marT="27432" marB="27432" anchor="ctr">
                    <a:solidFill>
                      <a:srgbClr val="262626"/>
                    </a:solidFill>
                  </a:tcPr>
                </a:tc>
                <a:tc>
                  <a:txBody>
                    <a:bodyPr wrap="square"/>
                    <a:lstStyle/>
                    <a:p>
                      <a:pPr algn="l"/>
                      <a:r>
                        <a:rPr sz="1200" b="1">
                          <a:solidFill>
                            <a:srgbClr val="FFFFFF"/>
                          </a:solidFill>
                          <a:latin typeface="Arial"/>
                        </a:rPr>
                        <a:t>Hình, bảng, sheet</a:t>
                      </a:r>
                    </a:p>
                  </a:txBody>
                  <a:tcPr marL="73152" marR="73152" marT="27432" marB="27432" anchor="ctr">
                    <a:solidFill>
                      <a:srgbClr val="262626"/>
                    </a:solidFill>
                  </a:tcPr>
                </a:tc>
                <a:tc>
                  <a:txBody>
                    <a:bodyPr wrap="square"/>
                    <a:lstStyle/>
                    <a:p>
                      <a:pPr algn="l"/>
                      <a:r>
                        <a:rPr sz="1200" b="1">
                          <a:solidFill>
                            <a:srgbClr val="FFFFFF"/>
                          </a:solidFill>
                          <a:latin typeface="Arial"/>
                        </a:rPr>
                        <a:t>Thời gian gợi ý</a:t>
                      </a:r>
                    </a:p>
                  </a:txBody>
                  <a:tcPr marL="73152" marR="73152" marT="27432" marB="27432" anchor="ctr">
                    <a:solidFill>
                      <a:srgbClr val="262626"/>
                    </a:solidFill>
                  </a:tcPr>
                </a:tc>
              </a:tr>
              <a:tr h="428625">
                <a:tc>
                  <a:txBody>
                    <a:bodyPr wrap="square"/>
                    <a:lstStyle/>
                    <a:p>
                      <a:pPr algn="l"/>
                      <a:r>
                        <a:rPr sz="1200" b="0">
                          <a:solidFill>
                            <a:srgbClr val="262626"/>
                          </a:solidFill>
                          <a:latin typeface="Arial"/>
                        </a:rPr>
                        <a:t>2.1.1 Khái niệm nền tảng</a:t>
                      </a:r>
                    </a:p>
                  </a:txBody>
                  <a:tcPr marL="73152" marR="73152" marT="27432" marB="27432" anchor="ctr">
                    <a:solidFill>
                      <a:srgbClr val="FFFFFF"/>
                    </a:solidFill>
                  </a:tcPr>
                </a:tc>
                <a:tc>
                  <a:txBody>
                    <a:bodyPr wrap="square"/>
                    <a:lstStyle/>
                    <a:p>
                      <a:pPr algn="l"/>
                      <a:r>
                        <a:rPr sz="1200" b="0">
                          <a:solidFill>
                            <a:srgbClr val="262626"/>
                          </a:solidFill>
                          <a:latin typeface="Arial"/>
                        </a:rPr>
                        <a:t>Phần 2, Mục 2.1.1</a:t>
                      </a:r>
                    </a:p>
                  </a:txBody>
                  <a:tcPr marL="73152" marR="73152" marT="27432" marB="27432" anchor="ctr">
                    <a:solidFill>
                      <a:srgbClr val="FFFFFF"/>
                    </a:solidFill>
                  </a:tcPr>
                </a:tc>
                <a:tc>
                  <a:txBody>
                    <a:bodyPr wrap="square"/>
                    <a:lstStyle/>
                    <a:p>
                      <a:pPr algn="l"/>
                      <a:r>
                        <a:rPr sz="1200" b="0">
                          <a:solidFill>
                            <a:srgbClr val="262626"/>
                          </a:solidFill>
                          <a:latin typeface="Arial"/>
                        </a:rPr>
                        <a:t>Bảng 2-1</a:t>
                      </a:r>
                    </a:p>
                  </a:txBody>
                  <a:tcPr marL="73152" marR="73152" marT="27432" marB="27432" anchor="ctr">
                    <a:solidFill>
                      <a:srgbClr val="FFFFFF"/>
                    </a:solidFill>
                  </a:tcPr>
                </a:tc>
                <a:tc>
                  <a:txBody>
                    <a:bodyPr wrap="square"/>
                    <a:lstStyle/>
                    <a:p>
                      <a:pPr algn="l"/>
                      <a:r>
                        <a:rPr sz="1200" b="0">
                          <a:solidFill>
                            <a:srgbClr val="262626"/>
                          </a:solidFill>
                          <a:latin typeface="Arial"/>
                        </a:rPr>
                        <a:t>1 đến 2 ngày đọc; 1 ngày viết</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2.1.2 Tổng quan nghiên cứu trước</a:t>
                      </a:r>
                    </a:p>
                  </a:txBody>
                  <a:tcPr marL="73152" marR="73152" marT="27432" marB="27432" anchor="ctr">
                    <a:solidFill>
                      <a:srgbClr val="F3F3F3"/>
                    </a:solidFill>
                  </a:tcPr>
                </a:tc>
                <a:tc>
                  <a:txBody>
                    <a:bodyPr wrap="square"/>
                    <a:lstStyle/>
                    <a:p>
                      <a:pPr algn="l"/>
                      <a:r>
                        <a:rPr sz="1200" b="0">
                          <a:solidFill>
                            <a:srgbClr val="262626"/>
                          </a:solidFill>
                          <a:latin typeface="Arial"/>
                        </a:rPr>
                        <a:t>Mục 2.1.2; Kỹ thuật dùng cho Mục 2.1.2; Đọc kỹ một đoạn tổng quan mẫu</a:t>
                      </a:r>
                    </a:p>
                  </a:txBody>
                  <a:tcPr marL="73152" marR="73152" marT="27432" marB="27432" anchor="ctr">
                    <a:solidFill>
                      <a:srgbClr val="F3F3F3"/>
                    </a:solidFill>
                  </a:tcPr>
                </a:tc>
                <a:tc>
                  <a:txBody>
                    <a:bodyPr wrap="square"/>
                    <a:lstStyle/>
                    <a:p>
                      <a:pPr algn="l"/>
                      <a:r>
                        <a:rPr sz="1200" b="0">
                          <a:solidFill>
                            <a:srgbClr val="262626"/>
                          </a:solidFill>
                          <a:latin typeface="Arial"/>
                        </a:rPr>
                        <a:t>Hình 2-4 đến 2-6; Bảng 2-2</a:t>
                      </a:r>
                    </a:p>
                  </a:txBody>
                  <a:tcPr marL="73152" marR="73152" marT="27432" marB="27432" anchor="ctr">
                    <a:solidFill>
                      <a:srgbClr val="F3F3F3"/>
                    </a:solidFill>
                  </a:tcPr>
                </a:tc>
                <a:tc>
                  <a:txBody>
                    <a:bodyPr wrap="square"/>
                    <a:lstStyle/>
                    <a:p>
                      <a:pPr algn="l"/>
                      <a:r>
                        <a:rPr sz="1200" b="0">
                          <a:solidFill>
                            <a:srgbClr val="262626"/>
                          </a:solidFill>
                          <a:latin typeface="Arial"/>
                        </a:rPr>
                        <a:t>3 đến 5 ngày đọc; 2 ngày viết</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2.1.3 Khoảng trống, điểm mới</a:t>
                      </a:r>
                    </a:p>
                  </a:txBody>
                  <a:tcPr marL="73152" marR="73152" marT="27432" marB="27432" anchor="ctr">
                    <a:solidFill>
                      <a:srgbClr val="FFFFFF"/>
                    </a:solidFill>
                  </a:tcPr>
                </a:tc>
                <a:tc>
                  <a:txBody>
                    <a:bodyPr wrap="square"/>
                    <a:lstStyle/>
                    <a:p>
                      <a:pPr algn="l"/>
                      <a:r>
                        <a:rPr sz="1200" b="0">
                          <a:solidFill>
                            <a:srgbClr val="262626"/>
                          </a:solidFill>
                          <a:latin typeface="Arial"/>
                        </a:rPr>
                        <a:t>Mục 2.1.3; Thực hành 2.1.3A</a:t>
                      </a:r>
                    </a:p>
                  </a:txBody>
                  <a:tcPr marL="73152" marR="73152" marT="27432" marB="27432" anchor="ctr">
                    <a:solidFill>
                      <a:srgbClr val="FFFFFF"/>
                    </a:solidFill>
                  </a:tcPr>
                </a:tc>
                <a:tc>
                  <a:txBody>
                    <a:bodyPr wrap="square"/>
                    <a:lstStyle/>
                    <a:p>
                      <a:pPr algn="l"/>
                      <a:r>
                        <a:rPr sz="1200" b="0">
                          <a:solidFill>
                            <a:srgbClr val="262626"/>
                          </a:solidFill>
                          <a:latin typeface="Arial"/>
                        </a:rPr>
                        <a:t>Hình 2-4; Bảng 2-3 đến 2-5; file 2b sheet 1, 2, 12</a:t>
                      </a:r>
                    </a:p>
                  </a:txBody>
                  <a:tcPr marL="73152" marR="73152" marT="27432" marB="27432" anchor="ctr">
                    <a:solidFill>
                      <a:srgbClr val="FFFFFF"/>
                    </a:solidFill>
                  </a:tcPr>
                </a:tc>
                <a:tc>
                  <a:txBody>
                    <a:bodyPr wrap="square"/>
                    <a:lstStyle/>
                    <a:p>
                      <a:pPr algn="l"/>
                      <a:r>
                        <a:rPr sz="1200" b="0">
                          <a:solidFill>
                            <a:srgbClr val="262626"/>
                          </a:solidFill>
                          <a:latin typeface="Arial"/>
                        </a:rPr>
                        <a:t>1 ngày viết; 2 ngày tìm tài liệu</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2.2.1 Lý thuyết nền</a:t>
                      </a:r>
                    </a:p>
                  </a:txBody>
                  <a:tcPr marL="73152" marR="73152" marT="27432" marB="27432" anchor="ctr">
                    <a:solidFill>
                      <a:srgbClr val="F3F3F3"/>
                    </a:solidFill>
                  </a:tcPr>
                </a:tc>
                <a:tc>
                  <a:txBody>
                    <a:bodyPr wrap="square"/>
                    <a:lstStyle/>
                    <a:p>
                      <a:pPr algn="l"/>
                      <a:r>
                        <a:rPr sz="1200" b="0">
                          <a:solidFill>
                            <a:srgbClr val="262626"/>
                          </a:solidFill>
                          <a:latin typeface="Arial"/>
                        </a:rPr>
                        <a:t>Mục 2.2.1</a:t>
                      </a:r>
                    </a:p>
                  </a:txBody>
                  <a:tcPr marL="73152" marR="73152" marT="27432" marB="27432" anchor="ctr">
                    <a:solidFill>
                      <a:srgbClr val="F3F3F3"/>
                    </a:solidFill>
                  </a:tcPr>
                </a:tc>
                <a:tc>
                  <a:txBody>
                    <a:bodyPr wrap="square"/>
                    <a:lstStyle/>
                    <a:p>
                      <a:pPr algn="l"/>
                      <a:r>
                        <a:rPr sz="1200" b="0">
                          <a:solidFill>
                            <a:srgbClr val="262626"/>
                          </a:solidFill>
                          <a:latin typeface="Arial"/>
                        </a:rPr>
                        <a:t>Hình 2-7</a:t>
                      </a:r>
                    </a:p>
                  </a:txBody>
                  <a:tcPr marL="73152" marR="73152" marT="27432" marB="27432" anchor="ctr">
                    <a:solidFill>
                      <a:srgbClr val="F3F3F3"/>
                    </a:solidFill>
                  </a:tcPr>
                </a:tc>
                <a:tc>
                  <a:txBody>
                    <a:bodyPr wrap="square"/>
                    <a:lstStyle/>
                    <a:p>
                      <a:pPr algn="l"/>
                      <a:r>
                        <a:rPr sz="1200" b="0">
                          <a:solidFill>
                            <a:srgbClr val="262626"/>
                          </a:solidFill>
                          <a:latin typeface="Arial"/>
                        </a:rPr>
                        <a:t>1 đến 2 ngày</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2.2.2, 2.2.3 Mô hình và biến</a:t>
                      </a:r>
                    </a:p>
                  </a:txBody>
                  <a:tcPr marL="73152" marR="73152" marT="27432" marB="27432" anchor="ctr">
                    <a:solidFill>
                      <a:srgbClr val="FFFFFF"/>
                    </a:solidFill>
                  </a:tcPr>
                </a:tc>
                <a:tc>
                  <a:txBody>
                    <a:bodyPr wrap="square"/>
                    <a:lstStyle/>
                    <a:p>
                      <a:pPr algn="l"/>
                      <a:r>
                        <a:rPr sz="1200" b="0">
                          <a:solidFill>
                            <a:srgbClr val="262626"/>
                          </a:solidFill>
                          <a:latin typeface="Arial"/>
                        </a:rPr>
                        <a:t>Mục 2.2.2 và 2.2.3; Kỹ thuật dùng cho Mục 2.2.2</a:t>
                      </a:r>
                    </a:p>
                  </a:txBody>
                  <a:tcPr marL="73152" marR="73152" marT="27432" marB="27432" anchor="ctr">
                    <a:solidFill>
                      <a:srgbClr val="FFFFFF"/>
                    </a:solidFill>
                  </a:tcPr>
                </a:tc>
                <a:tc>
                  <a:txBody>
                    <a:bodyPr wrap="square"/>
                    <a:lstStyle/>
                    <a:p>
                      <a:pPr algn="l"/>
                      <a:r>
                        <a:rPr sz="1200" b="0">
                          <a:solidFill>
                            <a:srgbClr val="262626"/>
                          </a:solidFill>
                          <a:latin typeface="Arial"/>
                        </a:rPr>
                        <a:t>Hình 2-8 đến 2-11</a:t>
                      </a:r>
                    </a:p>
                  </a:txBody>
                  <a:tcPr marL="73152" marR="73152" marT="27432" marB="27432" anchor="ctr">
                    <a:solidFill>
                      <a:srgbClr val="FFFFFF"/>
                    </a:solidFill>
                  </a:tcPr>
                </a:tc>
                <a:tc>
                  <a:txBody>
                    <a:bodyPr wrap="square"/>
                    <a:lstStyle/>
                    <a:p>
                      <a:pPr algn="l"/>
                      <a:r>
                        <a:rPr sz="1200" b="0">
                          <a:solidFill>
                            <a:srgbClr val="262626"/>
                          </a:solidFill>
                          <a:latin typeface="Arial"/>
                        </a:rPr>
                        <a:t>1 ngày vẽ; 2 ngày viết</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2.3.1, 2.3.2 Giả thuyết</a:t>
                      </a:r>
                    </a:p>
                  </a:txBody>
                  <a:tcPr marL="73152" marR="73152" marT="27432" marB="27432" anchor="ctr">
                    <a:solidFill>
                      <a:srgbClr val="F3F3F3"/>
                    </a:solidFill>
                  </a:tcPr>
                </a:tc>
                <a:tc>
                  <a:txBody>
                    <a:bodyPr wrap="square"/>
                    <a:lstStyle/>
                    <a:p>
                      <a:pPr algn="l"/>
                      <a:r>
                        <a:rPr sz="1200" b="0">
                          <a:solidFill>
                            <a:srgbClr val="262626"/>
                          </a:solidFill>
                          <a:latin typeface="Arial"/>
                        </a:rPr>
                        <a:t>Mục 2.3.1 và 2.3.2; Kỹ thuật dùng cho Mục 2.3.1</a:t>
                      </a:r>
                    </a:p>
                  </a:txBody>
                  <a:tcPr marL="73152" marR="73152" marT="27432" marB="27432" anchor="ctr">
                    <a:solidFill>
                      <a:srgbClr val="F3F3F3"/>
                    </a:solidFill>
                  </a:tcPr>
                </a:tc>
                <a:tc>
                  <a:txBody>
                    <a:bodyPr wrap="square"/>
                    <a:lstStyle/>
                    <a:p>
                      <a:pPr algn="l"/>
                      <a:r>
                        <a:rPr sz="1200" b="0">
                          <a:solidFill>
                            <a:srgbClr val="262626"/>
                          </a:solidFill>
                          <a:latin typeface="Arial"/>
                        </a:rPr>
                        <a:t>Hình 2-12; Bảng 2-6</a:t>
                      </a:r>
                    </a:p>
                  </a:txBody>
                  <a:tcPr marL="73152" marR="73152" marT="27432" marB="27432" anchor="ctr">
                    <a:solidFill>
                      <a:srgbClr val="F3F3F3"/>
                    </a:solidFill>
                  </a:tcPr>
                </a:tc>
                <a:tc>
                  <a:txBody>
                    <a:bodyPr wrap="square"/>
                    <a:lstStyle/>
                    <a:p>
                      <a:pPr algn="l"/>
                      <a:r>
                        <a:rPr sz="1200" b="0">
                          <a:solidFill>
                            <a:srgbClr val="262626"/>
                          </a:solidFill>
                          <a:latin typeface="Arial"/>
                        </a:rPr>
                        <a:t>1 ngày; 30 phút</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Học từ luận án, APA</a:t>
                      </a:r>
                    </a:p>
                  </a:txBody>
                  <a:tcPr marL="73152" marR="73152" marT="27432" marB="27432" anchor="ctr">
                    <a:solidFill>
                      <a:srgbClr val="FFFFFF"/>
                    </a:solidFill>
                  </a:tcPr>
                </a:tc>
                <a:tc>
                  <a:txBody>
                    <a:bodyPr wrap="square"/>
                    <a:lstStyle/>
                    <a:p>
                      <a:pPr algn="l"/>
                      <a:r>
                        <a:rPr sz="1200" b="0">
                          <a:solidFill>
                            <a:srgbClr val="262626"/>
                          </a:solidFill>
                          <a:latin typeface="Arial"/>
                        </a:rPr>
                        <a:t>Phần 2, mục E</a:t>
                      </a:r>
                    </a:p>
                  </a:txBody>
                  <a:tcPr marL="73152" marR="73152" marT="27432" marB="27432" anchor="ctr">
                    <a:solidFill>
                      <a:srgbClr val="FFFFFF"/>
                    </a:solidFill>
                  </a:tcPr>
                </a:tc>
                <a:tc>
                  <a:txBody>
                    <a:bodyPr wrap="square"/>
                    <a:lstStyle/>
                    <a:p>
                      <a:pPr algn="l"/>
                      <a:r>
                        <a:rPr sz="1200" b="0">
                          <a:solidFill>
                            <a:srgbClr val="262626"/>
                          </a:solidFill>
                          <a:latin typeface="Arial"/>
                        </a:rPr>
                        <a:t>Bảng 2-7 và 2-8</a:t>
                      </a:r>
                    </a:p>
                  </a:txBody>
                  <a:tcPr marL="73152" marR="73152" marT="27432" marB="27432" anchor="ctr">
                    <a:solidFill>
                      <a:srgbClr val="FFFFFF"/>
                    </a:solidFill>
                  </a:tcPr>
                </a:tc>
                <a:tc>
                  <a:txBody>
                    <a:bodyPr wrap="square"/>
                    <a:lstStyle/>
                    <a:p>
                      <a:pPr algn="l"/>
                      <a:r>
                        <a:rPr sz="1200" b="0">
                          <a:solidFill>
                            <a:srgbClr val="262626"/>
                          </a:solidFill>
                          <a:latin typeface="Arial"/>
                        </a:rPr>
                        <a:t>1 buổi</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Tự kiểm tra</a:t>
                      </a:r>
                    </a:p>
                  </a:txBody>
                  <a:tcPr marL="73152" marR="73152" marT="27432" marB="27432" anchor="ctr">
                    <a:solidFill>
                      <a:srgbClr val="F3F3F3"/>
                    </a:solidFill>
                  </a:tcPr>
                </a:tc>
                <a:tc>
                  <a:txBody>
                    <a:bodyPr wrap="square"/>
                    <a:lstStyle/>
                    <a:p>
                      <a:pPr algn="l"/>
                      <a:r>
                        <a:rPr sz="1200" b="0">
                          <a:solidFill>
                            <a:srgbClr val="262626"/>
                          </a:solidFill>
                          <a:latin typeface="Arial"/>
                        </a:rPr>
                        <a:t>Phần 2, mục F</a:t>
                      </a:r>
                    </a:p>
                  </a:txBody>
                  <a:tcPr marL="73152" marR="73152" marT="27432" marB="27432" anchor="ctr">
                    <a:solidFill>
                      <a:srgbClr val="F3F3F3"/>
                    </a:solidFill>
                  </a:tcPr>
                </a:tc>
                <a:tc>
                  <a:txBody>
                    <a:bodyPr wrap="square"/>
                    <a:lstStyle/>
                    <a:p>
                      <a:pPr algn="l"/>
                      <a:r>
                        <a:rPr sz="1200" b="0">
                          <a:solidFill>
                            <a:srgbClr val="262626"/>
                          </a:solidFill>
                          <a:latin typeface="Arial"/>
                        </a:rPr>
                        <a:t>Bảng 2-9; checklist</a:t>
                      </a:r>
                    </a:p>
                  </a:txBody>
                  <a:tcPr marL="73152" marR="73152" marT="27432" marB="27432" anchor="ctr">
                    <a:solidFill>
                      <a:srgbClr val="F3F3F3"/>
                    </a:solidFill>
                  </a:tcPr>
                </a:tc>
                <a:tc>
                  <a:txBody>
                    <a:bodyPr wrap="square"/>
                    <a:lstStyle/>
                    <a:p>
                      <a:pPr algn="l"/>
                      <a:r>
                        <a:rPr sz="1200" b="0">
                          <a:solidFill>
                            <a:srgbClr val="262626"/>
                          </a:solidFill>
                          <a:latin typeface="Arial"/>
                        </a:rPr>
                        <a:t>Sau khi viết</a:t>
                      </a:r>
                    </a:p>
                  </a:txBody>
                  <a:tcPr marL="73152" marR="73152" marT="27432" marB="27432" anchor="ctr">
                    <a:solidFill>
                      <a:srgbClr val="F3F3F3"/>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CẤU TRÚC</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Chương 2 đi theo một chiều duy nhất: từ khái niệm đến giả thuyết</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Với mỗi tài liệu định đưa vào, tự hỏi: nguồn này giúp mình chọn biến nào, viết giả thuyết nào hoặc chỉ ra khoảng trống nào?</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B và C, Hình 2-3</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32</a:t>
            </a:r>
          </a:p>
        </p:txBody>
      </p:sp>
      <p:sp>
        <p:nvSpPr>
          <p:cNvPr id="11" name="Pentagon 10"/>
          <p:cNvSpPr/>
          <p:nvPr/>
        </p:nvSpPr>
        <p:spPr>
          <a:xfrm>
            <a:off x="457200" y="1783080"/>
            <a:ext cx="1988820" cy="731520"/>
          </a:xfrm>
          <a:prstGeom prst="homePlat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Khái niệm</a:t>
            </a:r>
          </a:p>
        </p:txBody>
      </p:sp>
      <p:sp>
        <p:nvSpPr>
          <p:cNvPr id="12" name="TextBox 11"/>
          <p:cNvSpPr txBox="1"/>
          <p:nvPr/>
        </p:nvSpPr>
        <p:spPr>
          <a:xfrm>
            <a:off x="566928"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Mục 2.1.1</a:t>
            </a:r>
          </a:p>
          <a:p>
            <a:pPr algn="l">
              <a:spcBef>
                <a:spcPts val="562"/>
              </a:spcBef>
            </a:pPr>
            <a:r>
              <a:rPr sz="1250" b="0" i="0">
                <a:solidFill>
                  <a:srgbClr val="58595B"/>
                </a:solidFill>
                <a:latin typeface="Arial"/>
              </a:rPr>
              <a:t>Định nghĩa có nguồn, có so sánh, có định nghĩa riêng cho đề tài.</a:t>
            </a:r>
          </a:p>
        </p:txBody>
      </p:sp>
      <p:sp>
        <p:nvSpPr>
          <p:cNvPr id="13" name="Chevron 12"/>
          <p:cNvSpPr/>
          <p:nvPr/>
        </p:nvSpPr>
        <p:spPr>
          <a:xfrm>
            <a:off x="2336292"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Nghiên cứu trước</a:t>
            </a:r>
          </a:p>
        </p:txBody>
      </p:sp>
      <p:sp>
        <p:nvSpPr>
          <p:cNvPr id="14" name="TextBox 13"/>
          <p:cNvSpPr txBox="1"/>
          <p:nvPr/>
        </p:nvSpPr>
        <p:spPr>
          <a:xfrm>
            <a:off x="2446020"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Mục 2.1.2</a:t>
            </a:r>
          </a:p>
          <a:p>
            <a:pPr algn="l">
              <a:spcBef>
                <a:spcPts val="562"/>
              </a:spcBef>
            </a:pPr>
            <a:r>
              <a:rPr sz="1250" b="0" i="0">
                <a:solidFill>
                  <a:srgbClr val="58595B"/>
                </a:solidFill>
                <a:latin typeface="Arial"/>
              </a:rPr>
              <a:t>Gom theo nhóm chủ đề, so sánh, chỉ ra điểm chưa thống nhất.</a:t>
            </a:r>
          </a:p>
        </p:txBody>
      </p:sp>
      <p:cxnSp>
        <p:nvCxnSpPr>
          <p:cNvPr id="15" name="Connector 14"/>
          <p:cNvCxnSpPr/>
          <p:nvPr/>
        </p:nvCxnSpPr>
        <p:spPr>
          <a:xfrm>
            <a:off x="2354580"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6" name="Chevron 15"/>
          <p:cNvSpPr/>
          <p:nvPr/>
        </p:nvSpPr>
        <p:spPr>
          <a:xfrm>
            <a:off x="4215384"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Khoảng trống</a:t>
            </a:r>
          </a:p>
        </p:txBody>
      </p:sp>
      <p:sp>
        <p:nvSpPr>
          <p:cNvPr id="17" name="TextBox 16"/>
          <p:cNvSpPr txBox="1"/>
          <p:nvPr/>
        </p:nvSpPr>
        <p:spPr>
          <a:xfrm>
            <a:off x="4325112"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Mục 2.1.3</a:t>
            </a:r>
          </a:p>
          <a:p>
            <a:pPr algn="l">
              <a:spcBef>
                <a:spcPts val="562"/>
              </a:spcBef>
            </a:pPr>
            <a:r>
              <a:rPr sz="1250" b="0" i="0">
                <a:solidFill>
                  <a:srgbClr val="58595B"/>
                </a:solidFill>
                <a:latin typeface="Arial"/>
              </a:rPr>
              <a:t>Điều nghiên cứu trước chưa làm, chứng minh bằng tài liệu.</a:t>
            </a:r>
          </a:p>
        </p:txBody>
      </p:sp>
      <p:cxnSp>
        <p:nvCxnSpPr>
          <p:cNvPr id="18" name="Connector 17"/>
          <p:cNvCxnSpPr/>
          <p:nvPr/>
        </p:nvCxnSpPr>
        <p:spPr>
          <a:xfrm>
            <a:off x="4233672"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6094476"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Lý thuyết nền</a:t>
            </a:r>
          </a:p>
        </p:txBody>
      </p:sp>
      <p:sp>
        <p:nvSpPr>
          <p:cNvPr id="20" name="TextBox 19"/>
          <p:cNvSpPr txBox="1"/>
          <p:nvPr/>
        </p:nvSpPr>
        <p:spPr>
          <a:xfrm>
            <a:off x="6204204"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Mục 2.2.1</a:t>
            </a:r>
          </a:p>
          <a:p>
            <a:pPr algn="l">
              <a:spcBef>
                <a:spcPts val="562"/>
              </a:spcBef>
            </a:pPr>
            <a:r>
              <a:rPr sz="1250" b="0" i="0">
                <a:solidFill>
                  <a:srgbClr val="58595B"/>
                </a:solidFill>
                <a:latin typeface="Arial"/>
              </a:rPr>
              <a:t>Giải thích vì sao các biến có quan hệ.</a:t>
            </a:r>
          </a:p>
        </p:txBody>
      </p:sp>
      <p:cxnSp>
        <p:nvCxnSpPr>
          <p:cNvPr id="21" name="Connector 20"/>
          <p:cNvCxnSpPr/>
          <p:nvPr/>
        </p:nvCxnSpPr>
        <p:spPr>
          <a:xfrm>
            <a:off x="6112764"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73568"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Mô hình</a:t>
            </a:r>
          </a:p>
        </p:txBody>
      </p:sp>
      <p:sp>
        <p:nvSpPr>
          <p:cNvPr id="23" name="TextBox 22"/>
          <p:cNvSpPr txBox="1"/>
          <p:nvPr/>
        </p:nvSpPr>
        <p:spPr>
          <a:xfrm>
            <a:off x="8083296"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Mục 2.2.2 và 2.2.3</a:t>
            </a:r>
          </a:p>
          <a:p>
            <a:pPr algn="l">
              <a:spcBef>
                <a:spcPts val="562"/>
              </a:spcBef>
            </a:pPr>
            <a:r>
              <a:rPr sz="1250" b="0" i="0">
                <a:solidFill>
                  <a:srgbClr val="58595B"/>
                </a:solidFill>
                <a:latin typeface="Arial"/>
              </a:rPr>
              <a:t>Bản vẽ quan hệ; mỗi mũi tên một giả thuyết.</a:t>
            </a:r>
          </a:p>
        </p:txBody>
      </p:sp>
      <p:cxnSp>
        <p:nvCxnSpPr>
          <p:cNvPr id="24" name="Connector 23"/>
          <p:cNvCxnSpPr/>
          <p:nvPr/>
        </p:nvCxnSpPr>
        <p:spPr>
          <a:xfrm>
            <a:off x="7991856"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5" name="Chevron 24"/>
          <p:cNvSpPr/>
          <p:nvPr/>
        </p:nvSpPr>
        <p:spPr>
          <a:xfrm>
            <a:off x="9852660" y="1783080"/>
            <a:ext cx="1988820" cy="73152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Giả thuyết</a:t>
            </a:r>
          </a:p>
        </p:txBody>
      </p:sp>
      <p:sp>
        <p:nvSpPr>
          <p:cNvPr id="26" name="TextBox 25"/>
          <p:cNvSpPr txBox="1"/>
          <p:nvPr/>
        </p:nvSpPr>
        <p:spPr>
          <a:xfrm>
            <a:off x="9962388" y="2697480"/>
            <a:ext cx="1650492" cy="2880360"/>
          </a:xfrm>
          <a:prstGeom prst="rect">
            <a:avLst/>
          </a:prstGeom>
          <a:noFill/>
        </p:spPr>
        <p:txBody>
          <a:bodyPr wrap="square" lIns="45720" rIns="45720" tIns="27432" bIns="27432" anchor="t">
            <a:spAutoFit/>
          </a:bodyPr>
          <a:lstStyle/>
          <a:p>
            <a:pPr algn="l"/>
            <a:r>
              <a:rPr sz="1250" b="0" i="0">
                <a:solidFill>
                  <a:srgbClr val="58595B"/>
                </a:solidFill>
                <a:latin typeface="Arial"/>
              </a:rPr>
              <a:t>Mục 2.3</a:t>
            </a:r>
          </a:p>
          <a:p>
            <a:pPr algn="l">
              <a:spcBef>
                <a:spcPts val="562"/>
              </a:spcBef>
            </a:pPr>
            <a:r>
              <a:rPr sz="1250" b="0" i="0">
                <a:solidFill>
                  <a:srgbClr val="58595B"/>
                </a:solidFill>
                <a:latin typeface="Arial"/>
              </a:rPr>
              <a:t>Dự đoán có chiều, có căn cứ, kiểm định được.</a:t>
            </a:r>
          </a:p>
        </p:txBody>
      </p:sp>
      <p:cxnSp>
        <p:nvCxnSpPr>
          <p:cNvPr id="27" name="Connector 26"/>
          <p:cNvCxnSpPr/>
          <p:nvPr/>
        </p:nvCxnSpPr>
        <p:spPr>
          <a:xfrm>
            <a:off x="9870948"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KHÁI NIỆM NỀN TẢNG</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Định nghĩa khái niệm quyết định câu hỏi khảo sát ở Chương 3, nên không được tự đặt theo cảm nhận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Định nghĩa có ba ý cụ thể thì đo được bằng ba đến bốn câu hỏi; định nghĩa vòng tròn thì Chương 3 không có căn cứ để viết câu hỏi.</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2.1.1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33</a:t>
            </a:r>
          </a:p>
        </p:txBody>
      </p:sp>
      <p:sp>
        <p:nvSpPr>
          <p:cNvPr id="11" name="Rectangle 10"/>
          <p:cNvSpPr/>
          <p:nvPr/>
        </p:nvSpPr>
        <p:spPr>
          <a:xfrm>
            <a:off x="457200" y="1783080"/>
            <a:ext cx="5486400" cy="365760"/>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CHƯA ĐẠT</a:t>
            </a:r>
          </a:p>
        </p:txBody>
      </p:sp>
      <p:sp>
        <p:nvSpPr>
          <p:cNvPr id="12" name="Rectangle 11"/>
          <p:cNvSpPr/>
          <p:nvPr/>
        </p:nvSpPr>
        <p:spPr>
          <a:xfrm>
            <a:off x="457200" y="2148840"/>
            <a:ext cx="5486400" cy="2103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240280"/>
            <a:ext cx="5212080" cy="1920240"/>
          </a:xfrm>
          <a:prstGeom prst="rect">
            <a:avLst/>
          </a:prstGeom>
          <a:noFill/>
        </p:spPr>
        <p:txBody>
          <a:bodyPr wrap="square" lIns="45720" rIns="45720" tIns="27432" bIns="27432" anchor="t">
            <a:spAutoFit/>
          </a:bodyPr>
          <a:lstStyle/>
          <a:p>
            <a:pPr algn="l"/>
            <a:r>
              <a:rPr sz="1150" b="0" i="1">
                <a:solidFill>
                  <a:srgbClr val="58595B"/>
                </a:solidFill>
                <a:latin typeface="Arial"/>
              </a:rPr>
              <a:t>"Sự hữu ích là khi khách hàng thấy dịch vụ có ích. Ngân hàng số là ngân hàng trên điện thoại. Niềm tin là khi khách hàng tin ngân hàng. Các khái niệm này rất quen thuộc với mọi người."</a:t>
            </a:r>
          </a:p>
        </p:txBody>
      </p:sp>
      <p:sp>
        <p:nvSpPr>
          <p:cNvPr id="14" name="Rectangle 13"/>
          <p:cNvSpPr/>
          <p:nvPr/>
        </p:nvSpPr>
        <p:spPr>
          <a:xfrm>
            <a:off x="6245352" y="1783080"/>
            <a:ext cx="5486400" cy="3657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ĐẠT</a:t>
            </a:r>
          </a:p>
        </p:txBody>
      </p:sp>
      <p:sp>
        <p:nvSpPr>
          <p:cNvPr id="15" name="Rectangle 14"/>
          <p:cNvSpPr/>
          <p:nvPr/>
        </p:nvSpPr>
        <p:spPr>
          <a:xfrm>
            <a:off x="6245352" y="2148840"/>
            <a:ext cx="5486400" cy="2103120"/>
          </a:xfrm>
          <a:prstGeom prst="rect">
            <a:avLst/>
          </a:prstGeom>
          <a:solidFill>
            <a:srgbClr val="FFFFFF"/>
          </a:solidFill>
          <a:ln w="95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2240280"/>
            <a:ext cx="5212080" cy="1920240"/>
          </a:xfrm>
          <a:prstGeom prst="rect">
            <a:avLst/>
          </a:prstGeom>
          <a:noFill/>
        </p:spPr>
        <p:txBody>
          <a:bodyPr wrap="square" lIns="45720" rIns="45720" tIns="27432" bIns="27432" anchor="t">
            <a:spAutoFit/>
          </a:bodyPr>
          <a:lstStyle/>
          <a:p>
            <a:pPr algn="l"/>
            <a:r>
              <a:rPr sz="1150" b="0" i="1">
                <a:solidFill>
                  <a:srgbClr val="262626"/>
                </a:solidFill>
                <a:latin typeface="Arial"/>
              </a:rPr>
              <a:t>"Theo Davis (1989), sự hữu ích là mức độ một người tin rằng sử dụng một hệ thống cụ thể sẽ nâng cao hiệu quả công việc của họ. Venkatesh và cộng sự (2003) dùng khái niệm kỳ vọng hiệu quả với nội dung gần tương tự... Trong nghiên cứu này, sự hữu ích được hiểu là mức độ khách hàng cá nhân tin rằng dịch vụ ngân hàng số giúp họ giao dịch nhanh hơn, tiết kiệm chi phí và quản lý tài chính tốt hơn."</a:t>
            </a:r>
          </a:p>
        </p:txBody>
      </p:sp>
      <p:sp>
        <p:nvSpPr>
          <p:cNvPr id="17" name="TextBox 16"/>
          <p:cNvSpPr txBox="1"/>
          <p:nvPr/>
        </p:nvSpPr>
        <p:spPr>
          <a:xfrm>
            <a:off x="457200" y="4434840"/>
            <a:ext cx="2743200" cy="274320"/>
          </a:xfrm>
          <a:prstGeom prst="rect">
            <a:avLst/>
          </a:prstGeom>
          <a:noFill/>
        </p:spPr>
        <p:txBody>
          <a:bodyPr wrap="square" lIns="45720" rIns="45720" tIns="27432" bIns="27432" anchor="t">
            <a:spAutoFit/>
          </a:bodyPr>
          <a:lstStyle/>
          <a:p>
            <a:pPr algn="l"/>
            <a:r>
              <a:rPr sz="1000" b="1" i="0">
                <a:solidFill>
                  <a:srgbClr val="CC0000"/>
                </a:solidFill>
                <a:latin typeface="Arial"/>
              </a:rPr>
              <a:t>VÌ SAO BẢN CHƯA ĐẠT BỊ TRỪ ĐIỂM</a:t>
            </a:r>
          </a:p>
        </p:txBody>
      </p:sp>
      <p:cxnSp>
        <p:nvCxnSpPr>
          <p:cNvPr id="18" name="Connector 17"/>
          <p:cNvCxnSpPr/>
          <p:nvPr/>
        </p:nvCxnSpPr>
        <p:spPr>
          <a:xfrm>
            <a:off x="457200"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logic.</a:t>
            </a:r>
            <a:r>
              <a:rPr sz="1200" b="0" i="0">
                <a:solidFill>
                  <a:srgbClr val="58595B"/>
                </a:solidFill>
                <a:latin typeface="Arial"/>
              </a:rPr>
              <a:t> Định nghĩa vòng tròn: dùng chính từ cần định nghĩa ("hữu ích là có ích"); người đọc không biết đo bằng cách nào.</a:t>
            </a:r>
          </a:p>
        </p:txBody>
      </p:sp>
      <p:cxnSp>
        <p:nvCxnSpPr>
          <p:cNvPr id="20" name="Connector 19"/>
          <p:cNvCxnSpPr/>
          <p:nvPr/>
        </p:nvCxnSpPr>
        <p:spPr>
          <a:xfrm>
            <a:off x="4306824"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06824"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bằng chứng.</a:t>
            </a:r>
            <a:r>
              <a:rPr sz="1200" b="0" i="0">
                <a:solidFill>
                  <a:srgbClr val="58595B"/>
                </a:solidFill>
                <a:latin typeface="Arial"/>
              </a:rPr>
              <a:t> Không có trích dẫn; định nghĩa là cảm nhận cá nhân.</a:t>
            </a:r>
          </a:p>
        </p:txBody>
      </p:sp>
      <p:cxnSp>
        <p:nvCxnSpPr>
          <p:cNvPr id="22" name="Connector 21"/>
          <p:cNvCxnSpPr/>
          <p:nvPr/>
        </p:nvCxnSpPr>
        <p:spPr>
          <a:xfrm>
            <a:off x="8156448"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156448"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văn phong.</a:t>
            </a:r>
            <a:r>
              <a:rPr sz="1200" b="0" i="0">
                <a:solidFill>
                  <a:srgbClr val="58595B"/>
                </a:solidFill>
                <a:latin typeface="Arial"/>
              </a:rPr>
              <a:t> Câu cuối khẳng định chung chung, không có giá trị học thuật.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TỔNG QUAN NGHIÊN CỨU TRƯỚC</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Tổng hợp khác liệt kê ở chủ ngữ: chủ ngữ là ý tưởng, tên tác giả nằm trong ngoặc cuối câu</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Trước mỗi đoạn, điền ba ô "Giống nhau ở...", "Khác nhau ở...", "Có thể vì..."; chưa điền được thì đọc thêm tài liệu.</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2.1.2, Kỹ thuật dùng cho Mục 2.1.2 và Hình 2-5</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34</a:t>
            </a:r>
          </a:p>
        </p:txBody>
      </p:sp>
      <p:sp>
        <p:nvSpPr>
          <p:cNvPr id="11" name="Rectangle 10"/>
          <p:cNvSpPr/>
          <p:nvPr/>
        </p:nvSpPr>
        <p:spPr>
          <a:xfrm>
            <a:off x="402336" y="2302833"/>
            <a:ext cx="6510528" cy="280097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31_new.png"/>
          <p:cNvPicPr>
            <a:picLocks noChangeAspect="1"/>
          </p:cNvPicPr>
          <p:nvPr/>
        </p:nvPicPr>
        <p:blipFill>
          <a:blip r:embed="rId2"/>
          <a:stretch>
            <a:fillRect/>
          </a:stretch>
        </p:blipFill>
        <p:spPr>
          <a:xfrm>
            <a:off x="457200" y="2357697"/>
            <a:ext cx="6400800" cy="2691245"/>
          </a:xfrm>
          <a:prstGeom prst="rect">
            <a:avLst/>
          </a:prstGeom>
        </p:spPr>
      </p:pic>
      <p:sp>
        <p:nvSpPr>
          <p:cNvPr id="13" name="TextBox 12"/>
          <p:cNvSpPr txBox="1"/>
          <p:nvPr/>
        </p:nvSpPr>
        <p:spPr>
          <a:xfrm>
            <a:off x="7178040" y="1783080"/>
            <a:ext cx="4553712" cy="274320"/>
          </a:xfrm>
          <a:prstGeom prst="rect">
            <a:avLst/>
          </a:prstGeom>
          <a:noFill/>
        </p:spPr>
        <p:txBody>
          <a:bodyPr wrap="square" lIns="45720" rIns="45720" tIns="27432" bIns="27432" anchor="t">
            <a:spAutoFit/>
          </a:bodyPr>
          <a:lstStyle/>
          <a:p>
            <a:pPr algn="l"/>
            <a:r>
              <a:rPr sz="1000" b="1" i="0">
                <a:solidFill>
                  <a:srgbClr val="CC0000"/>
                </a:solidFill>
                <a:latin typeface="Arial"/>
              </a:rPr>
              <a:t>NĂM BƯỚC TỔNG HỢP</a:t>
            </a:r>
          </a:p>
        </p:txBody>
      </p:sp>
      <p:cxnSp>
        <p:nvCxnSpPr>
          <p:cNvPr id="14" name="Connector 13"/>
          <p:cNvCxnSpPr/>
          <p:nvPr/>
        </p:nvCxnSpPr>
        <p:spPr>
          <a:xfrm>
            <a:off x="7178040" y="2103120"/>
            <a:ext cx="45537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17804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589519" y="2194560"/>
            <a:ext cx="4142232" cy="685800"/>
          </a:xfrm>
          <a:prstGeom prst="rect">
            <a:avLst/>
          </a:prstGeom>
          <a:noFill/>
        </p:spPr>
        <p:txBody>
          <a:bodyPr wrap="square" lIns="45720" rIns="45720" tIns="27432" bIns="27432" anchor="t">
            <a:spAutoFit/>
          </a:bodyPr>
          <a:lstStyle/>
          <a:p>
            <a:pPr algn="l"/>
            <a:r>
              <a:rPr sz="1350" b="1" i="0">
                <a:solidFill>
                  <a:srgbClr val="58595B"/>
                </a:solidFill>
                <a:latin typeface="Arial"/>
              </a:rPr>
              <a:t>Gom nhóm</a:t>
            </a:r>
            <a:r>
              <a:rPr sz="1350" b="0" i="0">
                <a:solidFill>
                  <a:srgbClr val="58595B"/>
                </a:solidFill>
                <a:latin typeface="Arial"/>
              </a:rPr>
              <a:t> tài liệu theo chủ đề bằng ma trận tổng hợp.</a:t>
            </a:r>
          </a:p>
        </p:txBody>
      </p:sp>
      <p:sp>
        <p:nvSpPr>
          <p:cNvPr id="17" name="Oval 16"/>
          <p:cNvSpPr/>
          <p:nvPr/>
        </p:nvSpPr>
        <p:spPr>
          <a:xfrm>
            <a:off x="7178040" y="28986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589519" y="2880360"/>
            <a:ext cx="4142232" cy="685800"/>
          </a:xfrm>
          <a:prstGeom prst="rect">
            <a:avLst/>
          </a:prstGeom>
          <a:noFill/>
        </p:spPr>
        <p:txBody>
          <a:bodyPr wrap="square" lIns="45720" rIns="45720" tIns="27432" bIns="27432" anchor="t">
            <a:spAutoFit/>
          </a:bodyPr>
          <a:lstStyle/>
          <a:p>
            <a:pPr algn="l"/>
            <a:r>
              <a:rPr sz="1350" b="1" i="0">
                <a:solidFill>
                  <a:srgbClr val="58595B"/>
                </a:solidFill>
                <a:latin typeface="Arial"/>
              </a:rPr>
              <a:t>Tìm điểm chung</a:t>
            </a:r>
            <a:r>
              <a:rPr sz="1350" b="0" i="0">
                <a:solidFill>
                  <a:srgbClr val="58595B"/>
                </a:solidFill>
                <a:latin typeface="Arial"/>
              </a:rPr>
              <a:t> của mỗi nhóm và viết thành câu chủ đề.</a:t>
            </a:r>
          </a:p>
        </p:txBody>
      </p:sp>
      <p:sp>
        <p:nvSpPr>
          <p:cNvPr id="19" name="Oval 18"/>
          <p:cNvSpPr/>
          <p:nvPr/>
        </p:nvSpPr>
        <p:spPr>
          <a:xfrm>
            <a:off x="7178040" y="35844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589519" y="3566160"/>
            <a:ext cx="4142232" cy="685800"/>
          </a:xfrm>
          <a:prstGeom prst="rect">
            <a:avLst/>
          </a:prstGeom>
          <a:noFill/>
        </p:spPr>
        <p:txBody>
          <a:bodyPr wrap="square" lIns="45720" rIns="45720" tIns="27432" bIns="27432" anchor="t">
            <a:spAutoFit/>
          </a:bodyPr>
          <a:lstStyle/>
          <a:p>
            <a:pPr algn="l"/>
            <a:r>
              <a:rPr sz="1350" b="1" i="0">
                <a:solidFill>
                  <a:srgbClr val="58595B"/>
                </a:solidFill>
                <a:latin typeface="Arial"/>
              </a:rPr>
              <a:t>So sánh, đối chiếu:</a:t>
            </a:r>
            <a:r>
              <a:rPr sz="1350" b="0" i="0">
                <a:solidFill>
                  <a:srgbClr val="58595B"/>
                </a:solidFill>
                <a:latin typeface="Arial"/>
              </a:rPr>
              <a:t> khác nhau ở kết quả, bối cảnh hay phương pháp.</a:t>
            </a:r>
          </a:p>
        </p:txBody>
      </p:sp>
      <p:sp>
        <p:nvSpPr>
          <p:cNvPr id="21" name="Oval 20"/>
          <p:cNvSpPr/>
          <p:nvPr/>
        </p:nvSpPr>
        <p:spPr>
          <a:xfrm>
            <a:off x="7178040" y="42702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589519" y="4251960"/>
            <a:ext cx="4142232" cy="685800"/>
          </a:xfrm>
          <a:prstGeom prst="rect">
            <a:avLst/>
          </a:prstGeom>
          <a:noFill/>
        </p:spPr>
        <p:txBody>
          <a:bodyPr wrap="square" lIns="45720" rIns="45720" tIns="27432" bIns="27432" anchor="t">
            <a:spAutoFit/>
          </a:bodyPr>
          <a:lstStyle/>
          <a:p>
            <a:pPr algn="l"/>
            <a:r>
              <a:rPr sz="1350" b="1" i="0">
                <a:solidFill>
                  <a:srgbClr val="58595B"/>
                </a:solidFill>
                <a:latin typeface="Arial"/>
              </a:rPr>
              <a:t>Giải thích mâu thuẫn</a:t>
            </a:r>
            <a:r>
              <a:rPr sz="1350" b="0" i="0">
                <a:solidFill>
                  <a:srgbClr val="58595B"/>
                </a:solidFill>
                <a:latin typeface="Arial"/>
              </a:rPr>
              <a:t> bằng cách giải thích có thể có, dùng chữ "có thể".</a:t>
            </a:r>
          </a:p>
        </p:txBody>
      </p:sp>
      <p:sp>
        <p:nvSpPr>
          <p:cNvPr id="23" name="Oval 22"/>
          <p:cNvSpPr/>
          <p:nvPr/>
        </p:nvSpPr>
        <p:spPr>
          <a:xfrm>
            <a:off x="7178040" y="49560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5</a:t>
            </a:r>
          </a:p>
        </p:txBody>
      </p:sp>
      <p:sp>
        <p:nvSpPr>
          <p:cNvPr id="24" name="TextBox 23"/>
          <p:cNvSpPr txBox="1"/>
          <p:nvPr/>
        </p:nvSpPr>
        <p:spPr>
          <a:xfrm>
            <a:off x="7589519" y="4937760"/>
            <a:ext cx="4142232" cy="685800"/>
          </a:xfrm>
          <a:prstGeom prst="rect">
            <a:avLst/>
          </a:prstGeom>
          <a:noFill/>
        </p:spPr>
        <p:txBody>
          <a:bodyPr wrap="square" lIns="45720" rIns="45720" tIns="27432" bIns="27432" anchor="t">
            <a:spAutoFit/>
          </a:bodyPr>
          <a:lstStyle/>
          <a:p>
            <a:pPr algn="l"/>
            <a:r>
              <a:rPr sz="1350" b="1" i="0">
                <a:solidFill>
                  <a:srgbClr val="58595B"/>
                </a:solidFill>
                <a:latin typeface="Arial"/>
              </a:rPr>
              <a:t>Chỉ ra điều còn thiếu:</a:t>
            </a:r>
            <a:r>
              <a:rPr sz="1350" b="0" i="0">
                <a:solidFill>
                  <a:srgbClr val="58595B"/>
                </a:solidFill>
                <a:latin typeface="Arial"/>
              </a:rPr>
              <a:t> nguyên liệu cho khoảng trống ở mục 2.1.3.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ĐỌC KỸ ĐOẠN TỔNG QUAN MẪU</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câu trong đoạn tổng quan mẫu làm đúng một nhiệm vụ: gom nhóm, trình bày, so sánh, đối chiếu, chỉ khoảng trống</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Ngay cả đoạn mẫu đạt vẫn có chỗ làm tốt hơn: đọc bài của mình với con mắt đó là cách tự sửa hiệu quả nhất.</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phần Đọc kỹ một đoạn tổng quan mẫu và Bảng 2-2</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35</a:t>
            </a:r>
          </a:p>
        </p:txBody>
      </p:sp>
      <p:graphicFrame>
        <p:nvGraphicFramePr>
          <p:cNvPr id="12" name="Table 11"/>
          <p:cNvGraphicFramePr>
            <a:graphicFrameLocks noGrp="1"/>
          </p:cNvGraphicFramePr>
          <p:nvPr/>
        </p:nvGraphicFramePr>
        <p:xfrm>
          <a:off x="457200" y="1783080"/>
          <a:ext cx="7863840" cy="3154680"/>
        </p:xfrm>
        <a:graphic>
          <a:graphicData uri="http://schemas.openxmlformats.org/drawingml/2006/table">
            <a:tbl>
              <a:tblPr firstRow="1" bandRow="1">
                <a:tableStyleId>{5C22544A-7EE6-4342-B048-85BDC9FD1C3A}</a:tableStyleId>
              </a:tblPr>
              <a:tblGrid>
                <a:gridCol w="1064895"/>
                <a:gridCol w="3276600"/>
                <a:gridCol w="3522345"/>
              </a:tblGrid>
              <a:tr h="411480">
                <a:tc>
                  <a:txBody>
                    <a:bodyPr wrap="square"/>
                    <a:lstStyle/>
                    <a:p>
                      <a:pPr algn="l"/>
                      <a:r>
                        <a:rPr sz="1250" b="1">
                          <a:solidFill>
                            <a:srgbClr val="FFFFFF"/>
                          </a:solidFill>
                          <a:latin typeface="Arial"/>
                        </a:rPr>
                        <a:t>Câu</a:t>
                      </a:r>
                    </a:p>
                  </a:txBody>
                  <a:tcPr marL="73152" marR="73152" marT="27432" marB="27432" anchor="ctr">
                    <a:solidFill>
                      <a:srgbClr val="262626"/>
                    </a:solidFill>
                  </a:tcPr>
                </a:tc>
                <a:tc>
                  <a:txBody>
                    <a:bodyPr wrap="square"/>
                    <a:lstStyle/>
                    <a:p>
                      <a:pPr algn="l"/>
                      <a:r>
                        <a:rPr sz="1250" b="1">
                          <a:solidFill>
                            <a:srgbClr val="FFFFFF"/>
                          </a:solidFill>
                          <a:latin typeface="Arial"/>
                        </a:rPr>
                        <a:t>Nhiệm vụ</a:t>
                      </a:r>
                    </a:p>
                  </a:txBody>
                  <a:tcPr marL="73152" marR="73152" marT="27432" marB="27432" anchor="ctr">
                    <a:solidFill>
                      <a:srgbClr val="262626"/>
                    </a:solidFill>
                  </a:tcPr>
                </a:tc>
                <a:tc>
                  <a:txBody>
                    <a:bodyPr wrap="square"/>
                    <a:lstStyle/>
                    <a:p>
                      <a:pPr algn="l"/>
                      <a:r>
                        <a:rPr sz="1250" b="1">
                          <a:solidFill>
                            <a:srgbClr val="FFFFFF"/>
                          </a:solidFill>
                          <a:latin typeface="Arial"/>
                        </a:rPr>
                        <a:t>Dấu hiệu nhận biết</a:t>
                      </a:r>
                    </a:p>
                  </a:txBody>
                  <a:tcPr marL="73152" marR="73152" marT="27432" marB="27432" anchor="ctr">
                    <a:solidFill>
                      <a:srgbClr val="262626"/>
                    </a:solidFill>
                  </a:tcPr>
                </a:tc>
              </a:tr>
              <a:tr h="548640">
                <a:tc>
                  <a:txBody>
                    <a:bodyPr wrap="square"/>
                    <a:lstStyle/>
                    <a:p>
                      <a:pPr algn="l"/>
                      <a:r>
                        <a:rPr sz="1250" b="0">
                          <a:solidFill>
                            <a:srgbClr val="262626"/>
                          </a:solidFill>
                          <a:latin typeface="Arial"/>
                        </a:rPr>
                        <a:t>[1]</a:t>
                      </a:r>
                    </a:p>
                  </a:txBody>
                  <a:tcPr marL="73152" marR="73152" marT="27432" marB="27432" anchor="ctr">
                    <a:solidFill>
                      <a:srgbClr val="FFFFFF"/>
                    </a:solidFill>
                  </a:tcPr>
                </a:tc>
                <a:tc>
                  <a:txBody>
                    <a:bodyPr wrap="square"/>
                    <a:lstStyle/>
                    <a:p>
                      <a:pPr algn="l"/>
                      <a:r>
                        <a:rPr sz="1250" b="0">
                          <a:solidFill>
                            <a:srgbClr val="262626"/>
                          </a:solidFill>
                          <a:latin typeface="Arial"/>
                        </a:rPr>
                        <a:t>Câu chủ đề: gom nhóm</a:t>
                      </a:r>
                    </a:p>
                  </a:txBody>
                  <a:tcPr marL="73152" marR="73152" marT="27432" marB="27432" anchor="ctr">
                    <a:solidFill>
                      <a:srgbClr val="FFFFFF"/>
                    </a:solidFill>
                  </a:tcPr>
                </a:tc>
                <a:tc>
                  <a:txBody>
                    <a:bodyPr wrap="square"/>
                    <a:lstStyle/>
                    <a:p>
                      <a:pPr algn="l"/>
                      <a:r>
                        <a:rPr sz="1250" b="0">
                          <a:solidFill>
                            <a:srgbClr val="262626"/>
                          </a:solidFill>
                          <a:latin typeface="Arial"/>
                        </a:rPr>
                        <a:t>Cụm "có thể chia thành ba nhóm"</a:t>
                      </a:r>
                    </a:p>
                  </a:txBody>
                  <a:tcPr marL="73152" marR="73152" marT="27432" marB="27432" anchor="ctr">
                    <a:solidFill>
                      <a:srgbClr val="FFFFFF"/>
                    </a:solidFill>
                  </a:tcPr>
                </a:tc>
              </a:tr>
              <a:tr h="548640">
                <a:tc>
                  <a:txBody>
                    <a:bodyPr wrap="square"/>
                    <a:lstStyle/>
                    <a:p>
                      <a:pPr algn="l"/>
                      <a:r>
                        <a:rPr sz="1250" b="0">
                          <a:solidFill>
                            <a:srgbClr val="262626"/>
                          </a:solidFill>
                          <a:latin typeface="Arial"/>
                        </a:rPr>
                        <a:t>[2] đến [4]</a:t>
                      </a:r>
                    </a:p>
                  </a:txBody>
                  <a:tcPr marL="73152" marR="73152" marT="27432" marB="27432" anchor="ctr">
                    <a:solidFill>
                      <a:srgbClr val="F3F3F3"/>
                    </a:solidFill>
                  </a:tcPr>
                </a:tc>
                <a:tc>
                  <a:txBody>
                    <a:bodyPr wrap="square"/>
                    <a:lstStyle/>
                    <a:p>
                      <a:pPr algn="l"/>
                      <a:r>
                        <a:rPr sz="1250" b="0">
                          <a:solidFill>
                            <a:srgbClr val="262626"/>
                          </a:solidFill>
                          <a:latin typeface="Arial"/>
                        </a:rPr>
                        <a:t>Trình bày từng nhóm theo cùng một khuôn</a:t>
                      </a:r>
                    </a:p>
                  </a:txBody>
                  <a:tcPr marL="73152" marR="73152" marT="27432" marB="27432" anchor="ctr">
                    <a:solidFill>
                      <a:srgbClr val="F3F3F3"/>
                    </a:solidFill>
                  </a:tcPr>
                </a:tc>
                <a:tc>
                  <a:txBody>
                    <a:bodyPr wrap="square"/>
                    <a:lstStyle/>
                    <a:p>
                      <a:pPr algn="l"/>
                      <a:r>
                        <a:rPr sz="1250" b="0">
                          <a:solidFill>
                            <a:srgbClr val="262626"/>
                          </a:solidFill>
                          <a:latin typeface="Arial"/>
                        </a:rPr>
                        <a:t>Tên nhóm; trích dẫn trong ngoặc; ý chính của nhóm</a:t>
                      </a:r>
                    </a:p>
                  </a:txBody>
                  <a:tcPr marL="73152" marR="73152" marT="27432" marB="27432" anchor="ctr">
                    <a:solidFill>
                      <a:srgbClr val="F3F3F3"/>
                    </a:solidFill>
                  </a:tcPr>
                </a:tc>
              </a:tr>
              <a:tr h="548640">
                <a:tc>
                  <a:txBody>
                    <a:bodyPr wrap="square"/>
                    <a:lstStyle/>
                    <a:p>
                      <a:pPr algn="l"/>
                      <a:r>
                        <a:rPr sz="1250" b="0">
                          <a:solidFill>
                            <a:srgbClr val="262626"/>
                          </a:solidFill>
                          <a:latin typeface="Arial"/>
                        </a:rPr>
                        <a:t>[5]</a:t>
                      </a:r>
                    </a:p>
                  </a:txBody>
                  <a:tcPr marL="73152" marR="73152" marT="27432" marB="27432" anchor="ctr">
                    <a:solidFill>
                      <a:srgbClr val="FFFFFF"/>
                    </a:solidFill>
                  </a:tcPr>
                </a:tc>
                <a:tc>
                  <a:txBody>
                    <a:bodyPr wrap="square"/>
                    <a:lstStyle/>
                    <a:p>
                      <a:pPr algn="l"/>
                      <a:r>
                        <a:rPr sz="1250" b="0">
                          <a:solidFill>
                            <a:srgbClr val="262626"/>
                          </a:solidFill>
                          <a:latin typeface="Arial"/>
                        </a:rPr>
                        <a:t>So sánh: điểm chung</a:t>
                      </a:r>
                    </a:p>
                  </a:txBody>
                  <a:tcPr marL="73152" marR="73152" marT="27432" marB="27432" anchor="ctr">
                    <a:solidFill>
                      <a:srgbClr val="FFFFFF"/>
                    </a:solidFill>
                  </a:tcPr>
                </a:tc>
                <a:tc>
                  <a:txBody>
                    <a:bodyPr wrap="square"/>
                    <a:lstStyle/>
                    <a:p>
                      <a:pPr algn="l"/>
                      <a:r>
                        <a:rPr sz="1250" b="0">
                          <a:solidFill>
                            <a:srgbClr val="262626"/>
                          </a:solidFill>
                          <a:latin typeface="Arial"/>
                        </a:rPr>
                        <a:t>Cụm "Cả ba nhóm cùng..."</a:t>
                      </a:r>
                    </a:p>
                  </a:txBody>
                  <a:tcPr marL="73152" marR="73152" marT="27432" marB="27432" anchor="ctr">
                    <a:solidFill>
                      <a:srgbClr val="FFFFFF"/>
                    </a:solidFill>
                  </a:tcPr>
                </a:tc>
              </a:tr>
              <a:tr h="548640">
                <a:tc>
                  <a:txBody>
                    <a:bodyPr wrap="square"/>
                    <a:lstStyle/>
                    <a:p>
                      <a:pPr algn="l"/>
                      <a:r>
                        <a:rPr sz="1250" b="0">
                          <a:solidFill>
                            <a:srgbClr val="262626"/>
                          </a:solidFill>
                          <a:latin typeface="Arial"/>
                        </a:rPr>
                        <a:t>[6]</a:t>
                      </a:r>
                    </a:p>
                  </a:txBody>
                  <a:tcPr marL="73152" marR="73152" marT="27432" marB="27432" anchor="ctr">
                    <a:solidFill>
                      <a:srgbClr val="F3F3F3"/>
                    </a:solidFill>
                  </a:tcPr>
                </a:tc>
                <a:tc>
                  <a:txBody>
                    <a:bodyPr wrap="square"/>
                    <a:lstStyle/>
                    <a:p>
                      <a:pPr algn="l"/>
                      <a:r>
                        <a:rPr sz="1250" b="0">
                          <a:solidFill>
                            <a:srgbClr val="262626"/>
                          </a:solidFill>
                          <a:latin typeface="Arial"/>
                        </a:rPr>
                        <a:t>Đối chiếu: điểm chưa thống nhất</a:t>
                      </a:r>
                    </a:p>
                  </a:txBody>
                  <a:tcPr marL="73152" marR="73152" marT="27432" marB="27432" anchor="ctr">
                    <a:solidFill>
                      <a:srgbClr val="F3F3F3"/>
                    </a:solidFill>
                  </a:tcPr>
                </a:tc>
                <a:tc>
                  <a:txBody>
                    <a:bodyPr wrap="square"/>
                    <a:lstStyle/>
                    <a:p>
                      <a:pPr algn="l"/>
                      <a:r>
                        <a:rPr sz="1250" b="0">
                          <a:solidFill>
                            <a:srgbClr val="262626"/>
                          </a:solidFill>
                          <a:latin typeface="Arial"/>
                        </a:rPr>
                        <a:t>Hai tác giả với hai kết quả khác nhau</a:t>
                      </a:r>
                    </a:p>
                  </a:txBody>
                  <a:tcPr marL="73152" marR="73152" marT="27432" marB="27432" anchor="ctr">
                    <a:solidFill>
                      <a:srgbClr val="F3F3F3"/>
                    </a:solidFill>
                  </a:tcPr>
                </a:tc>
              </a:tr>
              <a:tr h="548640">
                <a:tc>
                  <a:txBody>
                    <a:bodyPr wrap="square"/>
                    <a:lstStyle/>
                    <a:p>
                      <a:pPr algn="l"/>
                      <a:r>
                        <a:rPr sz="1250" b="0">
                          <a:solidFill>
                            <a:srgbClr val="262626"/>
                          </a:solidFill>
                          <a:latin typeface="Arial"/>
                        </a:rPr>
                        <a:t>[7]</a:t>
                      </a:r>
                    </a:p>
                  </a:txBody>
                  <a:tcPr marL="73152" marR="73152" marT="27432" marB="27432" anchor="ctr">
                    <a:solidFill>
                      <a:srgbClr val="FFFFFF"/>
                    </a:solidFill>
                  </a:tcPr>
                </a:tc>
                <a:tc>
                  <a:txBody>
                    <a:bodyPr wrap="square"/>
                    <a:lstStyle/>
                    <a:p>
                      <a:pPr algn="l"/>
                      <a:r>
                        <a:rPr sz="1250" b="0">
                          <a:solidFill>
                            <a:srgbClr val="262626"/>
                          </a:solidFill>
                          <a:latin typeface="Arial"/>
                        </a:rPr>
                        <a:t>Chỉ ra khoảng trống, dẫn sang mục 2.1.3</a:t>
                      </a:r>
                    </a:p>
                  </a:txBody>
                  <a:tcPr marL="73152" marR="73152" marT="27432" marB="27432" anchor="ctr">
                    <a:solidFill>
                      <a:srgbClr val="FFFFFF"/>
                    </a:solidFill>
                  </a:tcPr>
                </a:tc>
                <a:tc>
                  <a:txBody>
                    <a:bodyPr wrap="square"/>
                    <a:lstStyle/>
                    <a:p>
                      <a:pPr algn="l"/>
                      <a:r>
                        <a:rPr sz="1250" b="0">
                          <a:solidFill>
                            <a:srgbClr val="262626"/>
                          </a:solidFill>
                          <a:latin typeface="Arial"/>
                        </a:rPr>
                        <a:t>Cụm "chưa xem xét"</a:t>
                      </a:r>
                    </a:p>
                  </a:txBody>
                  <a:tcPr marL="73152" marR="73152" marT="27432" marB="27432" anchor="ctr">
                    <a:solidFill>
                      <a:srgbClr val="FFFFFF"/>
                    </a:solidFill>
                  </a:tcPr>
                </a:tc>
              </a:tr>
            </a:tbl>
          </a:graphicData>
        </a:graphic>
      </p:graphicFrame>
      <p:sp>
        <p:nvSpPr>
          <p:cNvPr id="13" name="TextBox 12"/>
          <p:cNvSpPr txBox="1"/>
          <p:nvPr/>
        </p:nvSpPr>
        <p:spPr>
          <a:xfrm>
            <a:off x="8595360" y="1783080"/>
            <a:ext cx="3136391" cy="274320"/>
          </a:xfrm>
          <a:prstGeom prst="rect">
            <a:avLst/>
          </a:prstGeom>
          <a:noFill/>
        </p:spPr>
        <p:txBody>
          <a:bodyPr wrap="square" lIns="45720" rIns="45720" tIns="27432" bIns="27432" anchor="t">
            <a:spAutoFit/>
          </a:bodyPr>
          <a:lstStyle/>
          <a:p>
            <a:pPr algn="l"/>
            <a:r>
              <a:rPr sz="1000" b="1" i="0">
                <a:solidFill>
                  <a:srgbClr val="CC0000"/>
                </a:solidFill>
                <a:latin typeface="Arial"/>
              </a:rPr>
              <a:t>SÁCH CÒN CHỈ RA: CÓ THỂ LÀM TỐT HƠN</a:t>
            </a:r>
          </a:p>
        </p:txBody>
      </p:sp>
      <p:cxnSp>
        <p:nvCxnSpPr>
          <p:cNvPr id="14" name="Connector 13"/>
          <p:cNvCxnSpPr/>
          <p:nvPr/>
        </p:nvCxnSpPr>
        <p:spPr>
          <a:xfrm>
            <a:off x="8595360" y="2103120"/>
            <a:ext cx="313639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95360" y="2167128"/>
            <a:ext cx="3136391" cy="3383280"/>
          </a:xfrm>
          <a:prstGeom prst="rect">
            <a:avLst/>
          </a:prstGeom>
          <a:noFill/>
        </p:spPr>
        <p:txBody>
          <a:bodyPr wrap="square" lIns="45720" rIns="45720" tIns="27432" bIns="27432" anchor="t">
            <a:spAutoFit/>
          </a:bodyPr>
          <a:lstStyle/>
          <a:p>
            <a:pPr algn="l"/>
            <a:r>
              <a:rPr sz="1250" b="0" i="0">
                <a:solidFill>
                  <a:srgbClr val="58595B"/>
                </a:solidFill>
                <a:latin typeface="Arial"/>
              </a:rPr>
              <a:t>Câu [6] nên thêm một câu giải thích vì sao hai kết quả khác nhau, ví dụ do khác độ tuổi của mẫu.</a:t>
            </a:r>
          </a:p>
          <a:p>
            <a:pPr algn="l">
              <a:spcBef>
                <a:spcPts val="562"/>
              </a:spcBef>
            </a:pPr>
          </a:p>
          <a:p>
            <a:pPr algn="l">
              <a:spcBef>
                <a:spcPts val="562"/>
              </a:spcBef>
            </a:pPr>
            <a:r>
              <a:rPr sz="1250" b="0" i="0">
                <a:solidFill>
                  <a:srgbClr val="58595B"/>
                </a:solidFill>
                <a:latin typeface="Arial"/>
              </a:rPr>
              <a:t>Câu [7] nên giới hạn phạm vi bằng cụm "trong các tài liệu mà tác giả tiếp cận được".</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CÔNG CỤ ĐỌC TÀI LIỆU</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Ma trận tổng hợp trên Excel biến 20 bài báo rời rạc thành các nhóm chủ đề nhìn thấy được</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Vẽ bản đồ tài liệu trước khi viết: gom nghiên cứu thành nhóm và chỉ ra vị trí còn trống mà đề tài sẽ lấp vào.</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Kỹ thuật dùng cho Mục 2.1.2, Hình 2-4 và Hình 2-6; Creswell và Creswell (2018, tr. 76)</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36</a:t>
            </a:r>
          </a:p>
        </p:txBody>
      </p:sp>
      <p:sp>
        <p:nvSpPr>
          <p:cNvPr id="11" name="Rectangle 10"/>
          <p:cNvSpPr/>
          <p:nvPr/>
        </p:nvSpPr>
        <p:spPr>
          <a:xfrm>
            <a:off x="402336" y="2502500"/>
            <a:ext cx="7059168" cy="24016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32_p1187.png"/>
          <p:cNvPicPr>
            <a:picLocks noChangeAspect="1"/>
          </p:cNvPicPr>
          <p:nvPr/>
        </p:nvPicPr>
        <p:blipFill>
          <a:blip r:embed="rId2"/>
          <a:stretch>
            <a:fillRect/>
          </a:stretch>
        </p:blipFill>
        <p:spPr>
          <a:xfrm>
            <a:off x="457200" y="2557364"/>
            <a:ext cx="6949440" cy="2291911"/>
          </a:xfrm>
          <a:prstGeom prst="rect">
            <a:avLst/>
          </a:prstGeom>
        </p:spPr>
      </p:pic>
      <p:sp>
        <p:nvSpPr>
          <p:cNvPr id="13" name="TextBox 12"/>
          <p:cNvSpPr txBox="1"/>
          <p:nvPr/>
        </p:nvSpPr>
        <p:spPr>
          <a:xfrm>
            <a:off x="7726679" y="1783080"/>
            <a:ext cx="4005072"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DÙNG MA TRẬN</a:t>
            </a:r>
          </a:p>
        </p:txBody>
      </p:sp>
      <p:cxnSp>
        <p:nvCxnSpPr>
          <p:cNvPr id="14" name="Connector 13"/>
          <p:cNvCxnSpPr/>
          <p:nvPr/>
        </p:nvCxnSpPr>
        <p:spPr>
          <a:xfrm>
            <a:off x="7726679" y="2103120"/>
            <a:ext cx="4005073"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726679"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8138159" y="2194560"/>
            <a:ext cx="3593592" cy="857250"/>
          </a:xfrm>
          <a:prstGeom prst="rect">
            <a:avLst/>
          </a:prstGeom>
          <a:noFill/>
        </p:spPr>
        <p:txBody>
          <a:bodyPr wrap="square" lIns="45720" rIns="45720" tIns="27432" bIns="27432" anchor="t">
            <a:spAutoFit/>
          </a:bodyPr>
          <a:lstStyle/>
          <a:p>
            <a:pPr algn="l"/>
            <a:r>
              <a:rPr sz="1350" b="0" i="0">
                <a:solidFill>
                  <a:srgbClr val="58595B"/>
                </a:solidFill>
                <a:latin typeface="Arial"/>
              </a:rPr>
              <a:t>Mỗi </a:t>
            </a:r>
            <a:r>
              <a:rPr sz="1350" b="1" i="0">
                <a:solidFill>
                  <a:srgbClr val="58595B"/>
                </a:solidFill>
                <a:latin typeface="Arial"/>
              </a:rPr>
              <a:t>hàng</a:t>
            </a:r>
            <a:r>
              <a:rPr sz="1350" b="0" i="0">
                <a:solidFill>
                  <a:srgbClr val="58595B"/>
                </a:solidFill>
                <a:latin typeface="Arial"/>
              </a:rPr>
              <a:t> là một tài liệu; ghi ngay khi đọc xong.</a:t>
            </a:r>
          </a:p>
        </p:txBody>
      </p:sp>
      <p:sp>
        <p:nvSpPr>
          <p:cNvPr id="17" name="Oval 16"/>
          <p:cNvSpPr/>
          <p:nvPr/>
        </p:nvSpPr>
        <p:spPr>
          <a:xfrm>
            <a:off x="7726679"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8138159" y="3051810"/>
            <a:ext cx="3593592" cy="857250"/>
          </a:xfrm>
          <a:prstGeom prst="rect">
            <a:avLst/>
          </a:prstGeom>
          <a:noFill/>
        </p:spPr>
        <p:txBody>
          <a:bodyPr wrap="square" lIns="45720" rIns="45720" tIns="27432" bIns="27432" anchor="t">
            <a:spAutoFit/>
          </a:bodyPr>
          <a:lstStyle/>
          <a:p>
            <a:pPr algn="l"/>
            <a:r>
              <a:rPr sz="1350" b="0" i="0">
                <a:solidFill>
                  <a:srgbClr val="58595B"/>
                </a:solidFill>
                <a:latin typeface="Arial"/>
              </a:rPr>
              <a:t>Mỗi </a:t>
            </a:r>
            <a:r>
              <a:rPr sz="1350" b="1" i="0">
                <a:solidFill>
                  <a:srgbClr val="58595B"/>
                </a:solidFill>
                <a:latin typeface="Arial"/>
              </a:rPr>
              <a:t>cột</a:t>
            </a:r>
            <a:r>
              <a:rPr sz="1350" b="0" i="0">
                <a:solidFill>
                  <a:srgbClr val="58595B"/>
                </a:solidFill>
                <a:latin typeface="Arial"/>
              </a:rPr>
              <a:t> là một câu hỏi khi đọc: bối cảnh, lý thuyết nền, biến, phương pháp, kết quả chính, nhóm chủ đề.</a:t>
            </a:r>
          </a:p>
        </p:txBody>
      </p:sp>
      <p:sp>
        <p:nvSpPr>
          <p:cNvPr id="19" name="Oval 18"/>
          <p:cNvSpPr/>
          <p:nvPr/>
        </p:nvSpPr>
        <p:spPr>
          <a:xfrm>
            <a:off x="7726679"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8138159" y="3909060"/>
            <a:ext cx="3593592" cy="857250"/>
          </a:xfrm>
          <a:prstGeom prst="rect">
            <a:avLst/>
          </a:prstGeom>
          <a:noFill/>
        </p:spPr>
        <p:txBody>
          <a:bodyPr wrap="square" lIns="45720" rIns="45720" tIns="27432" bIns="27432" anchor="t">
            <a:spAutoFit/>
          </a:bodyPr>
          <a:lstStyle/>
          <a:p>
            <a:pPr algn="l"/>
            <a:r>
              <a:rPr sz="1350" b="0" i="0">
                <a:solidFill>
                  <a:srgbClr val="58595B"/>
                </a:solidFill>
                <a:latin typeface="Arial"/>
              </a:rPr>
              <a:t>Khi có </a:t>
            </a:r>
            <a:r>
              <a:rPr sz="1350" b="1" i="0">
                <a:solidFill>
                  <a:srgbClr val="58595B"/>
                </a:solidFill>
                <a:latin typeface="Arial"/>
              </a:rPr>
              <a:t>15 đến 20 hàng</a:t>
            </a:r>
            <a:r>
              <a:rPr sz="1350" b="0" i="0">
                <a:solidFill>
                  <a:srgbClr val="58595B"/>
                </a:solidFill>
                <a:latin typeface="Arial"/>
              </a:rPr>
              <a:t>: chọn dòng tiêu đề, Data &gt; Filter, lọc cột "Nhóm chủ đề".</a:t>
            </a:r>
          </a:p>
        </p:txBody>
      </p:sp>
      <p:sp>
        <p:nvSpPr>
          <p:cNvPr id="21" name="Oval 20"/>
          <p:cNvSpPr/>
          <p:nvPr/>
        </p:nvSpPr>
        <p:spPr>
          <a:xfrm>
            <a:off x="7726679"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8138159" y="4766310"/>
            <a:ext cx="3593592" cy="857250"/>
          </a:xfrm>
          <a:prstGeom prst="rect">
            <a:avLst/>
          </a:prstGeom>
          <a:noFill/>
        </p:spPr>
        <p:txBody>
          <a:bodyPr wrap="square" lIns="45720" rIns="45720" tIns="27432" bIns="27432" anchor="t">
            <a:spAutoFit/>
          </a:bodyPr>
          <a:lstStyle/>
          <a:p>
            <a:pPr algn="l"/>
            <a:r>
              <a:rPr sz="1350" b="0" i="0">
                <a:solidFill>
                  <a:srgbClr val="58595B"/>
                </a:solidFill>
                <a:latin typeface="Arial"/>
              </a:rPr>
              <a:t>Nhìn dọc cột </a:t>
            </a:r>
            <a:r>
              <a:rPr sz="1350" b="1" i="0">
                <a:solidFill>
                  <a:srgbClr val="58595B"/>
                </a:solidFill>
                <a:latin typeface="Arial"/>
              </a:rPr>
              <a:t>"Kết quả chính"</a:t>
            </a:r>
            <a:r>
              <a:rPr sz="1350" b="0" i="0">
                <a:solidFill>
                  <a:srgbClr val="58595B"/>
                </a:solidFill>
                <a:latin typeface="Arial"/>
              </a:rPr>
              <a:t> của một nhóm để thấy điểm giống và điểm khác.</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KHOẢNG TRỐNG NGHIÊN CỨU (RESEARCH GAP)</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Khoảng trống nghiên cứu phải được chứng minh bằng chính các nghiên cứu vừa tổng hợp</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Không viết "chưa có ai nghiên cứu"; viết "trong các tài liệu mà tác giả tiếp cận được, chưa có nghiên cứu nào xem xét...".</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2.1.3</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37</a:t>
            </a:r>
          </a:p>
        </p:txBody>
      </p:sp>
      <p:sp>
        <p:nvSpPr>
          <p:cNvPr id="11" name="Rectangle 10"/>
          <p:cNvSpPr/>
          <p:nvPr/>
        </p:nvSpPr>
        <p:spPr>
          <a:xfrm>
            <a:off x="457200" y="1783080"/>
            <a:ext cx="2612898"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2109978" cy="502920"/>
          </a:xfrm>
          <a:prstGeom prst="rect">
            <a:avLst/>
          </a:prstGeom>
          <a:noFill/>
        </p:spPr>
        <p:txBody>
          <a:bodyPr wrap="square" lIns="45720" rIns="45720" tIns="27432" bIns="27432" anchor="ctr">
            <a:spAutoFit/>
          </a:bodyPr>
          <a:lstStyle/>
          <a:p>
            <a:pPr algn="l"/>
            <a:r>
              <a:rPr sz="1500" b="1" i="0">
                <a:solidFill>
                  <a:srgbClr val="262626"/>
                </a:solidFill>
                <a:latin typeface="Arial"/>
              </a:rPr>
              <a:t>Loại 1: bối cảnh</a:t>
            </a:r>
          </a:p>
        </p:txBody>
      </p:sp>
      <p:sp>
        <p:nvSpPr>
          <p:cNvPr id="14" name="TextBox 13"/>
          <p:cNvSpPr txBox="1"/>
          <p:nvPr/>
        </p:nvSpPr>
        <p:spPr>
          <a:xfrm>
            <a:off x="457200" y="2560320"/>
            <a:ext cx="2612898" cy="3017520"/>
          </a:xfrm>
          <a:prstGeom prst="rect">
            <a:avLst/>
          </a:prstGeom>
          <a:noFill/>
        </p:spPr>
        <p:txBody>
          <a:bodyPr wrap="square" lIns="45720" rIns="45720" tIns="27432" bIns="27432" anchor="t">
            <a:spAutoFit/>
          </a:bodyPr>
          <a:lstStyle/>
          <a:p>
            <a:pPr algn="l"/>
            <a:r>
              <a:rPr sz="1350" b="0" i="0">
                <a:solidFill>
                  <a:srgbClr val="58595B"/>
                </a:solidFill>
                <a:latin typeface="Arial"/>
              </a:rPr>
              <a:t>Chưa có nghiên cứu trong một bối cảnh cụ thể.</a:t>
            </a:r>
          </a:p>
          <a:p>
            <a:pPr algn="l">
              <a:spcBef>
                <a:spcPts val="607"/>
              </a:spcBef>
            </a:pPr>
          </a:p>
          <a:p>
            <a:pPr algn="l">
              <a:spcBef>
                <a:spcPts val="607"/>
              </a:spcBef>
            </a:pPr>
            <a:r>
              <a:rPr sz="1350" b="1" i="0">
                <a:solidFill>
                  <a:srgbClr val="58595B"/>
                </a:solidFill>
                <a:latin typeface="Arial"/>
              </a:rPr>
              <a:t>An toàn cho khóa luận đại học.</a:t>
            </a:r>
          </a:p>
        </p:txBody>
      </p:sp>
      <p:sp>
        <p:nvSpPr>
          <p:cNvPr id="15" name="Rectangle 14"/>
          <p:cNvSpPr/>
          <p:nvPr/>
        </p:nvSpPr>
        <p:spPr>
          <a:xfrm>
            <a:off x="3344418" y="1783080"/>
            <a:ext cx="2612898"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4441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3847337" y="1938528"/>
            <a:ext cx="2109978" cy="502920"/>
          </a:xfrm>
          <a:prstGeom prst="rect">
            <a:avLst/>
          </a:prstGeom>
          <a:noFill/>
        </p:spPr>
        <p:txBody>
          <a:bodyPr wrap="square" lIns="45720" rIns="45720" tIns="27432" bIns="27432" anchor="ctr">
            <a:spAutoFit/>
          </a:bodyPr>
          <a:lstStyle/>
          <a:p>
            <a:pPr algn="l"/>
            <a:r>
              <a:rPr sz="1500" b="1" i="0">
                <a:solidFill>
                  <a:srgbClr val="262626"/>
                </a:solidFill>
                <a:latin typeface="Arial"/>
              </a:rPr>
              <a:t>Loại 2: biến</a:t>
            </a:r>
          </a:p>
        </p:txBody>
      </p:sp>
      <p:sp>
        <p:nvSpPr>
          <p:cNvPr id="18" name="TextBox 17"/>
          <p:cNvSpPr txBox="1"/>
          <p:nvPr/>
        </p:nvSpPr>
        <p:spPr>
          <a:xfrm>
            <a:off x="3344418" y="2560320"/>
            <a:ext cx="2612898" cy="3017520"/>
          </a:xfrm>
          <a:prstGeom prst="rect">
            <a:avLst/>
          </a:prstGeom>
          <a:noFill/>
        </p:spPr>
        <p:txBody>
          <a:bodyPr wrap="square" lIns="45720" rIns="45720" tIns="27432" bIns="27432" anchor="t">
            <a:spAutoFit/>
          </a:bodyPr>
          <a:lstStyle/>
          <a:p>
            <a:pPr algn="l"/>
            <a:r>
              <a:rPr sz="1350" b="0" i="0">
                <a:solidFill>
                  <a:srgbClr val="58595B"/>
                </a:solidFill>
                <a:latin typeface="Arial"/>
              </a:rPr>
              <a:t>Chưa xem xét một biến hoặc một tổ hợp biến.</a:t>
            </a:r>
          </a:p>
        </p:txBody>
      </p:sp>
      <p:sp>
        <p:nvSpPr>
          <p:cNvPr id="19" name="Rectangle 18"/>
          <p:cNvSpPr/>
          <p:nvPr/>
        </p:nvSpPr>
        <p:spPr>
          <a:xfrm>
            <a:off x="6231636" y="1783080"/>
            <a:ext cx="2612898"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231636"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6734555" y="1938528"/>
            <a:ext cx="2109978" cy="502920"/>
          </a:xfrm>
          <a:prstGeom prst="rect">
            <a:avLst/>
          </a:prstGeom>
          <a:noFill/>
        </p:spPr>
        <p:txBody>
          <a:bodyPr wrap="square" lIns="45720" rIns="45720" tIns="27432" bIns="27432" anchor="ctr">
            <a:spAutoFit/>
          </a:bodyPr>
          <a:lstStyle/>
          <a:p>
            <a:pPr algn="l"/>
            <a:r>
              <a:rPr sz="1500" b="1" i="0">
                <a:solidFill>
                  <a:srgbClr val="262626"/>
                </a:solidFill>
                <a:latin typeface="Arial"/>
              </a:rPr>
              <a:t>Loại 3: phương pháp, đối tượng</a:t>
            </a:r>
          </a:p>
        </p:txBody>
      </p:sp>
      <p:sp>
        <p:nvSpPr>
          <p:cNvPr id="22" name="TextBox 21"/>
          <p:cNvSpPr txBox="1"/>
          <p:nvPr/>
        </p:nvSpPr>
        <p:spPr>
          <a:xfrm>
            <a:off x="6231636" y="2560320"/>
            <a:ext cx="2612898" cy="3017520"/>
          </a:xfrm>
          <a:prstGeom prst="rect">
            <a:avLst/>
          </a:prstGeom>
          <a:noFill/>
        </p:spPr>
        <p:txBody>
          <a:bodyPr wrap="square" lIns="45720" rIns="45720" tIns="27432" bIns="27432" anchor="t">
            <a:spAutoFit/>
          </a:bodyPr>
          <a:lstStyle/>
          <a:p>
            <a:pPr algn="l"/>
            <a:r>
              <a:rPr sz="1350" b="0" i="0">
                <a:solidFill>
                  <a:srgbClr val="58595B"/>
                </a:solidFill>
                <a:latin typeface="Arial"/>
              </a:rPr>
              <a:t>Chưa dùng một phương pháp hoặc một nhóm đối tượng.</a:t>
            </a:r>
          </a:p>
        </p:txBody>
      </p:sp>
      <p:sp>
        <p:nvSpPr>
          <p:cNvPr id="23" name="Rectangle 22"/>
          <p:cNvSpPr/>
          <p:nvPr/>
        </p:nvSpPr>
        <p:spPr>
          <a:xfrm>
            <a:off x="9118854" y="1783080"/>
            <a:ext cx="2612898"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1885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5" name="TextBox 24"/>
          <p:cNvSpPr txBox="1"/>
          <p:nvPr/>
        </p:nvSpPr>
        <p:spPr>
          <a:xfrm>
            <a:off x="9621774" y="1938528"/>
            <a:ext cx="2109978" cy="502920"/>
          </a:xfrm>
          <a:prstGeom prst="rect">
            <a:avLst/>
          </a:prstGeom>
          <a:noFill/>
        </p:spPr>
        <p:txBody>
          <a:bodyPr wrap="square" lIns="45720" rIns="45720" tIns="27432" bIns="27432" anchor="ctr">
            <a:spAutoFit/>
          </a:bodyPr>
          <a:lstStyle/>
          <a:p>
            <a:pPr algn="l"/>
            <a:r>
              <a:rPr sz="1500" b="1" i="0">
                <a:solidFill>
                  <a:srgbClr val="262626"/>
                </a:solidFill>
                <a:latin typeface="Arial"/>
              </a:rPr>
              <a:t>Loại 4: mâu thuẫn</a:t>
            </a:r>
          </a:p>
        </p:txBody>
      </p:sp>
      <p:sp>
        <p:nvSpPr>
          <p:cNvPr id="26" name="TextBox 25"/>
          <p:cNvSpPr txBox="1"/>
          <p:nvPr/>
        </p:nvSpPr>
        <p:spPr>
          <a:xfrm>
            <a:off x="9118854" y="2560320"/>
            <a:ext cx="2612898" cy="3017520"/>
          </a:xfrm>
          <a:prstGeom prst="rect">
            <a:avLst/>
          </a:prstGeom>
          <a:noFill/>
        </p:spPr>
        <p:txBody>
          <a:bodyPr wrap="square" lIns="45720" rIns="45720" tIns="27432" bIns="27432" anchor="t">
            <a:spAutoFit/>
          </a:bodyPr>
          <a:lstStyle/>
          <a:p>
            <a:pPr algn="l"/>
            <a:r>
              <a:rPr sz="1350" b="0" i="0">
                <a:solidFill>
                  <a:srgbClr val="58595B"/>
                </a:solidFill>
                <a:latin typeface="Arial"/>
              </a:rPr>
              <a:t>Kết quả các nghiên cứu còn mâu thuẫn.</a:t>
            </a:r>
          </a:p>
          <a:p>
            <a:pPr algn="l">
              <a:spcBef>
                <a:spcPts val="607"/>
              </a:spcBef>
            </a:pPr>
          </a:p>
          <a:p>
            <a:pPr algn="l">
              <a:spcBef>
                <a:spcPts val="607"/>
              </a:spcBef>
            </a:pPr>
            <a:r>
              <a:rPr sz="1350" b="1" i="0">
                <a:solidFill>
                  <a:srgbClr val="58595B"/>
                </a:solidFill>
                <a:latin typeface="Arial"/>
              </a:rPr>
              <a:t>An toàn cho khóa luận đại học.</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TÌM TÀI LIỆU CÓ HỆ THỐNG</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Tìm tài liệu theo năm bước có nhật ký thì câu "trong các tài liệu tác giả tiếp cận được" trở thành một phạm vi kiểm tra được</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Không có nhật ký tìm kiếm thì câu "chưa có nghiên cứu nào" không kiểm tra được và Hội đồng chỉ cần nêu một bài là bác bỏ.</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Thực hành 2.1.3A và Bảng 2-3; Webster và Watson (2002); Wohlin (2014); file 2b.Chapter_2_and_Chapter_3_Data_Collection_Practice.xlsx (dữ liệu giả định), sheet 1_NhatKyTimTaiLieu</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38</a:t>
            </a:r>
          </a:p>
        </p:txBody>
      </p:sp>
      <p:sp>
        <p:nvSpPr>
          <p:cNvPr id="12" name="Pentagon 11"/>
          <p:cNvSpPr/>
          <p:nvPr/>
        </p:nvSpPr>
        <p:spPr>
          <a:xfrm>
            <a:off x="457200" y="1783080"/>
            <a:ext cx="2364638" cy="731520"/>
          </a:xfrm>
          <a:prstGeom prst="homePlat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1. Tách từ khóa</a:t>
            </a:r>
          </a:p>
        </p:txBody>
      </p:sp>
      <p:sp>
        <p:nvSpPr>
          <p:cNvPr id="13" name="TextBox 12"/>
          <p:cNvSpPr txBox="1"/>
          <p:nvPr/>
        </p:nvSpPr>
        <p:spPr>
          <a:xfrm>
            <a:off x="566928" y="2697480"/>
            <a:ext cx="2026310" cy="2880360"/>
          </a:xfrm>
          <a:prstGeom prst="rect">
            <a:avLst/>
          </a:prstGeom>
          <a:noFill/>
        </p:spPr>
        <p:txBody>
          <a:bodyPr wrap="square" lIns="45720" rIns="45720" tIns="27432" bIns="27432" anchor="t">
            <a:spAutoFit/>
          </a:bodyPr>
          <a:lstStyle/>
          <a:p>
            <a:pPr algn="l"/>
            <a:r>
              <a:rPr sz="1250" b="0" i="0">
                <a:solidFill>
                  <a:srgbClr val="58595B"/>
                </a:solidFill>
                <a:latin typeface="Arial"/>
              </a:rPr>
              <a:t>Ba khối: </a:t>
            </a:r>
            <a:r>
              <a:rPr sz="1250" b="1" i="0">
                <a:solidFill>
                  <a:srgbClr val="58595B"/>
                </a:solidFill>
                <a:latin typeface="Arial"/>
              </a:rPr>
              <a:t>khái niệm</a:t>
            </a:r>
            <a:r>
              <a:rPr sz="1250" b="0" i="0">
                <a:solidFill>
                  <a:srgbClr val="58595B"/>
                </a:solidFill>
                <a:latin typeface="Arial"/>
              </a:rPr>
              <a:t> (mobile banking, intention), </a:t>
            </a:r>
            <a:r>
              <a:rPr sz="1250" b="1" i="0">
                <a:solidFill>
                  <a:srgbClr val="58595B"/>
                </a:solidFill>
                <a:latin typeface="Arial"/>
              </a:rPr>
              <a:t>lý thuyết</a:t>
            </a:r>
            <a:r>
              <a:rPr sz="1250" b="0" i="0">
                <a:solidFill>
                  <a:srgbClr val="58595B"/>
                </a:solidFill>
                <a:latin typeface="Arial"/>
              </a:rPr>
              <a:t> (TAM, UTAUT), </a:t>
            </a:r>
            <a:r>
              <a:rPr sz="1250" b="1" i="0">
                <a:solidFill>
                  <a:srgbClr val="58595B"/>
                </a:solidFill>
                <a:latin typeface="Arial"/>
              </a:rPr>
              <a:t>bối cảnh</a:t>
            </a:r>
            <a:r>
              <a:rPr sz="1250" b="0" i="0">
                <a:solidFill>
                  <a:srgbClr val="58595B"/>
                </a:solidFill>
                <a:latin typeface="Arial"/>
              </a:rPr>
              <a:t> (Vietnam). Thêm từ đồng nghĩa.</a:t>
            </a:r>
          </a:p>
        </p:txBody>
      </p:sp>
      <p:sp>
        <p:nvSpPr>
          <p:cNvPr id="14" name="Chevron 13"/>
          <p:cNvSpPr/>
          <p:nvPr/>
        </p:nvSpPr>
        <p:spPr>
          <a:xfrm>
            <a:off x="2712110"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2. Ghép chuỗi</a:t>
            </a:r>
          </a:p>
        </p:txBody>
      </p:sp>
      <p:sp>
        <p:nvSpPr>
          <p:cNvPr id="15" name="TextBox 14"/>
          <p:cNvSpPr txBox="1"/>
          <p:nvPr/>
        </p:nvSpPr>
        <p:spPr>
          <a:xfrm>
            <a:off x="2821838" y="2697480"/>
            <a:ext cx="2026310" cy="2880360"/>
          </a:xfrm>
          <a:prstGeom prst="rect">
            <a:avLst/>
          </a:prstGeom>
          <a:noFill/>
        </p:spPr>
        <p:txBody>
          <a:bodyPr wrap="square" lIns="45720" rIns="45720" tIns="27432" bIns="27432" anchor="t">
            <a:spAutoFit/>
          </a:bodyPr>
          <a:lstStyle/>
          <a:p>
            <a:pPr algn="l"/>
            <a:r>
              <a:rPr sz="1250" b="1" i="0">
                <a:solidFill>
                  <a:srgbClr val="58595B"/>
                </a:solidFill>
                <a:latin typeface="Arial"/>
              </a:rPr>
              <a:t>OR</a:t>
            </a:r>
            <a:r>
              <a:rPr sz="1250" b="0" i="0">
                <a:solidFill>
                  <a:srgbClr val="58595B"/>
                </a:solidFill>
                <a:latin typeface="Arial"/>
              </a:rPr>
              <a:t> trong một khối, </a:t>
            </a:r>
            <a:r>
              <a:rPr sz="1250" b="1" i="0">
                <a:solidFill>
                  <a:srgbClr val="58595B"/>
                </a:solidFill>
                <a:latin typeface="Arial"/>
              </a:rPr>
              <a:t>AND</a:t>
            </a:r>
            <a:r>
              <a:rPr sz="1250" b="0" i="0">
                <a:solidFill>
                  <a:srgbClr val="58595B"/>
                </a:solidFill>
                <a:latin typeface="Arial"/>
              </a:rPr>
              <a:t> giữa các khối.</a:t>
            </a:r>
          </a:p>
          <a:p>
            <a:pPr algn="l">
              <a:spcBef>
                <a:spcPts val="562"/>
              </a:spcBef>
            </a:pPr>
          </a:p>
          <a:p>
            <a:pPr algn="l">
              <a:spcBef>
                <a:spcPts val="562"/>
              </a:spcBef>
            </a:pPr>
            <a:r>
              <a:rPr sz="1250" b="0" i="0">
                <a:solidFill>
                  <a:srgbClr val="58595B"/>
                </a:solidFill>
                <a:latin typeface="Arial"/>
              </a:rPr>
              <a:t>("mobile banking" OR "digital banking") AND intention AND Vietnam</a:t>
            </a:r>
          </a:p>
        </p:txBody>
      </p:sp>
      <p:cxnSp>
        <p:nvCxnSpPr>
          <p:cNvPr id="16" name="Connector 15"/>
          <p:cNvCxnSpPr/>
          <p:nvPr/>
        </p:nvCxnSpPr>
        <p:spPr>
          <a:xfrm>
            <a:off x="2730398"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4967020"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3. Hai nguồn trở lên</a:t>
            </a:r>
          </a:p>
        </p:txBody>
      </p:sp>
      <p:sp>
        <p:nvSpPr>
          <p:cNvPr id="18" name="TextBox 17"/>
          <p:cNvSpPr txBox="1"/>
          <p:nvPr/>
        </p:nvSpPr>
        <p:spPr>
          <a:xfrm>
            <a:off x="5076748" y="2697480"/>
            <a:ext cx="2026310" cy="2880360"/>
          </a:xfrm>
          <a:prstGeom prst="rect">
            <a:avLst/>
          </a:prstGeom>
          <a:noFill/>
        </p:spPr>
        <p:txBody>
          <a:bodyPr wrap="square" lIns="45720" rIns="45720" tIns="27432" bIns="27432" anchor="t">
            <a:spAutoFit/>
          </a:bodyPr>
          <a:lstStyle/>
          <a:p>
            <a:pPr algn="l"/>
            <a:r>
              <a:rPr sz="1250" b="0" i="0">
                <a:solidFill>
                  <a:srgbClr val="58595B"/>
                </a:solidFill>
                <a:latin typeface="Arial"/>
              </a:rPr>
              <a:t>Google Scholar; cơ sở dữ liệu thư viện trường; tạp chí trong nước; kho luận văn.</a:t>
            </a:r>
          </a:p>
        </p:txBody>
      </p:sp>
      <p:cxnSp>
        <p:nvCxnSpPr>
          <p:cNvPr id="19" name="Connector 18"/>
          <p:cNvCxnSpPr/>
          <p:nvPr/>
        </p:nvCxnSpPr>
        <p:spPr>
          <a:xfrm>
            <a:off x="4985308"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221931" y="1783080"/>
            <a:ext cx="2364638" cy="73152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4. Lăn cầu tuyết</a:t>
            </a:r>
          </a:p>
        </p:txBody>
      </p:sp>
      <p:sp>
        <p:nvSpPr>
          <p:cNvPr id="21" name="TextBox 20"/>
          <p:cNvSpPr txBox="1"/>
          <p:nvPr/>
        </p:nvSpPr>
        <p:spPr>
          <a:xfrm>
            <a:off x="7331659" y="2697480"/>
            <a:ext cx="2026310" cy="2880360"/>
          </a:xfrm>
          <a:prstGeom prst="rect">
            <a:avLst/>
          </a:prstGeom>
          <a:noFill/>
        </p:spPr>
        <p:txBody>
          <a:bodyPr wrap="square" lIns="45720" rIns="45720" tIns="27432" bIns="27432" anchor="t">
            <a:spAutoFit/>
          </a:bodyPr>
          <a:lstStyle/>
          <a:p>
            <a:pPr algn="l"/>
            <a:r>
              <a:rPr sz="1250" b="1" i="0">
                <a:solidFill>
                  <a:srgbClr val="58595B"/>
                </a:solidFill>
                <a:latin typeface="Arial"/>
              </a:rPr>
              <a:t>Lần ngược:</a:t>
            </a:r>
            <a:r>
              <a:rPr sz="1250" b="0" i="0">
                <a:solidFill>
                  <a:srgbClr val="58595B"/>
                </a:solidFill>
                <a:latin typeface="Arial"/>
              </a:rPr>
              <a:t> đọc danh mục tham khảo.</a:t>
            </a:r>
          </a:p>
          <a:p>
            <a:pPr algn="l">
              <a:spcBef>
                <a:spcPts val="562"/>
              </a:spcBef>
            </a:pPr>
            <a:r>
              <a:rPr sz="1250" b="1" i="0">
                <a:solidFill>
                  <a:srgbClr val="58595B"/>
                </a:solidFill>
                <a:latin typeface="Arial"/>
              </a:rPr>
              <a:t>Lần xuôi:</a:t>
            </a:r>
            <a:r>
              <a:rPr sz="1250" b="0" i="0">
                <a:solidFill>
                  <a:srgbClr val="58595B"/>
                </a:solidFill>
                <a:latin typeface="Arial"/>
              </a:rPr>
              <a:t> bấm "Cited by".</a:t>
            </a:r>
          </a:p>
          <a:p>
            <a:pPr algn="l">
              <a:spcBef>
                <a:spcPts val="562"/>
              </a:spcBef>
            </a:pPr>
            <a:r>
              <a:rPr sz="1250" b="0" i="0">
                <a:solidFill>
                  <a:srgbClr val="58595B"/>
                </a:solidFill>
                <a:latin typeface="Arial"/>
              </a:rPr>
              <a:t>Dừng khi một vòng không thêm bài mới.</a:t>
            </a:r>
          </a:p>
        </p:txBody>
      </p:sp>
      <p:cxnSp>
        <p:nvCxnSpPr>
          <p:cNvPr id="22" name="Connector 21"/>
          <p:cNvCxnSpPr/>
          <p:nvPr/>
        </p:nvCxnSpPr>
        <p:spPr>
          <a:xfrm>
            <a:off x="7240219"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9476841"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5. Ghi nhật ký</a:t>
            </a:r>
          </a:p>
        </p:txBody>
      </p:sp>
      <p:sp>
        <p:nvSpPr>
          <p:cNvPr id="24" name="TextBox 23"/>
          <p:cNvSpPr txBox="1"/>
          <p:nvPr/>
        </p:nvSpPr>
        <p:spPr>
          <a:xfrm>
            <a:off x="9586569" y="2697480"/>
            <a:ext cx="2026310" cy="2880360"/>
          </a:xfrm>
          <a:prstGeom prst="rect">
            <a:avLst/>
          </a:prstGeom>
          <a:noFill/>
        </p:spPr>
        <p:txBody>
          <a:bodyPr wrap="square" lIns="45720" rIns="45720" tIns="27432" bIns="27432" anchor="t">
            <a:spAutoFit/>
          </a:bodyPr>
          <a:lstStyle/>
          <a:p>
            <a:pPr algn="l"/>
            <a:r>
              <a:rPr sz="1250" b="0" i="0">
                <a:solidFill>
                  <a:srgbClr val="58595B"/>
                </a:solidFill>
                <a:latin typeface="Arial"/>
              </a:rPr>
              <a:t>Mỗi lần tìm một dòng: nguồn, chuỗi, số bản ghi đã xem, số giữ lại.</a:t>
            </a:r>
          </a:p>
          <a:p>
            <a:pPr algn="l">
              <a:spcBef>
                <a:spcPts val="562"/>
              </a:spcBef>
            </a:pPr>
          </a:p>
          <a:p>
            <a:pPr algn="l">
              <a:spcBef>
                <a:spcPts val="562"/>
              </a:spcBef>
            </a:pPr>
            <a:r>
              <a:rPr sz="1250" b="1" i="0">
                <a:solidFill>
                  <a:srgbClr val="58595B"/>
                </a:solidFill>
                <a:latin typeface="Arial"/>
              </a:rPr>
              <a:t>Ngân hàng X: 620 bản ghi, 63 bài, 21 bài.</a:t>
            </a:r>
          </a:p>
        </p:txBody>
      </p:sp>
      <p:cxnSp>
        <p:nvCxnSpPr>
          <p:cNvPr id="25" name="Connector 24"/>
          <p:cNvCxnSpPr/>
          <p:nvPr/>
        </p:nvCxnSpPr>
        <p:spPr>
          <a:xfrm>
            <a:off x="9495129"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ĐIỂM MỚI ĐO BẰNG CON SỐ</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Điểm mới có bốn mức; khóa luận đại học an toàn ở mức 1 và 2, mức 3 là sản phẩm có chất lượng thạc sĩ</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"Chưa ai nghiên cứu ở đơn vị của em" chỉ là một ô bằng 0; điểm mới cần thêm một câu giải thích vì sao bối cảnh đó làm kết quả khác đi.</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Thực hành 2.1.3A, Bảng 2-4 và 2-5; Whetten (1989); Sandberg và Alvesson (2011); Müller-Bloch và Kranz (2015); file 2b.Chapter_2_and_Chapter_3_Data_Collection_Practice.xlsx (dữ liệu giả định), sheet 2 và 12</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39</a:t>
            </a:r>
          </a:p>
        </p:txBody>
      </p:sp>
      <p:graphicFrame>
        <p:nvGraphicFramePr>
          <p:cNvPr id="11" name="Table 10"/>
          <p:cNvGraphicFramePr>
            <a:graphicFrameLocks noGrp="1"/>
          </p:cNvGraphicFramePr>
          <p:nvPr/>
        </p:nvGraphicFramePr>
        <p:xfrm>
          <a:off x="457200" y="1783080"/>
          <a:ext cx="8961120" cy="3044952"/>
        </p:xfrm>
        <a:graphic>
          <a:graphicData uri="http://schemas.openxmlformats.org/drawingml/2006/table">
            <a:tbl>
              <a:tblPr firstRow="1" bandRow="1">
                <a:tableStyleId>{5C22544A-7EE6-4342-B048-85BDC9FD1C3A}</a:tableStyleId>
              </a:tblPr>
              <a:tblGrid>
                <a:gridCol w="1828800"/>
                <a:gridCol w="2926080"/>
                <a:gridCol w="2926080"/>
                <a:gridCol w="1280160"/>
              </a:tblGrid>
              <a:tr h="411480">
                <a:tc>
                  <a:txBody>
                    <a:bodyPr wrap="square"/>
                    <a:lstStyle/>
                    <a:p>
                      <a:pPr algn="l"/>
                      <a:r>
                        <a:rPr sz="1200" b="1">
                          <a:solidFill>
                            <a:srgbClr val="FFFFFF"/>
                          </a:solidFill>
                          <a:latin typeface="Arial"/>
                        </a:rPr>
                        <a:t>Mức</a:t>
                      </a:r>
                    </a:p>
                  </a:txBody>
                  <a:tcPr marL="73152" marR="73152" marT="27432" marB="27432" anchor="ctr">
                    <a:solidFill>
                      <a:srgbClr val="262626"/>
                    </a:solidFill>
                  </a:tcPr>
                </a:tc>
                <a:tc>
                  <a:txBody>
                    <a:bodyPr wrap="square"/>
                    <a:lstStyle/>
                    <a:p>
                      <a:pPr algn="l"/>
                      <a:r>
                        <a:rPr sz="1200" b="1">
                          <a:solidFill>
                            <a:srgbClr val="FFFFFF"/>
                          </a:solidFill>
                          <a:latin typeface="Arial"/>
                        </a:rPr>
                        <a:t>Câu hỏi kiểm tra</a:t>
                      </a:r>
                    </a:p>
                  </a:txBody>
                  <a:tcPr marL="73152" marR="73152" marT="27432" marB="27432" anchor="ctr">
                    <a:solidFill>
                      <a:srgbClr val="262626"/>
                    </a:solidFill>
                  </a:tcPr>
                </a:tc>
                <a:tc>
                  <a:txBody>
                    <a:bodyPr wrap="square"/>
                    <a:lstStyle/>
                    <a:p>
                      <a:pPr algn="l"/>
                      <a:r>
                        <a:rPr sz="1200" b="1">
                          <a:solidFill>
                            <a:srgbClr val="FFFFFF"/>
                          </a:solidFill>
                          <a:latin typeface="Arial"/>
                        </a:rPr>
                        <a:t>Ví dụ</a:t>
                      </a:r>
                    </a:p>
                  </a:txBody>
                  <a:tcPr marL="73152" marR="73152" marT="27432" marB="27432" anchor="ctr">
                    <a:solidFill>
                      <a:srgbClr val="262626"/>
                    </a:solidFill>
                  </a:tcPr>
                </a:tc>
                <a:tc>
                  <a:txBody>
                    <a:bodyPr wrap="square"/>
                    <a:lstStyle/>
                    <a:p>
                      <a:pPr algn="l"/>
                      <a:r>
                        <a:rPr sz="1200" b="1">
                          <a:solidFill>
                            <a:srgbClr val="FFFFFF"/>
                          </a:solidFill>
                          <a:latin typeface="Arial"/>
                        </a:rPr>
                        <a:t>Phù hợp</a:t>
                      </a:r>
                    </a:p>
                  </a:txBody>
                  <a:tcPr marL="73152" marR="73152" marT="27432" marB="27432" anchor="ctr">
                    <a:solidFill>
                      <a:srgbClr val="262626"/>
                    </a:solidFill>
                  </a:tcPr>
                </a:tc>
              </a:tr>
              <a:tr h="658368">
                <a:tc>
                  <a:txBody>
                    <a:bodyPr wrap="square"/>
                    <a:lstStyle/>
                    <a:p>
                      <a:pPr algn="l"/>
                      <a:r>
                        <a:rPr sz="1200" b="0">
                          <a:solidFill>
                            <a:srgbClr val="262626"/>
                          </a:solidFill>
                          <a:latin typeface="Arial"/>
                        </a:rPr>
                        <a:t>1. Bối cảnh mới</a:t>
                      </a:r>
                    </a:p>
                  </a:txBody>
                  <a:tcPr marL="73152" marR="73152" marT="27432" marB="27432" anchor="ctr">
                    <a:solidFill>
                      <a:srgbClr val="FFFFFF"/>
                    </a:solidFill>
                  </a:tcPr>
                </a:tc>
                <a:tc>
                  <a:txBody>
                    <a:bodyPr wrap="square"/>
                    <a:lstStyle/>
                    <a:p>
                      <a:pPr algn="l"/>
                      <a:r>
                        <a:rPr sz="1200" b="0">
                          <a:solidFill>
                            <a:srgbClr val="262626"/>
                          </a:solidFill>
                          <a:latin typeface="Arial"/>
                        </a:rPr>
                        <a:t>Bối cảnh có lý do làm quan hệ giữa các biến khác đi không?</a:t>
                      </a:r>
                    </a:p>
                  </a:txBody>
                  <a:tcPr marL="73152" marR="73152" marT="27432" marB="27432" anchor="ctr">
                    <a:solidFill>
                      <a:srgbClr val="FFFFFF"/>
                    </a:solidFill>
                  </a:tcPr>
                </a:tc>
                <a:tc>
                  <a:txBody>
                    <a:bodyPr wrap="square"/>
                    <a:lstStyle/>
                    <a:p>
                      <a:pPr algn="l"/>
                      <a:r>
                        <a:rPr sz="1200" b="0">
                          <a:solidFill>
                            <a:srgbClr val="262626"/>
                          </a:solidFill>
                          <a:latin typeface="Arial"/>
                        </a:rPr>
                        <a:t>Chỉ 1 trong 8 nghiên cứu khảo sát ngoài thành phố lớn</a:t>
                      </a:r>
                    </a:p>
                  </a:txBody>
                  <a:tcPr marL="73152" marR="73152" marT="27432" marB="27432" anchor="ctr">
                    <a:solidFill>
                      <a:srgbClr val="FFFFFF"/>
                    </a:solidFill>
                  </a:tcPr>
                </a:tc>
                <a:tc>
                  <a:txBody>
                    <a:bodyPr wrap="square"/>
                    <a:lstStyle/>
                    <a:p>
                      <a:pPr algn="l"/>
                      <a:r>
                        <a:rPr sz="1200" b="0">
                          <a:solidFill>
                            <a:srgbClr val="262626"/>
                          </a:solidFill>
                          <a:latin typeface="Arial"/>
                        </a:rPr>
                        <a:t>Đại học</a:t>
                      </a:r>
                    </a:p>
                  </a:txBody>
                  <a:tcPr marL="73152" marR="73152" marT="27432" marB="27432" anchor="ctr">
                    <a:solidFill>
                      <a:srgbClr val="FFFFFF"/>
                    </a:solidFill>
                  </a:tcPr>
                </a:tc>
              </a:tr>
              <a:tr h="658368">
                <a:tc>
                  <a:txBody>
                    <a:bodyPr wrap="square"/>
                    <a:lstStyle/>
                    <a:p>
                      <a:pPr algn="l"/>
                      <a:r>
                        <a:rPr sz="1200" b="0">
                          <a:solidFill>
                            <a:srgbClr val="262626"/>
                          </a:solidFill>
                          <a:latin typeface="Arial"/>
                        </a:rPr>
                        <a:t>2. Kết quả trái chiều</a:t>
                      </a:r>
                    </a:p>
                  </a:txBody>
                  <a:tcPr marL="73152" marR="73152" marT="27432" marB="27432" anchor="ctr">
                    <a:solidFill>
                      <a:srgbClr val="FBEAEA"/>
                    </a:solidFill>
                  </a:tcPr>
                </a:tc>
                <a:tc>
                  <a:txBody>
                    <a:bodyPr wrap="square"/>
                    <a:lstStyle/>
                    <a:p>
                      <a:pPr algn="l"/>
                      <a:r>
                        <a:rPr sz="1200" b="0">
                          <a:solidFill>
                            <a:srgbClr val="262626"/>
                          </a:solidFill>
                          <a:latin typeface="Arial"/>
                        </a:rPr>
                        <a:t>Có hai nhóm nghiên cứu cho kết quả ngược nhau không?</a:t>
                      </a:r>
                    </a:p>
                  </a:txBody>
                  <a:tcPr marL="73152" marR="73152" marT="27432" marB="27432" anchor="ctr">
                    <a:solidFill>
                      <a:srgbClr val="FBEAEA"/>
                    </a:solidFill>
                  </a:tcPr>
                </a:tc>
                <a:tc>
                  <a:txBody>
                    <a:bodyPr wrap="square"/>
                    <a:lstStyle/>
                    <a:p>
                      <a:pPr algn="l"/>
                      <a:r>
                        <a:rPr sz="1200" b="0">
                          <a:solidFill>
                            <a:srgbClr val="262626"/>
                          </a:solidFill>
                          <a:latin typeface="Arial"/>
                        </a:rPr>
                        <a:t>Sự dễ sử dụng: 7 có ý nghĩa, 4 không</a:t>
                      </a:r>
                    </a:p>
                  </a:txBody>
                  <a:tcPr marL="73152" marR="73152" marT="27432" marB="27432" anchor="ctr">
                    <a:solidFill>
                      <a:srgbClr val="FBEAEA"/>
                    </a:solidFill>
                  </a:tcPr>
                </a:tc>
                <a:tc>
                  <a:txBody>
                    <a:bodyPr wrap="square"/>
                    <a:lstStyle/>
                    <a:p>
                      <a:pPr algn="l"/>
                      <a:r>
                        <a:rPr sz="1200" b="0">
                          <a:solidFill>
                            <a:srgbClr val="262626"/>
                          </a:solidFill>
                          <a:latin typeface="Arial"/>
                        </a:rPr>
                        <a:t>Đại học khá giỏi</a:t>
                      </a:r>
                    </a:p>
                  </a:txBody>
                  <a:tcPr marL="73152" marR="73152" marT="27432" marB="27432" anchor="ctr">
                    <a:solidFill>
                      <a:srgbClr val="FBEAEA"/>
                    </a:solidFill>
                  </a:tcPr>
                </a:tc>
              </a:tr>
              <a:tr h="658368">
                <a:tc>
                  <a:txBody>
                    <a:bodyPr wrap="square"/>
                    <a:lstStyle/>
                    <a:p>
                      <a:pPr algn="l"/>
                      <a:r>
                        <a:rPr sz="1200" b="0">
                          <a:solidFill>
                            <a:srgbClr val="262626"/>
                          </a:solidFill>
                          <a:latin typeface="Arial"/>
                        </a:rPr>
                        <a:t>3. Mở rộng có căn cứ</a:t>
                      </a:r>
                    </a:p>
                  </a:txBody>
                  <a:tcPr marL="73152" marR="73152" marT="27432" marB="27432" anchor="ctr">
                    <a:solidFill>
                      <a:srgbClr val="FBEAEA"/>
                    </a:solidFill>
                  </a:tcPr>
                </a:tc>
                <a:tc>
                  <a:txBody>
                    <a:bodyPr wrap="square"/>
                    <a:lstStyle/>
                    <a:p>
                      <a:pPr algn="l"/>
                      <a:r>
                        <a:rPr sz="1200" b="0">
                          <a:solidFill>
                            <a:srgbClr val="262626"/>
                          </a:solidFill>
                          <a:latin typeface="Arial"/>
                        </a:rPr>
                        <a:t>Biến mới có lý thuyết hoặc bằng chứng định tính không?</a:t>
                      </a:r>
                    </a:p>
                  </a:txBody>
                  <a:tcPr marL="73152" marR="73152" marT="27432" marB="27432" anchor="ctr">
                    <a:solidFill>
                      <a:srgbClr val="FBEAEA"/>
                    </a:solidFill>
                  </a:tcPr>
                </a:tc>
                <a:tc>
                  <a:txBody>
                    <a:bodyPr wrap="square"/>
                    <a:lstStyle/>
                    <a:p>
                      <a:pPr algn="l"/>
                      <a:r>
                        <a:rPr sz="1200" b="0">
                          <a:solidFill>
                            <a:srgbClr val="262626"/>
                          </a:solidFill>
                          <a:latin typeface="Arial"/>
                        </a:rPr>
                        <a:t>Trường Y: chủ đề "thông tin, thông báo" từ phỏng vấn</a:t>
                      </a:r>
                    </a:p>
                  </a:txBody>
                  <a:tcPr marL="73152" marR="73152" marT="27432" marB="27432" anchor="ctr">
                    <a:solidFill>
                      <a:srgbClr val="FBEAEA"/>
                    </a:solidFill>
                  </a:tcPr>
                </a:tc>
                <a:tc>
                  <a:txBody>
                    <a:bodyPr wrap="square"/>
                    <a:lstStyle/>
                    <a:p>
                      <a:pPr algn="l"/>
                      <a:r>
                        <a:rPr sz="1200" b="0">
                          <a:solidFill>
                            <a:srgbClr val="262626"/>
                          </a:solidFill>
                          <a:latin typeface="Arial"/>
                        </a:rPr>
                        <a:t>Thạc sĩ</a:t>
                      </a:r>
                    </a:p>
                  </a:txBody>
                  <a:tcPr marL="73152" marR="73152" marT="27432" marB="27432" anchor="ctr">
                    <a:solidFill>
                      <a:srgbClr val="FBEAEA"/>
                    </a:solidFill>
                  </a:tcPr>
                </a:tc>
              </a:tr>
              <a:tr h="658368">
                <a:tc>
                  <a:txBody>
                    <a:bodyPr wrap="square"/>
                    <a:lstStyle/>
                    <a:p>
                      <a:pPr algn="l"/>
                      <a:r>
                        <a:rPr sz="1200" b="0">
                          <a:solidFill>
                            <a:srgbClr val="262626"/>
                          </a:solidFill>
                          <a:latin typeface="Arial"/>
                        </a:rPr>
                        <a:t>4. Thách thức giả định</a:t>
                      </a:r>
                    </a:p>
                  </a:txBody>
                  <a:tcPr marL="73152" marR="73152" marT="27432" marB="27432" anchor="ctr">
                    <a:solidFill>
                      <a:srgbClr val="F3F3F3"/>
                    </a:solidFill>
                  </a:tcPr>
                </a:tc>
                <a:tc>
                  <a:txBody>
                    <a:bodyPr wrap="square"/>
                    <a:lstStyle/>
                    <a:p>
                      <a:pPr algn="l"/>
                      <a:r>
                        <a:rPr sz="1200" b="0">
                          <a:solidFill>
                            <a:srgbClr val="262626"/>
                          </a:solidFill>
                          <a:latin typeface="Arial"/>
                        </a:rPr>
                        <a:t>Có đặt câu hỏi về giả định mà nghiên cứu trước coi là đúng không?</a:t>
                      </a:r>
                    </a:p>
                  </a:txBody>
                  <a:tcPr marL="73152" marR="73152" marT="27432" marB="27432" anchor="ctr">
                    <a:solidFill>
                      <a:srgbClr val="F3F3F3"/>
                    </a:solidFill>
                  </a:tcPr>
                </a:tc>
                <a:tc>
                  <a:txBody>
                    <a:bodyPr wrap="square"/>
                    <a:lstStyle/>
                    <a:p>
                      <a:pPr algn="l"/>
                      <a:r>
                        <a:rPr sz="1200" b="0">
                          <a:solidFill>
                            <a:srgbClr val="262626"/>
                          </a:solidFill>
                          <a:latin typeface="Arial"/>
                        </a:rPr>
                        <a:t>"Dễ dùng luôn làm tăng ý định" còn đúng khi ứng dụng đã quen?</a:t>
                      </a:r>
                    </a:p>
                  </a:txBody>
                  <a:tcPr marL="73152" marR="73152" marT="27432" marB="27432" anchor="ctr">
                    <a:solidFill>
                      <a:srgbClr val="F3F3F3"/>
                    </a:solidFill>
                  </a:tcPr>
                </a:tc>
                <a:tc>
                  <a:txBody>
                    <a:bodyPr wrap="square"/>
                    <a:lstStyle/>
                    <a:p>
                      <a:pPr algn="l"/>
                      <a:r>
                        <a:rPr sz="1200" b="0">
                          <a:solidFill>
                            <a:srgbClr val="262626"/>
                          </a:solidFill>
                          <a:latin typeface="Arial"/>
                        </a:rPr>
                        <a:t>Nghiên cứu sinh</a:t>
                      </a:r>
                    </a:p>
                  </a:txBody>
                  <a:tcPr marL="73152" marR="73152" marT="27432" marB="27432" anchor="ctr">
                    <a:solidFill>
                      <a:srgbClr val="F3F3F3"/>
                    </a:solidFill>
                  </a:tcPr>
                </a:tc>
              </a:tr>
            </a:tbl>
          </a:graphicData>
        </a:graphic>
      </p:graphicFrame>
      <p:sp>
        <p:nvSpPr>
          <p:cNvPr id="12" name="TextBox 11"/>
          <p:cNvSpPr txBox="1"/>
          <p:nvPr/>
        </p:nvSpPr>
        <p:spPr>
          <a:xfrm>
            <a:off x="9692640" y="1783080"/>
            <a:ext cx="2039111" cy="274320"/>
          </a:xfrm>
          <a:prstGeom prst="rect">
            <a:avLst/>
          </a:prstGeom>
          <a:noFill/>
        </p:spPr>
        <p:txBody>
          <a:bodyPr wrap="square" lIns="45720" rIns="45720" tIns="27432" bIns="27432" anchor="t">
            <a:spAutoFit/>
          </a:bodyPr>
          <a:lstStyle/>
          <a:p>
            <a:pPr algn="l"/>
            <a:r>
              <a:rPr sz="1000" b="1" i="0">
                <a:solidFill>
                  <a:srgbClr val="CC0000"/>
                </a:solidFill>
                <a:latin typeface="Arial"/>
              </a:rPr>
              <a:t>BẢNG ĐẾM Bảng 2-4</a:t>
            </a:r>
          </a:p>
        </p:txBody>
      </p:sp>
      <p:cxnSp>
        <p:nvCxnSpPr>
          <p:cNvPr id="13" name="Connector 12"/>
          <p:cNvCxnSpPr/>
          <p:nvPr/>
        </p:nvCxnSpPr>
        <p:spPr>
          <a:xfrm>
            <a:off x="9692640" y="2103120"/>
            <a:ext cx="20391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692640" y="2167128"/>
            <a:ext cx="2039111" cy="3383280"/>
          </a:xfrm>
          <a:prstGeom prst="rect">
            <a:avLst/>
          </a:prstGeom>
          <a:noFill/>
        </p:spPr>
        <p:txBody>
          <a:bodyPr wrap="square" lIns="45720" rIns="45720" tIns="27432" bIns="27432" anchor="t">
            <a:spAutoFit/>
          </a:bodyPr>
          <a:lstStyle/>
          <a:p>
            <a:pPr algn="l"/>
            <a:r>
              <a:rPr sz="1250" b="1" i="0">
                <a:solidFill>
                  <a:srgbClr val="58595B"/>
                </a:solidFill>
                <a:latin typeface="Arial"/>
              </a:rPr>
              <a:t>COUNTIFS</a:t>
            </a:r>
            <a:r>
              <a:rPr sz="1250" b="0" i="0">
                <a:solidFill>
                  <a:srgbClr val="58595B"/>
                </a:solidFill>
                <a:latin typeface="Arial"/>
              </a:rPr>
              <a:t> đếm ma trận 21 bài:</a:t>
            </a:r>
          </a:p>
          <a:p>
            <a:pPr algn="l">
              <a:spcBef>
                <a:spcPts val="562"/>
              </a:spcBef>
            </a:pPr>
          </a:p>
          <a:p>
            <a:pPr algn="l">
              <a:spcBef>
                <a:spcPts val="562"/>
              </a:spcBef>
            </a:pPr>
            <a:r>
              <a:rPr sz="1250" b="0" i="0">
                <a:solidFill>
                  <a:srgbClr val="58595B"/>
                </a:solidFill>
                <a:latin typeface="Arial"/>
              </a:rPr>
              <a:t>8 bài xét đủ HI, NT, XH</a:t>
            </a:r>
          </a:p>
          <a:p>
            <a:pPr algn="l">
              <a:spcBef>
                <a:spcPts val="562"/>
              </a:spcBef>
            </a:pPr>
            <a:r>
              <a:rPr sz="1250" b="0" i="0">
                <a:solidFill>
                  <a:srgbClr val="58595B"/>
                </a:solidFill>
                <a:latin typeface="Arial"/>
              </a:rPr>
              <a:t>1 bài ngoài thành phố lớn</a:t>
            </a:r>
          </a:p>
          <a:p>
            <a:pPr algn="l">
              <a:spcBef>
                <a:spcPts val="562"/>
              </a:spcBef>
            </a:pPr>
            <a:r>
              <a:rPr sz="1250" b="0" i="0">
                <a:solidFill>
                  <a:srgbClr val="58595B"/>
                </a:solidFill>
                <a:latin typeface="Arial"/>
              </a:rPr>
              <a:t>0 bài tại Ngân hàng X</a:t>
            </a:r>
          </a:p>
          <a:p>
            <a:pPr algn="l">
              <a:spcBef>
                <a:spcPts val="562"/>
              </a:spcBef>
            </a:pPr>
          </a:p>
          <a:p>
            <a:pPr algn="l">
              <a:spcBef>
                <a:spcPts val="562"/>
              </a:spcBef>
            </a:pPr>
            <a:r>
              <a:rPr sz="1250" b="0" i="0">
                <a:solidFill>
                  <a:srgbClr val="58595B"/>
                </a:solidFill>
                <a:latin typeface="Arial"/>
              </a:rPr>
              <a:t>Ô bằng 0 chỉ là </a:t>
            </a:r>
            <a:r>
              <a:rPr sz="1250" b="1" i="0">
                <a:solidFill>
                  <a:srgbClr val="58595B"/>
                </a:solidFill>
                <a:latin typeface="Arial"/>
              </a:rPr>
              <a:t>ứng viên</a:t>
            </a:r>
            <a:r>
              <a:rPr sz="1250" b="0" i="0">
                <a:solidFill>
                  <a:srgbClr val="58595B"/>
                </a:solidFill>
                <a:latin typeface="Arial"/>
              </a:rPr>
              <a:t>: Whetten (1989) đòi giải thích vì sao bối cảnh làm kết quả khác đi.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LÝ THUYẾT NỀN</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biến trong mô hình phải truy ngược được về một lý thuyết gốc có tác giả và năm</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TAM giải thích đặc điểm công nghệ nhưng chưa giải thích rủi ro và người xung quanh, nên mô hình bổ sung NT và XH từ hai lý thuyết khác.</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2.2.1 và Hình 2-7</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40</a:t>
            </a:r>
          </a:p>
        </p:txBody>
      </p:sp>
      <p:sp>
        <p:nvSpPr>
          <p:cNvPr id="12" name="Rectangle 11"/>
          <p:cNvSpPr/>
          <p:nvPr/>
        </p:nvSpPr>
        <p:spPr>
          <a:xfrm>
            <a:off x="9052560" y="3291840"/>
            <a:ext cx="2651760" cy="109728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i="0">
                <a:solidFill>
                  <a:srgbClr val="FFFFFF"/>
                </a:solidFill>
                <a:latin typeface="Arial"/>
              </a:rPr>
              <a:t>Ý định sử dụng (YD)</a:t>
            </a:r>
          </a:p>
        </p:txBody>
      </p:sp>
      <p:sp>
        <p:nvSpPr>
          <p:cNvPr id="13" name="TextBox 12"/>
          <p:cNvSpPr txBox="1"/>
          <p:nvPr/>
        </p:nvSpPr>
        <p:spPr>
          <a:xfrm>
            <a:off x="457200" y="1737360"/>
            <a:ext cx="3657600" cy="274320"/>
          </a:xfrm>
          <a:prstGeom prst="rect">
            <a:avLst/>
          </a:prstGeom>
          <a:noFill/>
        </p:spPr>
        <p:txBody>
          <a:bodyPr wrap="square" lIns="45720" rIns="45720" tIns="27432" bIns="27432" anchor="t">
            <a:spAutoFit/>
          </a:bodyPr>
          <a:lstStyle/>
          <a:p>
            <a:pPr algn="l"/>
            <a:r>
              <a:rPr sz="1000" b="1" i="0">
                <a:solidFill>
                  <a:srgbClr val="9E9E9E"/>
                </a:solidFill>
                <a:latin typeface="Arial"/>
              </a:rPr>
              <a:t>LÝ THUYẾT NỀN</a:t>
            </a:r>
          </a:p>
        </p:txBody>
      </p:sp>
      <p:sp>
        <p:nvSpPr>
          <p:cNvPr id="14" name="TextBox 13"/>
          <p:cNvSpPr txBox="1"/>
          <p:nvPr/>
        </p:nvSpPr>
        <p:spPr>
          <a:xfrm>
            <a:off x="4572000" y="1737360"/>
            <a:ext cx="3657600" cy="274320"/>
          </a:xfrm>
          <a:prstGeom prst="rect">
            <a:avLst/>
          </a:prstGeom>
          <a:noFill/>
        </p:spPr>
        <p:txBody>
          <a:bodyPr wrap="square" lIns="45720" rIns="45720" tIns="27432" bIns="27432" anchor="t">
            <a:spAutoFit/>
          </a:bodyPr>
          <a:lstStyle/>
          <a:p>
            <a:pPr algn="l"/>
            <a:r>
              <a:rPr sz="1000" b="1" i="0">
                <a:solidFill>
                  <a:srgbClr val="9E9E9E"/>
                </a:solidFill>
                <a:latin typeface="Arial"/>
              </a:rPr>
              <a:t>BIẾN ĐỘC LẬP VÀ GIẢ THUYẾT</a:t>
            </a:r>
          </a:p>
        </p:txBody>
      </p:sp>
      <p:sp>
        <p:nvSpPr>
          <p:cNvPr id="15" name="Rectangle 14"/>
          <p:cNvSpPr/>
          <p:nvPr/>
        </p:nvSpPr>
        <p:spPr>
          <a:xfrm>
            <a:off x="457200" y="2130552"/>
            <a:ext cx="3566160" cy="745236"/>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150" b="1" i="0">
                <a:solidFill>
                  <a:srgbClr val="262626"/>
                </a:solidFill>
                <a:latin typeface="Arial"/>
              </a:rPr>
              <a:t>TAM</a:t>
            </a:r>
            <a:r>
              <a:rPr sz="1150" b="0" i="0">
                <a:solidFill>
                  <a:srgbClr val="262626"/>
                </a:solidFill>
                <a:latin typeface="Arial"/>
              </a:rPr>
              <a:t> (Davis, 1989): hai niềm tin quyết định việc chấp nhận công nghệ</a:t>
            </a:r>
          </a:p>
        </p:txBody>
      </p:sp>
      <p:cxnSp>
        <p:nvCxnSpPr>
          <p:cNvPr id="16" name="Connector 15"/>
          <p:cNvCxnSpPr/>
          <p:nvPr/>
        </p:nvCxnSpPr>
        <p:spPr>
          <a:xfrm>
            <a:off x="4069080" y="2503170"/>
            <a:ext cx="457200" cy="0"/>
          </a:xfrm>
          <a:prstGeom prst="line">
            <a:avLst/>
          </a:prstGeom>
          <a:ln w="15875">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572000" y="2130552"/>
            <a:ext cx="3017520" cy="74523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Sự hữu ích (HI)</a:t>
            </a:r>
          </a:p>
        </p:txBody>
      </p:sp>
      <p:cxnSp>
        <p:nvCxnSpPr>
          <p:cNvPr id="18" name="Connector 17"/>
          <p:cNvCxnSpPr/>
          <p:nvPr/>
        </p:nvCxnSpPr>
        <p:spPr>
          <a:xfrm>
            <a:off x="7635240" y="2503170"/>
            <a:ext cx="1371600" cy="1337310"/>
          </a:xfrm>
          <a:prstGeom prst="line">
            <a:avLst/>
          </a:prstGeom>
          <a:ln w="1905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955279" y="2897505"/>
            <a:ext cx="548640" cy="274320"/>
          </a:xfrm>
          <a:prstGeom prst="rect">
            <a:avLst/>
          </a:prstGeom>
          <a:noFill/>
        </p:spPr>
        <p:txBody>
          <a:bodyPr wrap="square" lIns="45720" rIns="45720" tIns="27432" bIns="27432" anchor="t">
            <a:spAutoFit/>
          </a:bodyPr>
          <a:lstStyle/>
          <a:p>
            <a:pPr algn="l"/>
            <a:r>
              <a:rPr sz="1100" b="1" i="0">
                <a:solidFill>
                  <a:srgbClr val="CC0000"/>
                </a:solidFill>
                <a:latin typeface="Arial"/>
              </a:rPr>
              <a:t>H1</a:t>
            </a:r>
          </a:p>
        </p:txBody>
      </p:sp>
      <p:sp>
        <p:nvSpPr>
          <p:cNvPr id="20" name="Rectangle 19"/>
          <p:cNvSpPr/>
          <p:nvPr/>
        </p:nvSpPr>
        <p:spPr>
          <a:xfrm>
            <a:off x="457200" y="3022092"/>
            <a:ext cx="3566160" cy="745236"/>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150" b="1" i="0">
                <a:solidFill>
                  <a:srgbClr val="262626"/>
                </a:solidFill>
                <a:latin typeface="Arial"/>
              </a:rPr>
              <a:t>TAM</a:t>
            </a:r>
            <a:r>
              <a:rPr sz="1150" b="0" i="0">
                <a:solidFill>
                  <a:srgbClr val="262626"/>
                </a:solidFill>
                <a:latin typeface="Arial"/>
              </a:rPr>
              <a:t> (Davis, 1989)</a:t>
            </a:r>
          </a:p>
        </p:txBody>
      </p:sp>
      <p:cxnSp>
        <p:nvCxnSpPr>
          <p:cNvPr id="21" name="Connector 20"/>
          <p:cNvCxnSpPr/>
          <p:nvPr/>
        </p:nvCxnSpPr>
        <p:spPr>
          <a:xfrm>
            <a:off x="4069080" y="3394710"/>
            <a:ext cx="457200" cy="0"/>
          </a:xfrm>
          <a:prstGeom prst="line">
            <a:avLst/>
          </a:prstGeom>
          <a:ln w="15875">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4572000" y="3022092"/>
            <a:ext cx="3017520" cy="74523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Sự dễ sử dụng (SD)</a:t>
            </a:r>
          </a:p>
        </p:txBody>
      </p:sp>
      <p:cxnSp>
        <p:nvCxnSpPr>
          <p:cNvPr id="23" name="Connector 22"/>
          <p:cNvCxnSpPr/>
          <p:nvPr/>
        </p:nvCxnSpPr>
        <p:spPr>
          <a:xfrm>
            <a:off x="7635240" y="3394710"/>
            <a:ext cx="1371600" cy="445770"/>
          </a:xfrm>
          <a:prstGeom prst="line">
            <a:avLst/>
          </a:prstGeom>
          <a:ln w="1905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955279" y="3343275"/>
            <a:ext cx="548640" cy="274320"/>
          </a:xfrm>
          <a:prstGeom prst="rect">
            <a:avLst/>
          </a:prstGeom>
          <a:noFill/>
        </p:spPr>
        <p:txBody>
          <a:bodyPr wrap="square" lIns="45720" rIns="45720" tIns="27432" bIns="27432" anchor="t">
            <a:spAutoFit/>
          </a:bodyPr>
          <a:lstStyle/>
          <a:p>
            <a:pPr algn="l"/>
            <a:r>
              <a:rPr sz="1100" b="1" i="0">
                <a:solidFill>
                  <a:srgbClr val="CC0000"/>
                </a:solidFill>
                <a:latin typeface="Arial"/>
              </a:rPr>
              <a:t>H2</a:t>
            </a:r>
          </a:p>
        </p:txBody>
      </p:sp>
      <p:sp>
        <p:nvSpPr>
          <p:cNvPr id="25" name="Rectangle 24"/>
          <p:cNvSpPr/>
          <p:nvPr/>
        </p:nvSpPr>
        <p:spPr>
          <a:xfrm>
            <a:off x="457200" y="3913632"/>
            <a:ext cx="3566160" cy="745236"/>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150" b="1" i="0">
                <a:solidFill>
                  <a:srgbClr val="262626"/>
                </a:solidFill>
                <a:latin typeface="Arial"/>
              </a:rPr>
              <a:t>Lý thuyết cam kết và niềm tin</a:t>
            </a:r>
            <a:r>
              <a:rPr sz="1150" b="0" i="0">
                <a:solidFill>
                  <a:srgbClr val="262626"/>
                </a:solidFill>
                <a:latin typeface="Arial"/>
              </a:rPr>
              <a:t> (Morgan và Hunt, 1994)</a:t>
            </a:r>
          </a:p>
        </p:txBody>
      </p:sp>
      <p:cxnSp>
        <p:nvCxnSpPr>
          <p:cNvPr id="26" name="Connector 25"/>
          <p:cNvCxnSpPr/>
          <p:nvPr/>
        </p:nvCxnSpPr>
        <p:spPr>
          <a:xfrm>
            <a:off x="4069080" y="4286250"/>
            <a:ext cx="457200" cy="0"/>
          </a:xfrm>
          <a:prstGeom prst="line">
            <a:avLst/>
          </a:prstGeom>
          <a:ln w="15875">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572000" y="3913632"/>
            <a:ext cx="3017520" cy="74523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Niềm tin (NT)</a:t>
            </a:r>
          </a:p>
        </p:txBody>
      </p:sp>
      <p:cxnSp>
        <p:nvCxnSpPr>
          <p:cNvPr id="28" name="Connector 27"/>
          <p:cNvCxnSpPr/>
          <p:nvPr/>
        </p:nvCxnSpPr>
        <p:spPr>
          <a:xfrm flipV="1">
            <a:off x="7635240" y="3840480"/>
            <a:ext cx="1371600" cy="445770"/>
          </a:xfrm>
          <a:prstGeom prst="line">
            <a:avLst/>
          </a:prstGeom>
          <a:ln w="1905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955279" y="3789045"/>
            <a:ext cx="548640" cy="274320"/>
          </a:xfrm>
          <a:prstGeom prst="rect">
            <a:avLst/>
          </a:prstGeom>
          <a:noFill/>
        </p:spPr>
        <p:txBody>
          <a:bodyPr wrap="square" lIns="45720" rIns="45720" tIns="27432" bIns="27432" anchor="t">
            <a:spAutoFit/>
          </a:bodyPr>
          <a:lstStyle/>
          <a:p>
            <a:pPr algn="l"/>
            <a:r>
              <a:rPr sz="1100" b="1" i="0">
                <a:solidFill>
                  <a:srgbClr val="CC0000"/>
                </a:solidFill>
                <a:latin typeface="Arial"/>
              </a:rPr>
              <a:t>H3</a:t>
            </a:r>
          </a:p>
        </p:txBody>
      </p:sp>
      <p:sp>
        <p:nvSpPr>
          <p:cNvPr id="30" name="Rectangle 29"/>
          <p:cNvSpPr/>
          <p:nvPr/>
        </p:nvSpPr>
        <p:spPr>
          <a:xfrm>
            <a:off x="457200" y="4805172"/>
            <a:ext cx="3566160" cy="745236"/>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150" b="1" i="0">
                <a:solidFill>
                  <a:srgbClr val="262626"/>
                </a:solidFill>
                <a:latin typeface="Arial"/>
              </a:rPr>
              <a:t>Thuyết hành vi có kế hoạch</a:t>
            </a:r>
            <a:r>
              <a:rPr sz="1150" b="0" i="0">
                <a:solidFill>
                  <a:srgbClr val="262626"/>
                </a:solidFill>
                <a:latin typeface="Arial"/>
              </a:rPr>
              <a:t>, chuẩn chủ quan (Ajzen, 1991)</a:t>
            </a:r>
          </a:p>
        </p:txBody>
      </p:sp>
      <p:cxnSp>
        <p:nvCxnSpPr>
          <p:cNvPr id="31" name="Connector 30"/>
          <p:cNvCxnSpPr/>
          <p:nvPr/>
        </p:nvCxnSpPr>
        <p:spPr>
          <a:xfrm>
            <a:off x="4069080" y="5177790"/>
            <a:ext cx="457200" cy="0"/>
          </a:xfrm>
          <a:prstGeom prst="line">
            <a:avLst/>
          </a:prstGeom>
          <a:ln w="15875">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4572000" y="4805172"/>
            <a:ext cx="3017520" cy="74523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Ảnh hưởng xã hội (XH)</a:t>
            </a:r>
          </a:p>
        </p:txBody>
      </p:sp>
      <p:cxnSp>
        <p:nvCxnSpPr>
          <p:cNvPr id="33" name="Connector 32"/>
          <p:cNvCxnSpPr/>
          <p:nvPr/>
        </p:nvCxnSpPr>
        <p:spPr>
          <a:xfrm flipV="1">
            <a:off x="7635240" y="3840480"/>
            <a:ext cx="1371600" cy="1337310"/>
          </a:xfrm>
          <a:prstGeom prst="line">
            <a:avLst/>
          </a:prstGeom>
          <a:ln w="1905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955279" y="4234815"/>
            <a:ext cx="548640" cy="274320"/>
          </a:xfrm>
          <a:prstGeom prst="rect">
            <a:avLst/>
          </a:prstGeom>
          <a:noFill/>
        </p:spPr>
        <p:txBody>
          <a:bodyPr wrap="square" lIns="45720" rIns="45720" tIns="27432" bIns="27432" anchor="t">
            <a:spAutoFit/>
          </a:bodyPr>
          <a:lstStyle/>
          <a:p>
            <a:pPr algn="l"/>
            <a:r>
              <a:rPr sz="1100" b="1" i="0">
                <a:solidFill>
                  <a:srgbClr val="CC0000"/>
                </a:solidFill>
                <a:latin typeface="Arial"/>
              </a:rPr>
              <a:t>H4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MÔ HÌNH NGHIÊN CỨU</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Mô hình giữ 3 đến 5 biến độc lập vì mỗi biến thêm vào làm tăng câu hỏi, cỡ mẫu và thời gian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Quy ước vẽ: biến độc lập bên trái, biến phụ thuộc bên phải, mũi tên một chiều có ghi mã giả thuyết.</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2.2.2, Kỹ thuật dùng cho Mục 2.2.2, Hình 2-8; Creswell và Creswell (2018, tr. 97 đến 98)</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41</a:t>
            </a:r>
          </a:p>
        </p:txBody>
      </p:sp>
      <p:sp>
        <p:nvSpPr>
          <p:cNvPr id="11" name="Rectangle 10"/>
          <p:cNvSpPr/>
          <p:nvPr/>
        </p:nvSpPr>
        <p:spPr>
          <a:xfrm>
            <a:off x="402336" y="2396005"/>
            <a:ext cx="5961888" cy="261462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28_new.png"/>
          <p:cNvPicPr>
            <a:picLocks noChangeAspect="1"/>
          </p:cNvPicPr>
          <p:nvPr/>
        </p:nvPicPr>
        <p:blipFill>
          <a:blip r:embed="rId2"/>
          <a:stretch>
            <a:fillRect/>
          </a:stretch>
        </p:blipFill>
        <p:spPr>
          <a:xfrm>
            <a:off x="457200" y="2450869"/>
            <a:ext cx="5852160" cy="2504901"/>
          </a:xfrm>
          <a:prstGeom prst="rect">
            <a:avLst/>
          </a:prstGeom>
        </p:spPr>
      </p:pic>
      <p:sp>
        <p:nvSpPr>
          <p:cNvPr id="13" name="TextBox 12"/>
          <p:cNvSpPr txBox="1"/>
          <p:nvPr/>
        </p:nvSpPr>
        <p:spPr>
          <a:xfrm>
            <a:off x="6629400" y="1783080"/>
            <a:ext cx="5102352" cy="274320"/>
          </a:xfrm>
          <a:prstGeom prst="rect">
            <a:avLst/>
          </a:prstGeom>
          <a:noFill/>
        </p:spPr>
        <p:txBody>
          <a:bodyPr wrap="square" lIns="45720" rIns="45720" tIns="27432" bIns="27432" anchor="t">
            <a:spAutoFit/>
          </a:bodyPr>
          <a:lstStyle/>
          <a:p>
            <a:pPr algn="l"/>
            <a:r>
              <a:rPr sz="1000" b="1" i="0">
                <a:solidFill>
                  <a:srgbClr val="CC0000"/>
                </a:solidFill>
                <a:latin typeface="Arial"/>
              </a:rPr>
              <a:t>VÌ SAO KHÔNG VẼ 10 BIẾN</a:t>
            </a:r>
          </a:p>
        </p:txBody>
      </p:sp>
      <p:cxnSp>
        <p:nvCxnSpPr>
          <p:cNvPr id="14" name="Connector 13"/>
          <p:cNvCxnSpPr/>
          <p:nvPr/>
        </p:nvCxnSpPr>
        <p:spPr>
          <a:xfrm>
            <a:off x="6629400" y="2103120"/>
            <a:ext cx="51023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62940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040880" y="219456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10 biến</a:t>
            </a:r>
            <a:r>
              <a:rPr sz="1350" b="0" i="0">
                <a:solidFill>
                  <a:srgbClr val="58595B"/>
                </a:solidFill>
                <a:latin typeface="Arial"/>
              </a:rPr>
              <a:t> cần khoảng 40 câu hỏi; theo quy tắc 5 quan sát mỗi câu, cỡ mẫu tối thiểu tăng lên khoảng 200 phiếu.</a:t>
            </a:r>
          </a:p>
        </p:txBody>
      </p:sp>
      <p:sp>
        <p:nvSpPr>
          <p:cNvPr id="17" name="Oval 16"/>
          <p:cNvSpPr/>
          <p:nvPr/>
        </p:nvSpPr>
        <p:spPr>
          <a:xfrm>
            <a:off x="662940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040880" y="305181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Bảng hỏi dài</a:t>
            </a:r>
            <a:r>
              <a:rPr sz="1350" b="0" i="0">
                <a:solidFill>
                  <a:srgbClr val="58595B"/>
                </a:solidFill>
                <a:latin typeface="Arial"/>
              </a:rPr>
              <a:t> làm người trả lời mệt và trả lời qua loa.</a:t>
            </a:r>
          </a:p>
        </p:txBody>
      </p:sp>
      <p:sp>
        <p:nvSpPr>
          <p:cNvPr id="19" name="Oval 18"/>
          <p:cNvSpPr/>
          <p:nvPr/>
        </p:nvSpPr>
        <p:spPr>
          <a:xfrm>
            <a:off x="662940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040880" y="390906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Lọc biến theo ba tiêu chí:</a:t>
            </a:r>
            <a:r>
              <a:rPr sz="1350" b="0" i="0">
                <a:solidFill>
                  <a:srgbClr val="58595B"/>
                </a:solidFill>
                <a:latin typeface="Arial"/>
              </a:rPr>
              <a:t> có lý thuyết hỗ trợ; liên quan đến khoảng trống; đo được trong thời gian cho phép.</a:t>
            </a:r>
          </a:p>
        </p:txBody>
      </p:sp>
      <p:sp>
        <p:nvSpPr>
          <p:cNvPr id="21" name="Oval 20"/>
          <p:cNvSpPr/>
          <p:nvPr/>
        </p:nvSpPr>
        <p:spPr>
          <a:xfrm>
            <a:off x="662940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040880" y="476631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Viết một câu cho biến bị loại:</a:t>
            </a:r>
            <a:r>
              <a:rPr sz="1350" b="0" i="0">
                <a:solidFill>
                  <a:srgbClr val="58595B"/>
                </a:solidFill>
                <a:latin typeface="Arial"/>
              </a:rPr>
              <a:t> chi phí bị loại vì Ngân hàng X miễn phí giao dịch trên ứng dụng.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GIẢI THÍCH BIẾN VÀ BẢNG GIẢ THUYẾT</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Bảng tổng hợp giả thuyết là công cụ kiểm tra: số dòng bằng số mũi tên, nội dung trùng từng chữ với mục 2.3.1</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Ở Chương 4, các em dùng lại chính bảng này và thêm cột "Kết quả kiểm định": giả thuyết không được viết lại cho khớp kết quả.</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2.2.3, Mục 2.3.2, Hình 2-11 và Bảng 2-6; Creswell và Creswell (2018, tr. 93 đến 94)</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42</a:t>
            </a:r>
          </a:p>
        </p:txBody>
      </p:sp>
      <p:graphicFrame>
        <p:nvGraphicFramePr>
          <p:cNvPr id="12" name="Table 11"/>
          <p:cNvGraphicFramePr>
            <a:graphicFrameLocks noGrp="1"/>
          </p:cNvGraphicFramePr>
          <p:nvPr/>
        </p:nvGraphicFramePr>
        <p:xfrm>
          <a:off x="457200" y="1783080"/>
          <a:ext cx="7863838" cy="2679192"/>
        </p:xfrm>
        <a:graphic>
          <a:graphicData uri="http://schemas.openxmlformats.org/drawingml/2006/table">
            <a:tbl>
              <a:tblPr firstRow="1" bandRow="1">
                <a:tableStyleId>{5C22544A-7EE6-4342-B048-85BDC9FD1C3A}</a:tableStyleId>
              </a:tblPr>
              <a:tblGrid>
                <a:gridCol w="598335"/>
                <a:gridCol w="4102873"/>
                <a:gridCol w="598335"/>
                <a:gridCol w="2564295"/>
              </a:tblGrid>
              <a:tr h="411480">
                <a:tc>
                  <a:txBody>
                    <a:bodyPr wrap="square"/>
                    <a:lstStyle/>
                    <a:p>
                      <a:pPr algn="l"/>
                      <a:r>
                        <a:rPr sz="1200" b="1">
                          <a:solidFill>
                            <a:srgbClr val="FFFFFF"/>
                          </a:solidFill>
                          <a:latin typeface="Arial"/>
                        </a:rPr>
                        <a:t>Mã</a:t>
                      </a:r>
                    </a:p>
                  </a:txBody>
                  <a:tcPr marL="73152" marR="73152" marT="27432" marB="27432" anchor="ctr">
                    <a:solidFill>
                      <a:srgbClr val="262626"/>
                    </a:solidFill>
                  </a:tcPr>
                </a:tc>
                <a:tc>
                  <a:txBody>
                    <a:bodyPr wrap="square"/>
                    <a:lstStyle/>
                    <a:p>
                      <a:pPr algn="l"/>
                      <a:r>
                        <a:rPr sz="1200" b="1">
                          <a:solidFill>
                            <a:srgbClr val="FFFFFF"/>
                          </a:solidFill>
                          <a:latin typeface="Arial"/>
                        </a:rPr>
                        <a:t>Nội dung giả thuyết</a:t>
                      </a:r>
                    </a:p>
                  </a:txBody>
                  <a:tcPr marL="73152" marR="73152" marT="27432" marB="27432" anchor="ctr">
                    <a:solidFill>
                      <a:srgbClr val="262626"/>
                    </a:solidFill>
                  </a:tcPr>
                </a:tc>
                <a:tc>
                  <a:txBody>
                    <a:bodyPr wrap="square"/>
                    <a:lstStyle/>
                    <a:p>
                      <a:pPr algn="l"/>
                      <a:r>
                        <a:rPr sz="1200" b="1">
                          <a:solidFill>
                            <a:srgbClr val="FFFFFF"/>
                          </a:solidFill>
                          <a:latin typeface="Arial"/>
                        </a:rPr>
                        <a:t>Chiều</a:t>
                      </a:r>
                    </a:p>
                  </a:txBody>
                  <a:tcPr marL="73152" marR="73152" marT="27432" marB="27432" anchor="ctr">
                    <a:solidFill>
                      <a:srgbClr val="262626"/>
                    </a:solidFill>
                  </a:tcPr>
                </a:tc>
                <a:tc>
                  <a:txBody>
                    <a:bodyPr wrap="square"/>
                    <a:lstStyle/>
                    <a:p>
                      <a:pPr algn="l"/>
                      <a:r>
                        <a:rPr sz="1200" b="1">
                          <a:solidFill>
                            <a:srgbClr val="FFFFFF"/>
                          </a:solidFill>
                          <a:latin typeface="Arial"/>
                        </a:rPr>
                        <a:t>Nguồn tham khảo</a:t>
                      </a:r>
                    </a:p>
                  </a:txBody>
                  <a:tcPr marL="73152" marR="73152" marT="27432" marB="27432" anchor="ctr">
                    <a:solidFill>
                      <a:srgbClr val="262626"/>
                    </a:solidFill>
                  </a:tcPr>
                </a:tc>
              </a:tr>
              <a:tr h="566928">
                <a:tc>
                  <a:txBody>
                    <a:bodyPr wrap="square"/>
                    <a:lstStyle/>
                    <a:p>
                      <a:pPr algn="l"/>
                      <a:r>
                        <a:rPr sz="1200" b="0">
                          <a:solidFill>
                            <a:srgbClr val="262626"/>
                          </a:solidFill>
                          <a:latin typeface="Arial"/>
                        </a:rPr>
                        <a:t>H1</a:t>
                      </a:r>
                    </a:p>
                  </a:txBody>
                  <a:tcPr marL="73152" marR="73152" marT="27432" marB="27432" anchor="ctr">
                    <a:solidFill>
                      <a:srgbClr val="FFFFFF"/>
                    </a:solidFill>
                  </a:tcPr>
                </a:tc>
                <a:tc>
                  <a:txBody>
                    <a:bodyPr wrap="square"/>
                    <a:lstStyle/>
                    <a:p>
                      <a:pPr algn="l"/>
                      <a:r>
                        <a:rPr sz="1200" b="0">
                          <a:solidFill>
                            <a:srgbClr val="262626"/>
                          </a:solidFill>
                          <a:latin typeface="Arial"/>
                        </a:rPr>
                        <a:t>Sự hữu ích có tác động cùng chiều đến ý định sử dụng dịch vụ ngân hàng số</a:t>
                      </a:r>
                    </a:p>
                  </a:txBody>
                  <a:tcPr marL="73152" marR="73152" marT="27432" marB="27432" anchor="ctr">
                    <a:solidFill>
                      <a:srgbClr val="FFFFFF"/>
                    </a:solidFill>
                  </a:tcPr>
                </a:tc>
                <a:tc>
                  <a:txBody>
                    <a:bodyPr wrap="square"/>
                    <a:lstStyle/>
                    <a:p>
                      <a:pPr algn="l"/>
                      <a:r>
                        <a:rPr sz="1200" b="0">
                          <a:solidFill>
                            <a:srgbClr val="262626"/>
                          </a:solidFill>
                          <a:latin typeface="Arial"/>
                        </a:rPr>
                        <a:t>+</a:t>
                      </a:r>
                    </a:p>
                  </a:txBody>
                  <a:tcPr marL="73152" marR="73152" marT="27432" marB="27432" anchor="ctr">
                    <a:solidFill>
                      <a:srgbClr val="FFFFFF"/>
                    </a:solidFill>
                  </a:tcPr>
                </a:tc>
                <a:tc>
                  <a:txBody>
                    <a:bodyPr wrap="square"/>
                    <a:lstStyle/>
                    <a:p>
                      <a:pPr algn="l"/>
                      <a:r>
                        <a:rPr sz="1200" b="0">
                          <a:solidFill>
                            <a:srgbClr val="262626"/>
                          </a:solidFill>
                          <a:latin typeface="Arial"/>
                        </a:rPr>
                        <a:t>Davis (1989); [nghiên cứu thực nghiệm]</a:t>
                      </a:r>
                    </a:p>
                  </a:txBody>
                  <a:tcPr marL="73152" marR="73152" marT="27432" marB="27432" anchor="ctr">
                    <a:solidFill>
                      <a:srgbClr val="FFFFFF"/>
                    </a:solidFill>
                  </a:tcPr>
                </a:tc>
              </a:tr>
              <a:tr h="566928">
                <a:tc>
                  <a:txBody>
                    <a:bodyPr wrap="square"/>
                    <a:lstStyle/>
                    <a:p>
                      <a:pPr algn="l"/>
                      <a:r>
                        <a:rPr sz="1200" b="0">
                          <a:solidFill>
                            <a:srgbClr val="262626"/>
                          </a:solidFill>
                          <a:latin typeface="Arial"/>
                        </a:rPr>
                        <a:t>H2</a:t>
                      </a:r>
                    </a:p>
                  </a:txBody>
                  <a:tcPr marL="73152" marR="73152" marT="27432" marB="27432" anchor="ctr">
                    <a:solidFill>
                      <a:srgbClr val="F3F3F3"/>
                    </a:solidFill>
                  </a:tcPr>
                </a:tc>
                <a:tc>
                  <a:txBody>
                    <a:bodyPr wrap="square"/>
                    <a:lstStyle/>
                    <a:p>
                      <a:pPr algn="l"/>
                      <a:r>
                        <a:rPr sz="1200" b="0">
                          <a:solidFill>
                            <a:srgbClr val="262626"/>
                          </a:solidFill>
                          <a:latin typeface="Arial"/>
                        </a:rPr>
                        <a:t>Sự dễ sử dụng có tác động cùng chiều đến ý định sử dụng dịch vụ ngân hàng số</a:t>
                      </a:r>
                    </a:p>
                  </a:txBody>
                  <a:tcPr marL="73152" marR="73152" marT="27432" marB="27432" anchor="ctr">
                    <a:solidFill>
                      <a:srgbClr val="F3F3F3"/>
                    </a:solidFill>
                  </a:tcPr>
                </a:tc>
                <a:tc>
                  <a:txBody>
                    <a:bodyPr wrap="square"/>
                    <a:lstStyle/>
                    <a:p>
                      <a:pPr algn="l"/>
                      <a:r>
                        <a:rPr sz="1200" b="0">
                          <a:solidFill>
                            <a:srgbClr val="262626"/>
                          </a:solidFill>
                          <a:latin typeface="Arial"/>
                        </a:rPr>
                        <a:t>+</a:t>
                      </a:r>
                    </a:p>
                  </a:txBody>
                  <a:tcPr marL="73152" marR="73152" marT="27432" marB="27432" anchor="ctr">
                    <a:solidFill>
                      <a:srgbClr val="F3F3F3"/>
                    </a:solidFill>
                  </a:tcPr>
                </a:tc>
                <a:tc>
                  <a:txBody>
                    <a:bodyPr wrap="square"/>
                    <a:lstStyle/>
                    <a:p>
                      <a:pPr algn="l"/>
                      <a:r>
                        <a:rPr sz="1200" b="0">
                          <a:solidFill>
                            <a:srgbClr val="262626"/>
                          </a:solidFill>
                          <a:latin typeface="Arial"/>
                        </a:rPr>
                        <a:t>Davis (1989); [nghiên cứu thực nghiệm]</a:t>
                      </a:r>
                    </a:p>
                  </a:txBody>
                  <a:tcPr marL="73152" marR="73152" marT="27432" marB="27432" anchor="ctr">
                    <a:solidFill>
                      <a:srgbClr val="F3F3F3"/>
                    </a:solidFill>
                  </a:tcPr>
                </a:tc>
              </a:tr>
              <a:tr h="566928">
                <a:tc>
                  <a:txBody>
                    <a:bodyPr wrap="square"/>
                    <a:lstStyle/>
                    <a:p>
                      <a:pPr algn="l"/>
                      <a:r>
                        <a:rPr sz="1200" b="0">
                          <a:solidFill>
                            <a:srgbClr val="262626"/>
                          </a:solidFill>
                          <a:latin typeface="Arial"/>
                        </a:rPr>
                        <a:t>H3</a:t>
                      </a:r>
                    </a:p>
                  </a:txBody>
                  <a:tcPr marL="73152" marR="73152" marT="27432" marB="27432" anchor="ctr">
                    <a:solidFill>
                      <a:srgbClr val="FFFFFF"/>
                    </a:solidFill>
                  </a:tcPr>
                </a:tc>
                <a:tc>
                  <a:txBody>
                    <a:bodyPr wrap="square"/>
                    <a:lstStyle/>
                    <a:p>
                      <a:pPr algn="l"/>
                      <a:r>
                        <a:rPr sz="1200" b="0">
                          <a:solidFill>
                            <a:srgbClr val="262626"/>
                          </a:solidFill>
                          <a:latin typeface="Arial"/>
                        </a:rPr>
                        <a:t>Niềm tin có tác động cùng chiều đến ý định sử dụng dịch vụ ngân hàng số</a:t>
                      </a:r>
                    </a:p>
                  </a:txBody>
                  <a:tcPr marL="73152" marR="73152" marT="27432" marB="27432" anchor="ctr">
                    <a:solidFill>
                      <a:srgbClr val="FFFFFF"/>
                    </a:solidFill>
                  </a:tcPr>
                </a:tc>
                <a:tc>
                  <a:txBody>
                    <a:bodyPr wrap="square"/>
                    <a:lstStyle/>
                    <a:p>
                      <a:pPr algn="l"/>
                      <a:r>
                        <a:rPr sz="1200" b="0">
                          <a:solidFill>
                            <a:srgbClr val="262626"/>
                          </a:solidFill>
                          <a:latin typeface="Arial"/>
                        </a:rPr>
                        <a:t>+</a:t>
                      </a:r>
                    </a:p>
                  </a:txBody>
                  <a:tcPr marL="73152" marR="73152" marT="27432" marB="27432" anchor="ctr">
                    <a:solidFill>
                      <a:srgbClr val="FFFFFF"/>
                    </a:solidFill>
                  </a:tcPr>
                </a:tc>
                <a:tc>
                  <a:txBody>
                    <a:bodyPr wrap="square"/>
                    <a:lstStyle/>
                    <a:p>
                      <a:pPr algn="l"/>
                      <a:r>
                        <a:rPr sz="1200" b="0">
                          <a:solidFill>
                            <a:srgbClr val="262626"/>
                          </a:solidFill>
                          <a:latin typeface="Arial"/>
                        </a:rPr>
                        <a:t>Morgan và Hunt (1994); [nghiên cứu thực nghiệm]</a:t>
                      </a:r>
                    </a:p>
                  </a:txBody>
                  <a:tcPr marL="73152" marR="73152" marT="27432" marB="27432" anchor="ctr">
                    <a:solidFill>
                      <a:srgbClr val="FFFFFF"/>
                    </a:solidFill>
                  </a:tcPr>
                </a:tc>
              </a:tr>
              <a:tr h="566928">
                <a:tc>
                  <a:txBody>
                    <a:bodyPr wrap="square"/>
                    <a:lstStyle/>
                    <a:p>
                      <a:pPr algn="l"/>
                      <a:r>
                        <a:rPr sz="1200" b="0">
                          <a:solidFill>
                            <a:srgbClr val="262626"/>
                          </a:solidFill>
                          <a:latin typeface="Arial"/>
                        </a:rPr>
                        <a:t>H4</a:t>
                      </a:r>
                    </a:p>
                  </a:txBody>
                  <a:tcPr marL="73152" marR="73152" marT="27432" marB="27432" anchor="ctr">
                    <a:solidFill>
                      <a:srgbClr val="F3F3F3"/>
                    </a:solidFill>
                  </a:tcPr>
                </a:tc>
                <a:tc>
                  <a:txBody>
                    <a:bodyPr wrap="square"/>
                    <a:lstStyle/>
                    <a:p>
                      <a:pPr algn="l"/>
                      <a:r>
                        <a:rPr sz="1200" b="0">
                          <a:solidFill>
                            <a:srgbClr val="262626"/>
                          </a:solidFill>
                          <a:latin typeface="Arial"/>
                        </a:rPr>
                        <a:t>Ảnh hưởng xã hội có tác động cùng chiều đến ý định sử dụng dịch vụ ngân hàng số</a:t>
                      </a:r>
                    </a:p>
                  </a:txBody>
                  <a:tcPr marL="73152" marR="73152" marT="27432" marB="27432" anchor="ctr">
                    <a:solidFill>
                      <a:srgbClr val="F3F3F3"/>
                    </a:solidFill>
                  </a:tcPr>
                </a:tc>
                <a:tc>
                  <a:txBody>
                    <a:bodyPr wrap="square"/>
                    <a:lstStyle/>
                    <a:p>
                      <a:pPr algn="l"/>
                      <a:r>
                        <a:rPr sz="1200" b="0">
                          <a:solidFill>
                            <a:srgbClr val="262626"/>
                          </a:solidFill>
                          <a:latin typeface="Arial"/>
                        </a:rPr>
                        <a:t>+</a:t>
                      </a:r>
                    </a:p>
                  </a:txBody>
                  <a:tcPr marL="73152" marR="73152" marT="27432" marB="27432" anchor="ctr">
                    <a:solidFill>
                      <a:srgbClr val="F3F3F3"/>
                    </a:solidFill>
                  </a:tcPr>
                </a:tc>
                <a:tc>
                  <a:txBody>
                    <a:bodyPr wrap="square"/>
                    <a:lstStyle/>
                    <a:p>
                      <a:pPr algn="l"/>
                      <a:r>
                        <a:rPr sz="1200" b="0">
                          <a:solidFill>
                            <a:srgbClr val="262626"/>
                          </a:solidFill>
                          <a:latin typeface="Arial"/>
                        </a:rPr>
                        <a:t>Ajzen (1991); Venkatesh và cộng sự (2003)</a:t>
                      </a:r>
                    </a:p>
                  </a:txBody>
                  <a:tcPr marL="73152" marR="73152" marT="27432" marB="27432" anchor="ctr">
                    <a:solidFill>
                      <a:srgbClr val="F3F3F3"/>
                    </a:solidFill>
                  </a:tcPr>
                </a:tc>
              </a:tr>
            </a:tbl>
          </a:graphicData>
        </a:graphic>
      </p:graphicFrame>
      <p:sp>
        <p:nvSpPr>
          <p:cNvPr id="13" name="TextBox 12"/>
          <p:cNvSpPr txBox="1"/>
          <p:nvPr/>
        </p:nvSpPr>
        <p:spPr>
          <a:xfrm>
            <a:off x="8595360" y="1783080"/>
            <a:ext cx="3136391" cy="274320"/>
          </a:xfrm>
          <a:prstGeom prst="rect">
            <a:avLst/>
          </a:prstGeom>
          <a:noFill/>
        </p:spPr>
        <p:txBody>
          <a:bodyPr wrap="square" lIns="45720" rIns="45720" tIns="27432" bIns="27432" anchor="t">
            <a:spAutoFit/>
          </a:bodyPr>
          <a:lstStyle/>
          <a:p>
            <a:pPr algn="l"/>
            <a:r>
              <a:rPr sz="1000" b="1" i="0">
                <a:solidFill>
                  <a:srgbClr val="CC0000"/>
                </a:solidFill>
                <a:latin typeface="Arial"/>
              </a:rPr>
              <a:t>MỤC 2.2.3: GIẢI THÍCH BIẾN</a:t>
            </a:r>
          </a:p>
        </p:txBody>
      </p:sp>
      <p:cxnSp>
        <p:nvCxnSpPr>
          <p:cNvPr id="14" name="Connector 13"/>
          <p:cNvCxnSpPr/>
          <p:nvPr/>
        </p:nvCxnSpPr>
        <p:spPr>
          <a:xfrm>
            <a:off x="8595360" y="2103120"/>
            <a:ext cx="313639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95360" y="2167128"/>
            <a:ext cx="3136391" cy="3383280"/>
          </a:xfrm>
          <a:prstGeom prst="rect">
            <a:avLst/>
          </a:prstGeom>
          <a:noFill/>
        </p:spPr>
        <p:txBody>
          <a:bodyPr wrap="square" lIns="45720" rIns="45720" tIns="27432" bIns="27432" anchor="t">
            <a:spAutoFit/>
          </a:bodyPr>
          <a:lstStyle/>
          <a:p>
            <a:pPr algn="l"/>
            <a:r>
              <a:rPr sz="1250" b="0" i="0">
                <a:solidFill>
                  <a:srgbClr val="58595B"/>
                </a:solidFill>
                <a:latin typeface="Arial"/>
              </a:rPr>
              <a:t>Mỗi biến một đoạn 3 đến 4 câu: </a:t>
            </a:r>
            <a:r>
              <a:rPr sz="1250" b="1" i="0">
                <a:solidFill>
                  <a:srgbClr val="58595B"/>
                </a:solidFill>
                <a:latin typeface="Arial"/>
              </a:rPr>
              <a:t>vai trò</a:t>
            </a:r>
            <a:r>
              <a:rPr sz="1250" b="0" i="0">
                <a:solidFill>
                  <a:srgbClr val="58595B"/>
                </a:solidFill>
                <a:latin typeface="Arial"/>
              </a:rPr>
              <a:t> (độc lập hay phụ thuộc), </a:t>
            </a:r>
            <a:r>
              <a:rPr sz="1250" b="1" i="0">
                <a:solidFill>
                  <a:srgbClr val="58595B"/>
                </a:solidFill>
                <a:latin typeface="Arial"/>
              </a:rPr>
              <a:t>định nghĩa ngắn</a:t>
            </a:r>
            <a:r>
              <a:rPr sz="1250" b="0" i="0">
                <a:solidFill>
                  <a:srgbClr val="58595B"/>
                </a:solidFill>
                <a:latin typeface="Arial"/>
              </a:rPr>
              <a:t>, </a:t>
            </a:r>
            <a:r>
              <a:rPr sz="1250" b="1" i="0">
                <a:solidFill>
                  <a:srgbClr val="58595B"/>
                </a:solidFill>
                <a:latin typeface="Arial"/>
              </a:rPr>
              <a:t>số câu hỏi dự kiến</a:t>
            </a:r>
            <a:r>
              <a:rPr sz="1250" b="0" i="0">
                <a:solidFill>
                  <a:srgbClr val="58595B"/>
                </a:solidFill>
                <a:latin typeface="Arial"/>
              </a:rPr>
              <a:t>, </a:t>
            </a:r>
            <a:r>
              <a:rPr sz="1250" b="1" i="0">
                <a:solidFill>
                  <a:srgbClr val="58595B"/>
                </a:solidFill>
                <a:latin typeface="Arial"/>
              </a:rPr>
              <a:t>nguồn thang đo</a:t>
            </a:r>
            <a:r>
              <a:rPr sz="1250" b="0" i="0">
                <a:solidFill>
                  <a:srgbClr val="58595B"/>
                </a:solidFill>
                <a:latin typeface="Arial"/>
              </a:rPr>
              <a:t>.</a:t>
            </a:r>
          </a:p>
          <a:p>
            <a:pPr algn="l">
              <a:spcBef>
                <a:spcPts val="562"/>
              </a:spcBef>
            </a:pPr>
          </a:p>
          <a:p>
            <a:pPr algn="l">
              <a:spcBef>
                <a:spcPts val="562"/>
              </a:spcBef>
            </a:pPr>
            <a:r>
              <a:rPr sz="1250" b="0" i="0">
                <a:solidFill>
                  <a:srgbClr val="58595B"/>
                </a:solidFill>
                <a:latin typeface="Arial"/>
              </a:rPr>
              <a:t>Bốn loại biến (Hình 2-11): độc lập, phụ thuộc, trung gian, điều tiết. Ở cấp đại học chỉ nên dùng </a:t>
            </a:r>
            <a:r>
              <a:rPr sz="1250" b="1" i="0">
                <a:solidFill>
                  <a:srgbClr val="58595B"/>
                </a:solidFill>
                <a:latin typeface="Arial"/>
              </a:rPr>
              <a:t>độc lập và phụ thuộc</a:t>
            </a:r>
            <a:r>
              <a:rPr sz="1250" b="0" i="0">
                <a:solidFill>
                  <a:srgbClr val="58595B"/>
                </a:solidFill>
                <a:latin typeface="Arial"/>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GIẢ THUYẾT</a:t>
            </a:r>
          </a:p>
        </p:txBody>
      </p:sp>
      <p:sp>
        <p:nvSpPr>
          <p:cNvPr id="3" name="Rounded Rectangle 2"/>
          <p:cNvSpPr/>
          <p:nvPr/>
        </p:nvSpPr>
        <p:spPr>
          <a:xfrm>
            <a:off x="10273284" y="219456"/>
            <a:ext cx="145846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TRƯỜNG TIỂU HỌC Y</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Giả thuyết có chiều thì kiểm định được, vì người đọc biết trước kết quả nào là trái với dự đoán</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Bốn thành phần: mã hiệu, biến độc lập, chiều tác động, biến phụ thuộc; đi kèm đoạn căn cứ gồm lý thuyết, nghiên cứu thực nghiệm và bối cảnh.</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2.3.1, Kỹ thuật dùng cho Mục 2.3.1 và Hình 2-12</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43</a:t>
            </a:r>
          </a:p>
        </p:txBody>
      </p:sp>
      <p:sp>
        <p:nvSpPr>
          <p:cNvPr id="12" name="Rectangle 11"/>
          <p:cNvSpPr/>
          <p:nvPr/>
        </p:nvSpPr>
        <p:spPr>
          <a:xfrm>
            <a:off x="457200" y="1783080"/>
            <a:ext cx="5486400" cy="365760"/>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CHƯA ĐẠT</a:t>
            </a:r>
          </a:p>
        </p:txBody>
      </p:sp>
      <p:sp>
        <p:nvSpPr>
          <p:cNvPr id="13" name="Rectangle 12"/>
          <p:cNvSpPr/>
          <p:nvPr/>
        </p:nvSpPr>
        <p:spPr>
          <a:xfrm>
            <a:off x="457200" y="2148840"/>
            <a:ext cx="5486400" cy="2103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240280"/>
            <a:ext cx="5212080" cy="1920240"/>
          </a:xfrm>
          <a:prstGeom prst="rect">
            <a:avLst/>
          </a:prstGeom>
          <a:noFill/>
        </p:spPr>
        <p:txBody>
          <a:bodyPr wrap="square" lIns="45720" rIns="45720" tIns="27432" bIns="27432" anchor="t">
            <a:spAutoFit/>
          </a:bodyPr>
          <a:lstStyle/>
          <a:p>
            <a:pPr algn="l"/>
            <a:r>
              <a:rPr sz="1250" b="0" i="1">
                <a:solidFill>
                  <a:srgbClr val="58595B"/>
                </a:solidFill>
                <a:latin typeface="Arial"/>
              </a:rPr>
              <a:t>"H1: Cơ sở vật chất ảnh hưởng đến sự hài lòng. H2: Thái độ nhân viên ảnh hưởng đến sự hài lòng. H3: Quy trình hành chính ảnh hưởng đến sự hài lòng."</a:t>
            </a:r>
          </a:p>
        </p:txBody>
      </p:sp>
      <p:sp>
        <p:nvSpPr>
          <p:cNvPr id="15" name="Rectangle 14"/>
          <p:cNvSpPr/>
          <p:nvPr/>
        </p:nvSpPr>
        <p:spPr>
          <a:xfrm>
            <a:off x="6245352" y="1783080"/>
            <a:ext cx="5486400" cy="3657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ĐẠT</a:t>
            </a:r>
          </a:p>
        </p:txBody>
      </p:sp>
      <p:sp>
        <p:nvSpPr>
          <p:cNvPr id="16" name="Rectangle 15"/>
          <p:cNvSpPr/>
          <p:nvPr/>
        </p:nvSpPr>
        <p:spPr>
          <a:xfrm>
            <a:off x="6245352" y="2148840"/>
            <a:ext cx="5486400" cy="2103120"/>
          </a:xfrm>
          <a:prstGeom prst="rect">
            <a:avLst/>
          </a:prstGeom>
          <a:solidFill>
            <a:srgbClr val="FFFFFF"/>
          </a:solidFill>
          <a:ln w="95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240280"/>
            <a:ext cx="5212080" cy="1920240"/>
          </a:xfrm>
          <a:prstGeom prst="rect">
            <a:avLst/>
          </a:prstGeom>
          <a:noFill/>
        </p:spPr>
        <p:txBody>
          <a:bodyPr wrap="square" lIns="45720" rIns="45720" tIns="27432" bIns="27432" anchor="t">
            <a:spAutoFit/>
          </a:bodyPr>
          <a:lstStyle/>
          <a:p>
            <a:pPr algn="l"/>
            <a:r>
              <a:rPr sz="1250" b="0" i="1">
                <a:solidFill>
                  <a:srgbClr val="262626"/>
                </a:solidFill>
                <a:latin typeface="Arial"/>
              </a:rPr>
              <a:t>"Theo mô hình SERVQUAL, phương tiện hữu hình là một trong năm thành phần tạo nên chất lượng dịch vụ (Parasuraman và cộng sự, 1988)... Từ các lập luận trên, giả thuyết H1 được phát biểu như sau. H1: Cơ sở vật chất có tác động cùng chiều đến sự hài lòng của phụ huynh đối với dịch vụ hành chính tại Trường Tiểu học Y."</a:t>
            </a:r>
          </a:p>
        </p:txBody>
      </p:sp>
      <p:sp>
        <p:nvSpPr>
          <p:cNvPr id="18" name="TextBox 17"/>
          <p:cNvSpPr txBox="1"/>
          <p:nvPr/>
        </p:nvSpPr>
        <p:spPr>
          <a:xfrm>
            <a:off x="457200" y="4434840"/>
            <a:ext cx="2743200" cy="274320"/>
          </a:xfrm>
          <a:prstGeom prst="rect">
            <a:avLst/>
          </a:prstGeom>
          <a:noFill/>
        </p:spPr>
        <p:txBody>
          <a:bodyPr wrap="square" lIns="45720" rIns="45720" tIns="27432" bIns="27432" anchor="t">
            <a:spAutoFit/>
          </a:bodyPr>
          <a:lstStyle/>
          <a:p>
            <a:pPr algn="l"/>
            <a:r>
              <a:rPr sz="1000" b="1" i="0">
                <a:solidFill>
                  <a:srgbClr val="CC0000"/>
                </a:solidFill>
                <a:latin typeface="Arial"/>
              </a:rPr>
              <a:t>VÌ SAO BẢN CHƯA ĐẠT BỊ TRỪ ĐIỂM</a:t>
            </a:r>
          </a:p>
        </p:txBody>
      </p:sp>
      <p:cxnSp>
        <p:nvCxnSpPr>
          <p:cNvPr id="19" name="Connector 18"/>
          <p:cNvCxnSpPr/>
          <p:nvPr/>
        </p:nvCxnSpPr>
        <p:spPr>
          <a:xfrm>
            <a:off x="457200"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logic.</a:t>
            </a:r>
            <a:r>
              <a:rPr sz="1200" b="0" i="0">
                <a:solidFill>
                  <a:srgbClr val="58595B"/>
                </a:solidFill>
                <a:latin typeface="Arial"/>
              </a:rPr>
              <a:t> Không nói chiều tác động; kết quả nào cũng có thể xem là "ảnh hưởng", kể cả hệ số âm.</a:t>
            </a:r>
          </a:p>
        </p:txBody>
      </p:sp>
      <p:cxnSp>
        <p:nvCxnSpPr>
          <p:cNvPr id="21" name="Connector 20"/>
          <p:cNvCxnSpPr/>
          <p:nvPr/>
        </p:nvCxnSpPr>
        <p:spPr>
          <a:xfrm>
            <a:off x="4306824"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06824"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bằng chứng.</a:t>
            </a:r>
            <a:r>
              <a:rPr sz="1200" b="0" i="0">
                <a:solidFill>
                  <a:srgbClr val="58595B"/>
                </a:solidFill>
                <a:latin typeface="Arial"/>
              </a:rPr>
              <a:t> Không có lý thuyết hay nghiên cứu trước đi kèm.</a:t>
            </a:r>
          </a:p>
        </p:txBody>
      </p:sp>
      <p:cxnSp>
        <p:nvCxnSpPr>
          <p:cNvPr id="23" name="Connector 22"/>
          <p:cNvCxnSpPr/>
          <p:nvPr/>
        </p:nvCxnSpPr>
        <p:spPr>
          <a:xfrm>
            <a:off x="8156448"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56448"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Hậu quả.</a:t>
            </a:r>
            <a:r>
              <a:rPr sz="1200" b="0" i="0">
                <a:solidFill>
                  <a:srgbClr val="58595B"/>
                </a:solidFill>
                <a:latin typeface="Arial"/>
              </a:rPr>
              <a:t> Ở Chương 4 không có tiêu chí để kết luận giả thuyết được ủng hộ hay không.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HỌC TỪ LUẬN ÁN VÀ APA</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Học tư duy và cách viết từ luận án tiến sĩ; không sao chép mô hình, kỹ thuật và cỡ mẫu của nó</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Một luận án tham khảo khảo sát hơn một nghìn người và dùng SEM; một khóa luận đại học chỉ cần khoảng 150 phiếu hợp lệ và kỹ thuật chạy được trên Excel.</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E, Bảng 2-7 và 2-8</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44</a:t>
            </a:r>
          </a:p>
        </p:txBody>
      </p:sp>
      <p:graphicFrame>
        <p:nvGraphicFramePr>
          <p:cNvPr id="11" name="Table 10"/>
          <p:cNvGraphicFramePr>
            <a:graphicFrameLocks noGrp="1"/>
          </p:cNvGraphicFramePr>
          <p:nvPr/>
        </p:nvGraphicFramePr>
        <p:xfrm>
          <a:off x="457200" y="1783080"/>
          <a:ext cx="7680960" cy="2926080"/>
        </p:xfrm>
        <a:graphic>
          <a:graphicData uri="http://schemas.openxmlformats.org/drawingml/2006/table">
            <a:tbl>
              <a:tblPr firstRow="1" bandRow="1">
                <a:tableStyleId>{5C22544A-7EE6-4342-B048-85BDC9FD1C3A}</a:tableStyleId>
              </a:tblPr>
              <a:tblGrid>
                <a:gridCol w="3840480"/>
                <a:gridCol w="3840480"/>
              </a:tblGrid>
              <a:tr h="411480">
                <a:tc>
                  <a:txBody>
                    <a:bodyPr wrap="square"/>
                    <a:lstStyle/>
                    <a:p>
                      <a:pPr algn="l"/>
                      <a:r>
                        <a:rPr sz="1250" b="1">
                          <a:solidFill>
                            <a:srgbClr val="FFFFFF"/>
                          </a:solidFill>
                          <a:latin typeface="Arial"/>
                        </a:rPr>
                        <a:t>Nên học</a:t>
                      </a:r>
                    </a:p>
                  </a:txBody>
                  <a:tcPr marL="73152" marR="73152" marT="27432" marB="27432" anchor="ctr">
                    <a:solidFill>
                      <a:srgbClr val="262626"/>
                    </a:solidFill>
                  </a:tcPr>
                </a:tc>
                <a:tc>
                  <a:txBody>
                    <a:bodyPr wrap="square"/>
                    <a:lstStyle/>
                    <a:p>
                      <a:pPr algn="l"/>
                      <a:r>
                        <a:rPr sz="1250" b="1">
                          <a:solidFill>
                            <a:srgbClr val="FFFFFF"/>
                          </a:solidFill>
                          <a:latin typeface="Arial"/>
                        </a:rPr>
                        <a:t>Không nên sao chép</a:t>
                      </a:r>
                    </a:p>
                  </a:txBody>
                  <a:tcPr marL="73152" marR="73152" marT="27432" marB="27432" anchor="ctr">
                    <a:solidFill>
                      <a:srgbClr val="262626"/>
                    </a:solidFill>
                  </a:tcPr>
                </a:tc>
              </a:tr>
              <a:tr h="502920">
                <a:tc>
                  <a:txBody>
                    <a:bodyPr wrap="square"/>
                    <a:lstStyle/>
                    <a:p>
                      <a:pPr algn="l"/>
                      <a:r>
                        <a:rPr sz="1250" b="0">
                          <a:solidFill>
                            <a:srgbClr val="262626"/>
                          </a:solidFill>
                          <a:latin typeface="Arial"/>
                        </a:rPr>
                        <a:t>Cách gom nhóm nghiên cứu theo chủ đề</a:t>
                      </a:r>
                    </a:p>
                  </a:txBody>
                  <a:tcPr marL="73152" marR="73152" marT="27432" marB="27432" anchor="ctr">
                    <a:solidFill>
                      <a:srgbClr val="FFFFFF"/>
                    </a:solidFill>
                  </a:tcPr>
                </a:tc>
                <a:tc>
                  <a:txBody>
                    <a:bodyPr wrap="square"/>
                    <a:lstStyle/>
                    <a:p>
                      <a:pPr algn="l"/>
                      <a:r>
                        <a:rPr sz="1250" b="0">
                          <a:solidFill>
                            <a:srgbClr val="262626"/>
                          </a:solidFill>
                          <a:latin typeface="Arial"/>
                        </a:rPr>
                        <a:t>Mô hình 10 đến 20 biến</a:t>
                      </a:r>
                    </a:p>
                  </a:txBody>
                  <a:tcPr marL="73152" marR="73152" marT="27432" marB="27432" anchor="ctr">
                    <a:solidFill>
                      <a:srgbClr val="FFFFFF"/>
                    </a:solidFill>
                  </a:tcPr>
                </a:tc>
              </a:tr>
              <a:tr h="502920">
                <a:tc>
                  <a:txBody>
                    <a:bodyPr wrap="square"/>
                    <a:lstStyle/>
                    <a:p>
                      <a:pPr algn="l"/>
                      <a:r>
                        <a:rPr sz="1250" b="0">
                          <a:solidFill>
                            <a:srgbClr val="262626"/>
                          </a:solidFill>
                          <a:latin typeface="Arial"/>
                        </a:rPr>
                        <a:t>Cách so sánh, đối chiếu kết quả các nghiên cứu</a:t>
                      </a:r>
                    </a:p>
                  </a:txBody>
                  <a:tcPr marL="73152" marR="73152" marT="27432" marB="27432" anchor="ctr">
                    <a:solidFill>
                      <a:srgbClr val="F3F3F3"/>
                    </a:solidFill>
                  </a:tcPr>
                </a:tc>
                <a:tc>
                  <a:txBody>
                    <a:bodyPr wrap="square"/>
                    <a:lstStyle/>
                    <a:p>
                      <a:pPr algn="l"/>
                      <a:r>
                        <a:rPr sz="1250" b="0">
                          <a:solidFill>
                            <a:srgbClr val="262626"/>
                          </a:solidFill>
                          <a:latin typeface="Arial"/>
                        </a:rPr>
                        <a:t>Kỹ thuật SEM, CFA, Bootstrap</a:t>
                      </a:r>
                    </a:p>
                  </a:txBody>
                  <a:tcPr marL="73152" marR="73152" marT="27432" marB="27432" anchor="ctr">
                    <a:solidFill>
                      <a:srgbClr val="F3F3F3"/>
                    </a:solidFill>
                  </a:tcPr>
                </a:tc>
              </a:tr>
              <a:tr h="502920">
                <a:tc>
                  <a:txBody>
                    <a:bodyPr wrap="square"/>
                    <a:lstStyle/>
                    <a:p>
                      <a:pPr algn="l"/>
                      <a:r>
                        <a:rPr sz="1250" b="0">
                          <a:solidFill>
                            <a:srgbClr val="262626"/>
                          </a:solidFill>
                          <a:latin typeface="Arial"/>
                        </a:rPr>
                        <a:t>Cách viết giả thuyết có đoạn lập luận đi trước</a:t>
                      </a:r>
                    </a:p>
                  </a:txBody>
                  <a:tcPr marL="73152" marR="73152" marT="27432" marB="27432" anchor="ctr">
                    <a:solidFill>
                      <a:srgbClr val="FFFFFF"/>
                    </a:solidFill>
                  </a:tcPr>
                </a:tc>
                <a:tc>
                  <a:txBody>
                    <a:bodyPr wrap="square"/>
                    <a:lstStyle/>
                    <a:p>
                      <a:pPr algn="l"/>
                      <a:r>
                        <a:rPr sz="1250" b="0">
                          <a:solidFill>
                            <a:srgbClr val="262626"/>
                          </a:solidFill>
                          <a:latin typeface="Arial"/>
                        </a:rPr>
                        <a:t>Cỡ mẫu hàng nghìn người</a:t>
                      </a:r>
                    </a:p>
                  </a:txBody>
                  <a:tcPr marL="73152" marR="73152" marT="27432" marB="27432" anchor="ctr">
                    <a:solidFill>
                      <a:srgbClr val="FFFFFF"/>
                    </a:solidFill>
                  </a:tcPr>
                </a:tc>
              </a:tr>
              <a:tr h="502920">
                <a:tc>
                  <a:txBody>
                    <a:bodyPr wrap="square"/>
                    <a:lstStyle/>
                    <a:p>
                      <a:pPr algn="l"/>
                      <a:r>
                        <a:rPr sz="1250" b="0">
                          <a:solidFill>
                            <a:srgbClr val="262626"/>
                          </a:solidFill>
                          <a:latin typeface="Arial"/>
                        </a:rPr>
                        <a:t>Cách trình bày mô hình bằng sơ đồ có mã giả thuyết</a:t>
                      </a:r>
                    </a:p>
                  </a:txBody>
                  <a:tcPr marL="73152" marR="73152" marT="27432" marB="27432" anchor="ctr">
                    <a:solidFill>
                      <a:srgbClr val="F3F3F3"/>
                    </a:solidFill>
                  </a:tcPr>
                </a:tc>
                <a:tc>
                  <a:txBody>
                    <a:bodyPr wrap="square"/>
                    <a:lstStyle/>
                    <a:p>
                      <a:pPr algn="l"/>
                      <a:r>
                        <a:rPr sz="1250" b="0">
                          <a:solidFill>
                            <a:srgbClr val="262626"/>
                          </a:solidFill>
                          <a:latin typeface="Arial"/>
                        </a:rPr>
                        <a:t>Phân tích nhân tố khẳng định để kiểm định thang đo</a:t>
                      </a:r>
                    </a:p>
                  </a:txBody>
                  <a:tcPr marL="73152" marR="73152" marT="27432" marB="27432" anchor="ctr">
                    <a:solidFill>
                      <a:srgbClr val="F3F3F3"/>
                    </a:solidFill>
                  </a:tcPr>
                </a:tc>
              </a:tr>
              <a:tr h="502920">
                <a:tc>
                  <a:txBody>
                    <a:bodyPr wrap="square"/>
                    <a:lstStyle/>
                    <a:p>
                      <a:pPr algn="l"/>
                      <a:r>
                        <a:rPr sz="1250" b="0">
                          <a:solidFill>
                            <a:srgbClr val="262626"/>
                          </a:solidFill>
                          <a:latin typeface="Arial"/>
                        </a:rPr>
                        <a:t>Cách dẫn dắt từ lý thuyết đến mô hình</a:t>
                      </a:r>
                    </a:p>
                  </a:txBody>
                  <a:tcPr marL="73152" marR="73152" marT="27432" marB="27432" anchor="ctr">
                    <a:solidFill>
                      <a:srgbClr val="FFFFFF"/>
                    </a:solidFill>
                  </a:tcPr>
                </a:tc>
                <a:tc>
                  <a:txBody>
                    <a:bodyPr wrap="square"/>
                    <a:lstStyle/>
                    <a:p>
                      <a:pPr algn="l"/>
                      <a:r>
                        <a:rPr sz="1250" b="0">
                          <a:solidFill>
                            <a:srgbClr val="262626"/>
                          </a:solidFill>
                          <a:latin typeface="Arial"/>
                        </a:rPr>
                        <a:t>Biến trung gian, điều tiết khi chưa có lý thuyết rõ</a:t>
                      </a:r>
                    </a:p>
                  </a:txBody>
                  <a:tcPr marL="73152" marR="73152" marT="27432" marB="27432" anchor="ctr">
                    <a:solidFill>
                      <a:srgbClr val="FFFFFF"/>
                    </a:solidFill>
                  </a:tcPr>
                </a:tc>
              </a:tr>
            </a:tbl>
          </a:graphicData>
        </a:graphic>
      </p:graphicFrame>
      <p:sp>
        <p:nvSpPr>
          <p:cNvPr id="12" name="TextBox 11"/>
          <p:cNvSpPr txBox="1"/>
          <p:nvPr/>
        </p:nvSpPr>
        <p:spPr>
          <a:xfrm>
            <a:off x="8412480" y="1783080"/>
            <a:ext cx="3319271" cy="274320"/>
          </a:xfrm>
          <a:prstGeom prst="rect">
            <a:avLst/>
          </a:prstGeom>
          <a:noFill/>
        </p:spPr>
        <p:txBody>
          <a:bodyPr wrap="square" lIns="45720" rIns="45720" tIns="27432" bIns="27432" anchor="t">
            <a:spAutoFit/>
          </a:bodyPr>
          <a:lstStyle/>
          <a:p>
            <a:pPr algn="l"/>
            <a:r>
              <a:rPr sz="1000" b="1" i="0">
                <a:solidFill>
                  <a:srgbClr val="CC0000"/>
                </a:solidFill>
                <a:latin typeface="Arial"/>
              </a:rPr>
              <a:t>APA TRONG BÀI (BẢNG 7)</a:t>
            </a:r>
          </a:p>
        </p:txBody>
      </p:sp>
      <p:cxnSp>
        <p:nvCxnSpPr>
          <p:cNvPr id="13" name="Connector 12"/>
          <p:cNvCxnSpPr/>
          <p:nvPr/>
        </p:nvCxnSpPr>
        <p:spPr>
          <a:xfrm>
            <a:off x="8412480" y="2103120"/>
            <a:ext cx="331927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412480" y="2167128"/>
            <a:ext cx="3319271" cy="3383280"/>
          </a:xfrm>
          <a:prstGeom prst="rect">
            <a:avLst/>
          </a:prstGeom>
          <a:noFill/>
        </p:spPr>
        <p:txBody>
          <a:bodyPr wrap="square" lIns="45720" rIns="45720" tIns="27432" bIns="27432" anchor="t">
            <a:spAutoFit/>
          </a:bodyPr>
          <a:lstStyle/>
          <a:p>
            <a:pPr algn="l"/>
            <a:r>
              <a:rPr sz="1250" b="1" i="0">
                <a:solidFill>
                  <a:srgbClr val="58595B"/>
                </a:solidFill>
                <a:latin typeface="Arial"/>
              </a:rPr>
              <a:t>Một tác giả:</a:t>
            </a:r>
            <a:r>
              <a:rPr sz="1250" b="0" i="0">
                <a:solidFill>
                  <a:srgbClr val="58595B"/>
                </a:solidFill>
                <a:latin typeface="Arial"/>
              </a:rPr>
              <a:t> Davis (1989); (Davis, 1989)</a:t>
            </a:r>
          </a:p>
          <a:p>
            <a:pPr algn="l">
              <a:spcBef>
                <a:spcPts val="562"/>
              </a:spcBef>
            </a:pPr>
          </a:p>
          <a:p>
            <a:pPr algn="l">
              <a:spcBef>
                <a:spcPts val="562"/>
              </a:spcBef>
            </a:pPr>
            <a:r>
              <a:rPr sz="1250" b="1" i="0">
                <a:solidFill>
                  <a:srgbClr val="58595B"/>
                </a:solidFill>
                <a:latin typeface="Arial"/>
              </a:rPr>
              <a:t>Hai tác giả:</a:t>
            </a:r>
            <a:r>
              <a:rPr sz="1250" b="0" i="0">
                <a:solidFill>
                  <a:srgbClr val="58595B"/>
                </a:solidFill>
                <a:latin typeface="Arial"/>
              </a:rPr>
              <a:t> Morgan và Hunt (1994)</a:t>
            </a:r>
          </a:p>
          <a:p>
            <a:pPr algn="l">
              <a:spcBef>
                <a:spcPts val="562"/>
              </a:spcBef>
            </a:pPr>
          </a:p>
          <a:p>
            <a:pPr algn="l">
              <a:spcBef>
                <a:spcPts val="562"/>
              </a:spcBef>
            </a:pPr>
            <a:r>
              <a:rPr sz="1250" b="1" i="0">
                <a:solidFill>
                  <a:srgbClr val="58595B"/>
                </a:solidFill>
                <a:latin typeface="Arial"/>
              </a:rPr>
              <a:t>Ba tác giả trở lên:</a:t>
            </a:r>
            <a:r>
              <a:rPr sz="1250" b="0" i="0">
                <a:solidFill>
                  <a:srgbClr val="58595B"/>
                </a:solidFill>
                <a:latin typeface="Arial"/>
              </a:rPr>
              <a:t> Venkatesh và cộng sự (2003), ngay lần đầu</a:t>
            </a:r>
          </a:p>
          <a:p>
            <a:pPr algn="l">
              <a:spcBef>
                <a:spcPts val="562"/>
              </a:spcBef>
            </a:pPr>
          </a:p>
          <a:p>
            <a:pPr algn="l">
              <a:spcBef>
                <a:spcPts val="562"/>
              </a:spcBef>
            </a:pPr>
            <a:r>
              <a:rPr sz="1250" b="1" i="0">
                <a:solidFill>
                  <a:srgbClr val="58595B"/>
                </a:solidFill>
                <a:latin typeface="Arial"/>
              </a:rPr>
              <a:t>Nhiều nguồn:</a:t>
            </a:r>
            <a:r>
              <a:rPr sz="1250" b="0" i="0">
                <a:solidFill>
                  <a:srgbClr val="58595B"/>
                </a:solidFill>
                <a:latin typeface="Arial"/>
              </a:rPr>
              <a:t> (Ajzen, 1991; Davis, 1989), cách nhau bằng dấu chấm phẩy</a:t>
            </a:r>
          </a:p>
          <a:p>
            <a:pPr algn="l">
              <a:spcBef>
                <a:spcPts val="562"/>
              </a:spcBef>
            </a:pPr>
          </a:p>
          <a:p>
            <a:pPr algn="l">
              <a:spcBef>
                <a:spcPts val="562"/>
              </a:spcBef>
            </a:pPr>
            <a:r>
              <a:rPr sz="1250" b="1" i="0">
                <a:solidFill>
                  <a:srgbClr val="58595B"/>
                </a:solidFill>
                <a:latin typeface="Arial"/>
              </a:rPr>
              <a:t>Tổ chức:</a:t>
            </a:r>
            <a:r>
              <a:rPr sz="1250" b="0" i="0">
                <a:solidFill>
                  <a:srgbClr val="58595B"/>
                </a:solidFill>
                <a:latin typeface="Arial"/>
              </a:rPr>
              <a:t> (Ngân hàng X, [năm])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 LỖI THƯỜNG GẶP VÀ CHECKLIST</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Bốn lỗi phổ biến nhất của Chương 2 đều làm mô hình mất cơ sở hoặc giả thuyết không kiểm định được</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Có mô hình và bảng tổng hợp giả thuyết là đã sẵn sàng thiết kế cách kiểm tra ở Chương 3.</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2, mục F, Bảng 2-9; khung POINT cuối phần</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45</a:t>
            </a:r>
          </a:p>
        </p:txBody>
      </p:sp>
      <p:graphicFrame>
        <p:nvGraphicFramePr>
          <p:cNvPr id="12" name="Table 11"/>
          <p:cNvGraphicFramePr>
            <a:graphicFrameLocks noGrp="1"/>
          </p:cNvGraphicFramePr>
          <p:nvPr/>
        </p:nvGraphicFramePr>
        <p:xfrm>
          <a:off x="457200" y="1783080"/>
          <a:ext cx="7955278" cy="2679192"/>
        </p:xfrm>
        <a:graphic>
          <a:graphicData uri="http://schemas.openxmlformats.org/drawingml/2006/table">
            <a:tbl>
              <a:tblPr firstRow="1" bandRow="1">
                <a:tableStyleId>{5C22544A-7EE6-4342-B048-85BDC9FD1C3A}</a:tableStyleId>
              </a:tblPr>
              <a:tblGrid>
                <a:gridCol w="2551693"/>
                <a:gridCol w="2551693"/>
                <a:gridCol w="2851892"/>
              </a:tblGrid>
              <a:tr h="411480">
                <a:tc>
                  <a:txBody>
                    <a:bodyPr wrap="square"/>
                    <a:lstStyle/>
                    <a:p>
                      <a:pPr algn="l"/>
                      <a:r>
                        <a:rPr sz="1200" b="1">
                          <a:solidFill>
                            <a:srgbClr val="FFFFFF"/>
                          </a:solidFill>
                          <a:latin typeface="Arial"/>
                        </a:rPr>
                        <a:t>Lỗi</a:t>
                      </a:r>
                    </a:p>
                  </a:txBody>
                  <a:tcPr marL="73152" marR="73152" marT="27432" marB="27432" anchor="ctr">
                    <a:solidFill>
                      <a:srgbClr val="262626"/>
                    </a:solidFill>
                  </a:tcPr>
                </a:tc>
                <a:tc>
                  <a:txBody>
                    <a:bodyPr wrap="square"/>
                    <a:lstStyle/>
                    <a:p>
                      <a:pPr algn="l"/>
                      <a:r>
                        <a:rPr sz="1200" b="1">
                          <a:solidFill>
                            <a:srgbClr val="FFFFFF"/>
                          </a:solidFill>
                          <a:latin typeface="Arial"/>
                        </a:rPr>
                        <a:t>Hậu quả</a:t>
                      </a:r>
                    </a:p>
                  </a:txBody>
                  <a:tcPr marL="73152" marR="73152" marT="27432" marB="27432" anchor="ctr">
                    <a:solidFill>
                      <a:srgbClr val="262626"/>
                    </a:solidFill>
                  </a:tcPr>
                </a:tc>
                <a:tc>
                  <a:txBody>
                    <a:bodyPr wrap="square"/>
                    <a:lstStyle/>
                    <a:p>
                      <a:pPr algn="l"/>
                      <a:r>
                        <a:rPr sz="1200" b="1">
                          <a:solidFill>
                            <a:srgbClr val="FFFFFF"/>
                          </a:solidFill>
                          <a:latin typeface="Arial"/>
                        </a:rPr>
                        <a:t>Cách khắc phục (mục trong sách)</a:t>
                      </a:r>
                    </a:p>
                  </a:txBody>
                  <a:tcPr marL="73152" marR="73152" marT="27432" marB="27432" anchor="ctr">
                    <a:solidFill>
                      <a:srgbClr val="262626"/>
                    </a:solidFill>
                  </a:tcPr>
                </a:tc>
              </a:tr>
              <a:tr h="566928">
                <a:tc>
                  <a:txBody>
                    <a:bodyPr wrap="square"/>
                    <a:lstStyle/>
                    <a:p>
                      <a:pPr algn="l"/>
                      <a:r>
                        <a:rPr sz="1200" b="0">
                          <a:solidFill>
                            <a:srgbClr val="262626"/>
                          </a:solidFill>
                          <a:latin typeface="Arial"/>
                        </a:rPr>
                        <a:t>1. Liệt kê nghiên cứu mà không tổng hợp</a:t>
                      </a:r>
                    </a:p>
                  </a:txBody>
                  <a:tcPr marL="73152" marR="73152" marT="27432" marB="27432" anchor="ctr">
                    <a:solidFill>
                      <a:srgbClr val="FFFFFF"/>
                    </a:solidFill>
                  </a:tcPr>
                </a:tc>
                <a:tc>
                  <a:txBody>
                    <a:bodyPr wrap="square"/>
                    <a:lstStyle/>
                    <a:p>
                      <a:pPr algn="l"/>
                      <a:r>
                        <a:rPr sz="1200" b="0">
                          <a:solidFill>
                            <a:srgbClr val="262626"/>
                          </a:solidFill>
                          <a:latin typeface="Arial"/>
                        </a:rPr>
                        <a:t>Không thấy khoảng trống; mô hình thiếu cơ sở</a:t>
                      </a:r>
                    </a:p>
                  </a:txBody>
                  <a:tcPr marL="73152" marR="73152" marT="27432" marB="27432" anchor="ctr">
                    <a:solidFill>
                      <a:srgbClr val="FFFFFF"/>
                    </a:solidFill>
                  </a:tcPr>
                </a:tc>
                <a:tc>
                  <a:txBody>
                    <a:bodyPr wrap="square"/>
                    <a:lstStyle/>
                    <a:p>
                      <a:pPr algn="l"/>
                      <a:r>
                        <a:rPr sz="1200" b="0">
                          <a:solidFill>
                            <a:srgbClr val="262626"/>
                          </a:solidFill>
                          <a:latin typeface="Arial"/>
                        </a:rPr>
                        <a:t>Gom nhóm theo chủ đề, so sánh, đối chiếu (mục 4)</a:t>
                      </a:r>
                    </a:p>
                  </a:txBody>
                  <a:tcPr marL="73152" marR="73152" marT="27432" marB="27432" anchor="ctr">
                    <a:solidFill>
                      <a:srgbClr val="FFFFFF"/>
                    </a:solidFill>
                  </a:tcPr>
                </a:tc>
              </a:tr>
              <a:tr h="566928">
                <a:tc>
                  <a:txBody>
                    <a:bodyPr wrap="square"/>
                    <a:lstStyle/>
                    <a:p>
                      <a:pPr algn="l"/>
                      <a:r>
                        <a:rPr sz="1200" b="0">
                          <a:solidFill>
                            <a:srgbClr val="262626"/>
                          </a:solidFill>
                          <a:latin typeface="Arial"/>
                        </a:rPr>
                        <a:t>2. Không trích dẫn hoặc trích dẫn không nhất quán</a:t>
                      </a:r>
                    </a:p>
                  </a:txBody>
                  <a:tcPr marL="73152" marR="73152" marT="27432" marB="27432" anchor="ctr">
                    <a:solidFill>
                      <a:srgbClr val="F3F3F3"/>
                    </a:solidFill>
                  </a:tcPr>
                </a:tc>
                <a:tc>
                  <a:txBody>
                    <a:bodyPr wrap="square"/>
                    <a:lstStyle/>
                    <a:p>
                      <a:pPr algn="l"/>
                      <a:r>
                        <a:rPr sz="1200" b="0">
                          <a:solidFill>
                            <a:srgbClr val="262626"/>
                          </a:solidFill>
                          <a:latin typeface="Arial"/>
                        </a:rPr>
                        <a:t>Mất tính học thuật; có thể bị xem là đạo văn</a:t>
                      </a:r>
                    </a:p>
                  </a:txBody>
                  <a:tcPr marL="73152" marR="73152" marT="27432" marB="27432" anchor="ctr">
                    <a:solidFill>
                      <a:srgbClr val="F3F3F3"/>
                    </a:solidFill>
                  </a:tcPr>
                </a:tc>
                <a:tc>
                  <a:txBody>
                    <a:bodyPr wrap="square"/>
                    <a:lstStyle/>
                    <a:p>
                      <a:pPr algn="l"/>
                      <a:r>
                        <a:rPr sz="1200" b="0">
                          <a:solidFill>
                            <a:srgbClr val="262626"/>
                          </a:solidFill>
                          <a:latin typeface="Arial"/>
                        </a:rPr>
                        <a:t>Trích dẫn đầy đủ theo APA (mục 7)</a:t>
                      </a:r>
                    </a:p>
                  </a:txBody>
                  <a:tcPr marL="73152" marR="73152" marT="27432" marB="27432" anchor="ctr">
                    <a:solidFill>
                      <a:srgbClr val="F3F3F3"/>
                    </a:solidFill>
                  </a:tcPr>
                </a:tc>
              </a:tr>
              <a:tr h="566928">
                <a:tc>
                  <a:txBody>
                    <a:bodyPr wrap="square"/>
                    <a:lstStyle/>
                    <a:p>
                      <a:pPr algn="l"/>
                      <a:r>
                        <a:rPr sz="1200" b="0">
                          <a:solidFill>
                            <a:srgbClr val="262626"/>
                          </a:solidFill>
                          <a:latin typeface="Arial"/>
                        </a:rPr>
                        <a:t>3. Mô hình quá phức tạp</a:t>
                      </a:r>
                    </a:p>
                  </a:txBody>
                  <a:tcPr marL="73152" marR="73152" marT="27432" marB="27432" anchor="ctr">
                    <a:solidFill>
                      <a:srgbClr val="FFFFFF"/>
                    </a:solidFill>
                  </a:tcPr>
                </a:tc>
                <a:tc>
                  <a:txBody>
                    <a:bodyPr wrap="square"/>
                    <a:lstStyle/>
                    <a:p>
                      <a:pPr algn="l"/>
                      <a:r>
                        <a:rPr sz="1200" b="0">
                          <a:solidFill>
                            <a:srgbClr val="262626"/>
                          </a:solidFill>
                          <a:latin typeface="Arial"/>
                        </a:rPr>
                        <a:t>Bảng hỏi dài; không đủ mẫu để kiểm định</a:t>
                      </a:r>
                    </a:p>
                  </a:txBody>
                  <a:tcPr marL="73152" marR="73152" marT="27432" marB="27432" anchor="ctr">
                    <a:solidFill>
                      <a:srgbClr val="FFFFFF"/>
                    </a:solidFill>
                  </a:tcPr>
                </a:tc>
                <a:tc>
                  <a:txBody>
                    <a:bodyPr wrap="square"/>
                    <a:lstStyle/>
                    <a:p>
                      <a:pPr algn="l"/>
                      <a:r>
                        <a:rPr sz="1200" b="0">
                          <a:solidFill>
                            <a:srgbClr val="262626"/>
                          </a:solidFill>
                          <a:latin typeface="Arial"/>
                        </a:rPr>
                        <a:t>Giữ 3 đến 5 biến độc lập có lý thuyết gốc (mục 5)</a:t>
                      </a:r>
                    </a:p>
                  </a:txBody>
                  <a:tcPr marL="73152" marR="73152" marT="27432" marB="27432" anchor="ctr">
                    <a:solidFill>
                      <a:srgbClr val="FFFFFF"/>
                    </a:solidFill>
                  </a:tcPr>
                </a:tc>
              </a:tr>
              <a:tr h="566928">
                <a:tc>
                  <a:txBody>
                    <a:bodyPr wrap="square"/>
                    <a:lstStyle/>
                    <a:p>
                      <a:pPr algn="l"/>
                      <a:r>
                        <a:rPr sz="1200" b="0">
                          <a:solidFill>
                            <a:srgbClr val="262626"/>
                          </a:solidFill>
                          <a:latin typeface="Arial"/>
                        </a:rPr>
                        <a:t>4. Giả thuyết không có chiều tác động</a:t>
                      </a:r>
                    </a:p>
                  </a:txBody>
                  <a:tcPr marL="73152" marR="73152" marT="27432" marB="27432" anchor="ctr">
                    <a:solidFill>
                      <a:srgbClr val="F3F3F3"/>
                    </a:solidFill>
                  </a:tcPr>
                </a:tc>
                <a:tc>
                  <a:txBody>
                    <a:bodyPr wrap="square"/>
                    <a:lstStyle/>
                    <a:p>
                      <a:pPr algn="l"/>
                      <a:r>
                        <a:rPr sz="1200" b="0">
                          <a:solidFill>
                            <a:srgbClr val="262626"/>
                          </a:solidFill>
                          <a:latin typeface="Arial"/>
                        </a:rPr>
                        <a:t>Không kiểm định được</a:t>
                      </a:r>
                    </a:p>
                  </a:txBody>
                  <a:tcPr marL="73152" marR="73152" marT="27432" marB="27432" anchor="ctr">
                    <a:solidFill>
                      <a:srgbClr val="F3F3F3"/>
                    </a:solidFill>
                  </a:tcPr>
                </a:tc>
                <a:tc>
                  <a:txBody>
                    <a:bodyPr wrap="square"/>
                    <a:lstStyle/>
                    <a:p>
                      <a:pPr algn="l"/>
                      <a:r>
                        <a:rPr sz="1200" b="0">
                          <a:solidFill>
                            <a:srgbClr val="262626"/>
                          </a:solidFill>
                          <a:latin typeface="Arial"/>
                        </a:rPr>
                        <a:t>Ghi rõ cùng chiều hoặc ngược chiều (mục 6)</a:t>
                      </a:r>
                    </a:p>
                  </a:txBody>
                  <a:tcPr marL="73152" marR="73152" marT="27432" marB="27432" anchor="ctr">
                    <a:solidFill>
                      <a:srgbClr val="F3F3F3"/>
                    </a:solidFill>
                  </a:tcPr>
                </a:tc>
              </a:tr>
            </a:tbl>
          </a:graphicData>
        </a:graphic>
      </p:graphicFrame>
      <p:sp>
        <p:nvSpPr>
          <p:cNvPr id="13" name="TextBox 12"/>
          <p:cNvSpPr txBox="1"/>
          <p:nvPr/>
        </p:nvSpPr>
        <p:spPr>
          <a:xfrm>
            <a:off x="8686800" y="1783080"/>
            <a:ext cx="3044952" cy="274320"/>
          </a:xfrm>
          <a:prstGeom prst="rect">
            <a:avLst/>
          </a:prstGeom>
          <a:noFill/>
        </p:spPr>
        <p:txBody>
          <a:bodyPr wrap="square" lIns="45720" rIns="45720" tIns="27432" bIns="27432" anchor="t">
            <a:spAutoFit/>
          </a:bodyPr>
          <a:lstStyle/>
          <a:p>
            <a:pPr algn="l"/>
            <a:r>
              <a:rPr sz="1000" b="1" i="0">
                <a:solidFill>
                  <a:srgbClr val="CC0000"/>
                </a:solidFill>
                <a:latin typeface="Arial"/>
              </a:rPr>
              <a:t>BA ĐIỀU CẦN NHỚ</a:t>
            </a:r>
          </a:p>
        </p:txBody>
      </p:sp>
      <p:cxnSp>
        <p:nvCxnSpPr>
          <p:cNvPr id="14" name="Connector 13"/>
          <p:cNvCxnSpPr/>
          <p:nvPr/>
        </p:nvCxnSpPr>
        <p:spPr>
          <a:xfrm>
            <a:off x="8686800" y="2103120"/>
            <a:ext cx="30449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686800" y="2167128"/>
            <a:ext cx="3044952" cy="3383280"/>
          </a:xfrm>
          <a:prstGeom prst="rect">
            <a:avLst/>
          </a:prstGeom>
          <a:noFill/>
        </p:spPr>
        <p:txBody>
          <a:bodyPr wrap="square" lIns="45720" rIns="45720" tIns="27432" bIns="27432" anchor="t">
            <a:spAutoFit/>
          </a:bodyPr>
          <a:lstStyle/>
          <a:p>
            <a:pPr algn="l"/>
            <a:r>
              <a:rPr sz="1250" b="0" i="0">
                <a:solidFill>
                  <a:srgbClr val="58595B"/>
                </a:solidFill>
                <a:latin typeface="Arial"/>
              </a:rPr>
              <a:t>Chương 2 đi theo </a:t>
            </a:r>
            <a:r>
              <a:rPr sz="1250" b="1" i="0">
                <a:solidFill>
                  <a:srgbClr val="58595B"/>
                </a:solidFill>
                <a:latin typeface="Arial"/>
              </a:rPr>
              <a:t>một chiều</a:t>
            </a:r>
            <a:r>
              <a:rPr sz="1250" b="0" i="0">
                <a:solidFill>
                  <a:srgbClr val="58595B"/>
                </a:solidFill>
                <a:latin typeface="Arial"/>
              </a:rPr>
              <a:t>: khái niệm, nghiên cứu trước, khoảng trống, lý thuyết nền, mô hình, giả thuyết.</a:t>
            </a:r>
          </a:p>
          <a:p>
            <a:pPr algn="l">
              <a:spcBef>
                <a:spcPts val="562"/>
              </a:spcBef>
            </a:pPr>
          </a:p>
          <a:p>
            <a:pPr algn="l">
              <a:spcBef>
                <a:spcPts val="562"/>
              </a:spcBef>
            </a:pPr>
            <a:r>
              <a:rPr sz="1250" b="1" i="0">
                <a:solidFill>
                  <a:srgbClr val="58595B"/>
                </a:solidFill>
                <a:latin typeface="Arial"/>
              </a:rPr>
              <a:t>Tổng hợp</a:t>
            </a:r>
            <a:r>
              <a:rPr sz="1250" b="0" i="0">
                <a:solidFill>
                  <a:srgbClr val="58595B"/>
                </a:solidFill>
                <a:latin typeface="Arial"/>
              </a:rPr>
              <a:t> là gom nhóm, so sánh, đối chiếu, chỉ khoảng trống.</a:t>
            </a:r>
          </a:p>
          <a:p>
            <a:pPr algn="l">
              <a:spcBef>
                <a:spcPts val="562"/>
              </a:spcBef>
            </a:pPr>
          </a:p>
          <a:p>
            <a:pPr algn="l">
              <a:spcBef>
                <a:spcPts val="562"/>
              </a:spcBef>
            </a:pPr>
            <a:r>
              <a:rPr sz="1250" b="0" i="0">
                <a:solidFill>
                  <a:srgbClr val="58595B"/>
                </a:solidFill>
                <a:latin typeface="Arial"/>
              </a:rPr>
              <a:t>Giả thuyết có </a:t>
            </a:r>
            <a:r>
              <a:rPr sz="1250" b="1" i="0">
                <a:solidFill>
                  <a:srgbClr val="58595B"/>
                </a:solidFill>
                <a:latin typeface="Arial"/>
              </a:rPr>
              <a:t>bốn thành phần</a:t>
            </a:r>
            <a:r>
              <a:rPr sz="1250" b="0" i="0">
                <a:solidFill>
                  <a:srgbClr val="58595B"/>
                </a:solidFill>
                <a:latin typeface="Arial"/>
              </a:rPr>
              <a:t> và có căn cứ; mỗi mũi tên đúng một giả thuyết.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148840"/>
            <a:ext cx="109728" cy="21945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011680"/>
            <a:ext cx="9144000" cy="914400"/>
          </a:xfrm>
          <a:prstGeom prst="rect">
            <a:avLst/>
          </a:prstGeom>
          <a:noFill/>
        </p:spPr>
        <p:txBody>
          <a:bodyPr wrap="square" lIns="45720" rIns="45720" tIns="27432" bIns="27432" anchor="t">
            <a:spAutoFit/>
          </a:bodyPr>
          <a:lstStyle/>
          <a:p>
            <a:pPr algn="l"/>
            <a:r>
              <a:rPr sz="6000" b="1" i="0">
                <a:solidFill>
                  <a:srgbClr val="CC0000"/>
                </a:solidFill>
                <a:latin typeface="Arial"/>
              </a:rPr>
              <a:t>04</a:t>
            </a:r>
          </a:p>
        </p:txBody>
      </p:sp>
      <p:sp>
        <p:nvSpPr>
          <p:cNvPr id="5" name="TextBox 4"/>
          <p:cNvSpPr txBox="1"/>
          <p:nvPr/>
        </p:nvSpPr>
        <p:spPr>
          <a:xfrm>
            <a:off x="1051560" y="2926080"/>
            <a:ext cx="10058400" cy="914400"/>
          </a:xfrm>
          <a:prstGeom prst="rect">
            <a:avLst/>
          </a:prstGeom>
          <a:noFill/>
        </p:spPr>
        <p:txBody>
          <a:bodyPr wrap="square" lIns="45720" rIns="45720" tIns="27432" bIns="27432" anchor="t">
            <a:spAutoFit/>
          </a:bodyPr>
          <a:lstStyle/>
          <a:p>
            <a:pPr algn="l"/>
            <a:r>
              <a:rPr sz="3400" b="1" i="0">
                <a:solidFill>
                  <a:srgbClr val="FFFFFF"/>
                </a:solidFill>
                <a:latin typeface="Arial"/>
              </a:rPr>
              <a:t>Chương 3: Phương pháp nghiên cứu</a:t>
            </a:r>
          </a:p>
        </p:txBody>
      </p:sp>
      <p:sp>
        <p:nvSpPr>
          <p:cNvPr id="6" name="TextBox 5"/>
          <p:cNvSpPr txBox="1"/>
          <p:nvPr/>
        </p:nvSpPr>
        <p:spPr>
          <a:xfrm>
            <a:off x="1051560" y="3794760"/>
            <a:ext cx="10058400" cy="822960"/>
          </a:xfrm>
          <a:prstGeom prst="rect">
            <a:avLst/>
          </a:prstGeom>
          <a:noFill/>
        </p:spPr>
        <p:txBody>
          <a:bodyPr wrap="square" lIns="45720" rIns="45720" tIns="27432" bIns="27432" anchor="t">
            <a:spAutoFit/>
          </a:bodyPr>
          <a:lstStyle/>
          <a:p>
            <a:pPr algn="l"/>
            <a:r>
              <a:rPr sz="1600" b="0" i="0">
                <a:solidFill>
                  <a:srgbClr val="D9D9D9"/>
                </a:solidFill>
                <a:latin typeface="Arial"/>
              </a:rPr>
              <a:t>Kiểm tra dự đoán của Chương 2 bằng cách nào? Sản phẩm là kế hoạch có lý do cho từng lựa chọn</a:t>
            </a:r>
          </a:p>
        </p:txBody>
      </p:sp>
      <p:sp>
        <p:nvSpPr>
          <p:cNvPr id="7" name="TextBox 6"/>
          <p:cNvSpPr txBox="1"/>
          <p:nvPr/>
        </p:nvSpPr>
        <p:spPr>
          <a:xfrm>
            <a:off x="1051560" y="4709160"/>
            <a:ext cx="10058400" cy="822960"/>
          </a:xfrm>
          <a:prstGeom prst="rect">
            <a:avLst/>
          </a:prstGeom>
          <a:noFill/>
        </p:spPr>
        <p:txBody>
          <a:bodyPr wrap="square" lIns="45720" rIns="45720" tIns="27432" bIns="27432" anchor="t">
            <a:spAutoFit/>
          </a:bodyPr>
          <a:lstStyle/>
          <a:p>
            <a:pPr algn="l"/>
            <a:r>
              <a:rPr sz="1300" b="1" i="0">
                <a:solidFill>
                  <a:srgbClr val="F29B9B"/>
                </a:solidFill>
                <a:latin typeface="Arial"/>
              </a:rPr>
              <a:t>ĐỌC TRONG SÁCH: Phần 3 (mục A đến G, Thực hành 3.4.1A, 3.5.1A đến 3.5.1C); Hình 3-1 đến 3-23; Bảng 3-1 đến 3-27; file 2 và 2b</a:t>
            </a:r>
          </a:p>
        </p:txBody>
      </p:sp>
      <p:sp>
        <p:nvSpPr>
          <p:cNvPr id="8" name="TextBox 7"/>
          <p:cNvSpPr txBox="1"/>
          <p:nvPr/>
        </p:nvSpPr>
        <p:spPr>
          <a:xfrm>
            <a:off x="1051560" y="5943600"/>
            <a:ext cx="10058400" cy="365760"/>
          </a:xfrm>
          <a:prstGeom prst="rect">
            <a:avLst/>
          </a:prstGeom>
          <a:noFill/>
        </p:spPr>
        <p:txBody>
          <a:bodyPr wrap="square" lIns="45720" rIns="45720" tIns="27432" bIns="27432" anchor="t">
            <a:spAutoFit/>
          </a:bodyPr>
          <a:lstStyle/>
          <a:p>
            <a:pPr algn="l"/>
            <a:r>
              <a:rPr sz="1200" b="0" i="0">
                <a:solidFill>
                  <a:srgbClr val="9E9E9E"/>
                </a:solidFill>
                <a:latin typeface="Arial"/>
              </a:rPr>
              <a:t>Thời lượng ước tính: 67 phút | 30 slide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BẢN ĐỒ ĐỐI CHIẾU SÁCH</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Bản đồ đọc sách cho Chương 3: mỗi mục gắn với một sheet Excel và phải có một câu "vì sao"</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Thu thập dữ liệu mất 2 đến 3 tuần thực tế: đây là điểm nghẽn lớn nhất trên đường găng của cả khóa luận.</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file 2.Chapter_2_and_Chapter_3_Practice.xlsx</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47</a:t>
            </a:r>
          </a:p>
        </p:txBody>
      </p:sp>
      <p:graphicFrame>
        <p:nvGraphicFramePr>
          <p:cNvPr id="12" name="Table 11"/>
          <p:cNvGraphicFramePr>
            <a:graphicFrameLocks noGrp="1"/>
          </p:cNvGraphicFramePr>
          <p:nvPr/>
        </p:nvGraphicFramePr>
        <p:xfrm>
          <a:off x="457200" y="1783080"/>
          <a:ext cx="11274551" cy="3840480"/>
        </p:xfrm>
        <a:graphic>
          <a:graphicData uri="http://schemas.openxmlformats.org/drawingml/2006/table">
            <a:tbl>
              <a:tblPr firstRow="1" bandRow="1">
                <a:tableStyleId>{5C22544A-7EE6-4342-B048-85BDC9FD1C3A}</a:tableStyleId>
              </a:tblPr>
              <a:tblGrid>
                <a:gridCol w="3083638"/>
                <a:gridCol w="3276365"/>
                <a:gridCol w="3083638"/>
                <a:gridCol w="1830910"/>
              </a:tblGrid>
              <a:tr h="411480">
                <a:tc>
                  <a:txBody>
                    <a:bodyPr wrap="square"/>
                    <a:lstStyle/>
                    <a:p>
                      <a:pPr algn="l"/>
                      <a:r>
                        <a:rPr sz="1200" b="1">
                          <a:solidFill>
                            <a:srgbClr val="FFFFFF"/>
                          </a:solidFill>
                          <a:latin typeface="Arial"/>
                        </a:rPr>
                        <a:t>Mục trong khóa luận</a:t>
                      </a:r>
                    </a:p>
                  </a:txBody>
                  <a:tcPr marL="73152" marR="73152" marT="27432" marB="27432" anchor="ctr">
                    <a:solidFill>
                      <a:srgbClr val="262626"/>
                    </a:solidFill>
                  </a:tcPr>
                </a:tc>
                <a:tc>
                  <a:txBody>
                    <a:bodyPr wrap="square"/>
                    <a:lstStyle/>
                    <a:p>
                      <a:pPr algn="l"/>
                      <a:r>
                        <a:rPr sz="1200" b="1">
                          <a:solidFill>
                            <a:srgbClr val="FFFFFF"/>
                          </a:solidFill>
                          <a:latin typeface="Arial"/>
                        </a:rPr>
                        <a:t>Đọc ở đâu trong sách</a:t>
                      </a:r>
                    </a:p>
                  </a:txBody>
                  <a:tcPr marL="73152" marR="73152" marT="27432" marB="27432" anchor="ctr">
                    <a:solidFill>
                      <a:srgbClr val="262626"/>
                    </a:solidFill>
                  </a:tcPr>
                </a:tc>
                <a:tc>
                  <a:txBody>
                    <a:bodyPr wrap="square"/>
                    <a:lstStyle/>
                    <a:p>
                      <a:pPr algn="l"/>
                      <a:r>
                        <a:rPr sz="1200" b="1">
                          <a:solidFill>
                            <a:srgbClr val="FFFFFF"/>
                          </a:solidFill>
                          <a:latin typeface="Arial"/>
                        </a:rPr>
                        <a:t>Hình, bảng, sheet</a:t>
                      </a:r>
                    </a:p>
                  </a:txBody>
                  <a:tcPr marL="73152" marR="73152" marT="27432" marB="27432" anchor="ctr">
                    <a:solidFill>
                      <a:srgbClr val="262626"/>
                    </a:solidFill>
                  </a:tcPr>
                </a:tc>
                <a:tc>
                  <a:txBody>
                    <a:bodyPr wrap="square"/>
                    <a:lstStyle/>
                    <a:p>
                      <a:pPr algn="l"/>
                      <a:r>
                        <a:rPr sz="1200" b="1">
                          <a:solidFill>
                            <a:srgbClr val="FFFFFF"/>
                          </a:solidFill>
                          <a:latin typeface="Arial"/>
                        </a:rPr>
                        <a:t>Thời gian gợi ý</a:t>
                      </a:r>
                    </a:p>
                  </a:txBody>
                  <a:tcPr marL="73152" marR="73152" marT="27432" marB="27432" anchor="ctr">
                    <a:solidFill>
                      <a:srgbClr val="262626"/>
                    </a:solidFill>
                  </a:tcPr>
                </a:tc>
              </a:tr>
              <a:tr h="428625">
                <a:tc>
                  <a:txBody>
                    <a:bodyPr wrap="square"/>
                    <a:lstStyle/>
                    <a:p>
                      <a:pPr algn="l"/>
                      <a:r>
                        <a:rPr sz="1200" b="0">
                          <a:solidFill>
                            <a:srgbClr val="262626"/>
                          </a:solidFill>
                          <a:latin typeface="Arial"/>
                        </a:rPr>
                        <a:t>3.1 Triết lý, cách tiếp cận</a:t>
                      </a:r>
                    </a:p>
                  </a:txBody>
                  <a:tcPr marL="73152" marR="73152" marT="27432" marB="27432" anchor="ctr">
                    <a:solidFill>
                      <a:srgbClr val="FFFFFF"/>
                    </a:solidFill>
                  </a:tcPr>
                </a:tc>
                <a:tc>
                  <a:txBody>
                    <a:bodyPr wrap="square"/>
                    <a:lstStyle/>
                    <a:p>
                      <a:pPr algn="l"/>
                      <a:r>
                        <a:rPr sz="1200" b="0">
                          <a:solidFill>
                            <a:srgbClr val="262626"/>
                          </a:solidFill>
                          <a:latin typeface="Arial"/>
                        </a:rPr>
                        <a:t>Phần 3, Mục 3.1.1 và 3.1.2; Kỹ thuật dùng cho Mục 3.1.2</a:t>
                      </a:r>
                    </a:p>
                  </a:txBody>
                  <a:tcPr marL="73152" marR="73152" marT="27432" marB="27432" anchor="ctr">
                    <a:solidFill>
                      <a:srgbClr val="FFFFFF"/>
                    </a:solidFill>
                  </a:tcPr>
                </a:tc>
                <a:tc>
                  <a:txBody>
                    <a:bodyPr wrap="square"/>
                    <a:lstStyle/>
                    <a:p>
                      <a:pPr algn="l"/>
                      <a:r>
                        <a:rPr sz="1200" b="0">
                          <a:solidFill>
                            <a:srgbClr val="262626"/>
                          </a:solidFill>
                          <a:latin typeface="Arial"/>
                        </a:rPr>
                        <a:t>Hình 3-2 và 3-3; Bảng 3-2 đến 3-4</a:t>
                      </a:r>
                    </a:p>
                  </a:txBody>
                  <a:tcPr marL="73152" marR="73152" marT="27432" marB="27432" anchor="ctr">
                    <a:solidFill>
                      <a:srgbClr val="FFFFFF"/>
                    </a:solidFill>
                  </a:tcPr>
                </a:tc>
                <a:tc>
                  <a:txBody>
                    <a:bodyPr wrap="square"/>
                    <a:lstStyle/>
                    <a:p>
                      <a:pPr algn="l"/>
                      <a:r>
                        <a:rPr sz="1200" b="0">
                          <a:solidFill>
                            <a:srgbClr val="262626"/>
                          </a:solidFill>
                          <a:latin typeface="Arial"/>
                        </a:rPr>
                        <a:t>1 ngày đọc; 1 ngày viết</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3.2 Thiết kế, quy trình</a:t>
                      </a:r>
                    </a:p>
                  </a:txBody>
                  <a:tcPr marL="73152" marR="73152" marT="27432" marB="27432" anchor="ctr">
                    <a:solidFill>
                      <a:srgbClr val="F3F3F3"/>
                    </a:solidFill>
                  </a:tcPr>
                </a:tc>
                <a:tc>
                  <a:txBody>
                    <a:bodyPr wrap="square"/>
                    <a:lstStyle/>
                    <a:p>
                      <a:pPr algn="l"/>
                      <a:r>
                        <a:rPr sz="1200" b="0">
                          <a:solidFill>
                            <a:srgbClr val="262626"/>
                          </a:solidFill>
                          <a:latin typeface="Arial"/>
                        </a:rPr>
                        <a:t>Mục 3.2.1 và 3.2.2</a:t>
                      </a:r>
                    </a:p>
                  </a:txBody>
                  <a:tcPr marL="73152" marR="73152" marT="27432" marB="27432" anchor="ctr">
                    <a:solidFill>
                      <a:srgbClr val="F3F3F3"/>
                    </a:solidFill>
                  </a:tcPr>
                </a:tc>
                <a:tc>
                  <a:txBody>
                    <a:bodyPr wrap="square"/>
                    <a:lstStyle/>
                    <a:p>
                      <a:pPr algn="l"/>
                      <a:r>
                        <a:rPr sz="1200" b="0">
                          <a:solidFill>
                            <a:srgbClr val="262626"/>
                          </a:solidFill>
                          <a:latin typeface="Arial"/>
                        </a:rPr>
                        <a:t>Hình 3-5</a:t>
                      </a:r>
                    </a:p>
                  </a:txBody>
                  <a:tcPr marL="73152" marR="73152" marT="27432" marB="27432" anchor="ctr">
                    <a:solidFill>
                      <a:srgbClr val="F3F3F3"/>
                    </a:solidFill>
                  </a:tcPr>
                </a:tc>
                <a:tc>
                  <a:txBody>
                    <a:bodyPr wrap="square"/>
                    <a:lstStyle/>
                    <a:p>
                      <a:pPr algn="l"/>
                      <a:r>
                        <a:rPr sz="1200" b="0">
                          <a:solidFill>
                            <a:srgbClr val="262626"/>
                          </a:solidFill>
                          <a:latin typeface="Arial"/>
                        </a:rPr>
                        <a:t>1 ngày</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3.3 Tổng thể, chọn mẫu, cỡ mẫu</a:t>
                      </a:r>
                    </a:p>
                  </a:txBody>
                  <a:tcPr marL="73152" marR="73152" marT="27432" marB="27432" anchor="ctr">
                    <a:solidFill>
                      <a:srgbClr val="FFFFFF"/>
                    </a:solidFill>
                  </a:tcPr>
                </a:tc>
                <a:tc>
                  <a:txBody>
                    <a:bodyPr wrap="square"/>
                    <a:lstStyle/>
                    <a:p>
                      <a:pPr algn="l"/>
                      <a:r>
                        <a:rPr sz="1200" b="0">
                          <a:solidFill>
                            <a:srgbClr val="262626"/>
                          </a:solidFill>
                          <a:latin typeface="Arial"/>
                        </a:rPr>
                        <a:t>Mục 3.3.1 đến 3.3.3</a:t>
                      </a:r>
                    </a:p>
                  </a:txBody>
                  <a:tcPr marL="73152" marR="73152" marT="27432" marB="27432" anchor="ctr">
                    <a:solidFill>
                      <a:srgbClr val="FFFFFF"/>
                    </a:solidFill>
                  </a:tcPr>
                </a:tc>
                <a:tc>
                  <a:txBody>
                    <a:bodyPr wrap="square"/>
                    <a:lstStyle/>
                    <a:p>
                      <a:pPr algn="l"/>
                      <a:r>
                        <a:rPr sz="1200" b="0">
                          <a:solidFill>
                            <a:srgbClr val="262626"/>
                          </a:solidFill>
                          <a:latin typeface="Arial"/>
                        </a:rPr>
                        <a:t>Hình 3-6 và 3-7; Bảng 3-5</a:t>
                      </a:r>
                    </a:p>
                  </a:txBody>
                  <a:tcPr marL="73152" marR="73152" marT="27432" marB="27432" anchor="ctr">
                    <a:solidFill>
                      <a:srgbClr val="FFFFFF"/>
                    </a:solidFill>
                  </a:tcPr>
                </a:tc>
                <a:tc>
                  <a:txBody>
                    <a:bodyPr wrap="square"/>
                    <a:lstStyle/>
                    <a:p>
                      <a:pPr algn="l"/>
                      <a:r>
                        <a:rPr sz="1200" b="0">
                          <a:solidFill>
                            <a:srgbClr val="262626"/>
                          </a:solidFill>
                          <a:latin typeface="Arial"/>
                        </a:rPr>
                        <a:t>1,5 ngày</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3.4 Nguồn dữ liệu, bảng hỏi, thang đo</a:t>
                      </a:r>
                    </a:p>
                  </a:txBody>
                  <a:tcPr marL="73152" marR="73152" marT="27432" marB="27432" anchor="ctr">
                    <a:solidFill>
                      <a:srgbClr val="F3F3F3"/>
                    </a:solidFill>
                  </a:tcPr>
                </a:tc>
                <a:tc>
                  <a:txBody>
                    <a:bodyPr wrap="square"/>
                    <a:lstStyle/>
                    <a:p>
                      <a:pPr algn="l"/>
                      <a:r>
                        <a:rPr sz="1200" b="0">
                          <a:solidFill>
                            <a:srgbClr val="262626"/>
                          </a:solidFill>
                          <a:latin typeface="Arial"/>
                        </a:rPr>
                        <a:t>Mục 3.4.1 đến 3.4.3; Thực hành 3.4.1A</a:t>
                      </a:r>
                    </a:p>
                  </a:txBody>
                  <a:tcPr marL="73152" marR="73152" marT="27432" marB="27432" anchor="ctr">
                    <a:solidFill>
                      <a:srgbClr val="F3F3F3"/>
                    </a:solidFill>
                  </a:tcPr>
                </a:tc>
                <a:tc>
                  <a:txBody>
                    <a:bodyPr wrap="square"/>
                    <a:lstStyle/>
                    <a:p>
                      <a:pPr algn="l"/>
                      <a:r>
                        <a:rPr sz="1200" b="0">
                          <a:solidFill>
                            <a:srgbClr val="262626"/>
                          </a:solidFill>
                          <a:latin typeface="Arial"/>
                        </a:rPr>
                        <a:t>Hình 3-8 đến 3-11; Bảng 3-6 đến 3-11; sheet 1_BangMa</a:t>
                      </a:r>
                    </a:p>
                  </a:txBody>
                  <a:tcPr marL="73152" marR="73152" marT="27432" marB="27432" anchor="ctr">
                    <a:solidFill>
                      <a:srgbClr val="F3F3F3"/>
                    </a:solidFill>
                  </a:tcPr>
                </a:tc>
                <a:tc>
                  <a:txBody>
                    <a:bodyPr wrap="square"/>
                    <a:lstStyle/>
                    <a:p>
                      <a:pPr algn="l"/>
                      <a:r>
                        <a:rPr sz="1200" b="0">
                          <a:solidFill>
                            <a:srgbClr val="262626"/>
                          </a:solidFill>
                          <a:latin typeface="Arial"/>
                        </a:rPr>
                        <a:t>3 đến 4 ngày</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3.5 Đi khảo sát, thu thập, làm sạch</a:t>
                      </a:r>
                    </a:p>
                  </a:txBody>
                  <a:tcPr marL="73152" marR="73152" marT="27432" marB="27432" anchor="ctr">
                    <a:solidFill>
                      <a:srgbClr val="FFFFFF"/>
                    </a:solidFill>
                  </a:tcPr>
                </a:tc>
                <a:tc>
                  <a:txBody>
                    <a:bodyPr wrap="square"/>
                    <a:lstStyle/>
                    <a:p>
                      <a:pPr algn="l"/>
                      <a:r>
                        <a:rPr sz="1200" b="0">
                          <a:solidFill>
                            <a:srgbClr val="262626"/>
                          </a:solidFill>
                          <a:latin typeface="Arial"/>
                        </a:rPr>
                        <a:t>Mục 3.5.1 đến 3.5.3; Thực hành 3.5.1A đến 3.5.1C</a:t>
                      </a:r>
                    </a:p>
                  </a:txBody>
                  <a:tcPr marL="73152" marR="73152" marT="27432" marB="27432" anchor="ctr">
                    <a:solidFill>
                      <a:srgbClr val="FFFFFF"/>
                    </a:solidFill>
                  </a:tcPr>
                </a:tc>
                <a:tc>
                  <a:txBody>
                    <a:bodyPr wrap="square"/>
                    <a:lstStyle/>
                    <a:p>
                      <a:pPr algn="l"/>
                      <a:r>
                        <a:rPr sz="1200" b="0">
                          <a:solidFill>
                            <a:srgbClr val="262626"/>
                          </a:solidFill>
                          <a:latin typeface="Arial"/>
                        </a:rPr>
                        <a:t>Hình 3-12 đến 3-15; Bảng 3-12 đến 3-19; sheet 2, 3; file 2b</a:t>
                      </a:r>
                    </a:p>
                  </a:txBody>
                  <a:tcPr marL="73152" marR="73152" marT="27432" marB="27432" anchor="ctr">
                    <a:solidFill>
                      <a:srgbClr val="FFFFFF"/>
                    </a:solidFill>
                  </a:tcPr>
                </a:tc>
                <a:tc>
                  <a:txBody>
                    <a:bodyPr wrap="square"/>
                    <a:lstStyle/>
                    <a:p>
                      <a:pPr algn="l"/>
                      <a:r>
                        <a:rPr sz="1200" b="0">
                          <a:solidFill>
                            <a:srgbClr val="262626"/>
                          </a:solidFill>
                          <a:latin typeface="Arial"/>
                        </a:rPr>
                        <a:t>1 tuần xin phép; 2 đến 3 tuần thu</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3.6 Phân tích</a:t>
                      </a:r>
                    </a:p>
                  </a:txBody>
                  <a:tcPr marL="73152" marR="73152" marT="27432" marB="27432" anchor="ctr">
                    <a:solidFill>
                      <a:srgbClr val="F3F3F3"/>
                    </a:solidFill>
                  </a:tcPr>
                </a:tc>
                <a:tc>
                  <a:txBody>
                    <a:bodyPr wrap="square"/>
                    <a:lstStyle/>
                    <a:p>
                      <a:pPr algn="l"/>
                      <a:r>
                        <a:rPr sz="1200" b="0">
                          <a:solidFill>
                            <a:srgbClr val="262626"/>
                          </a:solidFill>
                          <a:latin typeface="Arial"/>
                        </a:rPr>
                        <a:t>Mục 3.6.1 đến 3.6.4; mục E (file Excel)</a:t>
                      </a:r>
                    </a:p>
                  </a:txBody>
                  <a:tcPr marL="73152" marR="73152" marT="27432" marB="27432" anchor="ctr">
                    <a:solidFill>
                      <a:srgbClr val="F3F3F3"/>
                    </a:solidFill>
                  </a:tcPr>
                </a:tc>
                <a:tc>
                  <a:txBody>
                    <a:bodyPr wrap="square"/>
                    <a:lstStyle/>
                    <a:p>
                      <a:pPr algn="l"/>
                      <a:r>
                        <a:rPr sz="1200" b="0">
                          <a:solidFill>
                            <a:srgbClr val="262626"/>
                          </a:solidFill>
                          <a:latin typeface="Arial"/>
                        </a:rPr>
                        <a:t>Hình 3-16 đến 3-23; Bảng 3-20 đến 3-23 và 3-25; sheet 4 đến 9</a:t>
                      </a:r>
                    </a:p>
                  </a:txBody>
                  <a:tcPr marL="73152" marR="73152" marT="27432" marB="27432" anchor="ctr">
                    <a:solidFill>
                      <a:srgbClr val="F3F3F3"/>
                    </a:solidFill>
                  </a:tcPr>
                </a:tc>
                <a:tc>
                  <a:txBody>
                    <a:bodyPr wrap="square"/>
                    <a:lstStyle/>
                    <a:p>
                      <a:pPr algn="l"/>
                      <a:r>
                        <a:rPr sz="1200" b="0">
                          <a:solidFill>
                            <a:srgbClr val="262626"/>
                          </a:solidFill>
                          <a:latin typeface="Arial"/>
                        </a:rPr>
                        <a:t>4 đến 6 ngày</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3.7, 3.8 Tin cậy, giá trị, đạo đức</a:t>
                      </a:r>
                    </a:p>
                  </a:txBody>
                  <a:tcPr marL="73152" marR="73152" marT="27432" marB="27432" anchor="ctr">
                    <a:solidFill>
                      <a:srgbClr val="FFFFFF"/>
                    </a:solidFill>
                  </a:tcPr>
                </a:tc>
                <a:tc>
                  <a:txBody>
                    <a:bodyPr wrap="square"/>
                    <a:lstStyle/>
                    <a:p>
                      <a:pPr algn="l"/>
                      <a:r>
                        <a:rPr sz="1200" b="0">
                          <a:solidFill>
                            <a:srgbClr val="262626"/>
                          </a:solidFill>
                          <a:latin typeface="Arial"/>
                        </a:rPr>
                        <a:t>Mục 3.7 và 3.8</a:t>
                      </a:r>
                    </a:p>
                  </a:txBody>
                  <a:tcPr marL="73152" marR="73152" marT="27432" marB="27432" anchor="ctr">
                    <a:solidFill>
                      <a:srgbClr val="FFFFFF"/>
                    </a:solidFill>
                  </a:tcPr>
                </a:tc>
                <a:tc>
                  <a:txBody>
                    <a:bodyPr wrap="square"/>
                    <a:lstStyle/>
                    <a:p>
                      <a:pPr algn="l"/>
                      <a:r>
                        <a:rPr sz="1200" b="0">
                          <a:solidFill>
                            <a:srgbClr val="262626"/>
                          </a:solidFill>
                          <a:latin typeface="Arial"/>
                        </a:rPr>
                        <a:t>Bảng 3-24</a:t>
                      </a:r>
                    </a:p>
                  </a:txBody>
                  <a:tcPr marL="73152" marR="73152" marT="27432" marB="27432" anchor="ctr">
                    <a:solidFill>
                      <a:srgbClr val="FFFFFF"/>
                    </a:solidFill>
                  </a:tcPr>
                </a:tc>
                <a:tc>
                  <a:txBody>
                    <a:bodyPr wrap="square"/>
                    <a:lstStyle/>
                    <a:p>
                      <a:pPr algn="l"/>
                      <a:r>
                        <a:rPr sz="1200" b="0">
                          <a:solidFill>
                            <a:srgbClr val="262626"/>
                          </a:solidFill>
                          <a:latin typeface="Arial"/>
                        </a:rPr>
                        <a:t>1 ngày</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Tự kiểm tra</a:t>
                      </a:r>
                    </a:p>
                  </a:txBody>
                  <a:tcPr marL="73152" marR="73152" marT="27432" marB="27432" anchor="ctr">
                    <a:solidFill>
                      <a:srgbClr val="F3F3F3"/>
                    </a:solidFill>
                  </a:tcPr>
                </a:tc>
                <a:tc>
                  <a:txBody>
                    <a:bodyPr wrap="square"/>
                    <a:lstStyle/>
                    <a:p>
                      <a:pPr algn="l"/>
                      <a:r>
                        <a:rPr sz="1200" b="0">
                          <a:solidFill>
                            <a:srgbClr val="262626"/>
                          </a:solidFill>
                          <a:latin typeface="Arial"/>
                        </a:rPr>
                        <a:t>Phần 3, mục F</a:t>
                      </a:r>
                    </a:p>
                  </a:txBody>
                  <a:tcPr marL="73152" marR="73152" marT="27432" marB="27432" anchor="ctr">
                    <a:solidFill>
                      <a:srgbClr val="F3F3F3"/>
                    </a:solidFill>
                  </a:tcPr>
                </a:tc>
                <a:tc>
                  <a:txBody>
                    <a:bodyPr wrap="square"/>
                    <a:lstStyle/>
                    <a:p>
                      <a:pPr algn="l"/>
                      <a:r>
                        <a:rPr sz="1200" b="0">
                          <a:solidFill>
                            <a:srgbClr val="262626"/>
                          </a:solidFill>
                          <a:latin typeface="Arial"/>
                        </a:rPr>
                        <a:t>Bảng 3-26 và 3-27; checklist</a:t>
                      </a:r>
                    </a:p>
                  </a:txBody>
                  <a:tcPr marL="73152" marR="73152" marT="27432" marB="27432" anchor="ctr">
                    <a:solidFill>
                      <a:srgbClr val="F3F3F3"/>
                    </a:solidFill>
                  </a:tcPr>
                </a:tc>
                <a:tc>
                  <a:txBody>
                    <a:bodyPr wrap="square"/>
                    <a:lstStyle/>
                    <a:p>
                      <a:pPr algn="l"/>
                      <a:r>
                        <a:rPr sz="1200" b="0">
                          <a:solidFill>
                            <a:srgbClr val="262626"/>
                          </a:solidFill>
                          <a:latin typeface="Arial"/>
                        </a:rPr>
                        <a:t>Sau khi viết</a:t>
                      </a:r>
                    </a:p>
                  </a:txBody>
                  <a:tcPr marL="73152" marR="73152" marT="27432" marB="27432" anchor="ctr">
                    <a:solidFill>
                      <a:srgbClr val="F3F3F3"/>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SỢI CHỈ NỐI BA CHƯƠNG</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biến trong mô hình trở thành một nhóm câu hỏi, một biến đại diện và một hệ số được kiểm định</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Chương 3 phải viết đủ chi tiết để người khác làm lại được nghiên cứu; sau mỗi lựa chọn có một câu "Phương pháp này được chọn vì...".</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B và Bảng 3-1</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48</a:t>
            </a:r>
          </a:p>
        </p:txBody>
      </p:sp>
      <p:graphicFrame>
        <p:nvGraphicFramePr>
          <p:cNvPr id="12" name="Table 11"/>
          <p:cNvGraphicFramePr>
            <a:graphicFrameLocks noGrp="1"/>
          </p:cNvGraphicFramePr>
          <p:nvPr/>
        </p:nvGraphicFramePr>
        <p:xfrm>
          <a:off x="457200" y="1783080"/>
          <a:ext cx="7589519" cy="2697480"/>
        </p:xfrm>
        <a:graphic>
          <a:graphicData uri="http://schemas.openxmlformats.org/drawingml/2006/table">
            <a:tbl>
              <a:tblPr firstRow="1" bandRow="1">
                <a:tableStyleId>{5C22544A-7EE6-4342-B048-85BDC9FD1C3A}</a:tableStyleId>
              </a:tblPr>
              <a:tblGrid>
                <a:gridCol w="2108200"/>
                <a:gridCol w="1546013"/>
                <a:gridCol w="2108200"/>
                <a:gridCol w="1827106"/>
              </a:tblGrid>
              <a:tr h="411480">
                <a:tc>
                  <a:txBody>
                    <a:bodyPr wrap="square"/>
                    <a:lstStyle/>
                    <a:p>
                      <a:pPr algn="l"/>
                      <a:r>
                        <a:rPr sz="1200" b="1">
                          <a:solidFill>
                            <a:srgbClr val="FFFFFF"/>
                          </a:solidFill>
                          <a:latin typeface="Arial"/>
                        </a:rPr>
                        <a:t>Biến trong mô hình (Chương 2)</a:t>
                      </a:r>
                    </a:p>
                  </a:txBody>
                  <a:tcPr marL="73152" marR="73152" marT="27432" marB="27432" anchor="ctr">
                    <a:solidFill>
                      <a:srgbClr val="262626"/>
                    </a:solidFill>
                  </a:tcPr>
                </a:tc>
                <a:tc>
                  <a:txBody>
                    <a:bodyPr wrap="square"/>
                    <a:lstStyle/>
                    <a:p>
                      <a:pPr algn="l"/>
                      <a:r>
                        <a:rPr sz="1200" b="1">
                          <a:solidFill>
                            <a:srgbClr val="FFFFFF"/>
                          </a:solidFill>
                          <a:latin typeface="Arial"/>
                        </a:rPr>
                        <a:t>Câu hỏi (Chương 3)</a:t>
                      </a:r>
                    </a:p>
                  </a:txBody>
                  <a:tcPr marL="73152" marR="73152" marT="27432" marB="27432" anchor="ctr">
                    <a:solidFill>
                      <a:srgbClr val="262626"/>
                    </a:solidFill>
                  </a:tcPr>
                </a:tc>
                <a:tc>
                  <a:txBody>
                    <a:bodyPr wrap="square"/>
                    <a:lstStyle/>
                    <a:p>
                      <a:pPr algn="l"/>
                      <a:r>
                        <a:rPr sz="1200" b="1">
                          <a:solidFill>
                            <a:srgbClr val="FFFFFF"/>
                          </a:solidFill>
                          <a:latin typeface="Arial"/>
                        </a:rPr>
                        <a:t>Biến đại diện</a:t>
                      </a:r>
                    </a:p>
                  </a:txBody>
                  <a:tcPr marL="73152" marR="73152" marT="27432" marB="27432" anchor="ctr">
                    <a:solidFill>
                      <a:srgbClr val="262626"/>
                    </a:solidFill>
                  </a:tcPr>
                </a:tc>
                <a:tc>
                  <a:txBody>
                    <a:bodyPr wrap="square"/>
                    <a:lstStyle/>
                    <a:p>
                      <a:pPr algn="l"/>
                      <a:r>
                        <a:rPr sz="1200" b="1">
                          <a:solidFill>
                            <a:srgbClr val="FFFFFF"/>
                          </a:solidFill>
                          <a:latin typeface="Arial"/>
                        </a:rPr>
                        <a:t>Kiểm định (Chương 4)</a:t>
                      </a:r>
                    </a:p>
                  </a:txBody>
                  <a:tcPr marL="73152" marR="73152" marT="27432" marB="27432" anchor="ctr">
                    <a:solidFill>
                      <a:srgbClr val="262626"/>
                    </a:solidFill>
                  </a:tcPr>
                </a:tc>
              </a:tr>
              <a:tr h="457200">
                <a:tc>
                  <a:txBody>
                    <a:bodyPr wrap="square"/>
                    <a:lstStyle/>
                    <a:p>
                      <a:pPr algn="l"/>
                      <a:r>
                        <a:rPr sz="1200" b="0">
                          <a:solidFill>
                            <a:srgbClr val="262626"/>
                          </a:solidFill>
                          <a:latin typeface="Arial"/>
                        </a:rPr>
                        <a:t>Sự hữu ích</a:t>
                      </a:r>
                    </a:p>
                  </a:txBody>
                  <a:tcPr marL="73152" marR="73152" marT="27432" marB="27432" anchor="ctr">
                    <a:solidFill>
                      <a:srgbClr val="FFFFFF"/>
                    </a:solidFill>
                  </a:tcPr>
                </a:tc>
                <a:tc>
                  <a:txBody>
                    <a:bodyPr wrap="square"/>
                    <a:lstStyle/>
                    <a:p>
                      <a:pPr algn="l"/>
                      <a:r>
                        <a:rPr sz="1200" b="0">
                          <a:solidFill>
                            <a:srgbClr val="262626"/>
                          </a:solidFill>
                          <a:latin typeface="Arial"/>
                        </a:rPr>
                        <a:t>HI1 đến HI4</a:t>
                      </a:r>
                    </a:p>
                  </a:txBody>
                  <a:tcPr marL="73152" marR="73152" marT="27432" marB="27432" anchor="ctr">
                    <a:solidFill>
                      <a:srgbClr val="FFFFFF"/>
                    </a:solidFill>
                  </a:tcPr>
                </a:tc>
                <a:tc>
                  <a:txBody>
                    <a:bodyPr wrap="square"/>
                    <a:lstStyle/>
                    <a:p>
                      <a:pPr algn="l"/>
                      <a:r>
                        <a:rPr sz="1200" b="0">
                          <a:solidFill>
                            <a:srgbClr val="262626"/>
                          </a:solidFill>
                          <a:latin typeface="Arial"/>
                        </a:rPr>
                        <a:t>HI = AVERAGE(HI1:HI4)</a:t>
                      </a:r>
                    </a:p>
                  </a:txBody>
                  <a:tcPr marL="73152" marR="73152" marT="27432" marB="27432" anchor="ctr">
                    <a:solidFill>
                      <a:srgbClr val="FFFFFF"/>
                    </a:solidFill>
                  </a:tcPr>
                </a:tc>
                <a:tc>
                  <a:txBody>
                    <a:bodyPr wrap="square"/>
                    <a:lstStyle/>
                    <a:p>
                      <a:pPr algn="l"/>
                      <a:r>
                        <a:rPr sz="1200" b="0">
                          <a:solidFill>
                            <a:srgbClr val="262626"/>
                          </a:solidFill>
                          <a:latin typeface="Arial"/>
                        </a:rPr>
                        <a:t>H1: hệ số của HI</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Sự dễ sử dụng</a:t>
                      </a:r>
                    </a:p>
                  </a:txBody>
                  <a:tcPr marL="73152" marR="73152" marT="27432" marB="27432" anchor="ctr">
                    <a:solidFill>
                      <a:srgbClr val="F3F3F3"/>
                    </a:solidFill>
                  </a:tcPr>
                </a:tc>
                <a:tc>
                  <a:txBody>
                    <a:bodyPr wrap="square"/>
                    <a:lstStyle/>
                    <a:p>
                      <a:pPr algn="l"/>
                      <a:r>
                        <a:rPr sz="1200" b="0">
                          <a:solidFill>
                            <a:srgbClr val="262626"/>
                          </a:solidFill>
                          <a:latin typeface="Arial"/>
                        </a:rPr>
                        <a:t>SD1 đến SD4</a:t>
                      </a:r>
                    </a:p>
                  </a:txBody>
                  <a:tcPr marL="73152" marR="73152" marT="27432" marB="27432" anchor="ctr">
                    <a:solidFill>
                      <a:srgbClr val="F3F3F3"/>
                    </a:solidFill>
                  </a:tcPr>
                </a:tc>
                <a:tc>
                  <a:txBody>
                    <a:bodyPr wrap="square"/>
                    <a:lstStyle/>
                    <a:p>
                      <a:pPr algn="l"/>
                      <a:r>
                        <a:rPr sz="1200" b="0">
                          <a:solidFill>
                            <a:srgbClr val="262626"/>
                          </a:solidFill>
                          <a:latin typeface="Arial"/>
                        </a:rPr>
                        <a:t>SD</a:t>
                      </a:r>
                    </a:p>
                  </a:txBody>
                  <a:tcPr marL="73152" marR="73152" marT="27432" marB="27432" anchor="ctr">
                    <a:solidFill>
                      <a:srgbClr val="F3F3F3"/>
                    </a:solidFill>
                  </a:tcPr>
                </a:tc>
                <a:tc>
                  <a:txBody>
                    <a:bodyPr wrap="square"/>
                    <a:lstStyle/>
                    <a:p>
                      <a:pPr algn="l"/>
                      <a:r>
                        <a:rPr sz="1200" b="0">
                          <a:solidFill>
                            <a:srgbClr val="262626"/>
                          </a:solidFill>
                          <a:latin typeface="Arial"/>
                        </a:rPr>
                        <a:t>H2: hệ số của SD</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Niềm tin</a:t>
                      </a:r>
                    </a:p>
                  </a:txBody>
                  <a:tcPr marL="73152" marR="73152" marT="27432" marB="27432" anchor="ctr">
                    <a:solidFill>
                      <a:srgbClr val="FFFFFF"/>
                    </a:solidFill>
                  </a:tcPr>
                </a:tc>
                <a:tc>
                  <a:txBody>
                    <a:bodyPr wrap="square"/>
                    <a:lstStyle/>
                    <a:p>
                      <a:pPr algn="l"/>
                      <a:r>
                        <a:rPr sz="1200" b="0">
                          <a:solidFill>
                            <a:srgbClr val="262626"/>
                          </a:solidFill>
                          <a:latin typeface="Arial"/>
                        </a:rPr>
                        <a:t>NT1 đến NT4</a:t>
                      </a:r>
                    </a:p>
                  </a:txBody>
                  <a:tcPr marL="73152" marR="73152" marT="27432" marB="27432" anchor="ctr">
                    <a:solidFill>
                      <a:srgbClr val="FFFFFF"/>
                    </a:solidFill>
                  </a:tcPr>
                </a:tc>
                <a:tc>
                  <a:txBody>
                    <a:bodyPr wrap="square"/>
                    <a:lstStyle/>
                    <a:p>
                      <a:pPr algn="l"/>
                      <a:r>
                        <a:rPr sz="1200" b="0">
                          <a:solidFill>
                            <a:srgbClr val="262626"/>
                          </a:solidFill>
                          <a:latin typeface="Arial"/>
                        </a:rPr>
                        <a:t>NT</a:t>
                      </a:r>
                    </a:p>
                  </a:txBody>
                  <a:tcPr marL="73152" marR="73152" marT="27432" marB="27432" anchor="ctr">
                    <a:solidFill>
                      <a:srgbClr val="FFFFFF"/>
                    </a:solidFill>
                  </a:tcPr>
                </a:tc>
                <a:tc>
                  <a:txBody>
                    <a:bodyPr wrap="square"/>
                    <a:lstStyle/>
                    <a:p>
                      <a:pPr algn="l"/>
                      <a:r>
                        <a:rPr sz="1200" b="0">
                          <a:solidFill>
                            <a:srgbClr val="262626"/>
                          </a:solidFill>
                          <a:latin typeface="Arial"/>
                        </a:rPr>
                        <a:t>H3: hệ số của NT</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Ảnh hưởng xã hội</a:t>
                      </a:r>
                    </a:p>
                  </a:txBody>
                  <a:tcPr marL="73152" marR="73152" marT="27432" marB="27432" anchor="ctr">
                    <a:solidFill>
                      <a:srgbClr val="F3F3F3"/>
                    </a:solidFill>
                  </a:tcPr>
                </a:tc>
                <a:tc>
                  <a:txBody>
                    <a:bodyPr wrap="square"/>
                    <a:lstStyle/>
                    <a:p>
                      <a:pPr algn="l"/>
                      <a:r>
                        <a:rPr sz="1200" b="0">
                          <a:solidFill>
                            <a:srgbClr val="262626"/>
                          </a:solidFill>
                          <a:latin typeface="Arial"/>
                        </a:rPr>
                        <a:t>XH1 đến XH4</a:t>
                      </a:r>
                    </a:p>
                  </a:txBody>
                  <a:tcPr marL="73152" marR="73152" marT="27432" marB="27432" anchor="ctr">
                    <a:solidFill>
                      <a:srgbClr val="F3F3F3"/>
                    </a:solidFill>
                  </a:tcPr>
                </a:tc>
                <a:tc>
                  <a:txBody>
                    <a:bodyPr wrap="square"/>
                    <a:lstStyle/>
                    <a:p>
                      <a:pPr algn="l"/>
                      <a:r>
                        <a:rPr sz="1200" b="0">
                          <a:solidFill>
                            <a:srgbClr val="262626"/>
                          </a:solidFill>
                          <a:latin typeface="Arial"/>
                        </a:rPr>
                        <a:t>XH</a:t>
                      </a:r>
                    </a:p>
                  </a:txBody>
                  <a:tcPr marL="73152" marR="73152" marT="27432" marB="27432" anchor="ctr">
                    <a:solidFill>
                      <a:srgbClr val="F3F3F3"/>
                    </a:solidFill>
                  </a:tcPr>
                </a:tc>
                <a:tc>
                  <a:txBody>
                    <a:bodyPr wrap="square"/>
                    <a:lstStyle/>
                    <a:p>
                      <a:pPr algn="l"/>
                      <a:r>
                        <a:rPr sz="1200" b="0">
                          <a:solidFill>
                            <a:srgbClr val="262626"/>
                          </a:solidFill>
                          <a:latin typeface="Arial"/>
                        </a:rPr>
                        <a:t>H4: hệ số của XH</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Ý định sử dụng</a:t>
                      </a:r>
                    </a:p>
                  </a:txBody>
                  <a:tcPr marL="73152" marR="73152" marT="27432" marB="27432" anchor="ctr">
                    <a:solidFill>
                      <a:srgbClr val="FFFFFF"/>
                    </a:solidFill>
                  </a:tcPr>
                </a:tc>
                <a:tc>
                  <a:txBody>
                    <a:bodyPr wrap="square"/>
                    <a:lstStyle/>
                    <a:p>
                      <a:pPr algn="l"/>
                      <a:r>
                        <a:rPr sz="1200" b="0">
                          <a:solidFill>
                            <a:srgbClr val="262626"/>
                          </a:solidFill>
                          <a:latin typeface="Arial"/>
                        </a:rPr>
                        <a:t>YD1 đến YD3</a:t>
                      </a:r>
                    </a:p>
                  </a:txBody>
                  <a:tcPr marL="73152" marR="73152" marT="27432" marB="27432" anchor="ctr">
                    <a:solidFill>
                      <a:srgbClr val="FFFFFF"/>
                    </a:solidFill>
                  </a:tcPr>
                </a:tc>
                <a:tc>
                  <a:txBody>
                    <a:bodyPr wrap="square"/>
                    <a:lstStyle/>
                    <a:p>
                      <a:pPr algn="l"/>
                      <a:r>
                        <a:rPr sz="1200" b="0">
                          <a:solidFill>
                            <a:srgbClr val="262626"/>
                          </a:solidFill>
                          <a:latin typeface="Arial"/>
                        </a:rPr>
                        <a:t>YD</a:t>
                      </a:r>
                    </a:p>
                  </a:txBody>
                  <a:tcPr marL="73152" marR="73152" marT="27432" marB="27432" anchor="ctr">
                    <a:solidFill>
                      <a:srgbClr val="FFFFFF"/>
                    </a:solidFill>
                  </a:tcPr>
                </a:tc>
                <a:tc>
                  <a:txBody>
                    <a:bodyPr wrap="square"/>
                    <a:lstStyle/>
                    <a:p>
                      <a:pPr algn="l"/>
                      <a:r>
                        <a:rPr sz="1200" b="0">
                          <a:solidFill>
                            <a:srgbClr val="262626"/>
                          </a:solidFill>
                          <a:latin typeface="Arial"/>
                        </a:rPr>
                        <a:t>Biến phụ thuộc</a:t>
                      </a:r>
                    </a:p>
                  </a:txBody>
                  <a:tcPr marL="73152" marR="73152" marT="27432" marB="27432" anchor="ctr">
                    <a:solidFill>
                      <a:srgbClr val="FFFFFF"/>
                    </a:solidFill>
                  </a:tcPr>
                </a:tc>
              </a:tr>
            </a:tbl>
          </a:graphicData>
        </a:graphic>
      </p:graphicFrame>
      <p:sp>
        <p:nvSpPr>
          <p:cNvPr id="13" name="TextBox 12"/>
          <p:cNvSpPr txBox="1"/>
          <p:nvPr/>
        </p:nvSpPr>
        <p:spPr>
          <a:xfrm>
            <a:off x="8321040" y="1783080"/>
            <a:ext cx="3410711" cy="274320"/>
          </a:xfrm>
          <a:prstGeom prst="rect">
            <a:avLst/>
          </a:prstGeom>
          <a:noFill/>
        </p:spPr>
        <p:txBody>
          <a:bodyPr wrap="square" lIns="45720" rIns="45720" tIns="27432" bIns="27432" anchor="t">
            <a:spAutoFit/>
          </a:bodyPr>
          <a:lstStyle/>
          <a:p>
            <a:pPr algn="l"/>
            <a:r>
              <a:rPr sz="1000" b="1" i="0">
                <a:solidFill>
                  <a:srgbClr val="CC0000"/>
                </a:solidFill>
                <a:latin typeface="Arial"/>
              </a:rPr>
              <a:t>HAI QUY TẮC KIỂM TRA</a:t>
            </a:r>
          </a:p>
        </p:txBody>
      </p:sp>
      <p:cxnSp>
        <p:nvCxnSpPr>
          <p:cNvPr id="14" name="Connector 13"/>
          <p:cNvCxnSpPr/>
          <p:nvPr/>
        </p:nvCxnSpPr>
        <p:spPr>
          <a:xfrm>
            <a:off x="8321040" y="2103120"/>
            <a:ext cx="34107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321040" y="2167128"/>
            <a:ext cx="3410711" cy="3383280"/>
          </a:xfrm>
          <a:prstGeom prst="rect">
            <a:avLst/>
          </a:prstGeom>
          <a:noFill/>
        </p:spPr>
        <p:txBody>
          <a:bodyPr wrap="square" lIns="45720" rIns="45720" tIns="27432" bIns="27432" anchor="t">
            <a:spAutoFit/>
          </a:bodyPr>
          <a:lstStyle/>
          <a:p>
            <a:pPr algn="l"/>
            <a:r>
              <a:rPr sz="1250" b="1" i="0">
                <a:solidFill>
                  <a:srgbClr val="58595B"/>
                </a:solidFill>
                <a:latin typeface="Arial"/>
              </a:rPr>
              <a:t>Quy tắc 1:</a:t>
            </a:r>
            <a:r>
              <a:rPr sz="1250" b="0" i="0">
                <a:solidFill>
                  <a:srgbClr val="58595B"/>
                </a:solidFill>
                <a:latin typeface="Arial"/>
              </a:rPr>
              <a:t> biến có trong mô hình mà không có câu hỏi thì giả thuyết của biến đó không kiểm định được.</a:t>
            </a:r>
          </a:p>
          <a:p>
            <a:pPr algn="l">
              <a:spcBef>
                <a:spcPts val="562"/>
              </a:spcBef>
            </a:pPr>
          </a:p>
          <a:p>
            <a:pPr algn="l">
              <a:spcBef>
                <a:spcPts val="562"/>
              </a:spcBef>
            </a:pPr>
            <a:r>
              <a:rPr sz="1250" b="1" i="0">
                <a:solidFill>
                  <a:srgbClr val="58595B"/>
                </a:solidFill>
                <a:latin typeface="Arial"/>
              </a:rPr>
              <a:t>Quy tắc 2:</a:t>
            </a:r>
            <a:r>
              <a:rPr sz="1250" b="0" i="0">
                <a:solidFill>
                  <a:srgbClr val="58595B"/>
                </a:solidFill>
                <a:latin typeface="Arial"/>
              </a:rPr>
              <a:t> câu hỏi không thuộc biến nào (trừ câu thông tin chung) là câu thừa.</a:t>
            </a:r>
          </a:p>
          <a:p>
            <a:pPr algn="l">
              <a:spcBef>
                <a:spcPts val="562"/>
              </a:spcBef>
            </a:pPr>
          </a:p>
          <a:p>
            <a:pPr algn="l">
              <a:spcBef>
                <a:spcPts val="562"/>
              </a:spcBef>
            </a:pPr>
            <a:r>
              <a:rPr sz="1250" b="1" i="0">
                <a:solidFill>
                  <a:srgbClr val="58595B"/>
                </a:solidFill>
                <a:latin typeface="Arial"/>
              </a:rPr>
              <a:t>Ranh giới:</a:t>
            </a:r>
            <a:r>
              <a:rPr sz="1250" b="0" i="0">
                <a:solidFill>
                  <a:srgbClr val="58595B"/>
                </a:solidFill>
                <a:latin typeface="Arial"/>
              </a:rPr>
              <a:t> Chương 3 chỉ nói "sẽ tính gì, bằng công cụ gì, đọc thế nào"; mọi con số kết quả thuộc Chương 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TRIẾT LÝ VÀ CÁCH TIẾP CẬN</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Triết lý, cách tiếp cận và phương pháp phải nằm trên cùng một cột, nếu không Chương 3 tự mâu thuẫn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Câu hỏi nghiên cứu quyết định cách tiếp cận: hỏi "mức độ tác động" là định lượng; hỏi "trải qua những gì" là định tính.</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3.1.1 và Mục 3.1.2, Bảng 3-2; Creswell và Creswell (2018, tr. 43 đến 44); Trần Phước (n.d., tr. 10 đến 17)</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49</a:t>
            </a:r>
          </a:p>
        </p:txBody>
      </p:sp>
      <p:graphicFrame>
        <p:nvGraphicFramePr>
          <p:cNvPr id="11" name="Table 10"/>
          <p:cNvGraphicFramePr>
            <a:graphicFrameLocks noGrp="1"/>
          </p:cNvGraphicFramePr>
          <p:nvPr/>
        </p:nvGraphicFramePr>
        <p:xfrm>
          <a:off x="457200" y="1783080"/>
          <a:ext cx="7863837" cy="3319272"/>
        </p:xfrm>
        <a:graphic>
          <a:graphicData uri="http://schemas.openxmlformats.org/drawingml/2006/table">
            <a:tbl>
              <a:tblPr firstRow="1" bandRow="1">
                <a:tableStyleId>{5C22544A-7EE6-4342-B048-85BDC9FD1C3A}</a:tableStyleId>
              </a:tblPr>
              <a:tblGrid>
                <a:gridCol w="1747519"/>
                <a:gridCol w="3058159"/>
                <a:gridCol w="3058159"/>
              </a:tblGrid>
              <a:tr h="411480">
                <a:tc>
                  <a:txBody>
                    <a:bodyPr wrap="square"/>
                    <a:lstStyle/>
                    <a:p>
                      <a:pPr algn="l"/>
                    </a:p>
                  </a:txBody>
                  <a:tcPr marL="73152" marR="73152" marT="27432" marB="27432" anchor="ctr">
                    <a:solidFill>
                      <a:srgbClr val="262626"/>
                    </a:solidFill>
                  </a:tcPr>
                </a:tc>
                <a:tc>
                  <a:txBody>
                    <a:bodyPr wrap="square"/>
                    <a:lstStyle/>
                    <a:p>
                      <a:pPr algn="l"/>
                      <a:r>
                        <a:rPr sz="1200" b="1">
                          <a:solidFill>
                            <a:srgbClr val="FFFFFF"/>
                          </a:solidFill>
                          <a:latin typeface="Arial"/>
                        </a:rPr>
                        <a:t>Hậu thực chứng (thực chứng)</a:t>
                      </a:r>
                    </a:p>
                  </a:txBody>
                  <a:tcPr marL="73152" marR="73152" marT="27432" marB="27432" anchor="ctr">
                    <a:solidFill>
                      <a:srgbClr val="262626"/>
                    </a:solidFill>
                  </a:tcPr>
                </a:tc>
                <a:tc>
                  <a:txBody>
                    <a:bodyPr wrap="square"/>
                    <a:lstStyle/>
                    <a:p>
                      <a:pPr algn="l"/>
                      <a:r>
                        <a:rPr sz="1200" b="1">
                          <a:solidFill>
                            <a:srgbClr val="FFFFFF"/>
                          </a:solidFill>
                          <a:latin typeface="Arial"/>
                        </a:rPr>
                        <a:t>Kiến tạo (diễn giải)</a:t>
                      </a:r>
                    </a:p>
                  </a:txBody>
                  <a:tcPr marL="73152" marR="73152" marT="27432" marB="27432" anchor="ctr">
                    <a:solidFill>
                      <a:srgbClr val="262626"/>
                    </a:solidFill>
                  </a:tcPr>
                </a:tc>
              </a:tr>
              <a:tr h="484632">
                <a:tc>
                  <a:txBody>
                    <a:bodyPr wrap="square"/>
                    <a:lstStyle/>
                    <a:p>
                      <a:pPr algn="l"/>
                      <a:r>
                        <a:rPr sz="1200" b="0">
                          <a:solidFill>
                            <a:srgbClr val="262626"/>
                          </a:solidFill>
                          <a:latin typeface="Arial"/>
                        </a:rPr>
                        <a:t>Cách tạo ra hiểu biết</a:t>
                      </a:r>
                    </a:p>
                  </a:txBody>
                  <a:tcPr marL="73152" marR="73152" marT="27432" marB="27432" anchor="ctr">
                    <a:solidFill>
                      <a:srgbClr val="FFFFFF"/>
                    </a:solidFill>
                  </a:tcPr>
                </a:tc>
                <a:tc>
                  <a:txBody>
                    <a:bodyPr wrap="square"/>
                    <a:lstStyle/>
                    <a:p>
                      <a:pPr algn="l"/>
                      <a:r>
                        <a:rPr sz="1200" b="0">
                          <a:solidFill>
                            <a:srgbClr val="262626"/>
                          </a:solidFill>
                          <a:latin typeface="Arial"/>
                        </a:rPr>
                        <a:t>Nguyên nhân quyết định kết quả; kiểm định lý thuyết bằng đo lường</a:t>
                      </a:r>
                    </a:p>
                  </a:txBody>
                  <a:tcPr marL="73152" marR="73152" marT="27432" marB="27432" anchor="ctr">
                    <a:solidFill>
                      <a:srgbClr val="FFFFFF"/>
                    </a:solidFill>
                  </a:tcPr>
                </a:tc>
                <a:tc>
                  <a:txBody>
                    <a:bodyPr wrap="square"/>
                    <a:lstStyle/>
                    <a:p>
                      <a:pPr algn="l"/>
                      <a:r>
                        <a:rPr sz="1200" b="0">
                          <a:solidFill>
                            <a:srgbClr val="262626"/>
                          </a:solidFill>
                          <a:latin typeface="Arial"/>
                        </a:rPr>
                        <a:t>Mỗi người hiểu thực tại theo cách riêng; tìm ý nghĩa qua lời kể</a:t>
                      </a:r>
                    </a:p>
                  </a:txBody>
                  <a:tcPr marL="73152" marR="73152" marT="27432" marB="27432" anchor="ctr">
                    <a:solidFill>
                      <a:srgbClr val="FFFFFF"/>
                    </a:solidFill>
                  </a:tcPr>
                </a:tc>
              </a:tr>
              <a:tr h="484632">
                <a:tc>
                  <a:txBody>
                    <a:bodyPr wrap="square"/>
                    <a:lstStyle/>
                    <a:p>
                      <a:pPr algn="l"/>
                      <a:r>
                        <a:rPr sz="1200" b="0">
                          <a:solidFill>
                            <a:srgbClr val="262626"/>
                          </a:solidFill>
                          <a:latin typeface="Arial"/>
                        </a:rPr>
                        <a:t>Hướng suy luận</a:t>
                      </a:r>
                    </a:p>
                  </a:txBody>
                  <a:tcPr marL="73152" marR="73152" marT="27432" marB="27432" anchor="ctr">
                    <a:solidFill>
                      <a:srgbClr val="F3F3F3"/>
                    </a:solidFill>
                  </a:tcPr>
                </a:tc>
                <a:tc>
                  <a:txBody>
                    <a:bodyPr wrap="square"/>
                    <a:lstStyle/>
                    <a:p>
                      <a:pPr algn="l"/>
                      <a:r>
                        <a:rPr sz="1200" b="0">
                          <a:solidFill>
                            <a:srgbClr val="262626"/>
                          </a:solidFill>
                          <a:latin typeface="Arial"/>
                        </a:rPr>
                        <a:t>Suy diễn: từ lý thuyết xuống giả thuyết, rồi thu dữ liệu</a:t>
                      </a:r>
                    </a:p>
                  </a:txBody>
                  <a:tcPr marL="73152" marR="73152" marT="27432" marB="27432" anchor="ctr">
                    <a:solidFill>
                      <a:srgbClr val="F3F3F3"/>
                    </a:solidFill>
                  </a:tcPr>
                </a:tc>
                <a:tc>
                  <a:txBody>
                    <a:bodyPr wrap="square"/>
                    <a:lstStyle/>
                    <a:p>
                      <a:pPr algn="l"/>
                      <a:r>
                        <a:rPr sz="1200" b="0">
                          <a:solidFill>
                            <a:srgbClr val="262626"/>
                          </a:solidFill>
                          <a:latin typeface="Arial"/>
                        </a:rPr>
                        <a:t>Quy nạp: từ dữ liệu cụ thể lên khái quát</a:t>
                      </a:r>
                    </a:p>
                  </a:txBody>
                  <a:tcPr marL="73152" marR="73152" marT="27432" marB="27432" anchor="ctr">
                    <a:solidFill>
                      <a:srgbClr val="F3F3F3"/>
                    </a:solidFill>
                  </a:tcPr>
                </a:tc>
              </a:tr>
              <a:tr h="484632">
                <a:tc>
                  <a:txBody>
                    <a:bodyPr wrap="square"/>
                    <a:lstStyle/>
                    <a:p>
                      <a:pPr algn="l"/>
                      <a:r>
                        <a:rPr sz="1200" b="0">
                          <a:solidFill>
                            <a:srgbClr val="262626"/>
                          </a:solidFill>
                          <a:latin typeface="Arial"/>
                        </a:rPr>
                        <a:t>Cách tiếp cận</a:t>
                      </a:r>
                    </a:p>
                  </a:txBody>
                  <a:tcPr marL="73152" marR="73152" marT="27432" marB="27432" anchor="ctr">
                    <a:solidFill>
                      <a:srgbClr val="FFFFFF"/>
                    </a:solidFill>
                  </a:tcPr>
                </a:tc>
                <a:tc>
                  <a:txBody>
                    <a:bodyPr wrap="square"/>
                    <a:lstStyle/>
                    <a:p>
                      <a:pPr algn="l"/>
                      <a:r>
                        <a:rPr sz="1200" b="0">
                          <a:solidFill>
                            <a:srgbClr val="262626"/>
                          </a:solidFill>
                          <a:latin typeface="Arial"/>
                        </a:rPr>
                        <a:t>Định lượng</a:t>
                      </a:r>
                    </a:p>
                  </a:txBody>
                  <a:tcPr marL="73152" marR="73152" marT="27432" marB="27432" anchor="ctr">
                    <a:solidFill>
                      <a:srgbClr val="FFFFFF"/>
                    </a:solidFill>
                  </a:tcPr>
                </a:tc>
                <a:tc>
                  <a:txBody>
                    <a:bodyPr wrap="square"/>
                    <a:lstStyle/>
                    <a:p>
                      <a:pPr algn="l"/>
                      <a:r>
                        <a:rPr sz="1200" b="0">
                          <a:solidFill>
                            <a:srgbClr val="262626"/>
                          </a:solidFill>
                          <a:latin typeface="Arial"/>
                        </a:rPr>
                        <a:t>Định tính</a:t>
                      </a:r>
                    </a:p>
                  </a:txBody>
                  <a:tcPr marL="73152" marR="73152" marT="27432" marB="27432" anchor="ctr">
                    <a:solidFill>
                      <a:srgbClr val="FFFFFF"/>
                    </a:solidFill>
                  </a:tcPr>
                </a:tc>
              </a:tr>
              <a:tr h="484632">
                <a:tc>
                  <a:txBody>
                    <a:bodyPr wrap="square"/>
                    <a:lstStyle/>
                    <a:p>
                      <a:pPr algn="l"/>
                      <a:r>
                        <a:rPr sz="1200" b="0">
                          <a:solidFill>
                            <a:srgbClr val="262626"/>
                          </a:solidFill>
                          <a:latin typeface="Arial"/>
                        </a:rPr>
                        <a:t>Thu thập</a:t>
                      </a:r>
                    </a:p>
                  </a:txBody>
                  <a:tcPr marL="73152" marR="73152" marT="27432" marB="27432" anchor="ctr">
                    <a:solidFill>
                      <a:srgbClr val="F3F3F3"/>
                    </a:solidFill>
                  </a:tcPr>
                </a:tc>
                <a:tc>
                  <a:txBody>
                    <a:bodyPr wrap="square"/>
                    <a:lstStyle/>
                    <a:p>
                      <a:pPr algn="l"/>
                      <a:r>
                        <a:rPr sz="1200" b="0">
                          <a:solidFill>
                            <a:srgbClr val="262626"/>
                          </a:solidFill>
                          <a:latin typeface="Arial"/>
                        </a:rPr>
                        <a:t>Bảng hỏi Likert</a:t>
                      </a:r>
                    </a:p>
                  </a:txBody>
                  <a:tcPr marL="73152" marR="73152" marT="27432" marB="27432" anchor="ctr">
                    <a:solidFill>
                      <a:srgbClr val="F3F3F3"/>
                    </a:solidFill>
                  </a:tcPr>
                </a:tc>
                <a:tc>
                  <a:txBody>
                    <a:bodyPr wrap="square"/>
                    <a:lstStyle/>
                    <a:p>
                      <a:pPr algn="l"/>
                      <a:r>
                        <a:rPr sz="1200" b="0">
                          <a:solidFill>
                            <a:srgbClr val="262626"/>
                          </a:solidFill>
                          <a:latin typeface="Arial"/>
                        </a:rPr>
                        <a:t>Phỏng vấn sâu, quan sát</a:t>
                      </a:r>
                    </a:p>
                  </a:txBody>
                  <a:tcPr marL="73152" marR="73152" marT="27432" marB="27432" anchor="ctr">
                    <a:solidFill>
                      <a:srgbClr val="F3F3F3"/>
                    </a:solidFill>
                  </a:tcPr>
                </a:tc>
              </a:tr>
              <a:tr h="484632">
                <a:tc>
                  <a:txBody>
                    <a:bodyPr wrap="square"/>
                    <a:lstStyle/>
                    <a:p>
                      <a:pPr algn="l"/>
                      <a:r>
                        <a:rPr sz="1200" b="0">
                          <a:solidFill>
                            <a:srgbClr val="262626"/>
                          </a:solidFill>
                          <a:latin typeface="Arial"/>
                        </a:rPr>
                        <a:t>Phân tích</a:t>
                      </a:r>
                    </a:p>
                  </a:txBody>
                  <a:tcPr marL="73152" marR="73152" marT="27432" marB="27432" anchor="ctr">
                    <a:solidFill>
                      <a:srgbClr val="FFFFFF"/>
                    </a:solidFill>
                  </a:tcPr>
                </a:tc>
                <a:tc>
                  <a:txBody>
                    <a:bodyPr wrap="square"/>
                    <a:lstStyle/>
                    <a:p>
                      <a:pPr algn="l"/>
                      <a:r>
                        <a:rPr sz="1200" b="0">
                          <a:solidFill>
                            <a:srgbClr val="262626"/>
                          </a:solidFill>
                          <a:latin typeface="Arial"/>
                        </a:rPr>
                        <a:t>Thống kê, hồi quy</a:t>
                      </a:r>
                    </a:p>
                  </a:txBody>
                  <a:tcPr marL="73152" marR="73152" marT="27432" marB="27432" anchor="ctr">
                    <a:solidFill>
                      <a:srgbClr val="FFFFFF"/>
                    </a:solidFill>
                  </a:tcPr>
                </a:tc>
                <a:tc>
                  <a:txBody>
                    <a:bodyPr wrap="square"/>
                    <a:lstStyle/>
                    <a:p>
                      <a:pPr algn="l"/>
                      <a:r>
                        <a:rPr sz="1200" b="0">
                          <a:solidFill>
                            <a:srgbClr val="262626"/>
                          </a:solidFill>
                          <a:latin typeface="Arial"/>
                        </a:rPr>
                        <a:t>Mã hóa chủ đề</a:t>
                      </a:r>
                    </a:p>
                  </a:txBody>
                  <a:tcPr marL="73152" marR="73152" marT="27432" marB="27432" anchor="ctr">
                    <a:solidFill>
                      <a:srgbClr val="FFFFFF"/>
                    </a:solidFill>
                  </a:tcPr>
                </a:tc>
              </a:tr>
              <a:tr h="484632">
                <a:tc>
                  <a:txBody>
                    <a:bodyPr wrap="square"/>
                    <a:lstStyle/>
                    <a:p>
                      <a:pPr algn="l"/>
                      <a:r>
                        <a:rPr sz="1200" b="0">
                          <a:solidFill>
                            <a:srgbClr val="262626"/>
                          </a:solidFill>
                          <a:latin typeface="Arial"/>
                        </a:rPr>
                        <a:t>Dấu hiệu từ tên đề tài</a:t>
                      </a:r>
                    </a:p>
                  </a:txBody>
                  <a:tcPr marL="73152" marR="73152" marT="27432" marB="27432" anchor="ctr">
                    <a:solidFill>
                      <a:srgbClr val="F3F3F3"/>
                    </a:solidFill>
                  </a:tcPr>
                </a:tc>
                <a:tc>
                  <a:txBody>
                    <a:bodyPr wrap="square"/>
                    <a:lstStyle/>
                    <a:p>
                      <a:pPr algn="l"/>
                      <a:r>
                        <a:rPr sz="1200" b="0">
                          <a:solidFill>
                            <a:srgbClr val="262626"/>
                          </a:solidFill>
                          <a:latin typeface="Arial"/>
                        </a:rPr>
                        <a:t>"Tác động của...", "Kiểm chứng..."</a:t>
                      </a:r>
                    </a:p>
                  </a:txBody>
                  <a:tcPr marL="73152" marR="73152" marT="27432" marB="27432" anchor="ctr">
                    <a:solidFill>
                      <a:srgbClr val="F3F3F3"/>
                    </a:solidFill>
                  </a:tcPr>
                </a:tc>
                <a:tc>
                  <a:txBody>
                    <a:bodyPr wrap="square"/>
                    <a:lstStyle/>
                    <a:p>
                      <a:pPr algn="l"/>
                      <a:r>
                        <a:rPr sz="1200" b="0">
                          <a:solidFill>
                            <a:srgbClr val="262626"/>
                          </a:solidFill>
                          <a:latin typeface="Arial"/>
                        </a:rPr>
                        <a:t>"Khám phá...", "Thực trạng...", "Tìm hiểu các yếu tố mới..."</a:t>
                      </a:r>
                    </a:p>
                  </a:txBody>
                  <a:tcPr marL="73152" marR="73152" marT="27432" marB="27432" anchor="ctr">
                    <a:solidFill>
                      <a:srgbClr val="F3F3F3"/>
                    </a:solidFill>
                  </a:tcPr>
                </a:tc>
              </a:tr>
            </a:tbl>
          </a:graphicData>
        </a:graphic>
      </p:graphicFrame>
      <p:sp>
        <p:nvSpPr>
          <p:cNvPr id="12" name="TextBox 11"/>
          <p:cNvSpPr txBox="1"/>
          <p:nvPr/>
        </p:nvSpPr>
        <p:spPr>
          <a:xfrm>
            <a:off x="8595360" y="1783080"/>
            <a:ext cx="3136391" cy="274320"/>
          </a:xfrm>
          <a:prstGeom prst="rect">
            <a:avLst/>
          </a:prstGeom>
          <a:noFill/>
        </p:spPr>
        <p:txBody>
          <a:bodyPr wrap="square" lIns="45720" rIns="45720" tIns="27432" bIns="27432" anchor="t">
            <a:spAutoFit/>
          </a:bodyPr>
          <a:lstStyle/>
          <a:p>
            <a:pPr algn="l"/>
            <a:r>
              <a:rPr sz="1000" b="1" i="0">
                <a:solidFill>
                  <a:srgbClr val="CC0000"/>
                </a:solidFill>
                <a:latin typeface="Arial"/>
              </a:rPr>
              <a:t>LỖI MÂU THUẪN</a:t>
            </a:r>
          </a:p>
        </p:txBody>
      </p:sp>
      <p:cxnSp>
        <p:nvCxnSpPr>
          <p:cNvPr id="13" name="Connector 12"/>
          <p:cNvCxnSpPr/>
          <p:nvPr/>
        </p:nvCxnSpPr>
        <p:spPr>
          <a:xfrm>
            <a:off x="8595360" y="2103120"/>
            <a:ext cx="313639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95360" y="2167128"/>
            <a:ext cx="3136391" cy="3383280"/>
          </a:xfrm>
          <a:prstGeom prst="rect">
            <a:avLst/>
          </a:prstGeom>
          <a:noFill/>
        </p:spPr>
        <p:txBody>
          <a:bodyPr wrap="square" lIns="45720" rIns="45720" tIns="27432" bIns="27432" anchor="t">
            <a:spAutoFit/>
          </a:bodyPr>
          <a:lstStyle/>
          <a:p>
            <a:pPr algn="l"/>
            <a:r>
              <a:rPr sz="1250" b="0" i="0">
                <a:solidFill>
                  <a:srgbClr val="58595B"/>
                </a:solidFill>
                <a:latin typeface="Arial"/>
              </a:rPr>
              <a:t>Ghi "triết lý diễn giải" rồi dùng bảng hỏi và hồi quy thì người chấm kết luận sinh viên </a:t>
            </a:r>
            <a:r>
              <a:rPr sz="1250" b="1" i="0">
                <a:solidFill>
                  <a:srgbClr val="58595B"/>
                </a:solidFill>
                <a:latin typeface="Arial"/>
              </a:rPr>
              <a:t>chép tên triết lý mà không hiểu nội dung.</a:t>
            </a:r>
          </a:p>
          <a:p>
            <a:pPr algn="l">
              <a:spcBef>
                <a:spcPts val="562"/>
              </a:spcBef>
            </a:pPr>
          </a:p>
          <a:p>
            <a:pPr algn="l">
              <a:spcBef>
                <a:spcPts val="562"/>
              </a:spcBef>
            </a:pPr>
            <a:r>
              <a:rPr sz="1250" b="0" i="0">
                <a:solidFill>
                  <a:srgbClr val="58595B"/>
                </a:solidFill>
                <a:latin typeface="Arial"/>
              </a:rPr>
              <a:t>Kiểm tra bằng ba câu: triết lý nói gì về cách tạo ra hiểu biết; cách thu thập có đi theo đó không; cách phân tích có đi theo đó không.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NẾU ĐỀ TÀI CHỌN ĐỊNH TÍNH</a:t>
            </a:r>
          </a:p>
        </p:txBody>
      </p:sp>
      <p:sp>
        <p:nvSpPr>
          <p:cNvPr id="3" name="Rounded Rectangle 2"/>
          <p:cNvSpPr/>
          <p:nvPr/>
        </p:nvSpPr>
        <p:spPr>
          <a:xfrm>
            <a:off x="10273284" y="219456"/>
            <a:ext cx="145846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TRƯỜNG TIỂU HỌC Y</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Đề tài định tính vẫn trả lời cùng câu hỏi "dữ liệu từ ai, bằng công cụ gì, phân tích ra sao" nhưng khác ở bốn điểm</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Câu trả lời mong đợi là một con số thì chọn định lượng; là một câu chuyện, một trải nghiệm thì chọn định tính.</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Kỹ thuật dùng cho Mục 3.1.2, Bảng 3-3 và 3-4 và Hình 3-4; Trần Phước (n.d., tr. 26 đến 55); Creswell và Creswell (2018, tr. 193)</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50</a:t>
            </a:r>
          </a:p>
        </p:txBody>
      </p:sp>
      <p:graphicFrame>
        <p:nvGraphicFramePr>
          <p:cNvPr id="12" name="Table 11"/>
          <p:cNvGraphicFramePr>
            <a:graphicFrameLocks noGrp="1"/>
          </p:cNvGraphicFramePr>
          <p:nvPr/>
        </p:nvGraphicFramePr>
        <p:xfrm>
          <a:off x="457200" y="1783080"/>
          <a:ext cx="7772400" cy="2926080"/>
        </p:xfrm>
        <a:graphic>
          <a:graphicData uri="http://schemas.openxmlformats.org/drawingml/2006/table">
            <a:tbl>
              <a:tblPr firstRow="1" bandRow="1">
                <a:tableStyleId>{5C22544A-7EE6-4342-B048-85BDC9FD1C3A}</a:tableStyleId>
              </a:tblPr>
              <a:tblGrid>
                <a:gridCol w="1943100"/>
                <a:gridCol w="3886200"/>
                <a:gridCol w="1943100"/>
              </a:tblGrid>
              <a:tr h="411480">
                <a:tc>
                  <a:txBody>
                    <a:bodyPr wrap="square"/>
                    <a:lstStyle/>
                    <a:p>
                      <a:pPr algn="l"/>
                      <a:r>
                        <a:rPr sz="1200" b="1">
                          <a:solidFill>
                            <a:srgbClr val="FFFFFF"/>
                          </a:solidFill>
                          <a:latin typeface="Arial"/>
                        </a:rPr>
                        <a:t>Thiết kế định tính</a:t>
                      </a:r>
                    </a:p>
                  </a:txBody>
                  <a:tcPr marL="73152" marR="73152" marT="27432" marB="27432" anchor="ctr">
                    <a:solidFill>
                      <a:srgbClr val="262626"/>
                    </a:solidFill>
                  </a:tcPr>
                </a:tc>
                <a:tc>
                  <a:txBody>
                    <a:bodyPr wrap="square"/>
                    <a:lstStyle/>
                    <a:p>
                      <a:pPr algn="l"/>
                      <a:r>
                        <a:rPr sz="1200" b="1">
                          <a:solidFill>
                            <a:srgbClr val="FFFFFF"/>
                          </a:solidFill>
                          <a:latin typeface="Arial"/>
                        </a:rPr>
                        <a:t>Mục đích</a:t>
                      </a:r>
                    </a:p>
                  </a:txBody>
                  <a:tcPr marL="73152" marR="73152" marT="27432" marB="27432" anchor="ctr">
                    <a:solidFill>
                      <a:srgbClr val="262626"/>
                    </a:solidFill>
                  </a:tcPr>
                </a:tc>
                <a:tc>
                  <a:txBody>
                    <a:bodyPr wrap="square"/>
                    <a:lstStyle/>
                    <a:p>
                      <a:pPr algn="l"/>
                      <a:r>
                        <a:rPr sz="1200" b="1">
                          <a:solidFill>
                            <a:srgbClr val="FFFFFF"/>
                          </a:solidFill>
                          <a:latin typeface="Arial"/>
                        </a:rPr>
                        <a:t>Cỡ mẫu thường gặp</a:t>
                      </a:r>
                    </a:p>
                  </a:txBody>
                  <a:tcPr marL="73152" marR="73152" marT="27432" marB="27432" anchor="ctr">
                    <a:solidFill>
                      <a:srgbClr val="262626"/>
                    </a:solidFill>
                  </a:tcPr>
                </a:tc>
              </a:tr>
              <a:tr h="502920">
                <a:tc>
                  <a:txBody>
                    <a:bodyPr wrap="square"/>
                    <a:lstStyle/>
                    <a:p>
                      <a:pPr algn="l"/>
                      <a:r>
                        <a:rPr sz="1200" b="0">
                          <a:solidFill>
                            <a:srgbClr val="262626"/>
                          </a:solidFill>
                          <a:latin typeface="Arial"/>
                        </a:rPr>
                        <a:t>Tường thuật</a:t>
                      </a:r>
                    </a:p>
                  </a:txBody>
                  <a:tcPr marL="73152" marR="73152" marT="27432" marB="27432" anchor="ctr">
                    <a:solidFill>
                      <a:srgbClr val="FFFFFF"/>
                    </a:solidFill>
                  </a:tcPr>
                </a:tc>
                <a:tc>
                  <a:txBody>
                    <a:bodyPr wrap="square"/>
                    <a:lstStyle/>
                    <a:p>
                      <a:pPr algn="l"/>
                      <a:r>
                        <a:rPr sz="1200" b="0">
                          <a:solidFill>
                            <a:srgbClr val="262626"/>
                          </a:solidFill>
                          <a:latin typeface="Arial"/>
                        </a:rPr>
                        <a:t>Cuộc đời cá nhân qua câu chuyện họ kể lại</a:t>
                      </a:r>
                    </a:p>
                  </a:txBody>
                  <a:tcPr marL="73152" marR="73152" marT="27432" marB="27432" anchor="ctr">
                    <a:solidFill>
                      <a:srgbClr val="FFFFFF"/>
                    </a:solidFill>
                  </a:tcPr>
                </a:tc>
                <a:tc>
                  <a:txBody>
                    <a:bodyPr wrap="square"/>
                    <a:lstStyle/>
                    <a:p>
                      <a:pPr algn="l"/>
                      <a:r>
                        <a:rPr sz="1200" b="0">
                          <a:solidFill>
                            <a:srgbClr val="262626"/>
                          </a:solidFill>
                          <a:latin typeface="Arial"/>
                        </a:rPr>
                        <a:t>Một hoặc hai cá nhân</a:t>
                      </a:r>
                    </a:p>
                  </a:txBody>
                  <a:tcPr marL="73152" marR="73152" marT="27432" marB="27432" anchor="ctr">
                    <a:solidFill>
                      <a:srgbClr val="FFFFFF"/>
                    </a:solidFill>
                  </a:tcPr>
                </a:tc>
              </a:tr>
              <a:tr h="502920">
                <a:tc>
                  <a:txBody>
                    <a:bodyPr wrap="square"/>
                    <a:lstStyle/>
                    <a:p>
                      <a:pPr algn="l"/>
                      <a:r>
                        <a:rPr sz="1200" b="0">
                          <a:solidFill>
                            <a:srgbClr val="262626"/>
                          </a:solidFill>
                          <a:latin typeface="Arial"/>
                        </a:rPr>
                        <a:t>Hiện tượng học</a:t>
                      </a:r>
                    </a:p>
                  </a:txBody>
                  <a:tcPr marL="73152" marR="73152" marT="27432" marB="27432" anchor="ctr">
                    <a:solidFill>
                      <a:srgbClr val="F3F3F3"/>
                    </a:solidFill>
                  </a:tcPr>
                </a:tc>
                <a:tc>
                  <a:txBody>
                    <a:bodyPr wrap="square"/>
                    <a:lstStyle/>
                    <a:p>
                      <a:pPr algn="l"/>
                      <a:r>
                        <a:rPr sz="1200" b="0">
                          <a:solidFill>
                            <a:srgbClr val="262626"/>
                          </a:solidFill>
                          <a:latin typeface="Arial"/>
                        </a:rPr>
                        <a:t>Trải nghiệm sống của nhiều người về cùng một hiện tượng</a:t>
                      </a:r>
                    </a:p>
                  </a:txBody>
                  <a:tcPr marL="73152" marR="73152" marT="27432" marB="27432" anchor="ctr">
                    <a:solidFill>
                      <a:srgbClr val="F3F3F3"/>
                    </a:solidFill>
                  </a:tcPr>
                </a:tc>
                <a:tc>
                  <a:txBody>
                    <a:bodyPr wrap="square"/>
                    <a:lstStyle/>
                    <a:p>
                      <a:pPr algn="l"/>
                      <a:r>
                        <a:rPr sz="1200" b="0">
                          <a:solidFill>
                            <a:srgbClr val="262626"/>
                          </a:solidFill>
                          <a:latin typeface="Arial"/>
                        </a:rPr>
                        <a:t>3 đến 10 người</a:t>
                      </a:r>
                    </a:p>
                  </a:txBody>
                  <a:tcPr marL="73152" marR="73152" marT="27432" marB="27432" anchor="ctr">
                    <a:solidFill>
                      <a:srgbClr val="F3F3F3"/>
                    </a:solidFill>
                  </a:tcPr>
                </a:tc>
              </a:tr>
              <a:tr h="502920">
                <a:tc>
                  <a:txBody>
                    <a:bodyPr wrap="square"/>
                    <a:lstStyle/>
                    <a:p>
                      <a:pPr algn="l"/>
                      <a:r>
                        <a:rPr sz="1200" b="0">
                          <a:solidFill>
                            <a:srgbClr val="262626"/>
                          </a:solidFill>
                          <a:latin typeface="Arial"/>
                        </a:rPr>
                        <a:t>Lý thuyết nền</a:t>
                      </a:r>
                    </a:p>
                  </a:txBody>
                  <a:tcPr marL="73152" marR="73152" marT="27432" marB="27432" anchor="ctr">
                    <a:solidFill>
                      <a:srgbClr val="FFFFFF"/>
                    </a:solidFill>
                  </a:tcPr>
                </a:tc>
                <a:tc>
                  <a:txBody>
                    <a:bodyPr wrap="square"/>
                    <a:lstStyle/>
                    <a:p>
                      <a:pPr algn="l"/>
                      <a:r>
                        <a:rPr sz="1200" b="0">
                          <a:solidFill>
                            <a:srgbClr val="262626"/>
                          </a:solidFill>
                          <a:latin typeface="Arial"/>
                        </a:rPr>
                        <a:t>Xây dựng lý thuyết về một quy trình, hành động, tương tác</a:t>
                      </a:r>
                    </a:p>
                  </a:txBody>
                  <a:tcPr marL="73152" marR="73152" marT="27432" marB="27432" anchor="ctr">
                    <a:solidFill>
                      <a:srgbClr val="FFFFFF"/>
                    </a:solidFill>
                  </a:tcPr>
                </a:tc>
                <a:tc>
                  <a:txBody>
                    <a:bodyPr wrap="square"/>
                    <a:lstStyle/>
                    <a:p>
                      <a:pPr algn="l"/>
                      <a:r>
                        <a:rPr sz="1200" b="0">
                          <a:solidFill>
                            <a:srgbClr val="262626"/>
                          </a:solidFill>
                          <a:latin typeface="Arial"/>
                        </a:rPr>
                        <a:t>Khoảng 20 đến 30 người</a:t>
                      </a:r>
                    </a:p>
                  </a:txBody>
                  <a:tcPr marL="73152" marR="73152" marT="27432" marB="27432" anchor="ctr">
                    <a:solidFill>
                      <a:srgbClr val="FFFFFF"/>
                    </a:solidFill>
                  </a:tcPr>
                </a:tc>
              </a:tr>
              <a:tr h="502920">
                <a:tc>
                  <a:txBody>
                    <a:bodyPr wrap="square"/>
                    <a:lstStyle/>
                    <a:p>
                      <a:pPr algn="l"/>
                      <a:r>
                        <a:rPr sz="1200" b="0">
                          <a:solidFill>
                            <a:srgbClr val="262626"/>
                          </a:solidFill>
                          <a:latin typeface="Arial"/>
                        </a:rPr>
                        <a:t>Dân tộc học</a:t>
                      </a:r>
                    </a:p>
                  </a:txBody>
                  <a:tcPr marL="73152" marR="73152" marT="27432" marB="27432" anchor="ctr">
                    <a:solidFill>
                      <a:srgbClr val="F3F3F3"/>
                    </a:solidFill>
                  </a:tcPr>
                </a:tc>
                <a:tc>
                  <a:txBody>
                    <a:bodyPr wrap="square"/>
                    <a:lstStyle/>
                    <a:p>
                      <a:pPr algn="l"/>
                      <a:r>
                        <a:rPr sz="1200" b="0">
                          <a:solidFill>
                            <a:srgbClr val="262626"/>
                          </a:solidFill>
                          <a:latin typeface="Arial"/>
                        </a:rPr>
                        <a:t>Khuôn mẫu hành vi, ngôn ngữ của một nhóm văn hóa</a:t>
                      </a:r>
                    </a:p>
                  </a:txBody>
                  <a:tcPr marL="73152" marR="73152" marT="27432" marB="27432" anchor="ctr">
                    <a:solidFill>
                      <a:srgbClr val="F3F3F3"/>
                    </a:solidFill>
                  </a:tcPr>
                </a:tc>
                <a:tc>
                  <a:txBody>
                    <a:bodyPr wrap="square"/>
                    <a:lstStyle/>
                    <a:p>
                      <a:pPr algn="l"/>
                      <a:r>
                        <a:rPr sz="1200" b="0">
                          <a:solidFill>
                            <a:srgbClr val="262626"/>
                          </a:solidFill>
                          <a:latin typeface="Arial"/>
                        </a:rPr>
                        <a:t>Một nhóm chia sẻ văn hóa</a:t>
                      </a:r>
                    </a:p>
                  </a:txBody>
                  <a:tcPr marL="73152" marR="73152" marT="27432" marB="27432" anchor="ctr">
                    <a:solidFill>
                      <a:srgbClr val="F3F3F3"/>
                    </a:solidFill>
                  </a:tcPr>
                </a:tc>
              </a:tr>
              <a:tr h="502920">
                <a:tc>
                  <a:txBody>
                    <a:bodyPr wrap="square"/>
                    <a:lstStyle/>
                    <a:p>
                      <a:pPr algn="l"/>
                      <a:r>
                        <a:rPr sz="1200" b="0">
                          <a:solidFill>
                            <a:srgbClr val="262626"/>
                          </a:solidFill>
                          <a:latin typeface="Arial"/>
                        </a:rPr>
                        <a:t>Nghiên cứu tình huống</a:t>
                      </a:r>
                    </a:p>
                  </a:txBody>
                  <a:tcPr marL="73152" marR="73152" marT="27432" marB="27432" anchor="ctr">
                    <a:solidFill>
                      <a:srgbClr val="FFFFFF"/>
                    </a:solidFill>
                  </a:tcPr>
                </a:tc>
                <a:tc>
                  <a:txBody>
                    <a:bodyPr wrap="square"/>
                    <a:lstStyle/>
                    <a:p>
                      <a:pPr algn="l"/>
                      <a:r>
                        <a:rPr sz="1200" b="0">
                          <a:solidFill>
                            <a:srgbClr val="262626"/>
                          </a:solidFill>
                          <a:latin typeface="Arial"/>
                        </a:rPr>
                        <a:t>Phân tích sâu một hay nhiều trường hợp</a:t>
                      </a:r>
                    </a:p>
                  </a:txBody>
                  <a:tcPr marL="73152" marR="73152" marT="27432" marB="27432" anchor="ctr">
                    <a:solidFill>
                      <a:srgbClr val="FFFFFF"/>
                    </a:solidFill>
                  </a:tcPr>
                </a:tc>
                <a:tc>
                  <a:txBody>
                    <a:bodyPr wrap="square"/>
                    <a:lstStyle/>
                    <a:p>
                      <a:pPr algn="l"/>
                      <a:r>
                        <a:rPr sz="1200" b="0">
                          <a:solidFill>
                            <a:srgbClr val="262626"/>
                          </a:solidFill>
                          <a:latin typeface="Arial"/>
                        </a:rPr>
                        <a:t>Khoảng 4 đến 5 trường hợp</a:t>
                      </a:r>
                    </a:p>
                  </a:txBody>
                  <a:tcPr marL="73152" marR="73152" marT="27432" marB="27432" anchor="ctr">
                    <a:solidFill>
                      <a:srgbClr val="FFFFFF"/>
                    </a:solidFill>
                  </a:tcPr>
                </a:tc>
              </a:tr>
            </a:tbl>
          </a:graphicData>
        </a:graphic>
      </p:graphicFrame>
      <p:sp>
        <p:nvSpPr>
          <p:cNvPr id="13" name="TextBox 12"/>
          <p:cNvSpPr txBox="1"/>
          <p:nvPr/>
        </p:nvSpPr>
        <p:spPr>
          <a:xfrm>
            <a:off x="8503920" y="1783080"/>
            <a:ext cx="3227831" cy="274320"/>
          </a:xfrm>
          <a:prstGeom prst="rect">
            <a:avLst/>
          </a:prstGeom>
          <a:noFill/>
        </p:spPr>
        <p:txBody>
          <a:bodyPr wrap="square" lIns="45720" rIns="45720" tIns="27432" bIns="27432" anchor="t">
            <a:spAutoFit/>
          </a:bodyPr>
          <a:lstStyle/>
          <a:p>
            <a:pPr algn="l"/>
            <a:r>
              <a:rPr sz="1000" b="1" i="0">
                <a:solidFill>
                  <a:srgbClr val="CC0000"/>
                </a:solidFill>
                <a:latin typeface="Arial"/>
              </a:rPr>
              <a:t>BỐN ĐIỂM KHÁC ĐỊNH LƯỢNG</a:t>
            </a:r>
          </a:p>
        </p:txBody>
      </p:sp>
      <p:cxnSp>
        <p:nvCxnSpPr>
          <p:cNvPr id="14" name="Connector 13"/>
          <p:cNvCxnSpPr/>
          <p:nvPr/>
        </p:nvCxnSpPr>
        <p:spPr>
          <a:xfrm>
            <a:off x="8503920" y="2103120"/>
            <a:ext cx="32278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03920" y="2167128"/>
            <a:ext cx="3227831" cy="3383280"/>
          </a:xfrm>
          <a:prstGeom prst="rect">
            <a:avLst/>
          </a:prstGeom>
          <a:noFill/>
        </p:spPr>
        <p:txBody>
          <a:bodyPr wrap="square" lIns="45720" rIns="45720" tIns="27432" bIns="27432" anchor="t">
            <a:spAutoFit/>
          </a:bodyPr>
          <a:lstStyle/>
          <a:p>
            <a:pPr algn="l"/>
            <a:r>
              <a:rPr sz="1250" b="1" i="0">
                <a:solidFill>
                  <a:srgbClr val="58595B"/>
                </a:solidFill>
                <a:latin typeface="Arial"/>
              </a:rPr>
              <a:t>1. Thiết kế cụ thể</a:t>
            </a:r>
            <a:r>
              <a:rPr sz="1250" b="0" i="0">
                <a:solidFill>
                  <a:srgbClr val="58595B"/>
                </a:solidFill>
                <a:latin typeface="Arial"/>
              </a:rPr>
              <a:t> có dẫn nguồn và lý do phù hợp.</a:t>
            </a:r>
          </a:p>
          <a:p>
            <a:pPr algn="l">
              <a:spcBef>
                <a:spcPts val="562"/>
              </a:spcBef>
            </a:pPr>
          </a:p>
          <a:p>
            <a:pPr algn="l">
              <a:spcBef>
                <a:spcPts val="562"/>
              </a:spcBef>
            </a:pPr>
            <a:r>
              <a:rPr sz="1250" b="1" i="0">
                <a:solidFill>
                  <a:srgbClr val="58595B"/>
                </a:solidFill>
                <a:latin typeface="Arial"/>
              </a:rPr>
              <a:t>2. Mẫu có chủ đích,</a:t>
            </a:r>
            <a:r>
              <a:rPr sz="1250" b="0" i="0">
                <a:solidFill>
                  <a:srgbClr val="58595B"/>
                </a:solidFill>
                <a:latin typeface="Arial"/>
              </a:rPr>
              <a:t> dừng khi bão hòa: hai đến ba buổi liên tiếp không thêm chủ đề mới.</a:t>
            </a:r>
          </a:p>
          <a:p>
            <a:pPr algn="l">
              <a:spcBef>
                <a:spcPts val="562"/>
              </a:spcBef>
            </a:pPr>
          </a:p>
          <a:p>
            <a:pPr algn="l">
              <a:spcBef>
                <a:spcPts val="562"/>
              </a:spcBef>
            </a:pPr>
            <a:r>
              <a:rPr sz="1250" b="1" i="0">
                <a:solidFill>
                  <a:srgbClr val="58595B"/>
                </a:solidFill>
                <a:latin typeface="Arial"/>
              </a:rPr>
              <a:t>3. Dàn bài phỏng vấn</a:t>
            </a:r>
            <a:r>
              <a:rPr sz="1250" b="0" i="0">
                <a:solidFill>
                  <a:srgbClr val="58595B"/>
                </a:solidFill>
                <a:latin typeface="Arial"/>
              </a:rPr>
              <a:t> bốn phần, 5 đến 10 câu, có câu hỏi dò xét.</a:t>
            </a:r>
          </a:p>
          <a:p>
            <a:pPr algn="l">
              <a:spcBef>
                <a:spcPts val="562"/>
              </a:spcBef>
            </a:pPr>
          </a:p>
          <a:p>
            <a:pPr algn="l">
              <a:spcBef>
                <a:spcPts val="562"/>
              </a:spcBef>
            </a:pPr>
            <a:r>
              <a:rPr sz="1250" b="1" i="0">
                <a:solidFill>
                  <a:srgbClr val="58595B"/>
                </a:solidFill>
                <a:latin typeface="Arial"/>
              </a:rPr>
              <a:t>4. Ghi âm khi được đồng ý;</a:t>
            </a:r>
            <a:r>
              <a:rPr sz="1250" b="0" i="0">
                <a:solidFill>
                  <a:srgbClr val="58595B"/>
                </a:solidFill>
                <a:latin typeface="Arial"/>
              </a:rPr>
              <a:t> vẫn ghi tay ý chính.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ĐI PHỎNG VẤN ĐỊNH TÍNH</a:t>
            </a:r>
          </a:p>
        </p:txBody>
      </p:sp>
      <p:sp>
        <p:nvSpPr>
          <p:cNvPr id="3" name="Rounded Rectangle 2"/>
          <p:cNvSpPr/>
          <p:nvPr/>
        </p:nvSpPr>
        <p:spPr>
          <a:xfrm>
            <a:off x="10273284" y="219456"/>
            <a:ext cx="145846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TRƯỜNG TIỂU HỌC Y</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Buổi phỏng vấn định tính đi theo sáu bước, từ chọn người có chủ đích đến ghi chú phản tỉnh ngay sau buổi</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Mã hóa ngay sau mỗi buổi chứ không dồn đến cuối đợt: không có mã thì không biết khi nào dữ liệu đã bão hòa.</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Kỹ thuật dùng cho Mục 3.1.2, Hình 3-4 và Thực hành 3.5.1B; Trần Phước (n.d., tr. 43 đến 55); Kallio và cộng sự (2016)</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51</a:t>
            </a:r>
          </a:p>
        </p:txBody>
      </p:sp>
      <p:sp>
        <p:nvSpPr>
          <p:cNvPr id="12" name="Pentagon 11"/>
          <p:cNvSpPr/>
          <p:nvPr/>
        </p:nvSpPr>
        <p:spPr>
          <a:xfrm>
            <a:off x="457200" y="1783080"/>
            <a:ext cx="1988820" cy="731520"/>
          </a:xfrm>
          <a:prstGeom prst="homePlat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1. Chọn và mời</a:t>
            </a:r>
          </a:p>
        </p:txBody>
      </p:sp>
      <p:sp>
        <p:nvSpPr>
          <p:cNvPr id="13" name="TextBox 12"/>
          <p:cNvSpPr txBox="1"/>
          <p:nvPr/>
        </p:nvSpPr>
        <p:spPr>
          <a:xfrm>
            <a:off x="566928" y="2697480"/>
            <a:ext cx="1650492" cy="2880360"/>
          </a:xfrm>
          <a:prstGeom prst="rect">
            <a:avLst/>
          </a:prstGeom>
          <a:noFill/>
        </p:spPr>
        <p:txBody>
          <a:bodyPr wrap="square" lIns="45720" rIns="45720" tIns="27432" bIns="27432" anchor="t">
            <a:spAutoFit/>
          </a:bodyPr>
          <a:lstStyle/>
          <a:p>
            <a:pPr algn="l"/>
            <a:r>
              <a:rPr sz="1200" b="0" i="0">
                <a:solidFill>
                  <a:srgbClr val="58595B"/>
                </a:solidFill>
                <a:latin typeface="Arial"/>
              </a:rPr>
              <a:t>Người đã làm thủ tục; mời qua giáo viên chủ nhiệm; </a:t>
            </a:r>
            <a:r>
              <a:rPr sz="1200" b="1" i="0">
                <a:solidFill>
                  <a:srgbClr val="58595B"/>
                </a:solidFill>
                <a:latin typeface="Arial"/>
              </a:rPr>
              <a:t>dự phòng:</a:t>
            </a:r>
            <a:r>
              <a:rPr sz="1200" b="0" i="0">
                <a:solidFill>
                  <a:srgbClr val="58595B"/>
                </a:solidFill>
                <a:latin typeface="Arial"/>
              </a:rPr>
              <a:t> buổi họp phụ huynh.</a:t>
            </a:r>
          </a:p>
        </p:txBody>
      </p:sp>
      <p:sp>
        <p:nvSpPr>
          <p:cNvPr id="14" name="Chevron 13"/>
          <p:cNvSpPr/>
          <p:nvPr/>
        </p:nvSpPr>
        <p:spPr>
          <a:xfrm>
            <a:off x="2336292"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2. Soạn dàn bài</a:t>
            </a:r>
          </a:p>
        </p:txBody>
      </p:sp>
      <p:sp>
        <p:nvSpPr>
          <p:cNvPr id="15" name="TextBox 14"/>
          <p:cNvSpPr txBox="1"/>
          <p:nvPr/>
        </p:nvSpPr>
        <p:spPr>
          <a:xfrm>
            <a:off x="2446020" y="2697480"/>
            <a:ext cx="1650492" cy="2880360"/>
          </a:xfrm>
          <a:prstGeom prst="rect">
            <a:avLst/>
          </a:prstGeom>
          <a:noFill/>
        </p:spPr>
        <p:txBody>
          <a:bodyPr wrap="square" lIns="45720" rIns="45720" tIns="27432" bIns="27432" anchor="t">
            <a:spAutoFit/>
          </a:bodyPr>
          <a:lstStyle/>
          <a:p>
            <a:pPr algn="l"/>
            <a:r>
              <a:rPr sz="1200" b="0" i="0">
                <a:solidFill>
                  <a:srgbClr val="58595B"/>
                </a:solidFill>
                <a:latin typeface="Arial"/>
              </a:rPr>
              <a:t>Khoảng 2 trang, </a:t>
            </a:r>
            <a:r>
              <a:rPr sz="1200" b="1" i="0">
                <a:solidFill>
                  <a:srgbClr val="58595B"/>
                </a:solidFill>
                <a:latin typeface="Arial"/>
              </a:rPr>
              <a:t>5 đến 10 câu</a:t>
            </a:r>
            <a:r>
              <a:rPr sz="1200" b="0" i="0">
                <a:solidFill>
                  <a:srgbClr val="58595B"/>
                </a:solidFill>
                <a:latin typeface="Arial"/>
              </a:rPr>
              <a:t>, học thuộc; thử với một người ngoài mẫu.</a:t>
            </a:r>
          </a:p>
        </p:txBody>
      </p:sp>
      <p:cxnSp>
        <p:nvCxnSpPr>
          <p:cNvPr id="16" name="Connector 15"/>
          <p:cNvCxnSpPr/>
          <p:nvPr/>
        </p:nvCxnSpPr>
        <p:spPr>
          <a:xfrm>
            <a:off x="2354580"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4215384"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3. Mở đầu</a:t>
            </a:r>
          </a:p>
        </p:txBody>
      </p:sp>
      <p:sp>
        <p:nvSpPr>
          <p:cNvPr id="18" name="TextBox 17"/>
          <p:cNvSpPr txBox="1"/>
          <p:nvPr/>
        </p:nvSpPr>
        <p:spPr>
          <a:xfrm>
            <a:off x="4325112" y="2697480"/>
            <a:ext cx="1650492" cy="2880360"/>
          </a:xfrm>
          <a:prstGeom prst="rect">
            <a:avLst/>
          </a:prstGeom>
          <a:noFill/>
        </p:spPr>
        <p:txBody>
          <a:bodyPr wrap="square" lIns="45720" rIns="45720" tIns="27432" bIns="27432" anchor="t">
            <a:spAutoFit/>
          </a:bodyPr>
          <a:lstStyle/>
          <a:p>
            <a:pPr algn="l"/>
            <a:r>
              <a:rPr sz="1200" b="0" i="0">
                <a:solidFill>
                  <a:srgbClr val="58595B"/>
                </a:solidFill>
                <a:latin typeface="Arial"/>
              </a:rPr>
              <a:t>Giới thiệu, mục đích, số câu, thời gian; </a:t>
            </a:r>
            <a:r>
              <a:rPr sz="1200" b="1" i="0">
                <a:solidFill>
                  <a:srgbClr val="58595B"/>
                </a:solidFill>
                <a:latin typeface="Arial"/>
              </a:rPr>
              <a:t>xin ghi âm</a:t>
            </a:r>
            <a:r>
              <a:rPr sz="1200" b="0" i="0">
                <a:solidFill>
                  <a:srgbClr val="58595B"/>
                </a:solidFill>
                <a:latin typeface="Arial"/>
              </a:rPr>
              <a:t>; ký bản đồng ý.</a:t>
            </a:r>
          </a:p>
        </p:txBody>
      </p:sp>
      <p:cxnSp>
        <p:nvCxnSpPr>
          <p:cNvPr id="19" name="Connector 18"/>
          <p:cNvCxnSpPr/>
          <p:nvPr/>
        </p:nvCxnSpPr>
        <p:spPr>
          <a:xfrm>
            <a:off x="4233672"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6094476"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4. Hỏi và dò xét</a:t>
            </a:r>
          </a:p>
        </p:txBody>
      </p:sp>
      <p:sp>
        <p:nvSpPr>
          <p:cNvPr id="21" name="TextBox 20"/>
          <p:cNvSpPr txBox="1"/>
          <p:nvPr/>
        </p:nvSpPr>
        <p:spPr>
          <a:xfrm>
            <a:off x="6204204" y="2697480"/>
            <a:ext cx="1650492" cy="2880360"/>
          </a:xfrm>
          <a:prstGeom prst="rect">
            <a:avLst/>
          </a:prstGeom>
          <a:noFill/>
        </p:spPr>
        <p:txBody>
          <a:bodyPr wrap="square" lIns="45720" rIns="45720" tIns="27432" bIns="27432" anchor="t">
            <a:spAutoFit/>
          </a:bodyPr>
          <a:lstStyle/>
          <a:p>
            <a:pPr algn="l"/>
            <a:r>
              <a:rPr sz="1200" b="0" i="0">
                <a:solidFill>
                  <a:srgbClr val="58595B"/>
                </a:solidFill>
                <a:latin typeface="Arial"/>
              </a:rPr>
              <a:t>Khởi động, nội dung, dò xét: "Anh/chị có thể kể chi tiết hơn?"</a:t>
            </a:r>
          </a:p>
        </p:txBody>
      </p:sp>
      <p:cxnSp>
        <p:nvCxnSpPr>
          <p:cNvPr id="22" name="Connector 21"/>
          <p:cNvCxnSpPr/>
          <p:nvPr/>
        </p:nvCxnSpPr>
        <p:spPr>
          <a:xfrm>
            <a:off x="6112764"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7973568" y="1783080"/>
            <a:ext cx="1988820"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5. Kết thúc</a:t>
            </a:r>
          </a:p>
        </p:txBody>
      </p:sp>
      <p:sp>
        <p:nvSpPr>
          <p:cNvPr id="24" name="TextBox 23"/>
          <p:cNvSpPr txBox="1"/>
          <p:nvPr/>
        </p:nvSpPr>
        <p:spPr>
          <a:xfrm>
            <a:off x="8083296" y="2697480"/>
            <a:ext cx="1650492" cy="2880360"/>
          </a:xfrm>
          <a:prstGeom prst="rect">
            <a:avLst/>
          </a:prstGeom>
          <a:noFill/>
        </p:spPr>
        <p:txBody>
          <a:bodyPr wrap="square" lIns="45720" rIns="45720" tIns="27432" bIns="27432" anchor="t">
            <a:spAutoFit/>
          </a:bodyPr>
          <a:lstStyle/>
          <a:p>
            <a:pPr algn="l"/>
            <a:r>
              <a:rPr sz="1200" b="0" i="0">
                <a:solidFill>
                  <a:srgbClr val="58595B"/>
                </a:solidFill>
                <a:latin typeface="Arial"/>
              </a:rPr>
              <a:t>"Em nên gặp thêm ai để hiểu rõ hơn?" Cảm ơn; nhắc cam kết bảo mật.</a:t>
            </a:r>
          </a:p>
        </p:txBody>
      </p:sp>
      <p:cxnSp>
        <p:nvCxnSpPr>
          <p:cNvPr id="25" name="Connector 24"/>
          <p:cNvCxnSpPr/>
          <p:nvPr/>
        </p:nvCxnSpPr>
        <p:spPr>
          <a:xfrm>
            <a:off x="7991856"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852660" y="1783080"/>
            <a:ext cx="1988820" cy="73152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i="0">
                <a:solidFill>
                  <a:srgbClr val="FFFFFF"/>
                </a:solidFill>
                <a:latin typeface="Arial"/>
              </a:rPr>
              <a:t>6. Ngay sau buổi</a:t>
            </a:r>
          </a:p>
        </p:txBody>
      </p:sp>
      <p:sp>
        <p:nvSpPr>
          <p:cNvPr id="27" name="TextBox 26"/>
          <p:cNvSpPr txBox="1"/>
          <p:nvPr/>
        </p:nvSpPr>
        <p:spPr>
          <a:xfrm>
            <a:off x="9962388" y="2697480"/>
            <a:ext cx="1650492" cy="2880360"/>
          </a:xfrm>
          <a:prstGeom prst="rect">
            <a:avLst/>
          </a:prstGeom>
          <a:noFill/>
        </p:spPr>
        <p:txBody>
          <a:bodyPr wrap="square" lIns="45720" rIns="45720" tIns="27432" bIns="27432" anchor="t">
            <a:spAutoFit/>
          </a:bodyPr>
          <a:lstStyle/>
          <a:p>
            <a:pPr algn="l"/>
            <a:r>
              <a:rPr sz="1200" b="0" i="0">
                <a:solidFill>
                  <a:srgbClr val="58595B"/>
                </a:solidFill>
                <a:latin typeface="Arial"/>
              </a:rPr>
              <a:t>Ghi chú </a:t>
            </a:r>
            <a:r>
              <a:rPr sz="1200" b="1" i="0">
                <a:solidFill>
                  <a:srgbClr val="58595B"/>
                </a:solidFill>
                <a:latin typeface="Arial"/>
              </a:rPr>
              <a:t>phản tỉnh</a:t>
            </a:r>
            <a:r>
              <a:rPr sz="1200" b="0" i="0">
                <a:solidFill>
                  <a:srgbClr val="58595B"/>
                </a:solidFill>
                <a:latin typeface="Arial"/>
              </a:rPr>
              <a:t> tách khỏi ghi chú mô tả; chép lời; mã hóa.</a:t>
            </a:r>
          </a:p>
        </p:txBody>
      </p:sp>
      <p:cxnSp>
        <p:nvCxnSpPr>
          <p:cNvPr id="28" name="Connector 27"/>
          <p:cNvCxnSpPr/>
          <p:nvPr/>
        </p:nvCxnSpPr>
        <p:spPr>
          <a:xfrm>
            <a:off x="9870948"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ĐIỂM BÃO HÒA BẰNG CON SỐ</a:t>
            </a:r>
          </a:p>
        </p:txBody>
      </p:sp>
      <p:sp>
        <p:nvSpPr>
          <p:cNvPr id="3" name="Rounded Rectangle 2"/>
          <p:cNvSpPr/>
          <p:nvPr/>
        </p:nvSpPr>
        <p:spPr>
          <a:xfrm>
            <a:off x="10273284" y="219456"/>
            <a:ext cx="145846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TRƯỜNG TIỂU HỌC Y</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Định tính cũng có con số: đếm mã mới sau mỗi buổi và dừng khi hai buổi liên tiếp không thêm mã</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Dừng phỏng vấn vì nhật ký cho thấy hai đến ba buổi liên tiếp không có mã mới, không dừng vì "thấy đủ".</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Kỹ thuật dùng cho Mục 3.1.2 và Thực hành 3.5.1B, Bảng 3-16; Hennink và Kaiser (2022); Charmaz (2006, dẫn theo Trần Phước, n.d., tr. 44); file 2b.Chapter_2_and_Chapter_3_Data_Collection_Practice.xlsx (dữ liệu giả định), sheet 10 và 11</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52</a:t>
            </a:r>
          </a:p>
        </p:txBody>
      </p:sp>
      <p:graphicFrame>
        <p:nvGraphicFramePr>
          <p:cNvPr id="12" name="Chart 11"/>
          <p:cNvGraphicFramePr>
            <a:graphicFrameLocks noGrp="1"/>
          </p:cNvGraphicFramePr>
          <p:nvPr/>
        </p:nvGraphicFramePr>
        <p:xfrm>
          <a:off x="457200" y="1783080"/>
          <a:ext cx="6400800" cy="3840480"/>
        </p:xfrm>
        <a:graphic>
          <a:graphicData uri="http://schemas.openxmlformats.org/drawingml/2006/chart">
            <c:chart xmlns:c="http://schemas.openxmlformats.org/drawingml/2006/chart" r:id="rId2"/>
          </a:graphicData>
        </a:graphic>
      </p:graphicFrame>
      <p:sp>
        <p:nvSpPr>
          <p:cNvPr id="13" name="TextBox 12"/>
          <p:cNvSpPr txBox="1"/>
          <p:nvPr/>
        </p:nvSpPr>
        <p:spPr>
          <a:xfrm>
            <a:off x="457200" y="1709928"/>
            <a:ext cx="6400800" cy="274320"/>
          </a:xfrm>
          <a:prstGeom prst="rect">
            <a:avLst/>
          </a:prstGeom>
          <a:noFill/>
        </p:spPr>
        <p:txBody>
          <a:bodyPr wrap="square" lIns="45720" rIns="45720" tIns="27432" bIns="27432" anchor="t">
            <a:spAutoFit/>
          </a:bodyPr>
          <a:lstStyle/>
          <a:p>
            <a:pPr algn="l"/>
            <a:r>
              <a:rPr sz="1050" b="1" i="0">
                <a:solidFill>
                  <a:srgbClr val="9E9E9E"/>
                </a:solidFill>
                <a:latin typeface="Arial"/>
              </a:rPr>
              <a:t>SỐ MÃ MỚI XUẤT HIỆN Ở MỖI BUỔI PHỎNG VẤN (LŨY KẾ 14 MÃ)</a:t>
            </a:r>
          </a:p>
        </p:txBody>
      </p:sp>
      <p:sp>
        <p:nvSpPr>
          <p:cNvPr id="14" name="TextBox 13"/>
          <p:cNvSpPr txBox="1"/>
          <p:nvPr/>
        </p:nvSpPr>
        <p:spPr>
          <a:xfrm>
            <a:off x="7178040" y="1783080"/>
            <a:ext cx="4553712"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ĐỌC</a:t>
            </a:r>
          </a:p>
        </p:txBody>
      </p:sp>
      <p:cxnSp>
        <p:nvCxnSpPr>
          <p:cNvPr id="15" name="Connector 14"/>
          <p:cNvCxnSpPr/>
          <p:nvPr/>
        </p:nvCxnSpPr>
        <p:spPr>
          <a:xfrm>
            <a:off x="7178040" y="2103120"/>
            <a:ext cx="45537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17804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589519" y="2194560"/>
            <a:ext cx="4142232" cy="857250"/>
          </a:xfrm>
          <a:prstGeom prst="rect">
            <a:avLst/>
          </a:prstGeom>
          <a:noFill/>
        </p:spPr>
        <p:txBody>
          <a:bodyPr wrap="square" lIns="45720" rIns="45720" tIns="27432" bIns="27432" anchor="t">
            <a:spAutoFit/>
          </a:bodyPr>
          <a:lstStyle/>
          <a:p>
            <a:pPr algn="l"/>
            <a:r>
              <a:rPr sz="1250" b="1" i="0">
                <a:solidFill>
                  <a:srgbClr val="58595B"/>
                </a:solidFill>
                <a:latin typeface="Arial"/>
              </a:rPr>
              <a:t>10 trên 14 mã</a:t>
            </a:r>
            <a:r>
              <a:rPr sz="1250" b="0" i="0">
                <a:solidFill>
                  <a:srgbClr val="58595B"/>
                </a:solidFill>
                <a:latin typeface="Arial"/>
              </a:rPr>
              <a:t> xuất hiện ngay trong 3 buổi đầu.</a:t>
            </a:r>
          </a:p>
        </p:txBody>
      </p:sp>
      <p:sp>
        <p:nvSpPr>
          <p:cNvPr id="18" name="Oval 17"/>
          <p:cNvSpPr/>
          <p:nvPr/>
        </p:nvSpPr>
        <p:spPr>
          <a:xfrm>
            <a:off x="717804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589519" y="3051810"/>
            <a:ext cx="4142232" cy="857250"/>
          </a:xfrm>
          <a:prstGeom prst="rect">
            <a:avLst/>
          </a:prstGeom>
          <a:noFill/>
        </p:spPr>
        <p:txBody>
          <a:bodyPr wrap="square" lIns="45720" rIns="45720" tIns="27432" bIns="27432" anchor="t">
            <a:spAutoFit/>
          </a:bodyPr>
          <a:lstStyle/>
          <a:p>
            <a:pPr algn="l"/>
            <a:r>
              <a:rPr sz="1250" b="1" i="0">
                <a:solidFill>
                  <a:srgbClr val="58595B"/>
                </a:solidFill>
                <a:latin typeface="Arial"/>
              </a:rPr>
              <a:t>Buổi 7 bằng 0 nhưng buổi 8 lại có 1 mã mới:</a:t>
            </a:r>
            <a:r>
              <a:rPr sz="1250" b="0" i="0">
                <a:solidFill>
                  <a:srgbClr val="58595B"/>
                </a:solidFill>
                <a:latin typeface="Arial"/>
              </a:rPr>
              <a:t> một buổi bằng 0 chưa đủ để dừng.</a:t>
            </a:r>
          </a:p>
        </p:txBody>
      </p:sp>
      <p:sp>
        <p:nvSpPr>
          <p:cNvPr id="20" name="Oval 19"/>
          <p:cNvSpPr/>
          <p:nvPr/>
        </p:nvSpPr>
        <p:spPr>
          <a:xfrm>
            <a:off x="717804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589519" y="3909060"/>
            <a:ext cx="4142232" cy="857250"/>
          </a:xfrm>
          <a:prstGeom prst="rect">
            <a:avLst/>
          </a:prstGeom>
          <a:noFill/>
        </p:spPr>
        <p:txBody>
          <a:bodyPr wrap="square" lIns="45720" rIns="45720" tIns="27432" bIns="27432" anchor="t">
            <a:spAutoFit/>
          </a:bodyPr>
          <a:lstStyle/>
          <a:p>
            <a:pPr algn="l"/>
            <a:r>
              <a:rPr sz="1250" b="1" i="0">
                <a:solidFill>
                  <a:srgbClr val="58595B"/>
                </a:solidFill>
                <a:latin typeface="Arial"/>
              </a:rPr>
              <a:t>Buổi 9 và 10 liên tiếp bằng 0:</a:t>
            </a:r>
            <a:r>
              <a:rPr sz="1250" b="0" i="0">
                <a:solidFill>
                  <a:srgbClr val="58595B"/>
                </a:solidFill>
                <a:latin typeface="Arial"/>
              </a:rPr>
              <a:t> dừng ở buổi 10.</a:t>
            </a:r>
          </a:p>
        </p:txBody>
      </p:sp>
      <p:sp>
        <p:nvSpPr>
          <p:cNvPr id="22" name="Oval 21"/>
          <p:cNvSpPr/>
          <p:nvPr/>
        </p:nvSpPr>
        <p:spPr>
          <a:xfrm>
            <a:off x="717804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3" name="TextBox 22"/>
          <p:cNvSpPr txBox="1"/>
          <p:nvPr/>
        </p:nvSpPr>
        <p:spPr>
          <a:xfrm>
            <a:off x="7589519" y="4766310"/>
            <a:ext cx="4142232" cy="857250"/>
          </a:xfrm>
          <a:prstGeom prst="rect">
            <a:avLst/>
          </a:prstGeom>
          <a:noFill/>
        </p:spPr>
        <p:txBody>
          <a:bodyPr wrap="square" lIns="45720" rIns="45720" tIns="27432" bIns="27432" anchor="t">
            <a:spAutoFit/>
          </a:bodyPr>
          <a:lstStyle/>
          <a:p>
            <a:pPr algn="l"/>
            <a:r>
              <a:rPr sz="1250" b="1" i="0">
                <a:solidFill>
                  <a:srgbClr val="58595B"/>
                </a:solidFill>
                <a:latin typeface="Arial"/>
              </a:rPr>
              <a:t>10 buổi</a:t>
            </a:r>
            <a:r>
              <a:rPr sz="1250" b="0" i="0">
                <a:solidFill>
                  <a:srgbClr val="58595B"/>
                </a:solidFill>
                <a:latin typeface="Arial"/>
              </a:rPr>
              <a:t> nằm trong khoảng 9 đến 17 mà Hennink và Kaiser (2022) ghi nhận là thường đủ với nhóm đồng nhất.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THIẾT KẾ VÀ QUY TRÌNH</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Khảo sát cắt ngang năm bước, mỗi bước có một sản phẩm và một con số cụ thể</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Thiếu bước thử bảng hỏi thì câu hỏi khó hiểu chỉ lộ ra khi đã thu xong dữ liệu, lúc đó không sửa được nữa.</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3.2.1 và Mục 3.2.2, Hình 3-5; Creswell và Creswell (2018, tr. 49, 208, 216)</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53</a:t>
            </a:r>
          </a:p>
        </p:txBody>
      </p:sp>
      <p:sp>
        <p:nvSpPr>
          <p:cNvPr id="12" name="Pentagon 11"/>
          <p:cNvSpPr/>
          <p:nvPr/>
        </p:nvSpPr>
        <p:spPr>
          <a:xfrm>
            <a:off x="457200" y="1783080"/>
            <a:ext cx="2364638" cy="731520"/>
          </a:xfrm>
          <a:prstGeom prst="homePlat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Bước 1</a:t>
            </a:r>
          </a:p>
        </p:txBody>
      </p:sp>
      <p:sp>
        <p:nvSpPr>
          <p:cNvPr id="13" name="TextBox 12"/>
          <p:cNvSpPr txBox="1"/>
          <p:nvPr/>
        </p:nvSpPr>
        <p:spPr>
          <a:xfrm>
            <a:off x="566928"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Tổng quan lý thuyết</a:t>
            </a:r>
          </a:p>
          <a:p>
            <a:pPr algn="l">
              <a:spcBef>
                <a:spcPts val="607"/>
              </a:spcBef>
            </a:pPr>
            <a:r>
              <a:rPr sz="1350" b="0" i="0">
                <a:solidFill>
                  <a:srgbClr val="58595B"/>
                </a:solidFill>
                <a:latin typeface="Arial"/>
              </a:rPr>
              <a:t>Mô hình và 4 giả thuyết.</a:t>
            </a:r>
          </a:p>
        </p:txBody>
      </p:sp>
      <p:sp>
        <p:nvSpPr>
          <p:cNvPr id="14" name="Chevron 13"/>
          <p:cNvSpPr/>
          <p:nvPr/>
        </p:nvSpPr>
        <p:spPr>
          <a:xfrm>
            <a:off x="2712110"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Bước 2</a:t>
            </a:r>
          </a:p>
        </p:txBody>
      </p:sp>
      <p:sp>
        <p:nvSpPr>
          <p:cNvPr id="15" name="TextBox 14"/>
          <p:cNvSpPr txBox="1"/>
          <p:nvPr/>
        </p:nvSpPr>
        <p:spPr>
          <a:xfrm>
            <a:off x="2821838"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Xây bảng hỏi</a:t>
            </a:r>
          </a:p>
          <a:p>
            <a:pPr algn="l">
              <a:spcBef>
                <a:spcPts val="607"/>
              </a:spcBef>
            </a:pPr>
            <a:r>
              <a:rPr sz="1350" b="0" i="0">
                <a:solidFill>
                  <a:srgbClr val="58595B"/>
                </a:solidFill>
                <a:latin typeface="Arial"/>
              </a:rPr>
              <a:t>19 câu, kế thừa thang đo đã công bố.</a:t>
            </a:r>
          </a:p>
        </p:txBody>
      </p:sp>
      <p:cxnSp>
        <p:nvCxnSpPr>
          <p:cNvPr id="16" name="Connector 15"/>
          <p:cNvCxnSpPr/>
          <p:nvPr/>
        </p:nvCxnSpPr>
        <p:spPr>
          <a:xfrm>
            <a:off x="2730398"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4967020" y="1783080"/>
            <a:ext cx="2364638" cy="73152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Bước 3</a:t>
            </a:r>
          </a:p>
        </p:txBody>
      </p:sp>
      <p:sp>
        <p:nvSpPr>
          <p:cNvPr id="18" name="TextBox 17"/>
          <p:cNvSpPr txBox="1"/>
          <p:nvPr/>
        </p:nvSpPr>
        <p:spPr>
          <a:xfrm>
            <a:off x="5076748"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Thử bảng hỏi</a:t>
            </a:r>
          </a:p>
          <a:p>
            <a:pPr algn="l">
              <a:spcBef>
                <a:spcPts val="607"/>
              </a:spcBef>
            </a:pPr>
            <a:r>
              <a:rPr sz="1350" b="0" i="0">
                <a:solidFill>
                  <a:srgbClr val="58595B"/>
                </a:solidFill>
                <a:latin typeface="Arial"/>
              </a:rPr>
              <a:t>Đọc thử với 5 khách hàng; khảo sát thử 30 người tính Alpha sơ bộ.</a:t>
            </a:r>
          </a:p>
        </p:txBody>
      </p:sp>
      <p:cxnSp>
        <p:nvCxnSpPr>
          <p:cNvPr id="19" name="Connector 18"/>
          <p:cNvCxnSpPr/>
          <p:nvPr/>
        </p:nvCxnSpPr>
        <p:spPr>
          <a:xfrm>
            <a:off x="4985308"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221931"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Bước 4</a:t>
            </a:r>
          </a:p>
        </p:txBody>
      </p:sp>
      <p:sp>
        <p:nvSpPr>
          <p:cNvPr id="21" name="TextBox 20"/>
          <p:cNvSpPr txBox="1"/>
          <p:nvPr/>
        </p:nvSpPr>
        <p:spPr>
          <a:xfrm>
            <a:off x="7331659"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Khảo sát chính thức</a:t>
            </a:r>
          </a:p>
          <a:p>
            <a:pPr algn="l">
              <a:spcBef>
                <a:spcPts val="607"/>
              </a:spcBef>
            </a:pPr>
            <a:r>
              <a:rPr sz="1350" b="0" i="0">
                <a:solidFill>
                  <a:srgbClr val="58595B"/>
                </a:solidFill>
                <a:latin typeface="Arial"/>
              </a:rPr>
              <a:t>Google Form và tại quầy; thu 165 phiếu.</a:t>
            </a:r>
          </a:p>
        </p:txBody>
      </p:sp>
      <p:cxnSp>
        <p:nvCxnSpPr>
          <p:cNvPr id="22" name="Connector 21"/>
          <p:cNvCxnSpPr/>
          <p:nvPr/>
        </p:nvCxnSpPr>
        <p:spPr>
          <a:xfrm>
            <a:off x="7240219"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9476841" y="1783080"/>
            <a:ext cx="2364638"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Bước 5</a:t>
            </a:r>
          </a:p>
        </p:txBody>
      </p:sp>
      <p:sp>
        <p:nvSpPr>
          <p:cNvPr id="24" name="TextBox 23"/>
          <p:cNvSpPr txBox="1"/>
          <p:nvPr/>
        </p:nvSpPr>
        <p:spPr>
          <a:xfrm>
            <a:off x="9586569" y="2697480"/>
            <a:ext cx="2026310" cy="2880360"/>
          </a:xfrm>
          <a:prstGeom prst="rect">
            <a:avLst/>
          </a:prstGeom>
          <a:noFill/>
        </p:spPr>
        <p:txBody>
          <a:bodyPr wrap="square" lIns="45720" rIns="45720" tIns="27432" bIns="27432" anchor="t">
            <a:spAutoFit/>
          </a:bodyPr>
          <a:lstStyle/>
          <a:p>
            <a:pPr algn="l"/>
            <a:r>
              <a:rPr sz="1350" b="1" i="0">
                <a:solidFill>
                  <a:srgbClr val="58595B"/>
                </a:solidFill>
                <a:latin typeface="Arial"/>
              </a:rPr>
              <a:t>Làm sạch và phân tích</a:t>
            </a:r>
          </a:p>
          <a:p>
            <a:pPr algn="l">
              <a:spcBef>
                <a:spcPts val="607"/>
              </a:spcBef>
            </a:pPr>
            <a:r>
              <a:rPr sz="1350" b="0" i="0">
                <a:solidFill>
                  <a:srgbClr val="58595B"/>
                </a:solidFill>
                <a:latin typeface="Arial"/>
              </a:rPr>
              <a:t>Còn 150 phiếu hợp lệ; phân tích bằng Excel.</a:t>
            </a:r>
          </a:p>
        </p:txBody>
      </p:sp>
      <p:cxnSp>
        <p:nvCxnSpPr>
          <p:cNvPr id="25" name="Connector 24"/>
          <p:cNvCxnSpPr/>
          <p:nvPr/>
        </p:nvCxnSpPr>
        <p:spPr>
          <a:xfrm>
            <a:off x="9495129"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TỔNG THỂ VÀ CHỌN MẪU</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Không có khung mẫu thì không chọn mẫu xác suất được và kết luận chỉ gợi ý xu hướng cho tổng thể</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Mô tả đúng cách đã làm: chỉ phát phiếu cho người gặp được thì đó là mẫu thuận tiện, không phải chọn ngẫu nhiên.</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3.3.1 và Mục 3.3.2, Hình 3-6 và 3-7; Creswell và Creswell (2018, tr. 211 đến 212)</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54</a:t>
            </a:r>
          </a:p>
        </p:txBody>
      </p:sp>
      <p:sp>
        <p:nvSpPr>
          <p:cNvPr id="11" name="Rectangle 10"/>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Tổng thể</a:t>
            </a:r>
          </a:p>
        </p:txBody>
      </p:sp>
      <p:sp>
        <p:nvSpPr>
          <p:cNvPr id="14" name="TextBox 13"/>
          <p:cNvSpPr txBox="1"/>
          <p:nvPr/>
        </p:nvSpPr>
        <p:spPr>
          <a:xfrm>
            <a:off x="457200" y="2560320"/>
            <a:ext cx="3575304" cy="3017520"/>
          </a:xfrm>
          <a:prstGeom prst="rect">
            <a:avLst/>
          </a:prstGeom>
          <a:noFill/>
        </p:spPr>
        <p:txBody>
          <a:bodyPr wrap="square" lIns="45720" rIns="45720" tIns="27432" bIns="27432" anchor="t">
            <a:spAutoFit/>
          </a:bodyPr>
          <a:lstStyle/>
          <a:p>
            <a:pPr algn="l"/>
            <a:r>
              <a:rPr sz="1350" b="0" i="0">
                <a:solidFill>
                  <a:srgbClr val="58595B"/>
                </a:solidFill>
                <a:latin typeface="Arial"/>
              </a:rPr>
              <a:t>Viết theo ba ô: </a:t>
            </a:r>
            <a:r>
              <a:rPr sz="1350" b="1" i="0">
                <a:solidFill>
                  <a:srgbClr val="58595B"/>
                </a:solidFill>
                <a:latin typeface="Arial"/>
              </a:rPr>
              <a:t>ai, ở đâu, điều kiện gì</a:t>
            </a:r>
            <a:r>
              <a:rPr sz="1350" b="0" i="0">
                <a:solidFill>
                  <a:srgbClr val="58595B"/>
                </a:solidFill>
                <a:latin typeface="Arial"/>
              </a:rPr>
              <a:t>.</a:t>
            </a:r>
          </a:p>
          <a:p>
            <a:pPr algn="l">
              <a:spcBef>
                <a:spcPts val="607"/>
              </a:spcBef>
            </a:pPr>
          </a:p>
          <a:p>
            <a:pPr algn="l">
              <a:spcBef>
                <a:spcPts val="607"/>
              </a:spcBef>
            </a:pPr>
            <a:r>
              <a:rPr sz="1350" b="0" i="0">
                <a:solidFill>
                  <a:srgbClr val="58595B"/>
                </a:solidFill>
                <a:latin typeface="Arial"/>
              </a:rPr>
              <a:t>Ví dụ: khách hàng cá nhân từ 18 tuổi, có tài khoản và đã đăng ký ngân hàng số tại các phòng giao dịch của Ngân hàng X ở [địa bàn].</a:t>
            </a:r>
          </a:p>
        </p:txBody>
      </p:sp>
      <p:sp>
        <p:nvSpPr>
          <p:cNvPr id="15" name="Rectangle 14"/>
          <p:cNvSpPr/>
          <p:nvPr/>
        </p:nvSpPr>
        <p:spPr>
          <a:xfrm>
            <a:off x="4306824"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Khung mẫu</a:t>
            </a:r>
          </a:p>
        </p:txBody>
      </p:sp>
      <p:sp>
        <p:nvSpPr>
          <p:cNvPr id="18" name="TextBox 17"/>
          <p:cNvSpPr txBox="1"/>
          <p:nvPr/>
        </p:nvSpPr>
        <p:spPr>
          <a:xfrm>
            <a:off x="4306824" y="2560320"/>
            <a:ext cx="3575304" cy="3017520"/>
          </a:xfrm>
          <a:prstGeom prst="rect">
            <a:avLst/>
          </a:prstGeom>
          <a:noFill/>
        </p:spPr>
        <p:txBody>
          <a:bodyPr wrap="square" lIns="45720" rIns="45720" tIns="27432" bIns="27432" anchor="t">
            <a:spAutoFit/>
          </a:bodyPr>
          <a:lstStyle/>
          <a:p>
            <a:pPr algn="l"/>
            <a:r>
              <a:rPr sz="1350" b="0" i="0">
                <a:solidFill>
                  <a:srgbClr val="58595B"/>
                </a:solidFill>
                <a:latin typeface="Arial"/>
              </a:rPr>
              <a:t>Danh sách các phần tử của tổng thể để chọn mẫu.</a:t>
            </a:r>
          </a:p>
          <a:p>
            <a:pPr algn="l">
              <a:spcBef>
                <a:spcPts val="607"/>
              </a:spcBef>
            </a:pPr>
          </a:p>
          <a:p>
            <a:pPr algn="l">
              <a:spcBef>
                <a:spcPts val="607"/>
              </a:spcBef>
            </a:pPr>
            <a:r>
              <a:rPr sz="1350" b="0" i="0">
                <a:solidFill>
                  <a:srgbClr val="58595B"/>
                </a:solidFill>
                <a:latin typeface="Arial"/>
              </a:rPr>
              <a:t>"Muốn chọn ngẫu nhiên thì phải có danh sách để chọn, giống như bốc thăm thì phải có đủ tên trong hộp."</a:t>
            </a:r>
          </a:p>
        </p:txBody>
      </p:sp>
      <p:sp>
        <p:nvSpPr>
          <p:cNvPr id="19" name="Rectangle 18"/>
          <p:cNvSpPr/>
          <p:nvPr/>
        </p:nvSpPr>
        <p:spPr>
          <a:xfrm>
            <a:off x="8156448" y="1783080"/>
            <a:ext cx="3575304"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Mẫu thuận tiện</a:t>
            </a:r>
          </a:p>
        </p:txBody>
      </p:sp>
      <p:sp>
        <p:nvSpPr>
          <p:cNvPr id="22" name="TextBox 21"/>
          <p:cNvSpPr txBox="1"/>
          <p:nvPr/>
        </p:nvSpPr>
        <p:spPr>
          <a:xfrm>
            <a:off x="8156448" y="2560320"/>
            <a:ext cx="3575304" cy="3017520"/>
          </a:xfrm>
          <a:prstGeom prst="rect">
            <a:avLst/>
          </a:prstGeom>
          <a:noFill/>
        </p:spPr>
        <p:txBody>
          <a:bodyPr wrap="square" lIns="45720" rIns="45720" tIns="27432" bIns="27432" anchor="t">
            <a:spAutoFit/>
          </a:bodyPr>
          <a:lstStyle/>
          <a:p>
            <a:pPr algn="l"/>
            <a:r>
              <a:rPr sz="1350" b="0" i="0">
                <a:solidFill>
                  <a:srgbClr val="58595B"/>
                </a:solidFill>
                <a:latin typeface="Arial"/>
              </a:rPr>
              <a:t>Chấp nhận được khi </a:t>
            </a:r>
            <a:r>
              <a:rPr sz="1350" b="1" i="0">
                <a:solidFill>
                  <a:srgbClr val="58595B"/>
                </a:solidFill>
                <a:latin typeface="Arial"/>
              </a:rPr>
              <a:t>nêu rõ hạn chế ở hai nơi:</a:t>
            </a:r>
            <a:r>
              <a:rPr sz="1350" b="0" i="0">
                <a:solidFill>
                  <a:srgbClr val="58595B"/>
                </a:solidFill>
                <a:latin typeface="Arial"/>
              </a:rPr>
              <a:t> mục chọn mẫu của Chương 3 và mục hạn chế của Chương 5.</a:t>
            </a:r>
          </a:p>
          <a:p>
            <a:pPr algn="l">
              <a:spcBef>
                <a:spcPts val="607"/>
              </a:spcBef>
            </a:pPr>
          </a:p>
          <a:p>
            <a:pPr algn="l">
              <a:spcBef>
                <a:spcPts val="607"/>
              </a:spcBef>
            </a:pPr>
            <a:r>
              <a:rPr sz="1350" b="0" i="0">
                <a:solidFill>
                  <a:srgbClr val="58595B"/>
                </a:solidFill>
                <a:latin typeface="Arial"/>
              </a:rPr>
              <a:t>Không bao giờ viết "mẫu đại diện cho tất cả khách hàng".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CỠ MẪU</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Cỡ mẫu được tính bằng hai quy tắc có nguồn rồi chọn số lớn hơn, không lấy theo "nhiều khóa luận cũng chọn"</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Không đếm câu thông tin chung vào số biến quan sát; số câu trong phép tính phải khớp số câu trong bảng hỏi.</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3.3.3 và Bảng 3-5; Hair và cộng sự (2010); Green (1991)</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55</a:t>
            </a:r>
          </a:p>
        </p:txBody>
      </p:sp>
      <p:sp>
        <p:nvSpPr>
          <p:cNvPr id="12" name="TextBox 11"/>
          <p:cNvSpPr txBox="1"/>
          <p:nvPr/>
        </p:nvSpPr>
        <p:spPr>
          <a:xfrm>
            <a:off x="457200" y="1783080"/>
            <a:ext cx="3575304" cy="1097280"/>
          </a:xfrm>
          <a:prstGeom prst="rect">
            <a:avLst/>
          </a:prstGeom>
          <a:noFill/>
        </p:spPr>
        <p:txBody>
          <a:bodyPr wrap="square" lIns="45720" rIns="45720" tIns="27432" bIns="27432" anchor="t">
            <a:spAutoFit/>
          </a:bodyPr>
          <a:lstStyle/>
          <a:p>
            <a:pPr algn="l"/>
            <a:r>
              <a:rPr sz="5400" b="1" i="0">
                <a:solidFill>
                  <a:srgbClr val="CC0000"/>
                </a:solidFill>
                <a:latin typeface="Arial"/>
              </a:rPr>
              <a:t>95</a:t>
            </a:r>
          </a:p>
        </p:txBody>
      </p:sp>
      <p:cxnSp>
        <p:nvCxnSpPr>
          <p:cNvPr id="13" name="Connector 12"/>
          <p:cNvCxnSpPr/>
          <p:nvPr/>
        </p:nvCxnSpPr>
        <p:spPr>
          <a:xfrm>
            <a:off x="457200" y="2971800"/>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3063239"/>
            <a:ext cx="3575304" cy="457200"/>
          </a:xfrm>
          <a:prstGeom prst="rect">
            <a:avLst/>
          </a:prstGeom>
          <a:noFill/>
        </p:spPr>
        <p:txBody>
          <a:bodyPr wrap="square" lIns="45720" rIns="45720" tIns="27432" bIns="27432" anchor="t">
            <a:spAutoFit/>
          </a:bodyPr>
          <a:lstStyle/>
          <a:p>
            <a:pPr algn="l"/>
            <a:r>
              <a:rPr sz="1400" b="1" i="0">
                <a:solidFill>
                  <a:srgbClr val="262626"/>
                </a:solidFill>
                <a:latin typeface="Arial"/>
              </a:rPr>
              <a:t>Quy tắc cho phân tích nhân tố</a:t>
            </a:r>
          </a:p>
        </p:txBody>
      </p:sp>
      <p:sp>
        <p:nvSpPr>
          <p:cNvPr id="15" name="TextBox 14"/>
          <p:cNvSpPr txBox="1"/>
          <p:nvPr/>
        </p:nvSpPr>
        <p:spPr>
          <a:xfrm>
            <a:off x="457200" y="3520439"/>
            <a:ext cx="3575304" cy="2057400"/>
          </a:xfrm>
          <a:prstGeom prst="rect">
            <a:avLst/>
          </a:prstGeom>
          <a:noFill/>
        </p:spPr>
        <p:txBody>
          <a:bodyPr wrap="square" lIns="45720" rIns="45720" tIns="27432" bIns="27432" anchor="t">
            <a:spAutoFit/>
          </a:bodyPr>
          <a:lstStyle/>
          <a:p>
            <a:pPr algn="l"/>
            <a:r>
              <a:rPr sz="1200" b="0" i="0">
                <a:solidFill>
                  <a:srgbClr val="58595B"/>
                </a:solidFill>
                <a:latin typeface="Arial"/>
              </a:rPr>
              <a:t>5 × số biến quan sát (Hair và cộng sự, 2010)</a:t>
            </a:r>
          </a:p>
          <a:p>
            <a:pPr algn="l">
              <a:spcBef>
                <a:spcPts val="540"/>
              </a:spcBef>
            </a:pPr>
            <a:r>
              <a:rPr sz="1200" b="0" i="0">
                <a:solidFill>
                  <a:srgbClr val="58595B"/>
                </a:solidFill>
                <a:latin typeface="Arial"/>
              </a:rPr>
              <a:t>5 × 19 câu = 95 quan sát.</a:t>
            </a:r>
          </a:p>
          <a:p>
            <a:pPr algn="l">
              <a:spcBef>
                <a:spcPts val="540"/>
              </a:spcBef>
            </a:pPr>
            <a:r>
              <a:rPr sz="1200" b="0" i="0">
                <a:solidFill>
                  <a:srgbClr val="58595B"/>
                </a:solidFill>
                <a:latin typeface="Arial"/>
              </a:rPr>
              <a:t>Càng nhiều câu hỏi càng cần nhiều quan sát.</a:t>
            </a:r>
          </a:p>
        </p:txBody>
      </p:sp>
      <p:sp>
        <p:nvSpPr>
          <p:cNvPr id="16" name="TextBox 15"/>
          <p:cNvSpPr txBox="1"/>
          <p:nvPr/>
        </p:nvSpPr>
        <p:spPr>
          <a:xfrm>
            <a:off x="4306824" y="1783080"/>
            <a:ext cx="3575304" cy="1097280"/>
          </a:xfrm>
          <a:prstGeom prst="rect">
            <a:avLst/>
          </a:prstGeom>
          <a:noFill/>
        </p:spPr>
        <p:txBody>
          <a:bodyPr wrap="square" lIns="45720" rIns="45720" tIns="27432" bIns="27432" anchor="t">
            <a:spAutoFit/>
          </a:bodyPr>
          <a:lstStyle/>
          <a:p>
            <a:pPr algn="l"/>
            <a:r>
              <a:rPr sz="5400" b="1" i="0">
                <a:solidFill>
                  <a:srgbClr val="262626"/>
                </a:solidFill>
                <a:latin typeface="Arial"/>
              </a:rPr>
              <a:t>82</a:t>
            </a:r>
          </a:p>
        </p:txBody>
      </p:sp>
      <p:cxnSp>
        <p:nvCxnSpPr>
          <p:cNvPr id="17" name="Connector 16"/>
          <p:cNvCxnSpPr/>
          <p:nvPr/>
        </p:nvCxnSpPr>
        <p:spPr>
          <a:xfrm>
            <a:off x="4306824" y="2971800"/>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06824" y="3063239"/>
            <a:ext cx="3575304" cy="457200"/>
          </a:xfrm>
          <a:prstGeom prst="rect">
            <a:avLst/>
          </a:prstGeom>
          <a:noFill/>
        </p:spPr>
        <p:txBody>
          <a:bodyPr wrap="square" lIns="45720" rIns="45720" tIns="27432" bIns="27432" anchor="t">
            <a:spAutoFit/>
          </a:bodyPr>
          <a:lstStyle/>
          <a:p>
            <a:pPr algn="l"/>
            <a:r>
              <a:rPr sz="1400" b="1" i="0">
                <a:solidFill>
                  <a:srgbClr val="262626"/>
                </a:solidFill>
                <a:latin typeface="Arial"/>
              </a:rPr>
              <a:t>Quy tắc cho hồi quy</a:t>
            </a:r>
          </a:p>
        </p:txBody>
      </p:sp>
      <p:sp>
        <p:nvSpPr>
          <p:cNvPr id="19" name="TextBox 18"/>
          <p:cNvSpPr txBox="1"/>
          <p:nvPr/>
        </p:nvSpPr>
        <p:spPr>
          <a:xfrm>
            <a:off x="4306824" y="3520439"/>
            <a:ext cx="3575304" cy="2057400"/>
          </a:xfrm>
          <a:prstGeom prst="rect">
            <a:avLst/>
          </a:prstGeom>
          <a:noFill/>
        </p:spPr>
        <p:txBody>
          <a:bodyPr wrap="square" lIns="45720" rIns="45720" tIns="27432" bIns="27432" anchor="t">
            <a:spAutoFit/>
          </a:bodyPr>
          <a:lstStyle/>
          <a:p>
            <a:pPr algn="l"/>
            <a:r>
              <a:rPr sz="1200" b="0" i="0">
                <a:solidFill>
                  <a:srgbClr val="58595B"/>
                </a:solidFill>
                <a:latin typeface="Arial"/>
              </a:rPr>
              <a:t>n ≥ 50 + 8m, m là số biến độc lập (Green, 1991)</a:t>
            </a:r>
          </a:p>
          <a:p>
            <a:pPr algn="l">
              <a:spcBef>
                <a:spcPts val="540"/>
              </a:spcBef>
            </a:pPr>
            <a:r>
              <a:rPr sz="1200" b="0" i="0">
                <a:solidFill>
                  <a:srgbClr val="58595B"/>
                </a:solidFill>
                <a:latin typeface="Arial"/>
              </a:rPr>
              <a:t>50 + 8 × 4 = 82 quan sát.</a:t>
            </a:r>
          </a:p>
          <a:p>
            <a:pPr algn="l">
              <a:spcBef>
                <a:spcPts val="540"/>
              </a:spcBef>
            </a:pPr>
            <a:r>
              <a:rPr sz="1200" b="0" i="0">
                <a:solidFill>
                  <a:srgbClr val="58595B"/>
                </a:solidFill>
                <a:latin typeface="Arial"/>
              </a:rPr>
              <a:t>Trường Y: 50 + 8 × 3 = 74.</a:t>
            </a:r>
          </a:p>
        </p:txBody>
      </p:sp>
      <p:sp>
        <p:nvSpPr>
          <p:cNvPr id="20" name="TextBox 19"/>
          <p:cNvSpPr txBox="1"/>
          <p:nvPr/>
        </p:nvSpPr>
        <p:spPr>
          <a:xfrm>
            <a:off x="8156448" y="1783080"/>
            <a:ext cx="3575304" cy="1097280"/>
          </a:xfrm>
          <a:prstGeom prst="rect">
            <a:avLst/>
          </a:prstGeom>
          <a:noFill/>
        </p:spPr>
        <p:txBody>
          <a:bodyPr wrap="square" lIns="45720" rIns="45720" tIns="27432" bIns="27432" anchor="t">
            <a:spAutoFit/>
          </a:bodyPr>
          <a:lstStyle/>
          <a:p>
            <a:pPr algn="l"/>
            <a:r>
              <a:rPr sz="5400" b="1" i="0">
                <a:solidFill>
                  <a:srgbClr val="CC0000"/>
                </a:solidFill>
                <a:latin typeface="Arial"/>
              </a:rPr>
              <a:t>200 → 150</a:t>
            </a:r>
          </a:p>
        </p:txBody>
      </p:sp>
      <p:cxnSp>
        <p:nvCxnSpPr>
          <p:cNvPr id="21" name="Connector 20"/>
          <p:cNvCxnSpPr/>
          <p:nvPr/>
        </p:nvCxnSpPr>
        <p:spPr>
          <a:xfrm>
            <a:off x="8156448" y="2971800"/>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156448" y="3063239"/>
            <a:ext cx="3575304" cy="457200"/>
          </a:xfrm>
          <a:prstGeom prst="rect">
            <a:avLst/>
          </a:prstGeom>
          <a:noFill/>
        </p:spPr>
        <p:txBody>
          <a:bodyPr wrap="square" lIns="45720" rIns="45720" tIns="27432" bIns="27432" anchor="t">
            <a:spAutoFit/>
          </a:bodyPr>
          <a:lstStyle/>
          <a:p>
            <a:pPr algn="l"/>
            <a:r>
              <a:rPr sz="1400" b="1" i="0">
                <a:solidFill>
                  <a:srgbClr val="262626"/>
                </a:solidFill>
                <a:latin typeface="Arial"/>
              </a:rPr>
              <a:t>Số mời và mục tiêu hợp lệ</a:t>
            </a:r>
          </a:p>
        </p:txBody>
      </p:sp>
      <p:sp>
        <p:nvSpPr>
          <p:cNvPr id="23" name="TextBox 22"/>
          <p:cNvSpPr txBox="1"/>
          <p:nvPr/>
        </p:nvSpPr>
        <p:spPr>
          <a:xfrm>
            <a:off x="8156448" y="3520439"/>
            <a:ext cx="3575304" cy="2057400"/>
          </a:xfrm>
          <a:prstGeom prst="rect">
            <a:avLst/>
          </a:prstGeom>
          <a:noFill/>
        </p:spPr>
        <p:txBody>
          <a:bodyPr wrap="square" lIns="45720" rIns="45720" tIns="27432" bIns="27432" anchor="t">
            <a:spAutoFit/>
          </a:bodyPr>
          <a:lstStyle/>
          <a:p>
            <a:pPr algn="l"/>
            <a:r>
              <a:rPr sz="1200" b="0" i="0">
                <a:solidFill>
                  <a:srgbClr val="58595B"/>
                </a:solidFill>
                <a:latin typeface="Arial"/>
              </a:rPr>
              <a:t>Chọn số lớn hơn là 95 làm mức tối thiểu.</a:t>
            </a:r>
          </a:p>
          <a:p>
            <a:pPr algn="l">
              <a:spcBef>
                <a:spcPts val="540"/>
              </a:spcBef>
            </a:pPr>
            <a:r>
              <a:rPr sz="1200" b="0" i="0">
                <a:solidFill>
                  <a:srgbClr val="58595B"/>
                </a:solidFill>
                <a:latin typeface="Arial"/>
              </a:rPr>
              <a:t>Mời 200 khách hàng để dự phòng phiếu không hợp lệ, đặt mục tiêu khoảng 150 phiếu hợp lệ.</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NGUỒN DỮ LIỆU</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Dữ liệu sơ cấp dùng để kiểm định giả thuyết; dữ liệu thứ cấp dùng để mô tả bối cảnh</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Mỗi con số thứ cấp trong khóa luận phải có nguồn và năm.</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3.4.1</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56</a:t>
            </a:r>
          </a:p>
        </p:txBody>
      </p:sp>
      <p:sp>
        <p:nvSpPr>
          <p:cNvPr id="12" name="Rectangle 11"/>
          <p:cNvSpPr/>
          <p:nvPr/>
        </p:nvSpPr>
        <p:spPr>
          <a:xfrm>
            <a:off x="457200" y="1783080"/>
            <a:ext cx="5486400" cy="365760"/>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CHƯA ĐẠT</a:t>
            </a:r>
          </a:p>
        </p:txBody>
      </p:sp>
      <p:sp>
        <p:nvSpPr>
          <p:cNvPr id="13" name="Rectangle 12"/>
          <p:cNvSpPr/>
          <p:nvPr/>
        </p:nvSpPr>
        <p:spPr>
          <a:xfrm>
            <a:off x="457200" y="2148840"/>
            <a:ext cx="5486400" cy="2103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240280"/>
            <a:ext cx="5212080" cy="1920240"/>
          </a:xfrm>
          <a:prstGeom prst="rect">
            <a:avLst/>
          </a:prstGeom>
          <a:noFill/>
        </p:spPr>
        <p:txBody>
          <a:bodyPr wrap="square" lIns="45720" rIns="45720" tIns="27432" bIns="27432" anchor="t">
            <a:spAutoFit/>
          </a:bodyPr>
          <a:lstStyle/>
          <a:p>
            <a:pPr algn="l"/>
            <a:r>
              <a:rPr sz="1150" b="0" i="1">
                <a:solidFill>
                  <a:srgbClr val="58595B"/>
                </a:solidFill>
                <a:latin typeface="Arial"/>
              </a:rPr>
              <a:t>"Tôi dùng dữ liệu sơ cấp và thứ cấp. Dữ liệu sơ cấp là dữ liệu khảo sát. Dữ liệu thứ cấp là dữ liệu trên mạng."</a:t>
            </a:r>
          </a:p>
        </p:txBody>
      </p:sp>
      <p:sp>
        <p:nvSpPr>
          <p:cNvPr id="15" name="Rectangle 14"/>
          <p:cNvSpPr/>
          <p:nvPr/>
        </p:nvSpPr>
        <p:spPr>
          <a:xfrm>
            <a:off x="6245352" y="1783080"/>
            <a:ext cx="5486400" cy="3657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ĐẠT</a:t>
            </a:r>
          </a:p>
        </p:txBody>
      </p:sp>
      <p:sp>
        <p:nvSpPr>
          <p:cNvPr id="16" name="Rectangle 15"/>
          <p:cNvSpPr/>
          <p:nvPr/>
        </p:nvSpPr>
        <p:spPr>
          <a:xfrm>
            <a:off x="6245352" y="2148840"/>
            <a:ext cx="5486400" cy="2103120"/>
          </a:xfrm>
          <a:prstGeom prst="rect">
            <a:avLst/>
          </a:prstGeom>
          <a:solidFill>
            <a:srgbClr val="FFFFFF"/>
          </a:solidFill>
          <a:ln w="95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240280"/>
            <a:ext cx="5212080" cy="1920240"/>
          </a:xfrm>
          <a:prstGeom prst="rect">
            <a:avLst/>
          </a:prstGeom>
          <a:noFill/>
        </p:spPr>
        <p:txBody>
          <a:bodyPr wrap="square" lIns="45720" rIns="45720" tIns="27432" bIns="27432" anchor="t">
            <a:spAutoFit/>
          </a:bodyPr>
          <a:lstStyle/>
          <a:p>
            <a:pPr algn="l"/>
            <a:r>
              <a:rPr sz="1150" b="0" i="1">
                <a:solidFill>
                  <a:srgbClr val="262626"/>
                </a:solidFill>
                <a:latin typeface="Arial"/>
              </a:rPr>
              <a:t>"Nghiên cứu sử dụng hai nguồn dữ liệu. Dữ liệu sơ cấp được thu thập bằng bảng hỏi khảo sát khách hàng cá nhân của Ngân hàng X; dữ liệu này dùng để kiểm định các giả thuyết H1 đến H4. Dữ liệu thứ cấp gồm báo cáo thường niên của Ngân hàng X năm [năm] và số liệu về thanh toán không dùng tiền mặt của [cơ quan]; dữ liệu này dùng để mô tả bối cảnh ở Chương 1 và giải thích kết quả ở Chương 4."</a:t>
            </a:r>
          </a:p>
        </p:txBody>
      </p:sp>
      <p:sp>
        <p:nvSpPr>
          <p:cNvPr id="18" name="TextBox 17"/>
          <p:cNvSpPr txBox="1"/>
          <p:nvPr/>
        </p:nvSpPr>
        <p:spPr>
          <a:xfrm>
            <a:off x="457200" y="4434840"/>
            <a:ext cx="2743200" cy="274320"/>
          </a:xfrm>
          <a:prstGeom prst="rect">
            <a:avLst/>
          </a:prstGeom>
          <a:noFill/>
        </p:spPr>
        <p:txBody>
          <a:bodyPr wrap="square" lIns="45720" rIns="45720" tIns="27432" bIns="27432" anchor="t">
            <a:spAutoFit/>
          </a:bodyPr>
          <a:lstStyle/>
          <a:p>
            <a:pPr algn="l"/>
            <a:r>
              <a:rPr sz="1000" b="1" i="0">
                <a:solidFill>
                  <a:srgbClr val="CC0000"/>
                </a:solidFill>
                <a:latin typeface="Arial"/>
              </a:rPr>
              <a:t>VÌ SAO BẢN CHƯA ĐẠT BỊ TRỪ ĐIỂM</a:t>
            </a:r>
          </a:p>
        </p:txBody>
      </p:sp>
      <p:cxnSp>
        <p:nvCxnSpPr>
          <p:cNvPr id="19" name="Connector 18"/>
          <p:cNvCxnSpPr/>
          <p:nvPr/>
        </p:nvCxnSpPr>
        <p:spPr>
          <a:xfrm>
            <a:off x="457200"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logic.</a:t>
            </a:r>
            <a:r>
              <a:rPr sz="1200" b="0" i="0">
                <a:solidFill>
                  <a:srgbClr val="58595B"/>
                </a:solidFill>
                <a:latin typeface="Arial"/>
              </a:rPr>
              <a:t> Không nói mỗi loại dữ liệu dùng để làm gì.</a:t>
            </a:r>
          </a:p>
        </p:txBody>
      </p:sp>
      <p:cxnSp>
        <p:nvCxnSpPr>
          <p:cNvPr id="21" name="Connector 20"/>
          <p:cNvCxnSpPr/>
          <p:nvPr/>
        </p:nvCxnSpPr>
        <p:spPr>
          <a:xfrm>
            <a:off x="4306824"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06824"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bằng chứng.</a:t>
            </a:r>
            <a:r>
              <a:rPr sz="1200" b="0" i="0">
                <a:solidFill>
                  <a:srgbClr val="58595B"/>
                </a:solidFill>
                <a:latin typeface="Arial"/>
              </a:rPr>
              <a:t> "Trên mạng" không phải một nguồn cụ thể, không kiểm chứng được.</a:t>
            </a:r>
          </a:p>
        </p:txBody>
      </p:sp>
      <p:cxnSp>
        <p:nvCxnSpPr>
          <p:cNvPr id="23" name="Connector 22"/>
          <p:cNvCxnSpPr/>
          <p:nvPr/>
        </p:nvCxnSpPr>
        <p:spPr>
          <a:xfrm>
            <a:off x="8156448"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56448"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Hậu quả.</a:t>
            </a:r>
            <a:r>
              <a:rPr sz="1200" b="0" i="0">
                <a:solidFill>
                  <a:srgbClr val="58595B"/>
                </a:solidFill>
                <a:latin typeface="Arial"/>
              </a:rPr>
              <a:t> Người đọc không biết con số nào để kiểm định, con số nào để mô tả bối cảnh.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DỮ LIỆU SƠ CẤP VÀ THỨ CẤP</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Dữ liệu sơ cấp do chính sinh viên thu để trả lời câu hỏi của mình; dữ liệu thứ cấp do người khác thu cho mục đích khác</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Câu hỏi quyết định loại dữ liệu: thái độ và ý định thu sơ cấp; bối cảnh lấy thứ cấp từ nguồn gốc.</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3.4.1 và Thực hành 3.4.1A, Bảng 3-6; Hox và Boeije (2005); Johnston (2014); file 2b.Chapter_2_and_Chapter_3_Data_Collection_Practice.xlsx (dữ liệu giả định), sheet 3_SoCapThuCap</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57</a:t>
            </a:r>
          </a:p>
        </p:txBody>
      </p:sp>
      <p:graphicFrame>
        <p:nvGraphicFramePr>
          <p:cNvPr id="12" name="Table 11"/>
          <p:cNvGraphicFramePr>
            <a:graphicFrameLocks noGrp="1"/>
          </p:cNvGraphicFramePr>
          <p:nvPr/>
        </p:nvGraphicFramePr>
        <p:xfrm>
          <a:off x="457200" y="1783080"/>
          <a:ext cx="8595360" cy="3483864"/>
        </p:xfrm>
        <a:graphic>
          <a:graphicData uri="http://schemas.openxmlformats.org/drawingml/2006/table">
            <a:tbl>
              <a:tblPr firstRow="1" bandRow="1">
                <a:tableStyleId>{5C22544A-7EE6-4342-B048-85BDC9FD1C3A}</a:tableStyleId>
              </a:tblPr>
              <a:tblGrid>
                <a:gridCol w="2011680"/>
                <a:gridCol w="3291840"/>
                <a:gridCol w="3291840"/>
              </a:tblGrid>
              <a:tr h="411480">
                <a:tc>
                  <a:txBody>
                    <a:bodyPr wrap="square"/>
                    <a:lstStyle/>
                    <a:p>
                      <a:pPr algn="l"/>
                      <a:r>
                        <a:rPr sz="1200" b="1">
                          <a:solidFill>
                            <a:srgbClr val="FFFFFF"/>
                          </a:solidFill>
                          <a:latin typeface="Arial"/>
                        </a:rPr>
                        <a:t>Tiêu chí</a:t>
                      </a:r>
                    </a:p>
                  </a:txBody>
                  <a:tcPr marL="73152" marR="73152" marT="27432" marB="27432" anchor="ctr">
                    <a:solidFill>
                      <a:srgbClr val="262626"/>
                    </a:solidFill>
                  </a:tcPr>
                </a:tc>
                <a:tc>
                  <a:txBody>
                    <a:bodyPr wrap="square"/>
                    <a:lstStyle/>
                    <a:p>
                      <a:pPr algn="l"/>
                      <a:r>
                        <a:rPr sz="1200" b="1">
                          <a:solidFill>
                            <a:srgbClr val="FFFFFF"/>
                          </a:solidFill>
                          <a:latin typeface="Arial"/>
                        </a:rPr>
                        <a:t>Sơ cấp</a:t>
                      </a:r>
                    </a:p>
                  </a:txBody>
                  <a:tcPr marL="73152" marR="73152" marT="27432" marB="27432" anchor="ctr">
                    <a:solidFill>
                      <a:srgbClr val="262626"/>
                    </a:solidFill>
                  </a:tcPr>
                </a:tc>
                <a:tc>
                  <a:txBody>
                    <a:bodyPr wrap="square"/>
                    <a:lstStyle/>
                    <a:p>
                      <a:pPr algn="l"/>
                      <a:r>
                        <a:rPr sz="1200" b="1">
                          <a:solidFill>
                            <a:srgbClr val="FFFFFF"/>
                          </a:solidFill>
                          <a:latin typeface="Arial"/>
                        </a:rPr>
                        <a:t>Thứ cấp</a:t>
                      </a:r>
                    </a:p>
                  </a:txBody>
                  <a:tcPr marL="73152" marR="73152" marT="27432" marB="27432" anchor="ctr">
                    <a:solidFill>
                      <a:srgbClr val="262626"/>
                    </a:solidFill>
                  </a:tcPr>
                </a:tc>
              </a:tr>
              <a:tr h="512064">
                <a:tc>
                  <a:txBody>
                    <a:bodyPr wrap="square"/>
                    <a:lstStyle/>
                    <a:p>
                      <a:pPr algn="l"/>
                      <a:r>
                        <a:rPr sz="1200" b="0">
                          <a:solidFill>
                            <a:srgbClr val="262626"/>
                          </a:solidFill>
                          <a:latin typeface="Arial"/>
                        </a:rPr>
                        <a:t>Ai thu, để làm gì</a:t>
                      </a:r>
                    </a:p>
                  </a:txBody>
                  <a:tcPr marL="73152" marR="73152" marT="27432" marB="27432" anchor="ctr">
                    <a:solidFill>
                      <a:srgbClr val="FFFFFF"/>
                    </a:solidFill>
                  </a:tcPr>
                </a:tc>
                <a:tc>
                  <a:txBody>
                    <a:bodyPr wrap="square"/>
                    <a:lstStyle/>
                    <a:p>
                      <a:pPr algn="l"/>
                      <a:r>
                        <a:rPr sz="1200" b="0">
                          <a:solidFill>
                            <a:srgbClr val="262626"/>
                          </a:solidFill>
                          <a:latin typeface="Arial"/>
                        </a:rPr>
                        <a:t>Sinh viên; trả lời đúng câu hỏi nghiên cứu</a:t>
                      </a:r>
                    </a:p>
                  </a:txBody>
                  <a:tcPr marL="73152" marR="73152" marT="27432" marB="27432" anchor="ctr">
                    <a:solidFill>
                      <a:srgbClr val="FFFFFF"/>
                    </a:solidFill>
                  </a:tcPr>
                </a:tc>
                <a:tc>
                  <a:txBody>
                    <a:bodyPr wrap="square"/>
                    <a:lstStyle/>
                    <a:p>
                      <a:pPr algn="l"/>
                      <a:r>
                        <a:rPr sz="1200" b="0">
                          <a:solidFill>
                            <a:srgbClr val="262626"/>
                          </a:solidFill>
                          <a:latin typeface="Arial"/>
                        </a:rPr>
                        <a:t>Tổ chức khác; mục đích riêng của họ</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Ví dụ Ngân hàng X</a:t>
                      </a:r>
                    </a:p>
                  </a:txBody>
                  <a:tcPr marL="73152" marR="73152" marT="27432" marB="27432" anchor="ctr">
                    <a:solidFill>
                      <a:srgbClr val="F3F3F3"/>
                    </a:solidFill>
                  </a:tcPr>
                </a:tc>
                <a:tc>
                  <a:txBody>
                    <a:bodyPr wrap="square"/>
                    <a:lstStyle/>
                    <a:p>
                      <a:pPr algn="l"/>
                      <a:r>
                        <a:rPr sz="1200" b="0">
                          <a:solidFill>
                            <a:srgbClr val="262626"/>
                          </a:solidFill>
                          <a:latin typeface="Arial"/>
                        </a:rPr>
                        <a:t>165 phiếu Google Form của khách hàng</a:t>
                      </a:r>
                    </a:p>
                  </a:txBody>
                  <a:tcPr marL="73152" marR="73152" marT="27432" marB="27432" anchor="ctr">
                    <a:solidFill>
                      <a:srgbClr val="F3F3F3"/>
                    </a:solidFill>
                  </a:tcPr>
                </a:tc>
                <a:tc>
                  <a:txBody>
                    <a:bodyPr wrap="square"/>
                    <a:lstStyle/>
                    <a:p>
                      <a:pPr algn="l"/>
                      <a:r>
                        <a:rPr sz="1200" b="0">
                          <a:solidFill>
                            <a:srgbClr val="262626"/>
                          </a:solidFill>
                          <a:latin typeface="Arial"/>
                        </a:rPr>
                        <a:t>Báo cáo thường niên; niên giám thống kê</a:t>
                      </a:r>
                    </a:p>
                  </a:txBody>
                  <a:tcPr marL="73152" marR="73152" marT="27432" marB="27432" anchor="ctr">
                    <a:solidFill>
                      <a:srgbClr val="F3F3F3"/>
                    </a:solidFill>
                  </a:tcPr>
                </a:tc>
              </a:tr>
              <a:tr h="512064">
                <a:tc>
                  <a:txBody>
                    <a:bodyPr wrap="square"/>
                    <a:lstStyle/>
                    <a:p>
                      <a:pPr algn="l"/>
                      <a:r>
                        <a:rPr sz="1200" b="0">
                          <a:solidFill>
                            <a:srgbClr val="262626"/>
                          </a:solidFill>
                          <a:latin typeface="Arial"/>
                        </a:rPr>
                        <a:t>Ví dụ Trường Y</a:t>
                      </a:r>
                    </a:p>
                  </a:txBody>
                  <a:tcPr marL="73152" marR="73152" marT="27432" marB="27432" anchor="ctr">
                    <a:solidFill>
                      <a:srgbClr val="FFFFFF"/>
                    </a:solidFill>
                  </a:tcPr>
                </a:tc>
                <a:tc>
                  <a:txBody>
                    <a:bodyPr wrap="square"/>
                    <a:lstStyle/>
                    <a:p>
                      <a:pPr algn="l"/>
                      <a:r>
                        <a:rPr sz="1200" b="0">
                          <a:solidFill>
                            <a:srgbClr val="262626"/>
                          </a:solidFill>
                          <a:latin typeface="Arial"/>
                        </a:rPr>
                        <a:t>131 phiếu giấy; 10 buổi phỏng vấn</a:t>
                      </a:r>
                    </a:p>
                  </a:txBody>
                  <a:tcPr marL="73152" marR="73152" marT="27432" marB="27432" anchor="ctr">
                    <a:solidFill>
                      <a:srgbClr val="FFFFFF"/>
                    </a:solidFill>
                  </a:tcPr>
                </a:tc>
                <a:tc>
                  <a:txBody>
                    <a:bodyPr wrap="square"/>
                    <a:lstStyle/>
                    <a:p>
                      <a:pPr algn="l"/>
                      <a:r>
                        <a:rPr sz="1200" b="0">
                          <a:solidFill>
                            <a:srgbClr val="262626"/>
                          </a:solidFill>
                          <a:latin typeface="Arial"/>
                        </a:rPr>
                        <a:t>Kế hoạch năm học, báo cáo tổng kết</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Ưu điểm</a:t>
                      </a:r>
                    </a:p>
                  </a:txBody>
                  <a:tcPr marL="73152" marR="73152" marT="27432" marB="27432" anchor="ctr">
                    <a:solidFill>
                      <a:srgbClr val="F3F3F3"/>
                    </a:solidFill>
                  </a:tcPr>
                </a:tc>
                <a:tc>
                  <a:txBody>
                    <a:bodyPr wrap="square"/>
                    <a:lstStyle/>
                    <a:p>
                      <a:pPr algn="l"/>
                      <a:r>
                        <a:rPr sz="1200" b="0">
                          <a:solidFill>
                            <a:srgbClr val="262626"/>
                          </a:solidFill>
                          <a:latin typeface="Arial"/>
                        </a:rPr>
                        <a:t>Đo đúng biến cần đo</a:t>
                      </a:r>
                    </a:p>
                  </a:txBody>
                  <a:tcPr marL="73152" marR="73152" marT="27432" marB="27432" anchor="ctr">
                    <a:solidFill>
                      <a:srgbClr val="F3F3F3"/>
                    </a:solidFill>
                  </a:tcPr>
                </a:tc>
                <a:tc>
                  <a:txBody>
                    <a:bodyPr wrap="square"/>
                    <a:lstStyle/>
                    <a:p>
                      <a:pPr algn="l"/>
                      <a:r>
                        <a:rPr sz="1200" b="0">
                          <a:solidFill>
                            <a:srgbClr val="262626"/>
                          </a:solidFill>
                          <a:latin typeface="Arial"/>
                        </a:rPr>
                        <a:t>Có sẵn, nhanh, nhiều năm</a:t>
                      </a:r>
                    </a:p>
                  </a:txBody>
                  <a:tcPr marL="73152" marR="73152" marT="27432" marB="27432" anchor="ctr">
                    <a:solidFill>
                      <a:srgbClr val="F3F3F3"/>
                    </a:solidFill>
                  </a:tcPr>
                </a:tc>
              </a:tr>
              <a:tr h="512064">
                <a:tc>
                  <a:txBody>
                    <a:bodyPr wrap="square"/>
                    <a:lstStyle/>
                    <a:p>
                      <a:pPr algn="l"/>
                      <a:r>
                        <a:rPr sz="1200" b="0">
                          <a:solidFill>
                            <a:srgbClr val="262626"/>
                          </a:solidFill>
                          <a:latin typeface="Arial"/>
                        </a:rPr>
                        <a:t>Hạn chế</a:t>
                      </a:r>
                    </a:p>
                  </a:txBody>
                  <a:tcPr marL="73152" marR="73152" marT="27432" marB="27432" anchor="ctr">
                    <a:solidFill>
                      <a:srgbClr val="FFFFFF"/>
                    </a:solidFill>
                  </a:tcPr>
                </a:tc>
                <a:tc>
                  <a:txBody>
                    <a:bodyPr wrap="square"/>
                    <a:lstStyle/>
                    <a:p>
                      <a:pPr algn="l"/>
                      <a:r>
                        <a:rPr sz="1200" b="0">
                          <a:solidFill>
                            <a:srgbClr val="262626"/>
                          </a:solidFill>
                          <a:latin typeface="Arial"/>
                        </a:rPr>
                        <a:t>2 đến 3 tuần; dễ sai lệch nếu thu sai cách</a:t>
                      </a:r>
                    </a:p>
                  </a:txBody>
                  <a:tcPr marL="73152" marR="73152" marT="27432" marB="27432" anchor="ctr">
                    <a:solidFill>
                      <a:srgbClr val="FFFFFF"/>
                    </a:solidFill>
                  </a:tcPr>
                </a:tc>
                <a:tc>
                  <a:txBody>
                    <a:bodyPr wrap="square"/>
                    <a:lstStyle/>
                    <a:p>
                      <a:pPr algn="l"/>
                      <a:r>
                        <a:rPr sz="1200" b="0">
                          <a:solidFill>
                            <a:srgbClr val="262626"/>
                          </a:solidFill>
                          <a:latin typeface="Arial"/>
                        </a:rPr>
                        <a:t>Định nghĩa có thể khác; có thể đã cũ</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Vai trò</a:t>
                      </a:r>
                    </a:p>
                  </a:txBody>
                  <a:tcPr marL="73152" marR="73152" marT="27432" marB="27432" anchor="ctr">
                    <a:solidFill>
                      <a:srgbClr val="F3F3F3"/>
                    </a:solidFill>
                  </a:tcPr>
                </a:tc>
                <a:tc>
                  <a:txBody>
                    <a:bodyPr wrap="square"/>
                    <a:lstStyle/>
                    <a:p>
                      <a:pPr algn="l"/>
                      <a:r>
                        <a:rPr sz="1200" b="0">
                          <a:solidFill>
                            <a:srgbClr val="262626"/>
                          </a:solidFill>
                          <a:latin typeface="Arial"/>
                        </a:rPr>
                        <a:t>Kiểm định giả thuyết</a:t>
                      </a:r>
                    </a:p>
                  </a:txBody>
                  <a:tcPr marL="73152" marR="73152" marT="27432" marB="27432" anchor="ctr">
                    <a:solidFill>
                      <a:srgbClr val="F3F3F3"/>
                    </a:solidFill>
                  </a:tcPr>
                </a:tc>
                <a:tc>
                  <a:txBody>
                    <a:bodyPr wrap="square"/>
                    <a:lstStyle/>
                    <a:p>
                      <a:pPr algn="l"/>
                      <a:r>
                        <a:rPr sz="1200" b="0">
                          <a:solidFill>
                            <a:srgbClr val="262626"/>
                          </a:solidFill>
                          <a:latin typeface="Arial"/>
                        </a:rPr>
                        <a:t>Bối cảnh Chương 1; giải thích Chương 4</a:t>
                      </a:r>
                    </a:p>
                  </a:txBody>
                  <a:tcPr marL="73152" marR="73152" marT="27432" marB="27432" anchor="ctr">
                    <a:solidFill>
                      <a:srgbClr val="F3F3F3"/>
                    </a:solidFill>
                  </a:tcPr>
                </a:tc>
              </a:tr>
            </a:tbl>
          </a:graphicData>
        </a:graphic>
      </p:graphicFrame>
      <p:sp>
        <p:nvSpPr>
          <p:cNvPr id="13" name="TextBox 12"/>
          <p:cNvSpPr txBox="1"/>
          <p:nvPr/>
        </p:nvSpPr>
        <p:spPr>
          <a:xfrm>
            <a:off x="9326880" y="1783080"/>
            <a:ext cx="2404871"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PHÂN BIỆT</a:t>
            </a:r>
          </a:p>
        </p:txBody>
      </p:sp>
      <p:cxnSp>
        <p:nvCxnSpPr>
          <p:cNvPr id="14" name="Connector 13"/>
          <p:cNvCxnSpPr/>
          <p:nvPr/>
        </p:nvCxnSpPr>
        <p:spPr>
          <a:xfrm>
            <a:off x="9326880" y="2103120"/>
            <a:ext cx="240487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326880" y="2167128"/>
            <a:ext cx="2404871" cy="3383280"/>
          </a:xfrm>
          <a:prstGeom prst="rect">
            <a:avLst/>
          </a:prstGeom>
          <a:noFill/>
        </p:spPr>
        <p:txBody>
          <a:bodyPr wrap="square" lIns="45720" rIns="45720" tIns="27432" bIns="27432" anchor="t">
            <a:spAutoFit/>
          </a:bodyPr>
          <a:lstStyle/>
          <a:p>
            <a:pPr algn="l"/>
            <a:r>
              <a:rPr sz="1250" b="0" i="0">
                <a:solidFill>
                  <a:srgbClr val="58595B"/>
                </a:solidFill>
                <a:latin typeface="Arial"/>
              </a:rPr>
              <a:t>Hox và Boeije (2005): phân biệt theo </a:t>
            </a:r>
            <a:r>
              <a:rPr sz="1250" b="1" i="0">
                <a:solidFill>
                  <a:srgbClr val="58595B"/>
                </a:solidFill>
                <a:latin typeface="Arial"/>
              </a:rPr>
              <a:t>mục đích thu</a:t>
            </a:r>
            <a:r>
              <a:rPr sz="1250" b="0" i="0">
                <a:solidFill>
                  <a:srgbClr val="58595B"/>
                </a:solidFill>
                <a:latin typeface="Arial"/>
              </a:rPr>
              <a:t>, không theo nơi lấy.</a:t>
            </a:r>
          </a:p>
          <a:p>
            <a:pPr algn="l">
              <a:spcBef>
                <a:spcPts val="562"/>
              </a:spcBef>
            </a:pPr>
          </a:p>
          <a:p>
            <a:pPr algn="l">
              <a:spcBef>
                <a:spcPts val="562"/>
              </a:spcBef>
            </a:pPr>
            <a:r>
              <a:rPr sz="1250" b="0" i="0">
                <a:solidFill>
                  <a:srgbClr val="58595B"/>
                </a:solidFill>
                <a:latin typeface="Arial"/>
              </a:rPr>
              <a:t>Thái độ, niềm tin, ý định </a:t>
            </a:r>
            <a:r>
              <a:rPr sz="1250" b="1" i="0">
                <a:solidFill>
                  <a:srgbClr val="58595B"/>
                </a:solidFill>
                <a:latin typeface="Arial"/>
              </a:rPr>
              <a:t>hầu như không có sẵn</a:t>
            </a:r>
            <a:r>
              <a:rPr sz="1250" b="0" i="0">
                <a:solidFill>
                  <a:srgbClr val="58595B"/>
                </a:solidFill>
                <a:latin typeface="Arial"/>
              </a:rPr>
              <a:t> nên phải thu sơ cấp.</a:t>
            </a:r>
          </a:p>
          <a:p>
            <a:pPr algn="l">
              <a:spcBef>
                <a:spcPts val="562"/>
              </a:spcBef>
            </a:pPr>
          </a:p>
          <a:p>
            <a:pPr algn="l">
              <a:spcBef>
                <a:spcPts val="562"/>
              </a:spcBef>
            </a:pPr>
            <a:r>
              <a:rPr sz="1250" b="0" i="0">
                <a:solidFill>
                  <a:srgbClr val="58595B"/>
                </a:solidFill>
                <a:latin typeface="Arial"/>
              </a:rPr>
              <a:t>Dùng số thứ cấp: ghi tổ chức, năm, trang, định nghĩa.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CHUỖI TƯ DUY CHỌN NGUỒN DỮ LIỆU</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Đi từ câu hỏi nghiên cứu xuống người cầm phiếu qua sáu bậc; nhảy thẳng đến "phát phiếu ở đâu" là bỏ qua năm quyết định</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Mỗi bậc là đầu vào của bậc sau: chọn sai người trả lời ở bậc 3 thì phát phiếu khéo đến đâu ở bậc 5 cũng thu về dữ liệu sai.</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Thực hành 3.4.1A, Bảng 3-7; Hulland, Baumgartner và Smith (2018); Trần Phước (n.d., tr. 43); file 2b.Chapter_2_and_Chapter_3_Data_Collection_Practice.xlsx (dữ liệu giả định), sheet 3_SoCapThuCap</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58</a:t>
            </a:r>
          </a:p>
        </p:txBody>
      </p:sp>
      <p:sp>
        <p:nvSpPr>
          <p:cNvPr id="12" name="Rectangle 11"/>
          <p:cNvSpPr/>
          <p:nvPr/>
        </p:nvSpPr>
        <p:spPr>
          <a:xfrm>
            <a:off x="493776" y="4800600"/>
            <a:ext cx="1805940" cy="8229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1. Số hay chuyện?</a:t>
            </a:r>
          </a:p>
        </p:txBody>
      </p:sp>
      <p:sp>
        <p:nvSpPr>
          <p:cNvPr id="13" name="TextBox 12"/>
          <p:cNvSpPr txBox="1"/>
          <p:nvPr/>
        </p:nvSpPr>
        <p:spPr>
          <a:xfrm>
            <a:off x="512064" y="1783080"/>
            <a:ext cx="1769364" cy="2971800"/>
          </a:xfrm>
          <a:prstGeom prst="rect">
            <a:avLst/>
          </a:prstGeom>
          <a:noFill/>
        </p:spPr>
        <p:txBody>
          <a:bodyPr wrap="square" lIns="45720" rIns="45720" tIns="27432" bIns="27432" anchor="b">
            <a:spAutoFit/>
          </a:bodyPr>
          <a:lstStyle/>
          <a:p>
            <a:pPr algn="l"/>
            <a:r>
              <a:rPr sz="1150" b="0" i="0">
                <a:solidFill>
                  <a:srgbClr val="58595B"/>
                </a:solidFill>
                <a:latin typeface="Arial"/>
              </a:rPr>
              <a:t>Con số: mức tác động của bốn yếu tố.</a:t>
            </a:r>
          </a:p>
        </p:txBody>
      </p:sp>
      <p:sp>
        <p:nvSpPr>
          <p:cNvPr id="14" name="Rectangle 13"/>
          <p:cNvSpPr/>
          <p:nvPr/>
        </p:nvSpPr>
        <p:spPr>
          <a:xfrm>
            <a:off x="2372868" y="4297680"/>
            <a:ext cx="1805940" cy="132588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2. Đo khái niệm nào?</a:t>
            </a:r>
          </a:p>
        </p:txBody>
      </p:sp>
      <p:sp>
        <p:nvSpPr>
          <p:cNvPr id="15" name="TextBox 14"/>
          <p:cNvSpPr txBox="1"/>
          <p:nvPr/>
        </p:nvSpPr>
        <p:spPr>
          <a:xfrm>
            <a:off x="2391156" y="1783080"/>
            <a:ext cx="1769364" cy="2468880"/>
          </a:xfrm>
          <a:prstGeom prst="rect">
            <a:avLst/>
          </a:prstGeom>
          <a:noFill/>
        </p:spPr>
        <p:txBody>
          <a:bodyPr wrap="square" lIns="45720" rIns="45720" tIns="27432" bIns="27432" anchor="b">
            <a:spAutoFit/>
          </a:bodyPr>
          <a:lstStyle/>
          <a:p>
            <a:pPr algn="l"/>
            <a:r>
              <a:rPr sz="1150" b="0" i="0">
                <a:solidFill>
                  <a:srgbClr val="58595B"/>
                </a:solidFill>
                <a:latin typeface="Arial"/>
              </a:rPr>
              <a:t>HI, SD, NT, XH, YD; 19 câu hỏi.</a:t>
            </a:r>
          </a:p>
        </p:txBody>
      </p:sp>
      <p:sp>
        <p:nvSpPr>
          <p:cNvPr id="16" name="Rectangle 15"/>
          <p:cNvSpPr/>
          <p:nvPr/>
        </p:nvSpPr>
        <p:spPr>
          <a:xfrm>
            <a:off x="4251960" y="3794760"/>
            <a:ext cx="1805940" cy="18288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3. Ai biết câu trả lời?</a:t>
            </a:r>
          </a:p>
        </p:txBody>
      </p:sp>
      <p:sp>
        <p:nvSpPr>
          <p:cNvPr id="17" name="TextBox 16"/>
          <p:cNvSpPr txBox="1"/>
          <p:nvPr/>
        </p:nvSpPr>
        <p:spPr>
          <a:xfrm>
            <a:off x="4270248" y="1783080"/>
            <a:ext cx="1769364" cy="1965960"/>
          </a:xfrm>
          <a:prstGeom prst="rect">
            <a:avLst/>
          </a:prstGeom>
          <a:noFill/>
        </p:spPr>
        <p:txBody>
          <a:bodyPr wrap="square" lIns="45720" rIns="45720" tIns="27432" bIns="27432" anchor="b">
            <a:spAutoFit/>
          </a:bodyPr>
          <a:lstStyle/>
          <a:p>
            <a:pPr algn="l"/>
            <a:r>
              <a:rPr sz="1150" b="0" i="0">
                <a:solidFill>
                  <a:srgbClr val="58595B"/>
                </a:solidFill>
                <a:latin typeface="Arial"/>
              </a:rPr>
              <a:t>Khách hàng đã đăng ký ngân hàng số; không hỏi nhân viên.</a:t>
            </a:r>
          </a:p>
        </p:txBody>
      </p:sp>
      <p:sp>
        <p:nvSpPr>
          <p:cNvPr id="18" name="Rectangle 17"/>
          <p:cNvSpPr/>
          <p:nvPr/>
        </p:nvSpPr>
        <p:spPr>
          <a:xfrm>
            <a:off x="6131052" y="3291840"/>
            <a:ext cx="1805940" cy="233172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4. Đã có sẵn chưa?</a:t>
            </a:r>
          </a:p>
        </p:txBody>
      </p:sp>
      <p:sp>
        <p:nvSpPr>
          <p:cNvPr id="19" name="TextBox 18"/>
          <p:cNvSpPr txBox="1"/>
          <p:nvPr/>
        </p:nvSpPr>
        <p:spPr>
          <a:xfrm>
            <a:off x="6149340" y="1783080"/>
            <a:ext cx="1769364" cy="1463039"/>
          </a:xfrm>
          <a:prstGeom prst="rect">
            <a:avLst/>
          </a:prstGeom>
          <a:noFill/>
        </p:spPr>
        <p:txBody>
          <a:bodyPr wrap="square" lIns="45720" rIns="45720" tIns="27432" bIns="27432" anchor="b">
            <a:spAutoFit/>
          </a:bodyPr>
          <a:lstStyle/>
          <a:p>
            <a:pPr algn="l"/>
            <a:r>
              <a:rPr sz="1150" b="0" i="0">
                <a:solidFill>
                  <a:srgbClr val="58595B"/>
                </a:solidFill>
                <a:latin typeface="Arial"/>
              </a:rPr>
              <a:t>Chưa: ý định không có trong báo cáo nào. Thu sơ cấp.</a:t>
            </a:r>
          </a:p>
        </p:txBody>
      </p:sp>
      <p:sp>
        <p:nvSpPr>
          <p:cNvPr id="20" name="Rectangle 19"/>
          <p:cNvSpPr/>
          <p:nvPr/>
        </p:nvSpPr>
        <p:spPr>
          <a:xfrm>
            <a:off x="8010144" y="2788920"/>
            <a:ext cx="1805940" cy="283464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5. Bằng gì, ở đâu, qua ai?</a:t>
            </a:r>
          </a:p>
        </p:txBody>
      </p:sp>
      <p:sp>
        <p:nvSpPr>
          <p:cNvPr id="21" name="TextBox 20"/>
          <p:cNvSpPr txBox="1"/>
          <p:nvPr/>
        </p:nvSpPr>
        <p:spPr>
          <a:xfrm>
            <a:off x="8028432" y="1783080"/>
            <a:ext cx="1769364" cy="960120"/>
          </a:xfrm>
          <a:prstGeom prst="rect">
            <a:avLst/>
          </a:prstGeom>
          <a:noFill/>
        </p:spPr>
        <p:txBody>
          <a:bodyPr wrap="square" lIns="45720" rIns="45720" tIns="27432" bIns="27432" anchor="b">
            <a:spAutoFit/>
          </a:bodyPr>
          <a:lstStyle/>
          <a:p>
            <a:pPr algn="l"/>
            <a:r>
              <a:rPr sz="1150" b="0" i="0">
                <a:solidFill>
                  <a:srgbClr val="58595B"/>
                </a:solidFill>
                <a:latin typeface="Arial"/>
              </a:rPr>
              <a:t>Google Form; QR tại quầy, email, Zalo; xin phép Giám đốc phòng giao dịch.</a:t>
            </a:r>
          </a:p>
        </p:txBody>
      </p:sp>
      <p:sp>
        <p:nvSpPr>
          <p:cNvPr id="22" name="Rectangle 21"/>
          <p:cNvSpPr/>
          <p:nvPr/>
        </p:nvSpPr>
        <p:spPr>
          <a:xfrm>
            <a:off x="9889236" y="2286000"/>
            <a:ext cx="1805940" cy="33375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6. Không gặp được thì sao?</a:t>
            </a:r>
          </a:p>
        </p:txBody>
      </p:sp>
      <p:sp>
        <p:nvSpPr>
          <p:cNvPr id="23" name="TextBox 22"/>
          <p:cNvSpPr txBox="1"/>
          <p:nvPr/>
        </p:nvSpPr>
        <p:spPr>
          <a:xfrm>
            <a:off x="9907524" y="1783080"/>
            <a:ext cx="1769364" cy="457200"/>
          </a:xfrm>
          <a:prstGeom prst="rect">
            <a:avLst/>
          </a:prstGeom>
          <a:noFill/>
        </p:spPr>
        <p:txBody>
          <a:bodyPr wrap="square" lIns="45720" rIns="45720" tIns="27432" bIns="27432" anchor="b">
            <a:spAutoFit/>
          </a:bodyPr>
          <a:lstStyle/>
          <a:p>
            <a:pPr algn="l"/>
            <a:r>
              <a:rPr sz="1150" b="0" i="0">
                <a:solidFill>
                  <a:srgbClr val="58595B"/>
                </a:solidFill>
                <a:latin typeface="Arial"/>
              </a:rPr>
              <a:t>Thêm phòng giao dịch thứ hai; kéo dài một tuần; ghi vào hạn chế.</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TÌM DỮ LIỆU THỨ CẤP</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Lấy con số thứ cấp từ nguồn gốc thay vì qua bài báo kể lại và hỏi năm câu trước khi dùng</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Mỗi con số thứ cấp cần bốn thứ: tổ chức, năm, trang và định nghĩa; thiếu một thứ là chưa dùng được.</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Thực hành 3.4.1A, Bảng 3-8; Trần Phước (n.d., tr. 49); Johnston (2014); file 2b.Chapter_2_and_Chapter_3_Data_Collection_Practice.xlsx (dữ liệu giả định), sheet 3_SoCapThuCap</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59</a:t>
            </a:r>
          </a:p>
        </p:txBody>
      </p:sp>
      <p:graphicFrame>
        <p:nvGraphicFramePr>
          <p:cNvPr id="12" name="Table 11"/>
          <p:cNvGraphicFramePr>
            <a:graphicFrameLocks noGrp="1"/>
          </p:cNvGraphicFramePr>
          <p:nvPr/>
        </p:nvGraphicFramePr>
        <p:xfrm>
          <a:off x="457200" y="1783080"/>
          <a:ext cx="8229600" cy="3063240"/>
        </p:xfrm>
        <a:graphic>
          <a:graphicData uri="http://schemas.openxmlformats.org/drawingml/2006/table">
            <a:tbl>
              <a:tblPr firstRow="1" bandRow="1">
                <a:tableStyleId>{5C22544A-7EE6-4342-B048-85BDC9FD1C3A}</a:tableStyleId>
              </a:tblPr>
              <a:tblGrid>
                <a:gridCol w="2286000"/>
                <a:gridCol w="3566160"/>
                <a:gridCol w="2377440"/>
              </a:tblGrid>
              <a:tr h="411480">
                <a:tc>
                  <a:txBody>
                    <a:bodyPr wrap="square"/>
                    <a:lstStyle/>
                    <a:p>
                      <a:pPr algn="l"/>
                      <a:r>
                        <a:rPr sz="1200" b="1">
                          <a:solidFill>
                            <a:srgbClr val="FFFFFF"/>
                          </a:solidFill>
                          <a:latin typeface="Arial"/>
                        </a:rPr>
                        <a:t>Loại dữ liệu</a:t>
                      </a:r>
                    </a:p>
                  </a:txBody>
                  <a:tcPr marL="73152" marR="73152" marT="27432" marB="27432" anchor="ctr">
                    <a:solidFill>
                      <a:srgbClr val="262626"/>
                    </a:solidFill>
                  </a:tcPr>
                </a:tc>
                <a:tc>
                  <a:txBody>
                    <a:bodyPr wrap="square"/>
                    <a:lstStyle/>
                    <a:p>
                      <a:pPr algn="l"/>
                      <a:r>
                        <a:rPr sz="1200" b="1">
                          <a:solidFill>
                            <a:srgbClr val="FFFFFF"/>
                          </a:solidFill>
                          <a:latin typeface="Arial"/>
                        </a:rPr>
                        <a:t>Nguồn gốc nên lấy</a:t>
                      </a:r>
                    </a:p>
                  </a:txBody>
                  <a:tcPr marL="73152" marR="73152" marT="27432" marB="27432" anchor="ctr">
                    <a:solidFill>
                      <a:srgbClr val="262626"/>
                    </a:solidFill>
                  </a:tcPr>
                </a:tc>
                <a:tc>
                  <a:txBody>
                    <a:bodyPr wrap="square"/>
                    <a:lstStyle/>
                    <a:p>
                      <a:pPr algn="l"/>
                      <a:r>
                        <a:rPr sz="1200" b="1">
                          <a:solidFill>
                            <a:srgbClr val="FFFFFF"/>
                          </a:solidFill>
                          <a:latin typeface="Arial"/>
                        </a:rPr>
                        <a:t>Lưu ý</a:t>
                      </a:r>
                    </a:p>
                  </a:txBody>
                  <a:tcPr marL="73152" marR="73152" marT="27432" marB="27432" anchor="ctr">
                    <a:solidFill>
                      <a:srgbClr val="262626"/>
                    </a:solidFill>
                  </a:tcPr>
                </a:tc>
              </a:tr>
              <a:tr h="530352">
                <a:tc>
                  <a:txBody>
                    <a:bodyPr wrap="square"/>
                    <a:lstStyle/>
                    <a:p>
                      <a:pPr algn="l"/>
                      <a:r>
                        <a:rPr sz="1200" b="0">
                          <a:solidFill>
                            <a:srgbClr val="262626"/>
                          </a:solidFill>
                          <a:latin typeface="Arial"/>
                        </a:rPr>
                        <a:t>Dân số, kinh tế, doanh nghiệp</a:t>
                      </a:r>
                    </a:p>
                  </a:txBody>
                  <a:tcPr marL="73152" marR="73152" marT="27432" marB="27432" anchor="ctr">
                    <a:solidFill>
                      <a:srgbClr val="FFFFFF"/>
                    </a:solidFill>
                  </a:tcPr>
                </a:tc>
                <a:tc>
                  <a:txBody>
                    <a:bodyPr wrap="square"/>
                    <a:lstStyle/>
                    <a:p>
                      <a:pPr algn="l"/>
                      <a:r>
                        <a:rPr sz="1200" b="0">
                          <a:solidFill>
                            <a:srgbClr val="262626"/>
                          </a:solidFill>
                          <a:latin typeface="Arial"/>
                        </a:rPr>
                        <a:t>Niên giám thống kê (nso.gov.vn, trước đây gso.gov.vn)</a:t>
                      </a:r>
                    </a:p>
                  </a:txBody>
                  <a:tcPr marL="73152" marR="73152" marT="27432" marB="27432" anchor="ctr">
                    <a:solidFill>
                      <a:srgbClr val="FFFFFF"/>
                    </a:solidFill>
                  </a:tcPr>
                </a:tc>
                <a:tc>
                  <a:txBody>
                    <a:bodyPr wrap="square"/>
                    <a:lstStyle/>
                    <a:p>
                      <a:pPr algn="l"/>
                      <a:r>
                        <a:rPr sz="1200" b="0">
                          <a:solidFill>
                            <a:srgbClr val="262626"/>
                          </a:solidFill>
                          <a:latin typeface="Arial"/>
                        </a:rPr>
                        <a:t>Ghi năm xuất bản, tên bảng</a:t>
                      </a:r>
                    </a:p>
                  </a:txBody>
                  <a:tcPr marL="73152" marR="73152" marT="27432" marB="27432" anchor="ctr">
                    <a:solidFill>
                      <a:srgbClr val="FFFFFF"/>
                    </a:solidFill>
                  </a:tcPr>
                </a:tc>
              </a:tr>
              <a:tr h="530352">
                <a:tc>
                  <a:txBody>
                    <a:bodyPr wrap="square"/>
                    <a:lstStyle/>
                    <a:p>
                      <a:pPr algn="l"/>
                      <a:r>
                        <a:rPr sz="1200" b="0">
                          <a:solidFill>
                            <a:srgbClr val="262626"/>
                          </a:solidFill>
                          <a:latin typeface="Arial"/>
                        </a:rPr>
                        <a:t>Ngành ngân hàng</a:t>
                      </a:r>
                    </a:p>
                  </a:txBody>
                  <a:tcPr marL="73152" marR="73152" marT="27432" marB="27432" anchor="ctr">
                    <a:solidFill>
                      <a:srgbClr val="F3F3F3"/>
                    </a:solidFill>
                  </a:tcPr>
                </a:tc>
                <a:tc>
                  <a:txBody>
                    <a:bodyPr wrap="square"/>
                    <a:lstStyle/>
                    <a:p>
                      <a:pPr algn="l"/>
                      <a:r>
                        <a:rPr sz="1200" b="0">
                          <a:solidFill>
                            <a:srgbClr val="262626"/>
                          </a:solidFill>
                          <a:latin typeface="Arial"/>
                        </a:rPr>
                        <a:t>Trang của Ngân hàng Nhà nước; hiệp hội ngành</a:t>
                      </a:r>
                    </a:p>
                  </a:txBody>
                  <a:tcPr marL="73152" marR="73152" marT="27432" marB="27432" anchor="ctr">
                    <a:solidFill>
                      <a:srgbClr val="F3F3F3"/>
                    </a:solidFill>
                  </a:tcPr>
                </a:tc>
                <a:tc>
                  <a:txBody>
                    <a:bodyPr wrap="square"/>
                    <a:lstStyle/>
                    <a:p>
                      <a:pPr algn="l"/>
                      <a:r>
                        <a:rPr sz="1200" b="0">
                          <a:solidFill>
                            <a:srgbClr val="262626"/>
                          </a:solidFill>
                          <a:latin typeface="Arial"/>
                        </a:rPr>
                        <a:t>Ghi định nghĩa chỉ tiêu</a:t>
                      </a:r>
                    </a:p>
                  </a:txBody>
                  <a:tcPr marL="73152" marR="73152" marT="27432" marB="27432" anchor="ctr">
                    <a:solidFill>
                      <a:srgbClr val="F3F3F3"/>
                    </a:solidFill>
                  </a:tcPr>
                </a:tc>
              </a:tr>
              <a:tr h="530352">
                <a:tc>
                  <a:txBody>
                    <a:bodyPr wrap="square"/>
                    <a:lstStyle/>
                    <a:p>
                      <a:pPr algn="l"/>
                      <a:r>
                        <a:rPr sz="1200" b="0">
                          <a:solidFill>
                            <a:srgbClr val="262626"/>
                          </a:solidFill>
                          <a:latin typeface="Arial"/>
                        </a:rPr>
                        <a:t>Một ngân hàng</a:t>
                      </a:r>
                    </a:p>
                  </a:txBody>
                  <a:tcPr marL="73152" marR="73152" marT="27432" marB="27432" anchor="ctr">
                    <a:solidFill>
                      <a:srgbClr val="FFFFFF"/>
                    </a:solidFill>
                  </a:tcPr>
                </a:tc>
                <a:tc>
                  <a:txBody>
                    <a:bodyPr wrap="square"/>
                    <a:lstStyle/>
                    <a:p>
                      <a:pPr algn="l"/>
                      <a:r>
                        <a:rPr sz="1200" b="0">
                          <a:solidFill>
                            <a:srgbClr val="262626"/>
                          </a:solidFill>
                          <a:latin typeface="Arial"/>
                        </a:rPr>
                        <a:t>Báo cáo thường niên, báo cáo tài chính</a:t>
                      </a:r>
                    </a:p>
                  </a:txBody>
                  <a:tcPr marL="73152" marR="73152" marT="27432" marB="27432" anchor="ctr">
                    <a:solidFill>
                      <a:srgbClr val="FFFFFF"/>
                    </a:solidFill>
                  </a:tcPr>
                </a:tc>
                <a:tc>
                  <a:txBody>
                    <a:bodyPr wrap="square"/>
                    <a:lstStyle/>
                    <a:p>
                      <a:pPr algn="l"/>
                      <a:r>
                        <a:rPr sz="1200" b="0">
                          <a:solidFill>
                            <a:srgbClr val="262626"/>
                          </a:solidFill>
                          <a:latin typeface="Arial"/>
                        </a:rPr>
                        <a:t>Ghi năm, trang; lưu PDF</a:t>
                      </a:r>
                    </a:p>
                  </a:txBody>
                  <a:tcPr marL="73152" marR="73152" marT="27432" marB="27432" anchor="ctr">
                    <a:solidFill>
                      <a:srgbClr val="FFFFFF"/>
                    </a:solidFill>
                  </a:tcPr>
                </a:tc>
              </a:tr>
              <a:tr h="530352">
                <a:tc>
                  <a:txBody>
                    <a:bodyPr wrap="square"/>
                    <a:lstStyle/>
                    <a:p>
                      <a:pPr algn="l"/>
                      <a:r>
                        <a:rPr sz="1200" b="0">
                          <a:solidFill>
                            <a:srgbClr val="262626"/>
                          </a:solidFill>
                          <a:latin typeface="Arial"/>
                        </a:rPr>
                        <a:t>Một trường học</a:t>
                      </a:r>
                    </a:p>
                  </a:txBody>
                  <a:tcPr marL="73152" marR="73152" marT="27432" marB="27432" anchor="ctr">
                    <a:solidFill>
                      <a:srgbClr val="F3F3F3"/>
                    </a:solidFill>
                  </a:tcPr>
                </a:tc>
                <a:tc>
                  <a:txBody>
                    <a:bodyPr wrap="square"/>
                    <a:lstStyle/>
                    <a:p>
                      <a:pPr algn="l"/>
                      <a:r>
                        <a:rPr sz="1200" b="0">
                          <a:solidFill>
                            <a:srgbClr val="262626"/>
                          </a:solidFill>
                          <a:latin typeface="Arial"/>
                        </a:rPr>
                        <a:t>Kế hoạch năm học, báo cáo tổng kết</a:t>
                      </a:r>
                    </a:p>
                  </a:txBody>
                  <a:tcPr marL="73152" marR="73152" marT="27432" marB="27432" anchor="ctr">
                    <a:solidFill>
                      <a:srgbClr val="F3F3F3"/>
                    </a:solidFill>
                  </a:tcPr>
                </a:tc>
                <a:tc>
                  <a:txBody>
                    <a:bodyPr wrap="square"/>
                    <a:lstStyle/>
                    <a:p>
                      <a:pPr algn="l"/>
                      <a:r>
                        <a:rPr sz="1200" b="0">
                          <a:solidFill>
                            <a:srgbClr val="262626"/>
                          </a:solidFill>
                          <a:latin typeface="Arial"/>
                        </a:rPr>
                        <a:t>Chỉ dùng khi được phép</a:t>
                      </a:r>
                    </a:p>
                  </a:txBody>
                  <a:tcPr marL="73152" marR="73152" marT="27432" marB="27432" anchor="ctr">
                    <a:solidFill>
                      <a:srgbClr val="F3F3F3"/>
                    </a:solidFill>
                  </a:tcPr>
                </a:tc>
              </a:tr>
              <a:tr h="530352">
                <a:tc>
                  <a:txBody>
                    <a:bodyPr wrap="square"/>
                    <a:lstStyle/>
                    <a:p>
                      <a:pPr algn="l"/>
                      <a:r>
                        <a:rPr sz="1200" b="0">
                          <a:solidFill>
                            <a:srgbClr val="262626"/>
                          </a:solidFill>
                          <a:latin typeface="Arial"/>
                        </a:rPr>
                        <a:t>Mạng xã hội, tài liệu công khai</a:t>
                      </a:r>
                    </a:p>
                  </a:txBody>
                  <a:tcPr marL="73152" marR="73152" marT="27432" marB="27432" anchor="ctr">
                    <a:solidFill>
                      <a:srgbClr val="FFFFFF"/>
                    </a:solidFill>
                  </a:tcPr>
                </a:tc>
                <a:tc>
                  <a:txBody>
                    <a:bodyPr wrap="square"/>
                    <a:lstStyle/>
                    <a:p>
                      <a:pPr algn="l"/>
                      <a:r>
                        <a:rPr sz="1200" b="0">
                          <a:solidFill>
                            <a:srgbClr val="262626"/>
                          </a:solidFill>
                          <a:latin typeface="Arial"/>
                        </a:rPr>
                        <a:t>Fanpage, Zalo OA, công văn (Trần Phước, tr. 49)</a:t>
                      </a:r>
                    </a:p>
                  </a:txBody>
                  <a:tcPr marL="73152" marR="73152" marT="27432" marB="27432" anchor="ctr">
                    <a:solidFill>
                      <a:srgbClr val="FFFFFF"/>
                    </a:solidFill>
                  </a:tcPr>
                </a:tc>
                <a:tc>
                  <a:txBody>
                    <a:bodyPr wrap="square"/>
                    <a:lstStyle/>
                    <a:p>
                      <a:pPr algn="l"/>
                      <a:r>
                        <a:rPr sz="1200" b="0">
                          <a:solidFill>
                            <a:srgbClr val="262626"/>
                          </a:solidFill>
                          <a:latin typeface="Arial"/>
                        </a:rPr>
                        <a:t>Chụp màn hình có ngày; ẩn tên</a:t>
                      </a:r>
                    </a:p>
                  </a:txBody>
                  <a:tcPr marL="73152" marR="73152" marT="27432" marB="27432" anchor="ctr">
                    <a:solidFill>
                      <a:srgbClr val="FFFFFF"/>
                    </a:solidFill>
                  </a:tcPr>
                </a:tc>
              </a:tr>
            </a:tbl>
          </a:graphicData>
        </a:graphic>
      </p:graphicFrame>
      <p:sp>
        <p:nvSpPr>
          <p:cNvPr id="13" name="TextBox 12"/>
          <p:cNvSpPr txBox="1"/>
          <p:nvPr/>
        </p:nvSpPr>
        <p:spPr>
          <a:xfrm>
            <a:off x="8961120" y="1783080"/>
            <a:ext cx="2770631" cy="274320"/>
          </a:xfrm>
          <a:prstGeom prst="rect">
            <a:avLst/>
          </a:prstGeom>
          <a:noFill/>
        </p:spPr>
        <p:txBody>
          <a:bodyPr wrap="square" lIns="45720" rIns="45720" tIns="27432" bIns="27432" anchor="t">
            <a:spAutoFit/>
          </a:bodyPr>
          <a:lstStyle/>
          <a:p>
            <a:pPr algn="l"/>
            <a:r>
              <a:rPr sz="1000" b="1" i="0">
                <a:solidFill>
                  <a:srgbClr val="CC0000"/>
                </a:solidFill>
                <a:latin typeface="Arial"/>
              </a:rPr>
              <a:t>NĂM CÂU HỎI TRƯỚC KHI DÙNG</a:t>
            </a:r>
          </a:p>
        </p:txBody>
      </p:sp>
      <p:cxnSp>
        <p:nvCxnSpPr>
          <p:cNvPr id="14" name="Connector 13"/>
          <p:cNvCxnSpPr/>
          <p:nvPr/>
        </p:nvCxnSpPr>
        <p:spPr>
          <a:xfrm>
            <a:off x="8961120" y="2103120"/>
            <a:ext cx="27706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0" y="2167128"/>
            <a:ext cx="2770631" cy="3383280"/>
          </a:xfrm>
          <a:prstGeom prst="rect">
            <a:avLst/>
          </a:prstGeom>
          <a:noFill/>
        </p:spPr>
        <p:txBody>
          <a:bodyPr wrap="square" lIns="45720" rIns="45720" tIns="27432" bIns="27432" anchor="t">
            <a:spAutoFit/>
          </a:bodyPr>
          <a:lstStyle/>
          <a:p>
            <a:pPr algn="l"/>
            <a:r>
              <a:rPr sz="1250" b="1" i="0">
                <a:solidFill>
                  <a:srgbClr val="58595B"/>
                </a:solidFill>
                <a:latin typeface="Arial"/>
              </a:rPr>
              <a:t>1.</a:t>
            </a:r>
            <a:r>
              <a:rPr sz="1250" b="0" i="0">
                <a:solidFill>
                  <a:srgbClr val="58595B"/>
                </a:solidFill>
                <a:latin typeface="Arial"/>
              </a:rPr>
              <a:t> Ai thu, có uy tín không?</a:t>
            </a:r>
          </a:p>
          <a:p>
            <a:pPr algn="l">
              <a:spcBef>
                <a:spcPts val="562"/>
              </a:spcBef>
            </a:pPr>
            <a:r>
              <a:rPr sz="1250" b="1" i="0">
                <a:solidFill>
                  <a:srgbClr val="58595B"/>
                </a:solidFill>
                <a:latin typeface="Arial"/>
              </a:rPr>
              <a:t>2.</a:t>
            </a:r>
            <a:r>
              <a:rPr sz="1250" b="0" i="0">
                <a:solidFill>
                  <a:srgbClr val="58595B"/>
                </a:solidFill>
                <a:latin typeface="Arial"/>
              </a:rPr>
              <a:t> Thu để làm gì?</a:t>
            </a:r>
          </a:p>
          <a:p>
            <a:pPr algn="l">
              <a:spcBef>
                <a:spcPts val="562"/>
              </a:spcBef>
            </a:pPr>
            <a:r>
              <a:rPr sz="1250" b="1" i="0">
                <a:solidFill>
                  <a:srgbClr val="58595B"/>
                </a:solidFill>
                <a:latin typeface="Arial"/>
              </a:rPr>
              <a:t>3.</a:t>
            </a:r>
            <a:r>
              <a:rPr sz="1250" b="0" i="0">
                <a:solidFill>
                  <a:srgbClr val="58595B"/>
                </a:solidFill>
                <a:latin typeface="Arial"/>
              </a:rPr>
              <a:t> Thu khi nào?</a:t>
            </a:r>
          </a:p>
          <a:p>
            <a:pPr algn="l">
              <a:spcBef>
                <a:spcPts val="562"/>
              </a:spcBef>
            </a:pPr>
            <a:r>
              <a:rPr sz="1250" b="1" i="0">
                <a:solidFill>
                  <a:srgbClr val="58595B"/>
                </a:solidFill>
                <a:latin typeface="Arial"/>
              </a:rPr>
              <a:t>4.</a:t>
            </a:r>
            <a:r>
              <a:rPr sz="1250" b="0" i="0">
                <a:solidFill>
                  <a:srgbClr val="58595B"/>
                </a:solidFill>
                <a:latin typeface="Arial"/>
              </a:rPr>
              <a:t> Định nghĩa có khớp khái niệm của đề tài không?</a:t>
            </a:r>
          </a:p>
          <a:p>
            <a:pPr algn="l">
              <a:spcBef>
                <a:spcPts val="562"/>
              </a:spcBef>
            </a:pPr>
            <a:r>
              <a:rPr sz="1250" b="1" i="0">
                <a:solidFill>
                  <a:srgbClr val="58595B"/>
                </a:solidFill>
                <a:latin typeface="Arial"/>
              </a:rPr>
              <a:t>5.</a:t>
            </a:r>
            <a:r>
              <a:rPr sz="1250" b="0" i="0">
                <a:solidFill>
                  <a:srgbClr val="58595B"/>
                </a:solidFill>
                <a:latin typeface="Arial"/>
              </a:rPr>
              <a:t> Dẫn nguồn đầy đủ được không?</a:t>
            </a:r>
          </a:p>
          <a:p>
            <a:pPr algn="l">
              <a:spcBef>
                <a:spcPts val="562"/>
              </a:spcBef>
            </a:pPr>
          </a:p>
          <a:p>
            <a:pPr algn="l">
              <a:spcBef>
                <a:spcPts val="562"/>
              </a:spcBef>
            </a:pPr>
            <a:r>
              <a:rPr sz="1250" b="0" i="0">
                <a:solidFill>
                  <a:srgbClr val="58595B"/>
                </a:solidFill>
                <a:latin typeface="Arial"/>
              </a:rPr>
              <a:t>Một câu "không" là lý do tìm nguồn khác.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BẢNG HỎI VÀ THANG ĐO</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câu hỏi chỉ đo một ý, viết dạng khẳng định, dùng chung một thang Likert năm mức</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Kiểm tra từng câu bằng ba câu hỏi: đo một ý hay nhiều ý; có gợi ý câu trả lời không; có khớp với định nghĩa ở Chương 2 không.</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3.4.2 và Mục 3.4.3; file 2.Chapter_2_and_Chapter_3_Practice.xlsx (dữ liệu giả định), sheet 1_BangMa</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60</a:t>
            </a:r>
          </a:p>
        </p:txBody>
      </p:sp>
      <p:sp>
        <p:nvSpPr>
          <p:cNvPr id="11" name="Rectangle 10"/>
          <p:cNvSpPr/>
          <p:nvPr/>
        </p:nvSpPr>
        <p:spPr>
          <a:xfrm>
            <a:off x="457200" y="1783080"/>
            <a:ext cx="5486400" cy="365760"/>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CHƯA ĐẠT</a:t>
            </a:r>
          </a:p>
        </p:txBody>
      </p:sp>
      <p:sp>
        <p:nvSpPr>
          <p:cNvPr id="12" name="Rectangle 11"/>
          <p:cNvSpPr/>
          <p:nvPr/>
        </p:nvSpPr>
        <p:spPr>
          <a:xfrm>
            <a:off x="457200" y="2148840"/>
            <a:ext cx="5486400" cy="2103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240280"/>
            <a:ext cx="5212080" cy="1920240"/>
          </a:xfrm>
          <a:prstGeom prst="rect">
            <a:avLst/>
          </a:prstGeom>
          <a:noFill/>
        </p:spPr>
        <p:txBody>
          <a:bodyPr wrap="square" lIns="45720" rIns="45720" tIns="27432" bIns="27432" anchor="t">
            <a:spAutoFit/>
          </a:bodyPr>
          <a:lstStyle/>
          <a:p>
            <a:pPr algn="l"/>
            <a:r>
              <a:rPr sz="1250" b="0" i="1">
                <a:solidFill>
                  <a:srgbClr val="58595B"/>
                </a:solidFill>
                <a:latin typeface="Arial"/>
              </a:rPr>
              <a:t>"Ngân hàng số của Ngân hàng X nhanh, rẻ, an toàn và dễ dùng đúng không? Anh/chị có thấy không hài lòng khi không dùng ngân hàng số không?"</a:t>
            </a:r>
          </a:p>
        </p:txBody>
      </p:sp>
      <p:sp>
        <p:nvSpPr>
          <p:cNvPr id="14" name="Rectangle 13"/>
          <p:cNvSpPr/>
          <p:nvPr/>
        </p:nvSpPr>
        <p:spPr>
          <a:xfrm>
            <a:off x="6245352" y="1783080"/>
            <a:ext cx="5486400" cy="3657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ĐẠT</a:t>
            </a:r>
          </a:p>
        </p:txBody>
      </p:sp>
      <p:sp>
        <p:nvSpPr>
          <p:cNvPr id="15" name="Rectangle 14"/>
          <p:cNvSpPr/>
          <p:nvPr/>
        </p:nvSpPr>
        <p:spPr>
          <a:xfrm>
            <a:off x="6245352" y="2148840"/>
            <a:ext cx="5486400" cy="2103120"/>
          </a:xfrm>
          <a:prstGeom prst="rect">
            <a:avLst/>
          </a:prstGeom>
          <a:solidFill>
            <a:srgbClr val="FFFFFF"/>
          </a:solidFill>
          <a:ln w="95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2240280"/>
            <a:ext cx="5212080" cy="1920240"/>
          </a:xfrm>
          <a:prstGeom prst="rect">
            <a:avLst/>
          </a:prstGeom>
          <a:noFill/>
        </p:spPr>
        <p:txBody>
          <a:bodyPr wrap="square" lIns="45720" rIns="45720" tIns="27432" bIns="27432" anchor="t">
            <a:spAutoFit/>
          </a:bodyPr>
          <a:lstStyle/>
          <a:p>
            <a:pPr algn="l"/>
            <a:r>
              <a:rPr sz="1250" b="0" i="1">
                <a:solidFill>
                  <a:srgbClr val="262626"/>
                </a:solidFill>
                <a:latin typeface="Arial"/>
              </a:rPr>
              <a:t>"HI1. Ngân hàng số giúp tôi giao dịch nhanh hơn.</a:t>
            </a:r>
          </a:p>
          <a:p>
            <a:pPr algn="l">
              <a:spcBef>
                <a:spcPts val="562"/>
              </a:spcBef>
            </a:pPr>
            <a:r>
              <a:rPr sz="1250" b="0" i="1">
                <a:solidFill>
                  <a:srgbClr val="262626"/>
                </a:solidFill>
                <a:latin typeface="Arial"/>
              </a:rPr>
              <a:t>HI2. Ngân hàng số giúp tôi tiết kiệm chi phí đi lại.</a:t>
            </a:r>
          </a:p>
          <a:p>
            <a:pPr algn="l">
              <a:spcBef>
                <a:spcPts val="562"/>
              </a:spcBef>
            </a:pPr>
            <a:r>
              <a:rPr sz="1250" b="0" i="1">
                <a:solidFill>
                  <a:srgbClr val="262626"/>
                </a:solidFill>
                <a:latin typeface="Arial"/>
              </a:rPr>
              <a:t>NT1. Tôi tin ngân hàng số của Ngân hàng X bảo mật thông tin của tôi.</a:t>
            </a:r>
          </a:p>
          <a:p>
            <a:pPr algn="l">
              <a:spcBef>
                <a:spcPts val="562"/>
              </a:spcBef>
            </a:pPr>
            <a:r>
              <a:rPr sz="1250" b="0" i="1">
                <a:solidFill>
                  <a:srgbClr val="262626"/>
                </a:solidFill>
                <a:latin typeface="Arial"/>
              </a:rPr>
              <a:t>SD1. Tôi dễ dàng học cách sử dụng ứng dụng ngân hàng số.</a:t>
            </a:r>
          </a:p>
          <a:p>
            <a:pPr algn="l">
              <a:spcBef>
                <a:spcPts val="562"/>
              </a:spcBef>
            </a:pPr>
            <a:r>
              <a:rPr sz="1250" b="0" i="1">
                <a:solidFill>
                  <a:srgbClr val="262626"/>
                </a:solidFill>
                <a:latin typeface="Arial"/>
              </a:rPr>
              <a:t>(1 hoàn toàn không đồng ý ... 5 hoàn toàn đồng ý)"</a:t>
            </a:r>
          </a:p>
        </p:txBody>
      </p:sp>
      <p:sp>
        <p:nvSpPr>
          <p:cNvPr id="17" name="TextBox 16"/>
          <p:cNvSpPr txBox="1"/>
          <p:nvPr/>
        </p:nvSpPr>
        <p:spPr>
          <a:xfrm>
            <a:off x="457200" y="4434840"/>
            <a:ext cx="2743200" cy="274320"/>
          </a:xfrm>
          <a:prstGeom prst="rect">
            <a:avLst/>
          </a:prstGeom>
          <a:noFill/>
        </p:spPr>
        <p:txBody>
          <a:bodyPr wrap="square" lIns="45720" rIns="45720" tIns="27432" bIns="27432" anchor="t">
            <a:spAutoFit/>
          </a:bodyPr>
          <a:lstStyle/>
          <a:p>
            <a:pPr algn="l"/>
            <a:r>
              <a:rPr sz="1000" b="1" i="0">
                <a:solidFill>
                  <a:srgbClr val="CC0000"/>
                </a:solidFill>
                <a:latin typeface="Arial"/>
              </a:rPr>
              <a:t>VÌ SAO BẢN CHƯA ĐẠT BỊ TRỪ ĐIỂM</a:t>
            </a:r>
          </a:p>
        </p:txBody>
      </p:sp>
      <p:cxnSp>
        <p:nvCxnSpPr>
          <p:cNvPr id="18" name="Connector 17"/>
          <p:cNvCxnSpPr/>
          <p:nvPr/>
        </p:nvCxnSpPr>
        <p:spPr>
          <a:xfrm>
            <a:off x="457200"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Câu hỏi kép.</a:t>
            </a:r>
            <a:r>
              <a:rPr sz="1200" b="0" i="0">
                <a:solidFill>
                  <a:srgbClr val="58595B"/>
                </a:solidFill>
                <a:latin typeface="Arial"/>
              </a:rPr>
              <a:t> Một câu hỏi bốn ý: đồng ý ý này nhưng không đồng ý ý kia thì không biết chọn mức nào.</a:t>
            </a:r>
          </a:p>
        </p:txBody>
      </p:sp>
      <p:cxnSp>
        <p:nvCxnSpPr>
          <p:cNvPr id="20" name="Connector 19"/>
          <p:cNvCxnSpPr/>
          <p:nvPr/>
        </p:nvCxnSpPr>
        <p:spPr>
          <a:xfrm>
            <a:off x="4306824"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06824"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Phủ định kép và gợi ý.</a:t>
            </a:r>
            <a:r>
              <a:rPr sz="1200" b="0" i="0">
                <a:solidFill>
                  <a:srgbClr val="58595B"/>
                </a:solidFill>
                <a:latin typeface="Arial"/>
              </a:rPr>
              <a:t> "không hài lòng khi không dùng" gây rối; "đúng không" gợi ý câu trả lời.</a:t>
            </a:r>
          </a:p>
        </p:txBody>
      </p:sp>
      <p:cxnSp>
        <p:nvCxnSpPr>
          <p:cNvPr id="22" name="Connector 21"/>
          <p:cNvCxnSpPr/>
          <p:nvPr/>
        </p:nvCxnSpPr>
        <p:spPr>
          <a:xfrm>
            <a:off x="8156448"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156448"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Hậu quả.</a:t>
            </a:r>
            <a:r>
              <a:rPr sz="1200" b="0" i="0">
                <a:solidFill>
                  <a:srgbClr val="58595B"/>
                </a:solidFill>
                <a:latin typeface="Arial"/>
              </a:rPr>
              <a:t> Alpha có thể thấp; hồi quy không diễn giải được vì không rõ câu đo khái niệm nào.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THU THẬP DỮ LIỆU</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Người đọc cần thấy con số ở từng bước: bao nhiêu người được mời, trả lời, bị loại và còn hợp lệ</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Luôn giữ hai file: file thô và file sạch; ghi nhật ký thu thập mỗi ngày.</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3.5.1, Hình 3-12 và 3-13; file 2.Chapter_2_and_Chapter_3_Practice.xlsx (dữ liệu giả định), sheet 2_DuLieuTho và 3_DuLieuSach</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61</a:t>
            </a:r>
          </a:p>
        </p:txBody>
      </p:sp>
      <p:sp>
        <p:nvSpPr>
          <p:cNvPr id="12" name="Rectangle 11"/>
          <p:cNvSpPr/>
          <p:nvPr/>
        </p:nvSpPr>
        <p:spPr>
          <a:xfrm>
            <a:off x="457200" y="1856231"/>
            <a:ext cx="6035040" cy="54864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300" b="1" i="0">
                <a:solidFill>
                  <a:srgbClr val="FFFFFF"/>
                </a:solidFill>
                <a:latin typeface="Arial"/>
              </a:rPr>
              <a:t>200  khách hàng được mời</a:t>
            </a:r>
          </a:p>
        </p:txBody>
      </p:sp>
      <p:sp>
        <p:nvSpPr>
          <p:cNvPr id="13" name="TextBox 12"/>
          <p:cNvSpPr txBox="1"/>
          <p:nvPr/>
        </p:nvSpPr>
        <p:spPr>
          <a:xfrm>
            <a:off x="6766559" y="1828800"/>
            <a:ext cx="4965192" cy="621792"/>
          </a:xfrm>
          <a:prstGeom prst="rect">
            <a:avLst/>
          </a:prstGeom>
          <a:noFill/>
        </p:spPr>
        <p:txBody>
          <a:bodyPr wrap="square" lIns="45720" rIns="45720" tIns="27432" bIns="27432" anchor="ctr">
            <a:spAutoFit/>
          </a:bodyPr>
          <a:lstStyle/>
          <a:p>
            <a:pPr algn="l"/>
            <a:r>
              <a:rPr sz="1200" b="0" i="0">
                <a:solidFill>
                  <a:srgbClr val="58595B"/>
                </a:solidFill>
                <a:latin typeface="Arial"/>
              </a:rPr>
              <a:t>Gửi qua email, Zalo và tại quầy giao dịch, sau khi đọc thử bảng hỏi với 5 khách hàng.</a:t>
            </a:r>
          </a:p>
        </p:txBody>
      </p:sp>
      <p:cxnSp>
        <p:nvCxnSpPr>
          <p:cNvPr id="14" name="Connector 13"/>
          <p:cNvCxnSpPr/>
          <p:nvPr/>
        </p:nvCxnSpPr>
        <p:spPr>
          <a:xfrm>
            <a:off x="6675120" y="2478024"/>
            <a:ext cx="5056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57200" y="2569464"/>
            <a:ext cx="4978908" cy="54864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300" b="1" i="0">
                <a:solidFill>
                  <a:srgbClr val="FFFFFF"/>
                </a:solidFill>
                <a:latin typeface="Arial"/>
              </a:rPr>
              <a:t>165  phiếu thu về</a:t>
            </a:r>
          </a:p>
        </p:txBody>
      </p:sp>
      <p:sp>
        <p:nvSpPr>
          <p:cNvPr id="16" name="TextBox 15"/>
          <p:cNvSpPr txBox="1"/>
          <p:nvPr/>
        </p:nvSpPr>
        <p:spPr>
          <a:xfrm>
            <a:off x="6766559" y="2542032"/>
            <a:ext cx="4965192" cy="621792"/>
          </a:xfrm>
          <a:prstGeom prst="rect">
            <a:avLst/>
          </a:prstGeom>
          <a:noFill/>
        </p:spPr>
        <p:txBody>
          <a:bodyPr wrap="square" lIns="45720" rIns="45720" tIns="27432" bIns="27432" anchor="ctr">
            <a:spAutoFit/>
          </a:bodyPr>
          <a:lstStyle/>
          <a:p>
            <a:pPr algn="l"/>
            <a:r>
              <a:rPr sz="1200" b="0" i="0">
                <a:solidFill>
                  <a:srgbClr val="58595B"/>
                </a:solidFill>
                <a:latin typeface="Arial"/>
              </a:rPr>
              <a:t>Sau hai tuần; </a:t>
            </a:r>
            <a:r>
              <a:rPr sz="1200" b="1" i="0">
                <a:solidFill>
                  <a:srgbClr val="58595B"/>
                </a:solidFill>
                <a:latin typeface="Arial"/>
              </a:rPr>
              <a:t>tỷ lệ phản hồi 82,5%</a:t>
            </a:r>
            <a:r>
              <a:rPr sz="1200" b="0" i="0">
                <a:solidFill>
                  <a:srgbClr val="58595B"/>
                </a:solidFill>
                <a:latin typeface="Arial"/>
              </a:rPr>
              <a:t> = số phiếu thu về chia số người được mời.</a:t>
            </a:r>
          </a:p>
        </p:txBody>
      </p:sp>
      <p:cxnSp>
        <p:nvCxnSpPr>
          <p:cNvPr id="17" name="Connector 16"/>
          <p:cNvCxnSpPr/>
          <p:nvPr/>
        </p:nvCxnSpPr>
        <p:spPr>
          <a:xfrm>
            <a:off x="6675120" y="3191256"/>
            <a:ext cx="5056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57200" y="3282696"/>
            <a:ext cx="2194560" cy="54864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300" b="1" i="0">
                <a:solidFill>
                  <a:srgbClr val="FFFFFF"/>
                </a:solidFill>
                <a:latin typeface="Arial"/>
              </a:rPr>
              <a:t>15  phiếu bị loại</a:t>
            </a:r>
          </a:p>
        </p:txBody>
      </p:sp>
      <p:sp>
        <p:nvSpPr>
          <p:cNvPr id="19" name="TextBox 18"/>
          <p:cNvSpPr txBox="1"/>
          <p:nvPr/>
        </p:nvSpPr>
        <p:spPr>
          <a:xfrm>
            <a:off x="6766559" y="3255263"/>
            <a:ext cx="4965192" cy="621792"/>
          </a:xfrm>
          <a:prstGeom prst="rect">
            <a:avLst/>
          </a:prstGeom>
          <a:noFill/>
        </p:spPr>
        <p:txBody>
          <a:bodyPr wrap="square" lIns="45720" rIns="45720" tIns="27432" bIns="27432" anchor="ctr">
            <a:spAutoFit/>
          </a:bodyPr>
          <a:lstStyle/>
          <a:p>
            <a:pPr algn="l"/>
            <a:r>
              <a:rPr sz="1200" b="0" i="0">
                <a:solidFill>
                  <a:srgbClr val="58595B"/>
                </a:solidFill>
                <a:latin typeface="Arial"/>
              </a:rPr>
              <a:t>5 phiếu trùng lặp; 10 phiếu bỏ trống nhiều câu.</a:t>
            </a:r>
          </a:p>
        </p:txBody>
      </p:sp>
      <p:cxnSp>
        <p:nvCxnSpPr>
          <p:cNvPr id="20" name="Connector 19"/>
          <p:cNvCxnSpPr/>
          <p:nvPr/>
        </p:nvCxnSpPr>
        <p:spPr>
          <a:xfrm>
            <a:off x="6675120" y="3904488"/>
            <a:ext cx="5056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57200" y="3995928"/>
            <a:ext cx="4526280" cy="5486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300" b="1" i="0">
                <a:solidFill>
                  <a:srgbClr val="FFFFFF"/>
                </a:solidFill>
                <a:latin typeface="Arial"/>
              </a:rPr>
              <a:t>150  phiếu hợp lệ</a:t>
            </a:r>
          </a:p>
        </p:txBody>
      </p:sp>
      <p:sp>
        <p:nvSpPr>
          <p:cNvPr id="22" name="TextBox 21"/>
          <p:cNvSpPr txBox="1"/>
          <p:nvPr/>
        </p:nvSpPr>
        <p:spPr>
          <a:xfrm>
            <a:off x="6766559" y="3968496"/>
            <a:ext cx="4965192" cy="621792"/>
          </a:xfrm>
          <a:prstGeom prst="rect">
            <a:avLst/>
          </a:prstGeom>
          <a:noFill/>
        </p:spPr>
        <p:txBody>
          <a:bodyPr wrap="square" lIns="45720" rIns="45720" tIns="27432" bIns="27432" anchor="ctr">
            <a:spAutoFit/>
          </a:bodyPr>
          <a:lstStyle/>
          <a:p>
            <a:pPr algn="l"/>
            <a:r>
              <a:rPr sz="1200" b="0" i="0">
                <a:solidFill>
                  <a:srgbClr val="58595B"/>
                </a:solidFill>
                <a:latin typeface="Arial"/>
              </a:rPr>
              <a:t>Lưu file riêng; </a:t>
            </a:r>
            <a:r>
              <a:rPr sz="1200" b="1" i="0">
                <a:solidFill>
                  <a:srgbClr val="58595B"/>
                </a:solidFill>
                <a:latin typeface="Arial"/>
              </a:rPr>
              <a:t>file dữ liệu thô giữ nguyên</a:t>
            </a:r>
            <a:r>
              <a:rPr sz="1200" b="0" i="0">
                <a:solidFill>
                  <a:srgbClr val="58595B"/>
                </a:solidFill>
                <a:latin typeface="Arial"/>
              </a:rPr>
              <a:t> để đối chiếu. Trường Y: 140 in, 131 thu, loại 11, còn 120.</a:t>
            </a:r>
          </a:p>
        </p:txBody>
      </p:sp>
      <p:cxnSp>
        <p:nvCxnSpPr>
          <p:cNvPr id="23" name="Connector 22"/>
          <p:cNvCxnSpPr/>
          <p:nvPr/>
        </p:nvCxnSpPr>
        <p:spPr>
          <a:xfrm>
            <a:off x="6675120" y="4617720"/>
            <a:ext cx="5056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ĐI KHẢO SÁT ĐỊNH LƯỢNG</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Đi khảo sát là mười việc theo thứ tự thời gian; ba việc đầu phải xong trước tuần phát phiếu</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Khảo sát là một chuỗi tiếp xúc có kế hoạch, không phải một lần gửi đường liên kết.</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Thực hành 3.5.1A, Bảng 3-12; Dillman, Smyth và Christian (2014); Edwards và cộng sự (2009); file 2b.Chapter_2_and_Chapter_3_Data_Collection_Practice.xlsx (dữ liệu giả định), sheet 4 đến 7</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62</a:t>
            </a:r>
          </a:p>
        </p:txBody>
      </p:sp>
      <p:sp>
        <p:nvSpPr>
          <p:cNvPr id="12" name="Oval 11"/>
          <p:cNvSpPr/>
          <p:nvPr/>
        </p:nvSpPr>
        <p:spPr>
          <a:xfrm>
            <a:off x="457200" y="1828800"/>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783080"/>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Tính số cần mời.</a:t>
            </a:r>
            <a:r>
              <a:rPr sz="1250" b="0" i="0">
                <a:solidFill>
                  <a:srgbClr val="58595B"/>
                </a:solidFill>
                <a:latin typeface="Arial"/>
              </a:rPr>
              <a:t>  150 phiếu hợp lệ chia (0,80 nhân 0,94) = khoảng 200 người.</a:t>
            </a:r>
          </a:p>
        </p:txBody>
      </p:sp>
      <p:cxnSp>
        <p:nvCxnSpPr>
          <p:cNvPr id="14" name="Connector 13"/>
          <p:cNvCxnSpPr/>
          <p:nvPr/>
        </p:nvCxnSpPr>
        <p:spPr>
          <a:xfrm>
            <a:off x="960120" y="2112264"/>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57200" y="22128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6" name="TextBox 15"/>
          <p:cNvSpPr txBox="1"/>
          <p:nvPr/>
        </p:nvSpPr>
        <p:spPr>
          <a:xfrm>
            <a:off x="960120" y="2167128"/>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Xin giấy giới thiệu của Khoa.</a:t>
            </a:r>
            <a:r>
              <a:rPr sz="1250" b="0" i="0">
                <a:solidFill>
                  <a:srgbClr val="58595B"/>
                </a:solidFill>
                <a:latin typeface="Arial"/>
              </a:rPr>
              <a:t>  Ghi tên đề tài, sinh viên, giảng viên hướng dẫn.</a:t>
            </a:r>
          </a:p>
        </p:txBody>
      </p:sp>
      <p:cxnSp>
        <p:nvCxnSpPr>
          <p:cNvPr id="17" name="Connector 16"/>
          <p:cNvCxnSpPr/>
          <p:nvPr/>
        </p:nvCxnSpPr>
        <p:spPr>
          <a:xfrm>
            <a:off x="960120" y="2496312"/>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57200" y="259689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19" name="TextBox 18"/>
          <p:cNvSpPr txBox="1"/>
          <p:nvPr/>
        </p:nvSpPr>
        <p:spPr>
          <a:xfrm>
            <a:off x="960120" y="2551176"/>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Gặp người có quyền cho phép.</a:t>
            </a:r>
            <a:r>
              <a:rPr sz="1250" b="0" i="0">
                <a:solidFill>
                  <a:srgbClr val="58595B"/>
                </a:solidFill>
                <a:latin typeface="Arial"/>
              </a:rPr>
              <a:t>  Giám đốc phòng giao dịch; thống nhất địa điểm, khung giờ, việc không được làm.</a:t>
            </a:r>
          </a:p>
        </p:txBody>
      </p:sp>
      <p:cxnSp>
        <p:nvCxnSpPr>
          <p:cNvPr id="20" name="Connector 19"/>
          <p:cNvCxnSpPr/>
          <p:nvPr/>
        </p:nvCxnSpPr>
        <p:spPr>
          <a:xfrm>
            <a:off x="960120" y="2880360"/>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57200" y="2980944"/>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960120" y="2935224"/>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Chuẩn bị bộ công cụ.</a:t>
            </a:r>
            <a:r>
              <a:rPr sz="1250" b="0" i="0">
                <a:solidFill>
                  <a:srgbClr val="58595B"/>
                </a:solidFill>
                <a:latin typeface="Arial"/>
              </a:rPr>
              <a:t>  Phiếu đã thử (5 và 30 người), kịch bản mời, mã QR, 30 phiếu giấy dự phòng.</a:t>
            </a:r>
          </a:p>
        </p:txBody>
      </p:sp>
      <p:cxnSp>
        <p:nvCxnSpPr>
          <p:cNvPr id="23" name="Connector 22"/>
          <p:cNvCxnSpPr/>
          <p:nvPr/>
        </p:nvCxnSpPr>
        <p:spPr>
          <a:xfrm>
            <a:off x="960120" y="3264408"/>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57200" y="3364991"/>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5</a:t>
            </a:r>
          </a:p>
        </p:txBody>
      </p:sp>
      <p:sp>
        <p:nvSpPr>
          <p:cNvPr id="25" name="TextBox 24"/>
          <p:cNvSpPr txBox="1"/>
          <p:nvPr/>
        </p:nvSpPr>
        <p:spPr>
          <a:xfrm>
            <a:off x="960120" y="3319272"/>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Cài đặt Google Form.</a:t>
            </a:r>
            <a:r>
              <a:rPr sz="1250" b="0" i="0">
                <a:solidFill>
                  <a:srgbClr val="58595B"/>
                </a:solidFill>
                <a:latin typeface="Arial"/>
              </a:rPr>
              <a:t>  Câu đồng ý, câu sàng lọc, bắt buộc trả lời, một câu kiểm tra sự chú ý.</a:t>
            </a:r>
          </a:p>
        </p:txBody>
      </p:sp>
      <p:cxnSp>
        <p:nvCxnSpPr>
          <p:cNvPr id="26" name="Connector 25"/>
          <p:cNvCxnSpPr/>
          <p:nvPr/>
        </p:nvCxnSpPr>
        <p:spPr>
          <a:xfrm>
            <a:off x="960120" y="364845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57200" y="3749039"/>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6</a:t>
            </a:r>
          </a:p>
        </p:txBody>
      </p:sp>
      <p:sp>
        <p:nvSpPr>
          <p:cNvPr id="28" name="TextBox 27"/>
          <p:cNvSpPr txBox="1"/>
          <p:nvPr/>
        </p:nvSpPr>
        <p:spPr>
          <a:xfrm>
            <a:off x="960120" y="3703320"/>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Mời tại hiện trường.</a:t>
            </a:r>
            <a:r>
              <a:rPr sz="1250" b="0" i="0">
                <a:solidFill>
                  <a:srgbClr val="58595B"/>
                </a:solidFill>
                <a:latin typeface="Arial"/>
              </a:rPr>
              <a:t>  Theo kịch bản; không đứng nhìn người trả lời; không gợi ý đáp án.</a:t>
            </a:r>
          </a:p>
        </p:txBody>
      </p:sp>
      <p:cxnSp>
        <p:nvCxnSpPr>
          <p:cNvPr id="29" name="Connector 28"/>
          <p:cNvCxnSpPr/>
          <p:nvPr/>
        </p:nvCxnSpPr>
        <p:spPr>
          <a:xfrm>
            <a:off x="960120" y="4032504"/>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457200" y="4133088"/>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7</a:t>
            </a:r>
          </a:p>
        </p:txBody>
      </p:sp>
      <p:sp>
        <p:nvSpPr>
          <p:cNvPr id="31" name="TextBox 30"/>
          <p:cNvSpPr txBox="1"/>
          <p:nvPr/>
        </p:nvSpPr>
        <p:spPr>
          <a:xfrm>
            <a:off x="960120" y="4087368"/>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Mời trực tuyến.</a:t>
            </a:r>
            <a:r>
              <a:rPr sz="1250" b="0" i="0">
                <a:solidFill>
                  <a:srgbClr val="58595B"/>
                </a:solidFill>
                <a:latin typeface="Arial"/>
              </a:rPr>
              <a:t>  Tin nhắn cá nhân hóa; không đăng đại trà vào nhóm không liên quan.</a:t>
            </a:r>
          </a:p>
        </p:txBody>
      </p:sp>
      <p:cxnSp>
        <p:nvCxnSpPr>
          <p:cNvPr id="32" name="Connector 31"/>
          <p:cNvCxnSpPr/>
          <p:nvPr/>
        </p:nvCxnSpPr>
        <p:spPr>
          <a:xfrm>
            <a:off x="960120" y="4416552"/>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457200" y="4517136"/>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8</a:t>
            </a:r>
          </a:p>
        </p:txBody>
      </p:sp>
      <p:sp>
        <p:nvSpPr>
          <p:cNvPr id="34" name="TextBox 33"/>
          <p:cNvSpPr txBox="1"/>
          <p:nvPr/>
        </p:nvSpPr>
        <p:spPr>
          <a:xfrm>
            <a:off x="960120" y="4471416"/>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Nhắc lại hai lần.</a:t>
            </a:r>
            <a:r>
              <a:rPr sz="1250" b="0" i="0">
                <a:solidFill>
                  <a:srgbClr val="58595B"/>
                </a:solidFill>
                <a:latin typeface="Arial"/>
              </a:rPr>
              <a:t>  Ghi ngày nhắc để chia nhóm trả lời sớm và muộn.</a:t>
            </a:r>
          </a:p>
        </p:txBody>
      </p:sp>
      <p:cxnSp>
        <p:nvCxnSpPr>
          <p:cNvPr id="35" name="Connector 34"/>
          <p:cNvCxnSpPr/>
          <p:nvPr/>
        </p:nvCxnSpPr>
        <p:spPr>
          <a:xfrm>
            <a:off x="960120" y="4800600"/>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457200" y="4901184"/>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9</a:t>
            </a:r>
          </a:p>
        </p:txBody>
      </p:sp>
      <p:sp>
        <p:nvSpPr>
          <p:cNvPr id="37" name="TextBox 36"/>
          <p:cNvSpPr txBox="1"/>
          <p:nvPr/>
        </p:nvSpPr>
        <p:spPr>
          <a:xfrm>
            <a:off x="960120" y="4855464"/>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Ghi nhật ký mỗi ngày.</a:t>
            </a:r>
            <a:r>
              <a:rPr sz="1250" b="0" i="0">
                <a:solidFill>
                  <a:srgbClr val="58595B"/>
                </a:solidFill>
                <a:latin typeface="Arial"/>
              </a:rPr>
              <a:t>  Số mời theo kênh, phiếu nhận, phiếu lỗi, vấn đề và cách xử lý.</a:t>
            </a:r>
          </a:p>
        </p:txBody>
      </p:sp>
      <p:cxnSp>
        <p:nvCxnSpPr>
          <p:cNvPr id="38" name="Connector 37"/>
          <p:cNvCxnSpPr/>
          <p:nvPr/>
        </p:nvCxnSpPr>
        <p:spPr>
          <a:xfrm>
            <a:off x="960120" y="5184648"/>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457200" y="5285232"/>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27432" bIns="27432"/>
          <a:lstStyle/>
          <a:p>
            <a:pPr algn="ctr"/>
            <a:r>
              <a:rPr sz="1000" b="1" i="0">
                <a:solidFill>
                  <a:srgbClr val="FFFFFF"/>
                </a:solidFill>
                <a:latin typeface="Arial"/>
              </a:rPr>
              <a:t>10</a:t>
            </a:r>
          </a:p>
        </p:txBody>
      </p:sp>
      <p:sp>
        <p:nvSpPr>
          <p:cNvPr id="40" name="TextBox 39"/>
          <p:cNvSpPr txBox="1"/>
          <p:nvPr/>
        </p:nvSpPr>
        <p:spPr>
          <a:xfrm>
            <a:off x="960120" y="5239512"/>
            <a:ext cx="10725912" cy="384048"/>
          </a:xfrm>
          <a:prstGeom prst="rect">
            <a:avLst/>
          </a:prstGeom>
          <a:noFill/>
        </p:spPr>
        <p:txBody>
          <a:bodyPr wrap="square" lIns="45720" rIns="45720" tIns="27432" bIns="27432" anchor="t">
            <a:spAutoFit/>
          </a:bodyPr>
          <a:lstStyle/>
          <a:p>
            <a:pPr algn="l"/>
            <a:r>
              <a:rPr sz="1250" b="1" i="0">
                <a:solidFill>
                  <a:srgbClr val="58595B"/>
                </a:solidFill>
                <a:latin typeface="Arial"/>
              </a:rPr>
              <a:t>Đóng và cảm ơn.</a:t>
            </a:r>
            <a:r>
              <a:rPr sz="1250" b="0" i="0">
                <a:solidFill>
                  <a:srgbClr val="58595B"/>
                </a:solidFill>
                <a:latin typeface="Arial"/>
              </a:rPr>
              <a:t>  Tải file thô, giữ nguyên; cảm ơn đơn vị; hẹn gửi tóm tắt kết quả.</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TÍNH SỐ NGƯỜI CẦN MỜI</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Cùng mục tiêu 150 phiếu hợp lệ, số người phải mời đi từ 200 đến 589 tùy cách tiếp cận</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Số cần mời = số phiếu hợp lệ mục tiêu chia cho (tỷ lệ phản hồi nhân tỷ lệ hợp lệ); tính trước khi phát phiếu, không tính sau khi thấy thiếu.</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Bảng 3-5, Thực hành 3.5.1A và Bảng 3-13; Baruch và Holtom (2008); file 2b.Chapter_2_and_Chapter_3_Data_Collection_Practice.xlsx (dữ liệu giả định), sheet 4_KeHoachMau</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63</a:t>
            </a:r>
          </a:p>
        </p:txBody>
      </p:sp>
      <p:sp>
        <p:nvSpPr>
          <p:cNvPr id="12" name="TextBox 11"/>
          <p:cNvSpPr txBox="1"/>
          <p:nvPr/>
        </p:nvSpPr>
        <p:spPr>
          <a:xfrm>
            <a:off x="457200" y="1783080"/>
            <a:ext cx="3575304" cy="1097280"/>
          </a:xfrm>
          <a:prstGeom prst="rect">
            <a:avLst/>
          </a:prstGeom>
          <a:noFill/>
        </p:spPr>
        <p:txBody>
          <a:bodyPr wrap="square" lIns="45720" rIns="45720" tIns="27432" bIns="27432" anchor="t">
            <a:spAutoFit/>
          </a:bodyPr>
          <a:lstStyle/>
          <a:p>
            <a:pPr algn="l"/>
            <a:r>
              <a:rPr sz="5400" b="1" i="0">
                <a:solidFill>
                  <a:srgbClr val="262626"/>
                </a:solidFill>
                <a:latin typeface="Arial"/>
              </a:rPr>
              <a:t>200</a:t>
            </a:r>
          </a:p>
        </p:txBody>
      </p:sp>
      <p:cxnSp>
        <p:nvCxnSpPr>
          <p:cNvPr id="13" name="Connector 12"/>
          <p:cNvCxnSpPr/>
          <p:nvPr/>
        </p:nvCxnSpPr>
        <p:spPr>
          <a:xfrm>
            <a:off x="457200" y="2971800"/>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3063239"/>
            <a:ext cx="3575304" cy="457200"/>
          </a:xfrm>
          <a:prstGeom prst="rect">
            <a:avLst/>
          </a:prstGeom>
          <a:noFill/>
        </p:spPr>
        <p:txBody>
          <a:bodyPr wrap="square" lIns="45720" rIns="45720" tIns="27432" bIns="27432" anchor="t">
            <a:spAutoFit/>
          </a:bodyPr>
          <a:lstStyle/>
          <a:p>
            <a:pPr algn="l"/>
            <a:r>
              <a:rPr sz="1400" b="1" i="0">
                <a:solidFill>
                  <a:srgbClr val="262626"/>
                </a:solidFill>
                <a:latin typeface="Arial"/>
              </a:rPr>
              <a:t>Mời tại quầy và trực tuyến</a:t>
            </a:r>
          </a:p>
        </p:txBody>
      </p:sp>
      <p:sp>
        <p:nvSpPr>
          <p:cNvPr id="15" name="TextBox 14"/>
          <p:cNvSpPr txBox="1"/>
          <p:nvPr/>
        </p:nvSpPr>
        <p:spPr>
          <a:xfrm>
            <a:off x="457200" y="3520439"/>
            <a:ext cx="3575304" cy="2057400"/>
          </a:xfrm>
          <a:prstGeom prst="rect">
            <a:avLst/>
          </a:prstGeom>
          <a:noFill/>
        </p:spPr>
        <p:txBody>
          <a:bodyPr wrap="square" lIns="45720" rIns="45720" tIns="27432" bIns="27432" anchor="t">
            <a:spAutoFit/>
          </a:bodyPr>
          <a:lstStyle/>
          <a:p>
            <a:pPr algn="l"/>
            <a:r>
              <a:rPr sz="1200" b="0" i="0">
                <a:solidFill>
                  <a:srgbClr val="58595B"/>
                </a:solidFill>
                <a:latin typeface="Arial"/>
              </a:rPr>
              <a:t>Thực tế Ngân hàng X: phản hồi 82,5%; hợp lệ 90,9%.</a:t>
            </a:r>
          </a:p>
        </p:txBody>
      </p:sp>
      <p:sp>
        <p:nvSpPr>
          <p:cNvPr id="16" name="TextBox 15"/>
          <p:cNvSpPr txBox="1"/>
          <p:nvPr/>
        </p:nvSpPr>
        <p:spPr>
          <a:xfrm>
            <a:off x="4306824" y="1783080"/>
            <a:ext cx="3575304" cy="1097280"/>
          </a:xfrm>
          <a:prstGeom prst="rect">
            <a:avLst/>
          </a:prstGeom>
          <a:noFill/>
        </p:spPr>
        <p:txBody>
          <a:bodyPr wrap="square" lIns="45720" rIns="45720" tIns="27432" bIns="27432" anchor="t">
            <a:spAutoFit/>
          </a:bodyPr>
          <a:lstStyle/>
          <a:p>
            <a:pPr algn="l"/>
            <a:r>
              <a:rPr sz="5400" b="1" i="0">
                <a:solidFill>
                  <a:srgbClr val="262626"/>
                </a:solidFill>
                <a:latin typeface="Arial"/>
              </a:rPr>
              <a:t>317</a:t>
            </a:r>
          </a:p>
        </p:txBody>
      </p:sp>
      <p:cxnSp>
        <p:nvCxnSpPr>
          <p:cNvPr id="17" name="Connector 16"/>
          <p:cNvCxnSpPr/>
          <p:nvPr/>
        </p:nvCxnSpPr>
        <p:spPr>
          <a:xfrm>
            <a:off x="4306824" y="2971800"/>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06824" y="3063239"/>
            <a:ext cx="3575304" cy="457200"/>
          </a:xfrm>
          <a:prstGeom prst="rect">
            <a:avLst/>
          </a:prstGeom>
          <a:noFill/>
        </p:spPr>
        <p:txBody>
          <a:bodyPr wrap="square" lIns="45720" rIns="45720" tIns="27432" bIns="27432" anchor="t">
            <a:spAutoFit/>
          </a:bodyPr>
          <a:lstStyle/>
          <a:p>
            <a:pPr algn="l"/>
            <a:r>
              <a:rPr sz="1400" b="1" i="0">
                <a:solidFill>
                  <a:srgbClr val="262626"/>
                </a:solidFill>
                <a:latin typeface="Arial"/>
              </a:rPr>
              <a:t>Chỉ gửi trực tuyến</a:t>
            </a:r>
          </a:p>
        </p:txBody>
      </p:sp>
      <p:sp>
        <p:nvSpPr>
          <p:cNvPr id="19" name="TextBox 18"/>
          <p:cNvSpPr txBox="1"/>
          <p:nvPr/>
        </p:nvSpPr>
        <p:spPr>
          <a:xfrm>
            <a:off x="4306824" y="3520439"/>
            <a:ext cx="3575304" cy="2057400"/>
          </a:xfrm>
          <a:prstGeom prst="rect">
            <a:avLst/>
          </a:prstGeom>
          <a:noFill/>
        </p:spPr>
        <p:txBody>
          <a:bodyPr wrap="square" lIns="45720" rIns="45720" tIns="27432" bIns="27432" anchor="t">
            <a:spAutoFit/>
          </a:bodyPr>
          <a:lstStyle/>
          <a:p>
            <a:pPr algn="l"/>
            <a:r>
              <a:rPr sz="1200" b="0" i="0">
                <a:solidFill>
                  <a:srgbClr val="58595B"/>
                </a:solidFill>
                <a:latin typeface="Arial"/>
              </a:rPr>
              <a:t>Phản hồi 52,7%, bằng mức trung bình với người trả lời là cá nhân (Baruch và Holtom, 2008); hợp lệ 90%.</a:t>
            </a:r>
          </a:p>
        </p:txBody>
      </p:sp>
      <p:sp>
        <p:nvSpPr>
          <p:cNvPr id="20" name="TextBox 19"/>
          <p:cNvSpPr txBox="1"/>
          <p:nvPr/>
        </p:nvSpPr>
        <p:spPr>
          <a:xfrm>
            <a:off x="8156448" y="1783080"/>
            <a:ext cx="3575304" cy="1097280"/>
          </a:xfrm>
          <a:prstGeom prst="rect">
            <a:avLst/>
          </a:prstGeom>
          <a:noFill/>
        </p:spPr>
        <p:txBody>
          <a:bodyPr wrap="square" lIns="45720" rIns="45720" tIns="27432" bIns="27432" anchor="t">
            <a:spAutoFit/>
          </a:bodyPr>
          <a:lstStyle/>
          <a:p>
            <a:pPr algn="l"/>
            <a:r>
              <a:rPr sz="5400" b="1" i="0">
                <a:solidFill>
                  <a:srgbClr val="CC0000"/>
                </a:solidFill>
                <a:latin typeface="Arial"/>
              </a:rPr>
              <a:t>589</a:t>
            </a:r>
          </a:p>
        </p:txBody>
      </p:sp>
      <p:cxnSp>
        <p:nvCxnSpPr>
          <p:cNvPr id="21" name="Connector 20"/>
          <p:cNvCxnSpPr/>
          <p:nvPr/>
        </p:nvCxnSpPr>
        <p:spPr>
          <a:xfrm>
            <a:off x="8156448" y="2971800"/>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156448" y="3063239"/>
            <a:ext cx="3575304" cy="457200"/>
          </a:xfrm>
          <a:prstGeom prst="rect">
            <a:avLst/>
          </a:prstGeom>
          <a:noFill/>
        </p:spPr>
        <p:txBody>
          <a:bodyPr wrap="square" lIns="45720" rIns="45720" tIns="27432" bIns="27432" anchor="t">
            <a:spAutoFit/>
          </a:bodyPr>
          <a:lstStyle/>
          <a:p>
            <a:pPr algn="l"/>
            <a:r>
              <a:rPr sz="1400" b="1" i="0">
                <a:solidFill>
                  <a:srgbClr val="262626"/>
                </a:solidFill>
                <a:latin typeface="Arial"/>
              </a:rPr>
              <a:t>Đăng một lần, không nhắc</a:t>
            </a:r>
          </a:p>
        </p:txBody>
      </p:sp>
      <p:sp>
        <p:nvSpPr>
          <p:cNvPr id="23" name="TextBox 22"/>
          <p:cNvSpPr txBox="1"/>
          <p:nvPr/>
        </p:nvSpPr>
        <p:spPr>
          <a:xfrm>
            <a:off x="8156448" y="3520439"/>
            <a:ext cx="3575304" cy="2057400"/>
          </a:xfrm>
          <a:prstGeom prst="rect">
            <a:avLst/>
          </a:prstGeom>
          <a:noFill/>
        </p:spPr>
        <p:txBody>
          <a:bodyPr wrap="square" lIns="45720" rIns="45720" tIns="27432" bIns="27432" anchor="t">
            <a:spAutoFit/>
          </a:bodyPr>
          <a:lstStyle/>
          <a:p>
            <a:pPr algn="l"/>
            <a:r>
              <a:rPr sz="1200" b="0" i="0">
                <a:solidFill>
                  <a:srgbClr val="58595B"/>
                </a:solidFill>
                <a:latin typeface="Arial"/>
              </a:rPr>
              <a:t>Giả định phản hồi 30%, hợp lệ 85%.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KỊCH BẢN MỜI THAM GIA</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Lời mời tốt có năm ý: giới thiệu, câu sàng lọc, thời gian, cam kết bảo mật và quyền từ chối, lời xin giúp đỡ</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Câu sàng lọc phải đứng trước lời mời: hỏi đúng người quan trọng hơn hỏi nhiều người.</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3.8 và Thực hành 3.5.1A; Dillman, Smyth và Christian (2014)</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64</a:t>
            </a:r>
          </a:p>
        </p:txBody>
      </p:sp>
      <p:sp>
        <p:nvSpPr>
          <p:cNvPr id="12" name="Rectangle 11"/>
          <p:cNvSpPr/>
          <p:nvPr/>
        </p:nvSpPr>
        <p:spPr>
          <a:xfrm>
            <a:off x="457200" y="1783080"/>
            <a:ext cx="5486400" cy="365760"/>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CHƯA ĐẠT</a:t>
            </a:r>
          </a:p>
        </p:txBody>
      </p:sp>
      <p:sp>
        <p:nvSpPr>
          <p:cNvPr id="13" name="Rectangle 12"/>
          <p:cNvSpPr/>
          <p:nvPr/>
        </p:nvSpPr>
        <p:spPr>
          <a:xfrm>
            <a:off x="457200" y="2148840"/>
            <a:ext cx="5486400" cy="2103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240280"/>
            <a:ext cx="5212080" cy="1920240"/>
          </a:xfrm>
          <a:prstGeom prst="rect">
            <a:avLst/>
          </a:prstGeom>
          <a:noFill/>
        </p:spPr>
        <p:txBody>
          <a:bodyPr wrap="square" lIns="45720" rIns="45720" tIns="27432" bIns="27432" anchor="t">
            <a:spAutoFit/>
          </a:bodyPr>
          <a:lstStyle/>
          <a:p>
            <a:pPr algn="l"/>
            <a:r>
              <a:rPr sz="1150" b="0" i="1">
                <a:solidFill>
                  <a:srgbClr val="58595B"/>
                </a:solidFill>
                <a:latin typeface="Arial"/>
              </a:rPr>
              <a:t>"Anh chị làm giúp em cái phiếu này với, em đang cần gấp để nộp bài."</a:t>
            </a:r>
          </a:p>
        </p:txBody>
      </p:sp>
      <p:sp>
        <p:nvSpPr>
          <p:cNvPr id="15" name="Rectangle 14"/>
          <p:cNvSpPr/>
          <p:nvPr/>
        </p:nvSpPr>
        <p:spPr>
          <a:xfrm>
            <a:off x="6245352" y="1783080"/>
            <a:ext cx="5486400" cy="3657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ĐẠT</a:t>
            </a:r>
          </a:p>
        </p:txBody>
      </p:sp>
      <p:sp>
        <p:nvSpPr>
          <p:cNvPr id="16" name="Rectangle 15"/>
          <p:cNvSpPr/>
          <p:nvPr/>
        </p:nvSpPr>
        <p:spPr>
          <a:xfrm>
            <a:off x="6245352" y="2148840"/>
            <a:ext cx="5486400" cy="2103120"/>
          </a:xfrm>
          <a:prstGeom prst="rect">
            <a:avLst/>
          </a:prstGeom>
          <a:solidFill>
            <a:srgbClr val="FFFFFF"/>
          </a:solidFill>
          <a:ln w="95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240280"/>
            <a:ext cx="5212080" cy="1920240"/>
          </a:xfrm>
          <a:prstGeom prst="rect">
            <a:avLst/>
          </a:prstGeom>
          <a:noFill/>
        </p:spPr>
        <p:txBody>
          <a:bodyPr wrap="square" lIns="45720" rIns="45720" tIns="27432" bIns="27432" anchor="t">
            <a:spAutoFit/>
          </a:bodyPr>
          <a:lstStyle/>
          <a:p>
            <a:pPr algn="l"/>
            <a:r>
              <a:rPr sz="1150" b="0" i="1">
                <a:solidFill>
                  <a:srgbClr val="262626"/>
                </a:solidFill>
                <a:latin typeface="Arial"/>
              </a:rPr>
              <a:t>"Chào anh/chị, em là [họ tên], sinh viên ngành [ngành] Trường [tên trường]. Em đang làm khóa luận về việc sử dụng ngân hàng số. Anh/chị đã đăng ký ứng dụng ngân hàng số của Ngân hàng X chưa ạ? [Nếu có] Phiếu có 19 câu đánh giá và 4 câu thông tin chung, mất khoảng 5 phút, không hỏi họ tên hay số tài khoản. Anh/chị có thể dừng bất cứ lúc nào. Anh/chị có sẵn lòng giúp em không ạ?"</a:t>
            </a:r>
          </a:p>
        </p:txBody>
      </p:sp>
      <p:sp>
        <p:nvSpPr>
          <p:cNvPr id="18" name="TextBox 17"/>
          <p:cNvSpPr txBox="1"/>
          <p:nvPr/>
        </p:nvSpPr>
        <p:spPr>
          <a:xfrm>
            <a:off x="457200" y="4434840"/>
            <a:ext cx="2743200" cy="274320"/>
          </a:xfrm>
          <a:prstGeom prst="rect">
            <a:avLst/>
          </a:prstGeom>
          <a:noFill/>
        </p:spPr>
        <p:txBody>
          <a:bodyPr wrap="square" lIns="45720" rIns="45720" tIns="27432" bIns="27432" anchor="t">
            <a:spAutoFit/>
          </a:bodyPr>
          <a:lstStyle/>
          <a:p>
            <a:pPr algn="l"/>
            <a:r>
              <a:rPr sz="1000" b="1" i="0">
                <a:solidFill>
                  <a:srgbClr val="CC0000"/>
                </a:solidFill>
                <a:latin typeface="Arial"/>
              </a:rPr>
              <a:t>VÌ SAO BẢN CHƯA ĐẠT BỊ TRỪ ĐIỂM</a:t>
            </a:r>
          </a:p>
        </p:txBody>
      </p:sp>
      <p:cxnSp>
        <p:nvCxnSpPr>
          <p:cNvPr id="19" name="Connector 18"/>
          <p:cNvCxnSpPr/>
          <p:nvPr/>
        </p:nvCxnSpPr>
        <p:spPr>
          <a:xfrm>
            <a:off x="457200"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logic.</a:t>
            </a:r>
            <a:r>
              <a:rPr sz="1200" b="0" i="0">
                <a:solidFill>
                  <a:srgbClr val="58595B"/>
                </a:solidFill>
                <a:latin typeface="Arial"/>
              </a:rPr>
              <a:t> Không có câu sàng lọc nên người chưa dùng ngân hàng số cũng trả lời.</a:t>
            </a:r>
          </a:p>
        </p:txBody>
      </p:sp>
      <p:cxnSp>
        <p:nvCxnSpPr>
          <p:cNvPr id="21" name="Connector 20"/>
          <p:cNvCxnSpPr/>
          <p:nvPr/>
        </p:nvCxnSpPr>
        <p:spPr>
          <a:xfrm>
            <a:off x="4306824"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06824"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bằng chứng.</a:t>
            </a:r>
            <a:r>
              <a:rPr sz="1200" b="0" i="0">
                <a:solidFill>
                  <a:srgbClr val="58595B"/>
                </a:solidFill>
                <a:latin typeface="Arial"/>
              </a:rPr>
              <a:t> Không nói người mời là ai, khảo sát gì, mất bao lâu; người được mời không có lý do để tin.</a:t>
            </a:r>
          </a:p>
        </p:txBody>
      </p:sp>
      <p:cxnSp>
        <p:nvCxnSpPr>
          <p:cNvPr id="23" name="Connector 22"/>
          <p:cNvCxnSpPr/>
          <p:nvPr/>
        </p:nvCxnSpPr>
        <p:spPr>
          <a:xfrm>
            <a:off x="8156448"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56448"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Về đạo đức.</a:t>
            </a:r>
            <a:r>
              <a:rPr sz="1200" b="0" i="0">
                <a:solidFill>
                  <a:srgbClr val="58595B"/>
                </a:solidFill>
                <a:latin typeface="Arial"/>
              </a:rPr>
              <a:t> "Cần gấp" tạo áp lực, trái nguyên tắc tự nguyện ở mục 3.8.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NHẬT KÝ THU THẬP</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Nhật ký từng ngày cho thấy mỗi lần nhắc kéo theo một đợt phiếu mới; nhật ký phải khớp tuyệt đối với file dữ liệu</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Nhật ký đếm từ dấu thời gian của file dữ liệu thì không thể lệch với con số báo cáo ở mục 3.5.1.</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3.5.1 và Thực hành 3.5.1A, Bảng 3-14 và 3-15; file 2b.Chapter_2_and_Chapter_3_Data_Collection_Practice.xlsx (dữ liệu giả định), sheet 5, 6 và 7</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65</a:t>
            </a:r>
          </a:p>
        </p:txBody>
      </p:sp>
      <p:graphicFrame>
        <p:nvGraphicFramePr>
          <p:cNvPr id="12" name="Chart 11"/>
          <p:cNvGraphicFramePr>
            <a:graphicFrameLocks noGrp="1"/>
          </p:cNvGraphicFramePr>
          <p:nvPr/>
        </p:nvGraphicFramePr>
        <p:xfrm>
          <a:off x="457200" y="1783080"/>
          <a:ext cx="6766560" cy="3840480"/>
        </p:xfrm>
        <a:graphic>
          <a:graphicData uri="http://schemas.openxmlformats.org/drawingml/2006/chart">
            <c:chart xmlns:c="http://schemas.openxmlformats.org/drawingml/2006/chart" r:id="rId2"/>
          </a:graphicData>
        </a:graphic>
      </p:graphicFrame>
      <p:sp>
        <p:nvSpPr>
          <p:cNvPr id="13" name="TextBox 12"/>
          <p:cNvSpPr txBox="1"/>
          <p:nvPr/>
        </p:nvSpPr>
        <p:spPr>
          <a:xfrm>
            <a:off x="457200" y="1709928"/>
            <a:ext cx="6766560" cy="274320"/>
          </a:xfrm>
          <a:prstGeom prst="rect">
            <a:avLst/>
          </a:prstGeom>
          <a:noFill/>
        </p:spPr>
        <p:txBody>
          <a:bodyPr wrap="square" lIns="45720" rIns="45720" tIns="27432" bIns="27432" anchor="t">
            <a:spAutoFit/>
          </a:bodyPr>
          <a:lstStyle/>
          <a:p>
            <a:pPr algn="l"/>
            <a:r>
              <a:rPr sz="1050" b="1" i="0">
                <a:solidFill>
                  <a:srgbClr val="9E9E9E"/>
                </a:solidFill>
                <a:latin typeface="Arial"/>
              </a:rPr>
              <a:t>SỐ PHIẾU NHẬN MỖI NGÀY (TỔNG 165; ĐỎ = NGÀY NHẮC LẠI)</a:t>
            </a:r>
          </a:p>
        </p:txBody>
      </p:sp>
      <p:sp>
        <p:nvSpPr>
          <p:cNvPr id="14" name="TextBox 13"/>
          <p:cNvSpPr txBox="1"/>
          <p:nvPr/>
        </p:nvSpPr>
        <p:spPr>
          <a:xfrm>
            <a:off x="7543800" y="1783080"/>
            <a:ext cx="4187952"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ĐỌC</a:t>
            </a:r>
          </a:p>
        </p:txBody>
      </p:sp>
      <p:cxnSp>
        <p:nvCxnSpPr>
          <p:cNvPr id="15" name="Connector 14"/>
          <p:cNvCxnSpPr/>
          <p:nvPr/>
        </p:nvCxnSpPr>
        <p:spPr>
          <a:xfrm>
            <a:off x="7543800" y="2103120"/>
            <a:ext cx="41879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54380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955279" y="2194560"/>
            <a:ext cx="3776472" cy="857250"/>
          </a:xfrm>
          <a:prstGeom prst="rect">
            <a:avLst/>
          </a:prstGeom>
          <a:noFill/>
        </p:spPr>
        <p:txBody>
          <a:bodyPr wrap="square" lIns="45720" rIns="45720" tIns="27432" bIns="27432" anchor="t">
            <a:spAutoFit/>
          </a:bodyPr>
          <a:lstStyle/>
          <a:p>
            <a:pPr algn="l"/>
            <a:r>
              <a:rPr sz="1250" b="1" i="0">
                <a:solidFill>
                  <a:srgbClr val="58595B"/>
                </a:solidFill>
                <a:latin typeface="Arial"/>
              </a:rPr>
              <a:t>Ngày 06/3 và 13/3 là hai ngày nhắc:</a:t>
            </a:r>
            <a:r>
              <a:rPr sz="1250" b="0" i="0">
                <a:solidFill>
                  <a:srgbClr val="58595B"/>
                </a:solidFill>
                <a:latin typeface="Arial"/>
              </a:rPr>
              <a:t> 19 và 14 phiếu.</a:t>
            </a:r>
          </a:p>
        </p:txBody>
      </p:sp>
      <p:sp>
        <p:nvSpPr>
          <p:cNvPr id="18" name="Oval 17"/>
          <p:cNvSpPr/>
          <p:nvPr/>
        </p:nvSpPr>
        <p:spPr>
          <a:xfrm>
            <a:off x="754380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955279" y="3051810"/>
            <a:ext cx="3776472" cy="857250"/>
          </a:xfrm>
          <a:prstGeom prst="rect">
            <a:avLst/>
          </a:prstGeom>
          <a:noFill/>
        </p:spPr>
        <p:txBody>
          <a:bodyPr wrap="square" lIns="45720" rIns="45720" tIns="27432" bIns="27432" anchor="t">
            <a:spAutoFit/>
          </a:bodyPr>
          <a:lstStyle/>
          <a:p>
            <a:pPr algn="l"/>
            <a:r>
              <a:rPr sz="1250" b="1" i="0">
                <a:solidFill>
                  <a:srgbClr val="58595B"/>
                </a:solidFill>
                <a:latin typeface="Arial"/>
              </a:rPr>
              <a:t>Cột phiếu nhận đếm tự động</a:t>
            </a:r>
            <a:r>
              <a:rPr sz="1250" b="0" i="0">
                <a:solidFill>
                  <a:srgbClr val="58595B"/>
                </a:solidFill>
                <a:latin typeface="Arial"/>
              </a:rPr>
              <a:t> từ dấu thời gian của 165 phiếu thô bằng COUNTIF.</a:t>
            </a:r>
          </a:p>
        </p:txBody>
      </p:sp>
      <p:sp>
        <p:nvSpPr>
          <p:cNvPr id="20" name="Oval 19"/>
          <p:cNvSpPr/>
          <p:nvPr/>
        </p:nvSpPr>
        <p:spPr>
          <a:xfrm>
            <a:off x="754380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955279" y="3909060"/>
            <a:ext cx="3776472" cy="857250"/>
          </a:xfrm>
          <a:prstGeom prst="rect">
            <a:avLst/>
          </a:prstGeom>
          <a:noFill/>
        </p:spPr>
        <p:txBody>
          <a:bodyPr wrap="square" lIns="45720" rIns="45720" tIns="27432" bIns="27432" anchor="t">
            <a:spAutoFit/>
          </a:bodyPr>
          <a:lstStyle/>
          <a:p>
            <a:pPr algn="l"/>
            <a:r>
              <a:rPr sz="1250" b="1" i="0">
                <a:solidFill>
                  <a:srgbClr val="58595B"/>
                </a:solidFill>
                <a:latin typeface="Arial"/>
              </a:rPr>
              <a:t>Ghi cả vấn đề:</a:t>
            </a:r>
            <a:r>
              <a:rPr sz="1250" b="0" i="0">
                <a:solidFill>
                  <a:srgbClr val="58595B"/>
                </a:solidFill>
                <a:latin typeface="Arial"/>
              </a:rPr>
              <a:t> 09/3 quầy nghỉ; 12/3 phát hiện 1 phiếu gửi hai lần cách 2 phút, không xóa, để lọc.</a:t>
            </a:r>
          </a:p>
        </p:txBody>
      </p:sp>
      <p:sp>
        <p:nvSpPr>
          <p:cNvPr id="22" name="Oval 21"/>
          <p:cNvSpPr/>
          <p:nvPr/>
        </p:nvSpPr>
        <p:spPr>
          <a:xfrm>
            <a:off x="754380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3" name="TextBox 22"/>
          <p:cNvSpPr txBox="1"/>
          <p:nvPr/>
        </p:nvSpPr>
        <p:spPr>
          <a:xfrm>
            <a:off x="7955279" y="4766310"/>
            <a:ext cx="3776472" cy="857250"/>
          </a:xfrm>
          <a:prstGeom prst="rect">
            <a:avLst/>
          </a:prstGeom>
          <a:noFill/>
        </p:spPr>
        <p:txBody>
          <a:bodyPr wrap="square" lIns="45720" rIns="45720" tIns="27432" bIns="27432" anchor="t">
            <a:spAutoFit/>
          </a:bodyPr>
          <a:lstStyle/>
          <a:p>
            <a:pPr algn="l"/>
            <a:r>
              <a:rPr sz="1250" b="1" i="0">
                <a:solidFill>
                  <a:srgbClr val="58595B"/>
                </a:solidFill>
                <a:latin typeface="Arial"/>
              </a:rPr>
              <a:t>Tổng:</a:t>
            </a:r>
            <a:r>
              <a:rPr sz="1250" b="0" i="0">
                <a:solidFill>
                  <a:srgbClr val="58595B"/>
                </a:solidFill>
                <a:latin typeface="Arial"/>
              </a:rPr>
              <a:t> mời 200, nhận 165, phản hồi 82,5%, loại 15, hợp lệ 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BA SAI LỆCH KHI THU</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Ba sai lệch không sửa được bằng phân tích: chặn khi thu phiếu, rồi kiểm tra bằng con số sau khi thu</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Chặn sai lệch bằng thiết kế, chứng minh bằng con số và ghi giới hạn còn lại vào mục hạn chế.</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Thực hành 3.5.1C, Bảng 3-17 và 3-18; Armstrong và Overton (1977); Podsakoff và cộng sự (2003); Meade và Craig (2012); Kock (2015); file 2b.Chapter_2_and_Chapter_3_Data_Collection_Practice.xlsx (dữ liệu giả định), sheet 8 và 9</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66</a:t>
            </a:r>
          </a:p>
        </p:txBody>
      </p:sp>
      <p:graphicFrame>
        <p:nvGraphicFramePr>
          <p:cNvPr id="12" name="Table 11"/>
          <p:cNvGraphicFramePr>
            <a:graphicFrameLocks noGrp="1"/>
          </p:cNvGraphicFramePr>
          <p:nvPr/>
        </p:nvGraphicFramePr>
        <p:xfrm>
          <a:off x="457200" y="1783080"/>
          <a:ext cx="9326880" cy="2660904"/>
        </p:xfrm>
        <a:graphic>
          <a:graphicData uri="http://schemas.openxmlformats.org/drawingml/2006/table">
            <a:tbl>
              <a:tblPr firstRow="1" bandRow="1">
                <a:tableStyleId>{5C22544A-7EE6-4342-B048-85BDC9FD1C3A}</a:tableStyleId>
              </a:tblPr>
              <a:tblGrid>
                <a:gridCol w="1828800"/>
                <a:gridCol w="2651760"/>
                <a:gridCol w="3017520"/>
                <a:gridCol w="1828800"/>
              </a:tblGrid>
              <a:tr h="411480">
                <a:tc>
                  <a:txBody>
                    <a:bodyPr wrap="square"/>
                    <a:lstStyle/>
                    <a:p>
                      <a:pPr algn="l"/>
                      <a:r>
                        <a:rPr sz="1200" b="1">
                          <a:solidFill>
                            <a:srgbClr val="FFFFFF"/>
                          </a:solidFill>
                          <a:latin typeface="Arial"/>
                        </a:rPr>
                        <a:t>Sai lệch</a:t>
                      </a:r>
                    </a:p>
                  </a:txBody>
                  <a:tcPr marL="73152" marR="73152" marT="27432" marB="27432" anchor="ctr">
                    <a:solidFill>
                      <a:srgbClr val="262626"/>
                    </a:solidFill>
                  </a:tcPr>
                </a:tc>
                <a:tc>
                  <a:txBody>
                    <a:bodyPr wrap="square"/>
                    <a:lstStyle/>
                    <a:p>
                      <a:pPr algn="l"/>
                      <a:r>
                        <a:rPr sz="1200" b="1">
                          <a:solidFill>
                            <a:srgbClr val="FFFFFF"/>
                          </a:solidFill>
                          <a:latin typeface="Arial"/>
                        </a:rPr>
                        <a:t>Chặn khi thu</a:t>
                      </a:r>
                    </a:p>
                  </a:txBody>
                  <a:tcPr marL="73152" marR="73152" marT="27432" marB="27432" anchor="ctr">
                    <a:solidFill>
                      <a:srgbClr val="262626"/>
                    </a:solidFill>
                  </a:tcPr>
                </a:tc>
                <a:tc>
                  <a:txBody>
                    <a:bodyPr wrap="square"/>
                    <a:lstStyle/>
                    <a:p>
                      <a:pPr algn="l"/>
                      <a:r>
                        <a:rPr sz="1200" b="1">
                          <a:solidFill>
                            <a:srgbClr val="FFFFFF"/>
                          </a:solidFill>
                          <a:latin typeface="Arial"/>
                        </a:rPr>
                        <a:t>Kiểm tra sau khi thu</a:t>
                      </a:r>
                    </a:p>
                  </a:txBody>
                  <a:tcPr marL="73152" marR="73152" marT="27432" marB="27432" anchor="ctr">
                    <a:solidFill>
                      <a:srgbClr val="262626"/>
                    </a:solidFill>
                  </a:tcPr>
                </a:tc>
                <a:tc>
                  <a:txBody>
                    <a:bodyPr wrap="square"/>
                    <a:lstStyle/>
                    <a:p>
                      <a:pPr algn="l"/>
                      <a:r>
                        <a:rPr sz="1200" b="1">
                          <a:solidFill>
                            <a:srgbClr val="FFFFFF"/>
                          </a:solidFill>
                          <a:latin typeface="Arial"/>
                        </a:rPr>
                        <a:t>Kết quả</a:t>
                      </a:r>
                    </a:p>
                  </a:txBody>
                  <a:tcPr marL="73152" marR="73152" marT="27432" marB="27432" anchor="ctr">
                    <a:solidFill>
                      <a:srgbClr val="262626"/>
                    </a:solidFill>
                  </a:tcPr>
                </a:tc>
              </a:tr>
              <a:tr h="749808">
                <a:tc>
                  <a:txBody>
                    <a:bodyPr wrap="square"/>
                    <a:lstStyle/>
                    <a:p>
                      <a:pPr algn="l"/>
                      <a:r>
                        <a:rPr sz="1200" b="0">
                          <a:solidFill>
                            <a:srgbClr val="262626"/>
                          </a:solidFill>
                          <a:latin typeface="Arial"/>
                        </a:rPr>
                        <a:t>Không phản hồi</a:t>
                      </a:r>
                    </a:p>
                  </a:txBody>
                  <a:tcPr marL="73152" marR="73152" marT="27432" marB="27432" anchor="ctr">
                    <a:solidFill>
                      <a:srgbClr val="FBEAEA"/>
                    </a:solidFill>
                  </a:tcPr>
                </a:tc>
                <a:tc>
                  <a:txBody>
                    <a:bodyPr wrap="square"/>
                    <a:lstStyle/>
                    <a:p>
                      <a:pPr algn="l"/>
                      <a:r>
                        <a:rPr sz="1200" b="0">
                          <a:solidFill>
                            <a:srgbClr val="262626"/>
                          </a:solidFill>
                          <a:latin typeface="Arial"/>
                        </a:rPr>
                        <a:t>Hai lần nhắc; ghi ngày nhắc</a:t>
                      </a:r>
                    </a:p>
                  </a:txBody>
                  <a:tcPr marL="73152" marR="73152" marT="27432" marB="27432" anchor="ctr">
                    <a:solidFill>
                      <a:srgbClr val="FBEAEA"/>
                    </a:solidFill>
                  </a:tcPr>
                </a:tc>
                <a:tc>
                  <a:txBody>
                    <a:bodyPr wrap="square"/>
                    <a:lstStyle/>
                    <a:p>
                      <a:pPr algn="l"/>
                      <a:r>
                        <a:rPr sz="1200" b="0">
                          <a:solidFill>
                            <a:srgbClr val="262626"/>
                          </a:solidFill>
                          <a:latin typeface="Arial"/>
                        </a:rPr>
                        <a:t>Nhóm sớm (n = 26) so với nhóm muộn (n = 53) bằng T.TEST</a:t>
                      </a:r>
                    </a:p>
                  </a:txBody>
                  <a:tcPr marL="73152" marR="73152" marT="27432" marB="27432" anchor="ctr">
                    <a:solidFill>
                      <a:srgbClr val="FBEAEA"/>
                    </a:solidFill>
                  </a:tcPr>
                </a:tc>
                <a:tc>
                  <a:txBody>
                    <a:bodyPr wrap="square"/>
                    <a:lstStyle/>
                    <a:p>
                      <a:pPr algn="l"/>
                      <a:r>
                        <a:rPr sz="1200" b="0">
                          <a:solidFill>
                            <a:srgbClr val="262626"/>
                          </a:solidFill>
                          <a:latin typeface="Arial"/>
                        </a:rPr>
                        <a:t>Năm P-value từ 0,082 đến 0,809</a:t>
                      </a:r>
                    </a:p>
                  </a:txBody>
                  <a:tcPr marL="73152" marR="73152" marT="27432" marB="27432" anchor="ctr">
                    <a:solidFill>
                      <a:srgbClr val="FBEAEA"/>
                    </a:solidFill>
                  </a:tcPr>
                </a:tc>
              </a:tr>
              <a:tr h="749808">
                <a:tc>
                  <a:txBody>
                    <a:bodyPr wrap="square"/>
                    <a:lstStyle/>
                    <a:p>
                      <a:pPr algn="l"/>
                      <a:r>
                        <a:rPr sz="1200" b="0">
                          <a:solidFill>
                            <a:srgbClr val="262626"/>
                          </a:solidFill>
                          <a:latin typeface="Arial"/>
                        </a:rPr>
                        <a:t>Trả lời cẩu thả</a:t>
                      </a:r>
                    </a:p>
                  </a:txBody>
                  <a:tcPr marL="73152" marR="73152" marT="27432" marB="27432" anchor="ctr">
                    <a:solidFill>
                      <a:srgbClr val="F3F3F3"/>
                    </a:solidFill>
                  </a:tcPr>
                </a:tc>
                <a:tc>
                  <a:txBody>
                    <a:bodyPr wrap="square"/>
                    <a:lstStyle/>
                    <a:p>
                      <a:pPr algn="l"/>
                      <a:r>
                        <a:rPr sz="1200" b="0">
                          <a:solidFill>
                            <a:srgbClr val="262626"/>
                          </a:solidFill>
                          <a:latin typeface="Arial"/>
                        </a:rPr>
                        <a:t>Một câu "vui lòng chọn mức 2"; phiếu ngắn</a:t>
                      </a:r>
                    </a:p>
                  </a:txBody>
                  <a:tcPr marL="73152" marR="73152" marT="27432" marB="27432" anchor="ctr">
                    <a:solidFill>
                      <a:srgbClr val="F3F3F3"/>
                    </a:solidFill>
                  </a:tcPr>
                </a:tc>
                <a:tc>
                  <a:txBody>
                    <a:bodyPr wrap="square"/>
                    <a:lstStyle/>
                    <a:p>
                      <a:pPr algn="l"/>
                      <a:r>
                        <a:rPr sz="1200" b="0">
                          <a:solidFill>
                            <a:srgbClr val="262626"/>
                          </a:solidFill>
                          <a:latin typeface="Arial"/>
                        </a:rPr>
                        <a:t>Đếm phiếu có độ lệch chuẩn của dòng bằng 0</a:t>
                      </a:r>
                    </a:p>
                  </a:txBody>
                  <a:tcPr marL="73152" marR="73152" marT="27432" marB="27432" anchor="ctr">
                    <a:solidFill>
                      <a:srgbClr val="F3F3F3"/>
                    </a:solidFill>
                  </a:tcPr>
                </a:tc>
                <a:tc>
                  <a:txBody>
                    <a:bodyPr wrap="square"/>
                    <a:lstStyle/>
                    <a:p>
                      <a:pPr algn="l"/>
                      <a:r>
                        <a:rPr sz="1200" b="0">
                          <a:solidFill>
                            <a:srgbClr val="262626"/>
                          </a:solidFill>
                          <a:latin typeface="Arial"/>
                        </a:rPr>
                        <a:t>0 phiếu</a:t>
                      </a:r>
                    </a:p>
                  </a:txBody>
                  <a:tcPr marL="73152" marR="73152" marT="27432" marB="27432" anchor="ctr">
                    <a:solidFill>
                      <a:srgbClr val="F3F3F3"/>
                    </a:solidFill>
                  </a:tcPr>
                </a:tc>
              </a:tr>
              <a:tr h="749808">
                <a:tc>
                  <a:txBody>
                    <a:bodyPr wrap="square"/>
                    <a:lstStyle/>
                    <a:p>
                      <a:pPr algn="l"/>
                      <a:r>
                        <a:rPr sz="1200" b="0">
                          <a:solidFill>
                            <a:srgbClr val="262626"/>
                          </a:solidFill>
                          <a:latin typeface="Arial"/>
                        </a:rPr>
                        <a:t>Phương pháp chung</a:t>
                      </a:r>
                    </a:p>
                  </a:txBody>
                  <a:tcPr marL="73152" marR="73152" marT="27432" marB="27432" anchor="ctr">
                    <a:solidFill>
                      <a:srgbClr val="FFFFFF"/>
                    </a:solidFill>
                  </a:tcPr>
                </a:tc>
                <a:tc>
                  <a:txBody>
                    <a:bodyPr wrap="square"/>
                    <a:lstStyle/>
                    <a:p>
                      <a:pPr algn="l"/>
                      <a:r>
                        <a:rPr sz="1200" b="0">
                          <a:solidFill>
                            <a:srgbClr val="262626"/>
                          </a:solidFill>
                          <a:latin typeface="Arial"/>
                        </a:rPr>
                        <a:t>Ẩn danh; không có đúng sai; tách phần biến phụ thuộc</a:t>
                      </a:r>
                    </a:p>
                  </a:txBody>
                  <a:tcPr marL="73152" marR="73152" marT="27432" marB="27432" anchor="ctr">
                    <a:solidFill>
                      <a:srgbClr val="FFFFFF"/>
                    </a:solidFill>
                  </a:tcPr>
                </a:tc>
                <a:tc>
                  <a:txBody>
                    <a:bodyPr wrap="square"/>
                    <a:lstStyle/>
                    <a:p>
                      <a:pPr algn="l"/>
                      <a:r>
                        <a:rPr sz="1200" b="0">
                          <a:solidFill>
                            <a:srgbClr val="262626"/>
                          </a:solidFill>
                          <a:latin typeface="Arial"/>
                        </a:rPr>
                        <a:t>Harman một nhân tố; SmartPLS: VIF toàn phần dưới 3,3</a:t>
                      </a:r>
                    </a:p>
                  </a:txBody>
                  <a:tcPr marL="73152" marR="73152" marT="27432" marB="27432" anchor="ctr">
                    <a:solidFill>
                      <a:srgbClr val="FFFFFF"/>
                    </a:solidFill>
                  </a:tcPr>
                </a:tc>
                <a:tc>
                  <a:txBody>
                    <a:bodyPr wrap="square"/>
                    <a:lstStyle/>
                    <a:p>
                      <a:pPr algn="l"/>
                      <a:r>
                        <a:rPr sz="1200" b="0">
                          <a:solidFill>
                            <a:srgbClr val="262626"/>
                          </a:solidFill>
                          <a:latin typeface="Arial"/>
                        </a:rPr>
                        <a:t>Nhân tố đầu 32,0%</a:t>
                      </a:r>
                    </a:p>
                  </a:txBody>
                  <a:tcPr marL="73152" marR="73152" marT="27432" marB="27432" anchor="ctr">
                    <a:solidFill>
                      <a:srgbClr val="FFFFFF"/>
                    </a:solidFill>
                  </a:tcPr>
                </a:tc>
              </a:tr>
            </a:tbl>
          </a:graphicData>
        </a:graphic>
      </p:graphicFrame>
      <p:sp>
        <p:nvSpPr>
          <p:cNvPr id="13" name="TextBox 12"/>
          <p:cNvSpPr txBox="1"/>
          <p:nvPr/>
        </p:nvSpPr>
        <p:spPr>
          <a:xfrm>
            <a:off x="10058400" y="1783080"/>
            <a:ext cx="1673352" cy="274320"/>
          </a:xfrm>
          <a:prstGeom prst="rect">
            <a:avLst/>
          </a:prstGeom>
          <a:noFill/>
        </p:spPr>
        <p:txBody>
          <a:bodyPr wrap="square" lIns="45720" rIns="45720" tIns="27432" bIns="27432" anchor="t">
            <a:spAutoFit/>
          </a:bodyPr>
          <a:lstStyle/>
          <a:p>
            <a:pPr algn="l"/>
            <a:r>
              <a:rPr sz="1000" b="1" i="0">
                <a:solidFill>
                  <a:srgbClr val="CC0000"/>
                </a:solidFill>
                <a:latin typeface="Arial"/>
              </a:rPr>
              <a:t>ĐIỂM CẦN ĐỌC</a:t>
            </a:r>
          </a:p>
        </p:txBody>
      </p:sp>
      <p:cxnSp>
        <p:nvCxnSpPr>
          <p:cNvPr id="14" name="Connector 13"/>
          <p:cNvCxnSpPr/>
          <p:nvPr/>
        </p:nvCxnSpPr>
        <p:spPr>
          <a:xfrm>
            <a:off x="10058400" y="2103120"/>
            <a:ext cx="16733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058400" y="2167128"/>
            <a:ext cx="1673352" cy="3383280"/>
          </a:xfrm>
          <a:prstGeom prst="rect">
            <a:avLst/>
          </a:prstGeom>
          <a:noFill/>
        </p:spPr>
        <p:txBody>
          <a:bodyPr wrap="square" lIns="45720" rIns="45720" tIns="27432" bIns="27432" anchor="t">
            <a:spAutoFit/>
          </a:bodyPr>
          <a:lstStyle/>
          <a:p>
            <a:pPr algn="l"/>
            <a:r>
              <a:rPr sz="1250" b="0" i="0">
                <a:solidFill>
                  <a:srgbClr val="58595B"/>
                </a:solidFill>
                <a:latin typeface="Arial"/>
              </a:rPr>
              <a:t>Niềm tin: nhóm muộn thấp hơn </a:t>
            </a:r>
            <a:r>
              <a:rPr sz="1250" b="1" i="0">
                <a:solidFill>
                  <a:srgbClr val="58595B"/>
                </a:solidFill>
                <a:latin typeface="Arial"/>
              </a:rPr>
              <a:t>0,283 điểm</a:t>
            </a:r>
            <a:r>
              <a:rPr sz="1250" b="0" i="0">
                <a:solidFill>
                  <a:srgbClr val="58595B"/>
                </a:solidFill>
                <a:latin typeface="Arial"/>
              </a:rPr>
              <a:t>, P = 0,082.</a:t>
            </a:r>
          </a:p>
          <a:p>
            <a:pPr algn="l">
              <a:spcBef>
                <a:spcPts val="562"/>
              </a:spcBef>
            </a:pPr>
          </a:p>
          <a:p>
            <a:pPr algn="l">
              <a:spcBef>
                <a:spcPts val="562"/>
              </a:spcBef>
            </a:pPr>
            <a:r>
              <a:rPr sz="1250" b="0" i="0">
                <a:solidFill>
                  <a:srgbClr val="58595B"/>
                </a:solidFill>
                <a:latin typeface="Arial"/>
              </a:rPr>
              <a:t>Gần ngưỡng: ghi vào </a:t>
            </a:r>
            <a:r>
              <a:rPr sz="1250" b="1" i="0">
                <a:solidFill>
                  <a:srgbClr val="58595B"/>
                </a:solidFill>
                <a:latin typeface="Arial"/>
              </a:rPr>
              <a:t>hạn chế</a:t>
            </a:r>
            <a:r>
              <a:rPr sz="1250" b="0" i="0">
                <a:solidFill>
                  <a:srgbClr val="58595B"/>
                </a:solidFill>
                <a:latin typeface="Arial"/>
              </a:rPr>
              <a:t> ở Chương 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LÀM Ở SỨC SINH VIÊN, RA CHẤT LƯỢNG THẠC SĨ</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Sáu điểm nâng chất lượng không cần mô hình phức tạp; ba điểm đầu chỉ tốn thêm 2 đến 3 ngày</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Chất lượng thạc sĩ nằm ở bằng chứng cho từng quyết định, không nằm ở số biến hay độ phức tạp của kỹ thuật.</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Thực hành 2.1.3A đến 3.5.1C; file 2b.Chapter_2_and_Chapter_3_Data_Collection_Practice.xlsx (dữ liệu giả định), sheet 12_NangChuanThacSi (gợi ý của tác giả, không phải tiêu chí chấm chính thức)</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67</a:t>
            </a:r>
          </a:p>
        </p:txBody>
      </p:sp>
      <p:sp>
        <p:nvSpPr>
          <p:cNvPr id="12" name="Oval 11"/>
          <p:cNvSpPr/>
          <p:nvPr/>
        </p:nvSpPr>
        <p:spPr>
          <a:xfrm>
            <a:off x="457200" y="1828800"/>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78308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Khoảng trống:</a:t>
            </a:r>
            <a:r>
              <a:rPr sz="1350" b="0" i="0">
                <a:solidFill>
                  <a:srgbClr val="58595B"/>
                </a:solidFill>
                <a:latin typeface="Arial"/>
              </a:rPr>
              <a:t>  có nhật ký tìm kiếm và bảng đếm COUNTIFS, không chỉ có trích dẫn (Bảng 2-3 và 2-4).</a:t>
            </a:r>
          </a:p>
        </p:txBody>
      </p:sp>
      <p:cxnSp>
        <p:nvCxnSpPr>
          <p:cNvPr id="14" name="Connector 13"/>
          <p:cNvCxnSpPr/>
          <p:nvPr/>
        </p:nvCxnSpPr>
        <p:spPr>
          <a:xfrm>
            <a:off x="960120" y="236829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57200" y="2468879"/>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6" name="TextBox 15"/>
          <p:cNvSpPr txBox="1"/>
          <p:nvPr/>
        </p:nvSpPr>
        <p:spPr>
          <a:xfrm>
            <a:off x="960120" y="242316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Kế hoạch mẫu:</a:t>
            </a:r>
            <a:r>
              <a:rPr sz="1350" b="0" i="0">
                <a:solidFill>
                  <a:srgbClr val="58595B"/>
                </a:solidFill>
                <a:latin typeface="Arial"/>
              </a:rPr>
              <a:t>  số cần mời tính từ tỷ lệ phản hồi dự kiến; lịch tiếp xúc có hai lần nhắc (Bảng 3-13 và 3-14).</a:t>
            </a:r>
          </a:p>
        </p:txBody>
      </p:sp>
      <p:cxnSp>
        <p:nvCxnSpPr>
          <p:cNvPr id="17" name="Connector 16"/>
          <p:cNvCxnSpPr/>
          <p:nvPr/>
        </p:nvCxnSpPr>
        <p:spPr>
          <a:xfrm>
            <a:off x="960120" y="300837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57200" y="3108960"/>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19" name="TextBox 18"/>
          <p:cNvSpPr txBox="1"/>
          <p:nvPr/>
        </p:nvSpPr>
        <p:spPr>
          <a:xfrm>
            <a:off x="960120" y="306324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Chất lượng phiếu:</a:t>
            </a:r>
            <a:r>
              <a:rPr sz="1350" b="0" i="0">
                <a:solidFill>
                  <a:srgbClr val="58595B"/>
                </a:solidFill>
                <a:latin typeface="Arial"/>
              </a:rPr>
              <a:t>  câu kiểm tra sự chú ý; nhóm sớm và muộn; sai lệch phương pháp chung (Bảng 3-17 và 3-18).</a:t>
            </a:r>
          </a:p>
        </p:txBody>
      </p:sp>
      <p:cxnSp>
        <p:nvCxnSpPr>
          <p:cNvPr id="20" name="Connector 19"/>
          <p:cNvCxnSpPr/>
          <p:nvPr/>
        </p:nvCxnSpPr>
        <p:spPr>
          <a:xfrm>
            <a:off x="960120" y="364845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57200" y="3749039"/>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960120" y="370332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Thang đo:</a:t>
            </a:r>
            <a:r>
              <a:rPr sz="1350" b="0" i="0">
                <a:solidFill>
                  <a:srgbClr val="58595B"/>
                </a:solidFill>
                <a:latin typeface="Arial"/>
              </a:rPr>
              <a:t>  kế thừa thang đo đã công bố rồi phỏng vấn 5 đến 8 người để chỉnh câu chữ; có bảng câu gốc và câu đã chỉnh.</a:t>
            </a:r>
          </a:p>
        </p:txBody>
      </p:sp>
      <p:cxnSp>
        <p:nvCxnSpPr>
          <p:cNvPr id="23" name="Connector 22"/>
          <p:cNvCxnSpPr/>
          <p:nvPr/>
        </p:nvCxnSpPr>
        <p:spPr>
          <a:xfrm>
            <a:off x="960120" y="428853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57200" y="4389120"/>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5</a:t>
            </a:r>
          </a:p>
        </p:txBody>
      </p:sp>
      <p:sp>
        <p:nvSpPr>
          <p:cNvPr id="25" name="TextBox 24"/>
          <p:cNvSpPr txBox="1"/>
          <p:nvPr/>
        </p:nvSpPr>
        <p:spPr>
          <a:xfrm>
            <a:off x="960120" y="434340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Phân tích:</a:t>
            </a:r>
            <a:r>
              <a:rPr sz="1350" b="0" i="0">
                <a:solidFill>
                  <a:srgbClr val="58595B"/>
                </a:solidFill>
                <a:latin typeface="Arial"/>
              </a:rPr>
              <a:t>  thêm phân tích nhân tố khám phá ở mục 3.6.3 (*) khi bảng hỏi có điều chỉnh.</a:t>
            </a:r>
          </a:p>
        </p:txBody>
      </p:sp>
      <p:cxnSp>
        <p:nvCxnSpPr>
          <p:cNvPr id="26" name="Connector 25"/>
          <p:cNvCxnSpPr/>
          <p:nvPr/>
        </p:nvCxnSpPr>
        <p:spPr>
          <a:xfrm>
            <a:off x="960120" y="4928616"/>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57200" y="5029200"/>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6</a:t>
            </a:r>
          </a:p>
        </p:txBody>
      </p:sp>
      <p:sp>
        <p:nvSpPr>
          <p:cNvPr id="28" name="TextBox 27"/>
          <p:cNvSpPr txBox="1"/>
          <p:nvPr/>
        </p:nvSpPr>
        <p:spPr>
          <a:xfrm>
            <a:off x="960120" y="4983480"/>
            <a:ext cx="10725912" cy="640080"/>
          </a:xfrm>
          <a:prstGeom prst="rect">
            <a:avLst/>
          </a:prstGeom>
          <a:noFill/>
        </p:spPr>
        <p:txBody>
          <a:bodyPr wrap="square" lIns="45720" rIns="45720" tIns="27432" bIns="27432" anchor="t">
            <a:spAutoFit/>
          </a:bodyPr>
          <a:lstStyle/>
          <a:p>
            <a:pPr algn="l"/>
            <a:r>
              <a:rPr sz="1350" b="1" i="0">
                <a:solidFill>
                  <a:srgbClr val="58595B"/>
                </a:solidFill>
                <a:latin typeface="Arial"/>
              </a:rPr>
              <a:t>Thảo luận:</a:t>
            </a:r>
            <a:r>
              <a:rPr sz="1350" b="0" i="0">
                <a:solidFill>
                  <a:srgbClr val="58595B"/>
                </a:solidFill>
                <a:latin typeface="Arial"/>
              </a:rPr>
              <a:t>  dùng lời kể từ phỏng vấn giải thích kết quả bất ngờ, ví dụ vì sao sự dễ sử dụng không có ý nghĩa.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LÀM SẠCH DỮ LIỆU</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Quy tắc loại phiếu phải đặt trước khi mở dữ liệu, để quyết định không phụ thuộc kết quả mong muốn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"Tự điền cho đủ" là bịa dữ liệu; giữ phiếu trùng là tính một người hai lần; cả hai đều làm sai kết quả.</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3.5.2 và Mục 3.5.3, Hình 3-14 và 3-15; file 2.Chapter_2_and_Chapter_3_Practice.xlsx (dữ liệu giả định), sheet 3_DuLieuSach</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68</a:t>
            </a:r>
          </a:p>
        </p:txBody>
      </p:sp>
      <p:sp>
        <p:nvSpPr>
          <p:cNvPr id="11" name="Rectangle 10"/>
          <p:cNvSpPr/>
          <p:nvPr/>
        </p:nvSpPr>
        <p:spPr>
          <a:xfrm>
            <a:off x="402336" y="2275054"/>
            <a:ext cx="6419088" cy="285653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7_p1736.png"/>
          <p:cNvPicPr>
            <a:picLocks noChangeAspect="1"/>
          </p:cNvPicPr>
          <p:nvPr/>
        </p:nvPicPr>
        <p:blipFill>
          <a:blip r:embed="rId2"/>
          <a:stretch>
            <a:fillRect/>
          </a:stretch>
        </p:blipFill>
        <p:spPr>
          <a:xfrm>
            <a:off x="457200" y="2329918"/>
            <a:ext cx="6309360" cy="2746802"/>
          </a:xfrm>
          <a:prstGeom prst="rect">
            <a:avLst/>
          </a:prstGeom>
        </p:spPr>
      </p:pic>
      <p:sp>
        <p:nvSpPr>
          <p:cNvPr id="13" name="TextBox 12"/>
          <p:cNvSpPr txBox="1"/>
          <p:nvPr/>
        </p:nvSpPr>
        <p:spPr>
          <a:xfrm>
            <a:off x="7086600" y="1783080"/>
            <a:ext cx="4645152" cy="274320"/>
          </a:xfrm>
          <a:prstGeom prst="rect">
            <a:avLst/>
          </a:prstGeom>
          <a:noFill/>
        </p:spPr>
        <p:txBody>
          <a:bodyPr wrap="square" lIns="45720" rIns="45720" tIns="27432" bIns="27432" anchor="t">
            <a:spAutoFit/>
          </a:bodyPr>
          <a:lstStyle/>
          <a:p>
            <a:pPr algn="l"/>
            <a:r>
              <a:rPr sz="1000" b="1" i="0">
                <a:solidFill>
                  <a:srgbClr val="CC0000"/>
                </a:solidFill>
                <a:latin typeface="Arial"/>
              </a:rPr>
              <a:t>BA THAO TÁC TRÊN EXCEL</a:t>
            </a:r>
          </a:p>
        </p:txBody>
      </p:sp>
      <p:cxnSp>
        <p:nvCxnSpPr>
          <p:cNvPr id="14" name="Connector 13"/>
          <p:cNvCxnSpPr/>
          <p:nvPr/>
        </p:nvCxnSpPr>
        <p:spPr>
          <a:xfrm>
            <a:off x="7086600" y="2103120"/>
            <a:ext cx="46451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08660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498079" y="2194560"/>
            <a:ext cx="4233672" cy="857250"/>
          </a:xfrm>
          <a:prstGeom prst="rect">
            <a:avLst/>
          </a:prstGeom>
          <a:noFill/>
        </p:spPr>
        <p:txBody>
          <a:bodyPr wrap="square" lIns="45720" rIns="45720" tIns="27432" bIns="27432" anchor="t">
            <a:spAutoFit/>
          </a:bodyPr>
          <a:lstStyle/>
          <a:p>
            <a:pPr algn="l"/>
            <a:r>
              <a:rPr sz="1350" b="1" i="0">
                <a:solidFill>
                  <a:srgbClr val="58595B"/>
                </a:solidFill>
                <a:latin typeface="Arial"/>
              </a:rPr>
              <a:t>Remove Duplicates:</a:t>
            </a:r>
            <a:r>
              <a:rPr sz="1350" b="0" i="0">
                <a:solidFill>
                  <a:srgbClr val="58595B"/>
                </a:solidFill>
                <a:latin typeface="Arial"/>
              </a:rPr>
              <a:t> phát hiện 5 phiếu trùng hoàn toàn, gửi cách nhau 1 đến 3 phút; loại.</a:t>
            </a:r>
          </a:p>
        </p:txBody>
      </p:sp>
      <p:sp>
        <p:nvSpPr>
          <p:cNvPr id="17" name="Oval 16"/>
          <p:cNvSpPr/>
          <p:nvPr/>
        </p:nvSpPr>
        <p:spPr>
          <a:xfrm>
            <a:off x="708660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498079" y="3051810"/>
            <a:ext cx="4233672" cy="857250"/>
          </a:xfrm>
          <a:prstGeom prst="rect">
            <a:avLst/>
          </a:prstGeom>
          <a:noFill/>
        </p:spPr>
        <p:txBody>
          <a:bodyPr wrap="square" lIns="45720" rIns="45720" tIns="27432" bIns="27432" anchor="t">
            <a:spAutoFit/>
          </a:bodyPr>
          <a:lstStyle/>
          <a:p>
            <a:pPr algn="l"/>
            <a:r>
              <a:rPr sz="1350" b="1" i="0">
                <a:solidFill>
                  <a:srgbClr val="58595B"/>
                </a:solidFill>
                <a:latin typeface="Arial"/>
              </a:rPr>
              <a:t>Go To Special &gt; Blanks:</a:t>
            </a:r>
            <a:r>
              <a:rPr sz="1350" b="0" i="0">
                <a:solidFill>
                  <a:srgbClr val="58595B"/>
                </a:solidFill>
                <a:latin typeface="Arial"/>
              </a:rPr>
              <a:t> phiếu bỏ trống từ 3 câu trở lên bị loại; quy tắc này loại 10 phiếu.</a:t>
            </a:r>
          </a:p>
        </p:txBody>
      </p:sp>
      <p:sp>
        <p:nvSpPr>
          <p:cNvPr id="19" name="Oval 18"/>
          <p:cNvSpPr/>
          <p:nvPr/>
        </p:nvSpPr>
        <p:spPr>
          <a:xfrm>
            <a:off x="708660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498079" y="3909060"/>
            <a:ext cx="4233672" cy="857250"/>
          </a:xfrm>
          <a:prstGeom prst="rect">
            <a:avLst/>
          </a:prstGeom>
          <a:noFill/>
        </p:spPr>
        <p:txBody>
          <a:bodyPr wrap="square" lIns="45720" rIns="45720" tIns="27432" bIns="27432" anchor="t">
            <a:spAutoFit/>
          </a:bodyPr>
          <a:lstStyle/>
          <a:p>
            <a:pPr algn="l"/>
            <a:r>
              <a:rPr sz="1350" b="1" i="0">
                <a:solidFill>
                  <a:srgbClr val="58595B"/>
                </a:solidFill>
                <a:latin typeface="Arial"/>
              </a:rPr>
              <a:t>Bộ lọc số:</a:t>
            </a:r>
            <a:r>
              <a:rPr sz="1350" b="0" i="0">
                <a:solidFill>
                  <a:srgbClr val="58595B"/>
                </a:solidFill>
                <a:latin typeface="Arial"/>
              </a:rPr>
              <a:t> không có giá trị nằm ngoài thang 1 đến 5.</a:t>
            </a:r>
          </a:p>
        </p:txBody>
      </p:sp>
      <p:sp>
        <p:nvSpPr>
          <p:cNvPr id="21" name="Oval 20"/>
          <p:cNvSpPr/>
          <p:nvPr/>
        </p:nvSpPr>
        <p:spPr>
          <a:xfrm>
            <a:off x="708660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498079" y="4766310"/>
            <a:ext cx="4233672" cy="857250"/>
          </a:xfrm>
          <a:prstGeom prst="rect">
            <a:avLst/>
          </a:prstGeom>
          <a:noFill/>
        </p:spPr>
        <p:txBody>
          <a:bodyPr wrap="square" lIns="45720" rIns="45720" tIns="27432" bIns="27432" anchor="t">
            <a:spAutoFit/>
          </a:bodyPr>
          <a:lstStyle/>
          <a:p>
            <a:pPr algn="l"/>
            <a:r>
              <a:rPr sz="1350" b="1" i="0">
                <a:solidFill>
                  <a:srgbClr val="58595B"/>
                </a:solidFill>
                <a:latin typeface="Arial"/>
              </a:rPr>
              <a:t>Ô thiếu lẻ:</a:t>
            </a:r>
            <a:r>
              <a:rPr sz="1350" b="0" i="0">
                <a:solidFill>
                  <a:srgbClr val="58595B"/>
                </a:solidFill>
                <a:latin typeface="Arial"/>
              </a:rPr>
              <a:t> 2 ô (HI3, NT3) điền bằng trung bình của câu, làm tròn đến số nguyên, đánh dấu bằng ghi chú.</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THỐNG KÊ MÔ TẢ</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Bảy chỉ số mô tả tính bằng hàm Excel có sẵn; Chương 3 chỉ nói sẽ tính gì, con số để dành cho Chương 4</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Chỉ có trung bình thì không biết ý kiến tập trung hay phân tán; luôn đọc trung bình cùng độ lệch chuẩn.</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3.6.1, Hình 3-16 đến 3-18, Bảng 3-20; file 2.Chapter_2_and_Chapter_3_Practice.xlsx (dữ liệu giả định), sheet 4_NhanKhauHoc và 5_ThongKeMoTa</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69</a:t>
            </a:r>
          </a:p>
        </p:txBody>
      </p:sp>
      <p:graphicFrame>
        <p:nvGraphicFramePr>
          <p:cNvPr id="11" name="Table 10"/>
          <p:cNvGraphicFramePr>
            <a:graphicFrameLocks noGrp="1"/>
          </p:cNvGraphicFramePr>
          <p:nvPr/>
        </p:nvGraphicFramePr>
        <p:xfrm>
          <a:off x="457200" y="1783080"/>
          <a:ext cx="8046718" cy="3611880"/>
        </p:xfrm>
        <a:graphic>
          <a:graphicData uri="http://schemas.openxmlformats.org/drawingml/2006/table">
            <a:tbl>
              <a:tblPr firstRow="1" bandRow="1">
                <a:tableStyleId>{5C22544A-7EE6-4342-B048-85BDC9FD1C3A}</a:tableStyleId>
              </a:tblPr>
              <a:tblGrid>
                <a:gridCol w="1806406"/>
                <a:gridCol w="2463281"/>
                <a:gridCol w="3777031"/>
              </a:tblGrid>
              <a:tr h="411480">
                <a:tc>
                  <a:txBody>
                    <a:bodyPr wrap="square"/>
                    <a:lstStyle/>
                    <a:p>
                      <a:pPr algn="l"/>
                      <a:r>
                        <a:rPr sz="1200" b="1">
                          <a:solidFill>
                            <a:srgbClr val="FFFFFF"/>
                          </a:solidFill>
                          <a:latin typeface="Arial"/>
                        </a:rPr>
                        <a:t>Chỉ số</a:t>
                      </a:r>
                    </a:p>
                  </a:txBody>
                  <a:tcPr marL="73152" marR="73152" marT="27432" marB="27432" anchor="ctr">
                    <a:solidFill>
                      <a:srgbClr val="262626"/>
                    </a:solidFill>
                  </a:tcPr>
                </a:tc>
                <a:tc>
                  <a:txBody>
                    <a:bodyPr wrap="square"/>
                    <a:lstStyle/>
                    <a:p>
                      <a:pPr algn="l"/>
                      <a:r>
                        <a:rPr sz="1200" b="1">
                          <a:solidFill>
                            <a:srgbClr val="FFFFFF"/>
                          </a:solidFill>
                          <a:latin typeface="Arial"/>
                        </a:rPr>
                        <a:t>Hàm Excel</a:t>
                      </a:r>
                    </a:p>
                  </a:txBody>
                  <a:tcPr marL="73152" marR="73152" marT="27432" marB="27432" anchor="ctr">
                    <a:solidFill>
                      <a:srgbClr val="262626"/>
                    </a:solidFill>
                  </a:tcPr>
                </a:tc>
                <a:tc>
                  <a:txBody>
                    <a:bodyPr wrap="square"/>
                    <a:lstStyle/>
                    <a:p>
                      <a:pPr algn="l"/>
                      <a:r>
                        <a:rPr sz="1200" b="1">
                          <a:solidFill>
                            <a:srgbClr val="FFFFFF"/>
                          </a:solidFill>
                          <a:latin typeface="Arial"/>
                        </a:rPr>
                        <a:t>Ý nghĩa</a:t>
                      </a:r>
                    </a:p>
                  </a:txBody>
                  <a:tcPr marL="73152" marR="73152" marT="27432" marB="27432" anchor="ctr">
                    <a:solidFill>
                      <a:srgbClr val="262626"/>
                    </a:solidFill>
                  </a:tcPr>
                </a:tc>
              </a:tr>
              <a:tr h="457200">
                <a:tc>
                  <a:txBody>
                    <a:bodyPr wrap="square"/>
                    <a:lstStyle/>
                    <a:p>
                      <a:pPr algn="l"/>
                      <a:r>
                        <a:rPr sz="1200" b="0">
                          <a:solidFill>
                            <a:srgbClr val="262626"/>
                          </a:solidFill>
                          <a:latin typeface="Arial"/>
                        </a:rPr>
                        <a:t>Số quan sát</a:t>
                      </a:r>
                    </a:p>
                  </a:txBody>
                  <a:tcPr marL="73152" marR="73152" marT="27432" marB="27432" anchor="ctr">
                    <a:solidFill>
                      <a:srgbClr val="FFFFFF"/>
                    </a:solidFill>
                  </a:tcPr>
                </a:tc>
                <a:tc>
                  <a:txBody>
                    <a:bodyPr wrap="square"/>
                    <a:lstStyle/>
                    <a:p>
                      <a:pPr algn="l"/>
                      <a:r>
                        <a:rPr sz="1200" b="0">
                          <a:solidFill>
                            <a:srgbClr val="262626"/>
                          </a:solidFill>
                          <a:latin typeface="Arial"/>
                        </a:rPr>
                        <a:t>=COUNT(F2:F151)</a:t>
                      </a:r>
                    </a:p>
                  </a:txBody>
                  <a:tcPr marL="73152" marR="73152" marT="27432" marB="27432" anchor="ctr">
                    <a:solidFill>
                      <a:srgbClr val="FFFFFF"/>
                    </a:solidFill>
                  </a:tcPr>
                </a:tc>
                <a:tc>
                  <a:txBody>
                    <a:bodyPr wrap="square"/>
                    <a:lstStyle/>
                    <a:p>
                      <a:pPr algn="l"/>
                      <a:r>
                        <a:rPr sz="1200" b="0">
                          <a:solidFill>
                            <a:srgbClr val="262626"/>
                          </a:solidFill>
                          <a:latin typeface="Arial"/>
                        </a:rPr>
                        <a:t>Có đủ 150 câu trả lời không</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Trung bình</a:t>
                      </a:r>
                    </a:p>
                  </a:txBody>
                  <a:tcPr marL="73152" marR="73152" marT="27432" marB="27432" anchor="ctr">
                    <a:solidFill>
                      <a:srgbClr val="F3F3F3"/>
                    </a:solidFill>
                  </a:tcPr>
                </a:tc>
                <a:tc>
                  <a:txBody>
                    <a:bodyPr wrap="square"/>
                    <a:lstStyle/>
                    <a:p>
                      <a:pPr algn="l"/>
                      <a:r>
                        <a:rPr sz="1200" b="0">
                          <a:solidFill>
                            <a:srgbClr val="262626"/>
                          </a:solidFill>
                          <a:latin typeface="Arial"/>
                        </a:rPr>
                        <a:t>=AVERAGE(F2:F151)</a:t>
                      </a:r>
                    </a:p>
                  </a:txBody>
                  <a:tcPr marL="73152" marR="73152" marT="27432" marB="27432" anchor="ctr">
                    <a:solidFill>
                      <a:srgbClr val="F3F3F3"/>
                    </a:solidFill>
                  </a:tcPr>
                </a:tc>
                <a:tc>
                  <a:txBody>
                    <a:bodyPr wrap="square"/>
                    <a:lstStyle/>
                    <a:p>
                      <a:pPr algn="l"/>
                      <a:r>
                        <a:rPr sz="1200" b="0">
                          <a:solidFill>
                            <a:srgbClr val="262626"/>
                          </a:solidFill>
                          <a:latin typeface="Arial"/>
                        </a:rPr>
                        <a:t>Mức đánh giá chung</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Trung vị</a:t>
                      </a:r>
                    </a:p>
                  </a:txBody>
                  <a:tcPr marL="73152" marR="73152" marT="27432" marB="27432" anchor="ctr">
                    <a:solidFill>
                      <a:srgbClr val="FFFFFF"/>
                    </a:solidFill>
                  </a:tcPr>
                </a:tc>
                <a:tc>
                  <a:txBody>
                    <a:bodyPr wrap="square"/>
                    <a:lstStyle/>
                    <a:p>
                      <a:pPr algn="l"/>
                      <a:r>
                        <a:rPr sz="1200" b="0">
                          <a:solidFill>
                            <a:srgbClr val="262626"/>
                          </a:solidFill>
                          <a:latin typeface="Arial"/>
                        </a:rPr>
                        <a:t>=MEDIAN(F2:F151)</a:t>
                      </a:r>
                    </a:p>
                  </a:txBody>
                  <a:tcPr marL="73152" marR="73152" marT="27432" marB="27432" anchor="ctr">
                    <a:solidFill>
                      <a:srgbClr val="FFFFFF"/>
                    </a:solidFill>
                  </a:tcPr>
                </a:tc>
                <a:tc>
                  <a:txBody>
                    <a:bodyPr wrap="square"/>
                    <a:lstStyle/>
                    <a:p>
                      <a:pPr algn="l"/>
                      <a:r>
                        <a:rPr sz="1200" b="0">
                          <a:solidFill>
                            <a:srgbClr val="262626"/>
                          </a:solidFill>
                          <a:latin typeface="Arial"/>
                        </a:rPr>
                        <a:t>Giá trị ở giữa; ít bị ảnh hưởng bởi giá trị cực đoan</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Yếu vị</a:t>
                      </a:r>
                    </a:p>
                  </a:txBody>
                  <a:tcPr marL="73152" marR="73152" marT="27432" marB="27432" anchor="ctr">
                    <a:solidFill>
                      <a:srgbClr val="F3F3F3"/>
                    </a:solidFill>
                  </a:tcPr>
                </a:tc>
                <a:tc>
                  <a:txBody>
                    <a:bodyPr wrap="square"/>
                    <a:lstStyle/>
                    <a:p>
                      <a:pPr algn="l"/>
                      <a:r>
                        <a:rPr sz="1200" b="0">
                          <a:solidFill>
                            <a:srgbClr val="262626"/>
                          </a:solidFill>
                          <a:latin typeface="Arial"/>
                        </a:rPr>
                        <a:t>=MODE(F2:F151)</a:t>
                      </a:r>
                    </a:p>
                  </a:txBody>
                  <a:tcPr marL="73152" marR="73152" marT="27432" marB="27432" anchor="ctr">
                    <a:solidFill>
                      <a:srgbClr val="F3F3F3"/>
                    </a:solidFill>
                  </a:tcPr>
                </a:tc>
                <a:tc>
                  <a:txBody>
                    <a:bodyPr wrap="square"/>
                    <a:lstStyle/>
                    <a:p>
                      <a:pPr algn="l"/>
                      <a:r>
                        <a:rPr sz="1200" b="0">
                          <a:solidFill>
                            <a:srgbClr val="262626"/>
                          </a:solidFill>
                          <a:latin typeface="Arial"/>
                        </a:rPr>
                        <a:t>Mức được chọn nhiều nhất</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Độ lệch chuẩn</a:t>
                      </a:r>
                    </a:p>
                  </a:txBody>
                  <a:tcPr marL="73152" marR="73152" marT="27432" marB="27432" anchor="ctr">
                    <a:solidFill>
                      <a:srgbClr val="FFFFFF"/>
                    </a:solidFill>
                  </a:tcPr>
                </a:tc>
                <a:tc>
                  <a:txBody>
                    <a:bodyPr wrap="square"/>
                    <a:lstStyle/>
                    <a:p>
                      <a:pPr algn="l"/>
                      <a:r>
                        <a:rPr sz="1200" b="0">
                          <a:solidFill>
                            <a:srgbClr val="262626"/>
                          </a:solidFill>
                          <a:latin typeface="Arial"/>
                        </a:rPr>
                        <a:t>=STDEV(F2:F151)</a:t>
                      </a:r>
                    </a:p>
                  </a:txBody>
                  <a:tcPr marL="73152" marR="73152" marT="27432" marB="27432" anchor="ctr">
                    <a:solidFill>
                      <a:srgbClr val="FFFFFF"/>
                    </a:solidFill>
                  </a:tcPr>
                </a:tc>
                <a:tc>
                  <a:txBody>
                    <a:bodyPr wrap="square"/>
                    <a:lstStyle/>
                    <a:p>
                      <a:pPr algn="l"/>
                      <a:r>
                        <a:rPr sz="1200" b="0">
                          <a:solidFill>
                            <a:srgbClr val="262626"/>
                          </a:solidFill>
                          <a:latin typeface="Arial"/>
                        </a:rPr>
                        <a:t>Mức phân tán của câu trả lời</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Nhỏ nhất, lớn nhất</a:t>
                      </a:r>
                    </a:p>
                  </a:txBody>
                  <a:tcPr marL="73152" marR="73152" marT="27432" marB="27432" anchor="ctr">
                    <a:solidFill>
                      <a:srgbClr val="F3F3F3"/>
                    </a:solidFill>
                  </a:tcPr>
                </a:tc>
                <a:tc>
                  <a:txBody>
                    <a:bodyPr wrap="square"/>
                    <a:lstStyle/>
                    <a:p>
                      <a:pPr algn="l"/>
                      <a:r>
                        <a:rPr sz="1200" b="0">
                          <a:solidFill>
                            <a:srgbClr val="262626"/>
                          </a:solidFill>
                          <a:latin typeface="Arial"/>
                        </a:rPr>
                        <a:t>=MIN(...); =MAX(...)</a:t>
                      </a:r>
                    </a:p>
                  </a:txBody>
                  <a:tcPr marL="73152" marR="73152" marT="27432" marB="27432" anchor="ctr">
                    <a:solidFill>
                      <a:srgbClr val="F3F3F3"/>
                    </a:solidFill>
                  </a:tcPr>
                </a:tc>
                <a:tc>
                  <a:txBody>
                    <a:bodyPr wrap="square"/>
                    <a:lstStyle/>
                    <a:p>
                      <a:pPr algn="l"/>
                      <a:r>
                        <a:rPr sz="1200" b="0">
                          <a:solidFill>
                            <a:srgbClr val="262626"/>
                          </a:solidFill>
                          <a:latin typeface="Arial"/>
                        </a:rPr>
                        <a:t>Kiểm tra giá trị ngoài thang</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Tần số</a:t>
                      </a:r>
                    </a:p>
                  </a:txBody>
                  <a:tcPr marL="73152" marR="73152" marT="27432" marB="27432" anchor="ctr">
                    <a:solidFill>
                      <a:srgbClr val="FFFFFF"/>
                    </a:solidFill>
                  </a:tcPr>
                </a:tc>
                <a:tc>
                  <a:txBody>
                    <a:bodyPr wrap="square"/>
                    <a:lstStyle/>
                    <a:p>
                      <a:pPr algn="l"/>
                      <a:r>
                        <a:rPr sz="1200" b="0">
                          <a:solidFill>
                            <a:srgbClr val="262626"/>
                          </a:solidFill>
                          <a:latin typeface="Arial"/>
                        </a:rPr>
                        <a:t>=COUNTIF(B2:B151,1)</a:t>
                      </a:r>
                    </a:p>
                  </a:txBody>
                  <a:tcPr marL="73152" marR="73152" marT="27432" marB="27432" anchor="ctr">
                    <a:solidFill>
                      <a:srgbClr val="FFFFFF"/>
                    </a:solidFill>
                  </a:tcPr>
                </a:tc>
                <a:tc>
                  <a:txBody>
                    <a:bodyPr wrap="square"/>
                    <a:lstStyle/>
                    <a:p>
                      <a:pPr algn="l"/>
                      <a:r>
                        <a:rPr sz="1200" b="0">
                          <a:solidFill>
                            <a:srgbClr val="262626"/>
                          </a:solidFill>
                          <a:latin typeface="Arial"/>
                        </a:rPr>
                        <a:t>Số người có mã 1 (ví dụ nam)</a:t>
                      </a:r>
                    </a:p>
                  </a:txBody>
                  <a:tcPr marL="73152" marR="73152" marT="27432" marB="27432" anchor="ctr">
                    <a:solidFill>
                      <a:srgbClr val="FFFFFF"/>
                    </a:solidFill>
                  </a:tcPr>
                </a:tc>
              </a:tr>
            </a:tbl>
          </a:graphicData>
        </a:graphic>
      </p:graphicFrame>
      <p:sp>
        <p:nvSpPr>
          <p:cNvPr id="12" name="TextBox 11"/>
          <p:cNvSpPr txBox="1"/>
          <p:nvPr/>
        </p:nvSpPr>
        <p:spPr>
          <a:xfrm>
            <a:off x="8778240" y="1783080"/>
            <a:ext cx="2953511" cy="274320"/>
          </a:xfrm>
          <a:prstGeom prst="rect">
            <a:avLst/>
          </a:prstGeom>
          <a:noFill/>
        </p:spPr>
        <p:txBody>
          <a:bodyPr wrap="square" lIns="45720" rIns="45720" tIns="27432" bIns="27432" anchor="t">
            <a:spAutoFit/>
          </a:bodyPr>
          <a:lstStyle/>
          <a:p>
            <a:pPr algn="l"/>
            <a:r>
              <a:rPr sz="1000" b="1" i="0">
                <a:solidFill>
                  <a:srgbClr val="CC0000"/>
                </a:solidFill>
                <a:latin typeface="Arial"/>
              </a:rPr>
              <a:t>RANH GIỚI HAI CHƯƠNG</a:t>
            </a:r>
          </a:p>
        </p:txBody>
      </p:sp>
      <p:cxnSp>
        <p:nvCxnSpPr>
          <p:cNvPr id="13" name="Connector 12"/>
          <p:cNvCxnSpPr/>
          <p:nvPr/>
        </p:nvCxnSpPr>
        <p:spPr>
          <a:xfrm>
            <a:off x="8778240" y="2103120"/>
            <a:ext cx="29535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78240" y="2167128"/>
            <a:ext cx="2953511" cy="3383280"/>
          </a:xfrm>
          <a:prstGeom prst="rect">
            <a:avLst/>
          </a:prstGeom>
          <a:noFill/>
        </p:spPr>
        <p:txBody>
          <a:bodyPr wrap="square" lIns="45720" rIns="45720" tIns="27432" bIns="27432" anchor="t">
            <a:spAutoFit/>
          </a:bodyPr>
          <a:lstStyle/>
          <a:p>
            <a:pPr algn="l"/>
            <a:r>
              <a:rPr sz="1250" b="0" i="0">
                <a:solidFill>
                  <a:srgbClr val="58595B"/>
                </a:solidFill>
                <a:latin typeface="Arial"/>
              </a:rPr>
              <a:t>Chương 3: "sẽ tính chỉ số gì, bằng công cụ gì, đọc theo cách nào".</a:t>
            </a:r>
          </a:p>
          <a:p>
            <a:pPr algn="l">
              <a:spcBef>
                <a:spcPts val="562"/>
              </a:spcBef>
            </a:pPr>
          </a:p>
          <a:p>
            <a:pPr algn="l">
              <a:spcBef>
                <a:spcPts val="562"/>
              </a:spcBef>
            </a:pPr>
            <a:r>
              <a:rPr sz="1250" b="0" i="0">
                <a:solidFill>
                  <a:srgbClr val="58595B"/>
                </a:solidFill>
                <a:latin typeface="Arial"/>
              </a:rPr>
              <a:t>Chương 4: "chỉ số đó bằng bao nhiêu và có ý nghĩa gì".</a:t>
            </a:r>
          </a:p>
          <a:p>
            <a:pPr algn="l">
              <a:spcBef>
                <a:spcPts val="562"/>
              </a:spcBef>
            </a:pPr>
          </a:p>
          <a:p>
            <a:pPr algn="l">
              <a:spcBef>
                <a:spcPts val="562"/>
              </a:spcBef>
            </a:pPr>
            <a:r>
              <a:rPr sz="1250" b="0" i="0">
                <a:solidFill>
                  <a:srgbClr val="58595B"/>
                </a:solidFill>
                <a:latin typeface="Arial"/>
              </a:rPr>
              <a:t>Excel mới có MODE.SNGL, STDEV.S cho cùng kết quả.</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CRONBACH ALPHA</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Cronbach Alpha kiểm tra các câu hỏi có "cùng lên cùng xuống" không, trước khi được gộp thành một biến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Thang đo không nhất quán thì điểm trung bình không đại diện cho khái niệm và mọi kết luận về giả thuyết mất ý nghĩa.</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3.6.2, Bảng 3-21, Hình 3-19 và 3-20; file 2.Chapter_2_and_Chapter_3_Practice.xlsx (dữ liệu giả định), sheet 6_Cronbach</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70</a:t>
            </a:r>
          </a:p>
        </p:txBody>
      </p:sp>
      <p:sp>
        <p:nvSpPr>
          <p:cNvPr id="11" name="Rectangle 10"/>
          <p:cNvSpPr/>
          <p:nvPr/>
        </p:nvSpPr>
        <p:spPr>
          <a:xfrm>
            <a:off x="402336" y="1917330"/>
            <a:ext cx="6510528" cy="357197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53_p1863.png"/>
          <p:cNvPicPr>
            <a:picLocks noChangeAspect="1"/>
          </p:cNvPicPr>
          <p:nvPr/>
        </p:nvPicPr>
        <p:blipFill>
          <a:blip r:embed="rId2"/>
          <a:stretch>
            <a:fillRect/>
          </a:stretch>
        </p:blipFill>
        <p:spPr>
          <a:xfrm>
            <a:off x="457200" y="1972194"/>
            <a:ext cx="6400800" cy="3462250"/>
          </a:xfrm>
          <a:prstGeom prst="rect">
            <a:avLst/>
          </a:prstGeom>
        </p:spPr>
      </p:pic>
      <p:sp>
        <p:nvSpPr>
          <p:cNvPr id="13" name="TextBox 12"/>
          <p:cNvSpPr txBox="1"/>
          <p:nvPr/>
        </p:nvSpPr>
        <p:spPr>
          <a:xfrm>
            <a:off x="7178040" y="1783080"/>
            <a:ext cx="4553712" cy="274320"/>
          </a:xfrm>
          <a:prstGeom prst="rect">
            <a:avLst/>
          </a:prstGeom>
          <a:noFill/>
        </p:spPr>
        <p:txBody>
          <a:bodyPr wrap="square" lIns="45720" rIns="45720" tIns="27432" bIns="27432" anchor="t">
            <a:spAutoFit/>
          </a:bodyPr>
          <a:lstStyle/>
          <a:p>
            <a:pPr algn="l"/>
            <a:r>
              <a:rPr sz="1000" b="1" i="0">
                <a:solidFill>
                  <a:srgbClr val="CC0000"/>
                </a:solidFill>
                <a:latin typeface="Arial"/>
              </a:rPr>
              <a:t>BA CHỈ SỐ ĐỌC CÙNG NHAU</a:t>
            </a:r>
          </a:p>
        </p:txBody>
      </p:sp>
      <p:cxnSp>
        <p:nvCxnSpPr>
          <p:cNvPr id="14" name="Connector 13"/>
          <p:cNvCxnSpPr/>
          <p:nvPr/>
        </p:nvCxnSpPr>
        <p:spPr>
          <a:xfrm>
            <a:off x="7178040" y="2103120"/>
            <a:ext cx="45537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17804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589519" y="219456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Alpha:</a:t>
            </a:r>
            <a:r>
              <a:rPr sz="1350" b="0" i="0">
                <a:solidFill>
                  <a:srgbClr val="58595B"/>
                </a:solidFill>
                <a:latin typeface="Arial"/>
              </a:rPr>
              <a:t> chấp nhận từ 0,7; tối ưu 0,7 đến 0,9. α = k/(k-1) × (1 - tổng phương sai từng câu / phương sai tổng điểm).</a:t>
            </a:r>
          </a:p>
        </p:txBody>
      </p:sp>
      <p:sp>
        <p:nvSpPr>
          <p:cNvPr id="17" name="Oval 16"/>
          <p:cNvSpPr/>
          <p:nvPr/>
        </p:nvSpPr>
        <p:spPr>
          <a:xfrm>
            <a:off x="717804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589519" y="305181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Tương quan biến tổng hiệu chỉnh:</a:t>
            </a:r>
            <a:r>
              <a:rPr sz="1350" b="0" i="0">
                <a:solidFill>
                  <a:srgbClr val="58595B"/>
                </a:solidFill>
                <a:latin typeface="Arial"/>
              </a:rPr>
              <a:t> tương quan của một câu với tổng các câu còn lại; nhiều nghiên cứu dùng ngưỡng 0,3.</a:t>
            </a:r>
          </a:p>
        </p:txBody>
      </p:sp>
      <p:sp>
        <p:nvSpPr>
          <p:cNvPr id="19" name="Oval 18"/>
          <p:cNvSpPr/>
          <p:nvPr/>
        </p:nvSpPr>
        <p:spPr>
          <a:xfrm>
            <a:off x="717804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589519" y="390906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Alpha nếu loại câu:</a:t>
            </a:r>
            <a:r>
              <a:rPr sz="1350" b="0" i="0">
                <a:solidFill>
                  <a:srgbClr val="58595B"/>
                </a:solidFill>
                <a:latin typeface="Arial"/>
              </a:rPr>
              <a:t> tăng rõ khi loại (ví dụ 0,65 lên 0,78) thì câu có thể nên loại.</a:t>
            </a:r>
          </a:p>
        </p:txBody>
      </p:sp>
      <p:sp>
        <p:nvSpPr>
          <p:cNvPr id="21" name="Oval 20"/>
          <p:cNvSpPr/>
          <p:nvPr/>
        </p:nvSpPr>
        <p:spPr>
          <a:xfrm>
            <a:off x="717804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589519" y="476631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Trước khi loại:</a:t>
            </a:r>
            <a:r>
              <a:rPr sz="1350" b="0" i="0">
                <a:solidFill>
                  <a:srgbClr val="58595B"/>
                </a:solidFill>
                <a:latin typeface="Arial"/>
              </a:rPr>
              <a:t> đọc lại nội dung; câu mang khía cạnh cần thiết của định nghĩa thì không loại.</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BỐN MỨC CRONBACH ALPHA</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Alpha không phải càng cao càng tốt: dưới 0,6 là kém, trên 0,95 có thể là các câu hỏi lặp nhau</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Khi α nằm gần ngưỡng: ghi rõ α, ngưỡng đã dùng và nguồn của ngưỡng.</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3.6.2 và Bảng 3-21; Hair và cộng sự (2010); Creswell và Creswell (2018, tr. 215)</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71</a:t>
            </a:r>
          </a:p>
        </p:txBody>
      </p:sp>
      <p:graphicFrame>
        <p:nvGraphicFramePr>
          <p:cNvPr id="11" name="Table 10"/>
          <p:cNvGraphicFramePr>
            <a:graphicFrameLocks noGrp="1"/>
          </p:cNvGraphicFramePr>
          <p:nvPr/>
        </p:nvGraphicFramePr>
        <p:xfrm>
          <a:off x="457200" y="1783080"/>
          <a:ext cx="8229599" cy="2971800"/>
        </p:xfrm>
        <a:graphic>
          <a:graphicData uri="http://schemas.openxmlformats.org/drawingml/2006/table">
            <a:tbl>
              <a:tblPr firstRow="1" bandRow="1">
                <a:tableStyleId>{5C22544A-7EE6-4342-B048-85BDC9FD1C3A}</a:tableStyleId>
              </a:tblPr>
              <a:tblGrid>
                <a:gridCol w="1385180"/>
                <a:gridCol w="3259247"/>
                <a:gridCol w="3585172"/>
              </a:tblGrid>
              <a:tr h="411480">
                <a:tc>
                  <a:txBody>
                    <a:bodyPr wrap="square"/>
                    <a:lstStyle/>
                    <a:p>
                      <a:pPr algn="l"/>
                      <a:r>
                        <a:rPr sz="1200" b="1">
                          <a:solidFill>
                            <a:srgbClr val="FFFFFF"/>
                          </a:solidFill>
                          <a:latin typeface="Arial"/>
                        </a:rPr>
                        <a:t>Mức α</a:t>
                      </a:r>
                    </a:p>
                  </a:txBody>
                  <a:tcPr marL="73152" marR="73152" marT="27432" marB="27432" anchor="ctr">
                    <a:solidFill>
                      <a:srgbClr val="262626"/>
                    </a:solidFill>
                  </a:tcPr>
                </a:tc>
                <a:tc>
                  <a:txBody>
                    <a:bodyPr wrap="square"/>
                    <a:lstStyle/>
                    <a:p>
                      <a:pPr algn="l"/>
                      <a:r>
                        <a:rPr sz="1200" b="1">
                          <a:solidFill>
                            <a:srgbClr val="FFFFFF"/>
                          </a:solidFill>
                          <a:latin typeface="Arial"/>
                        </a:rPr>
                        <a:t>Cách hiểu</a:t>
                      </a:r>
                    </a:p>
                  </a:txBody>
                  <a:tcPr marL="73152" marR="73152" marT="27432" marB="27432" anchor="ctr">
                    <a:solidFill>
                      <a:srgbClr val="262626"/>
                    </a:solidFill>
                  </a:tcPr>
                </a:tc>
                <a:tc>
                  <a:txBody>
                    <a:bodyPr wrap="square"/>
                    <a:lstStyle/>
                    <a:p>
                      <a:pPr algn="l"/>
                      <a:r>
                        <a:rPr sz="1200" b="1">
                          <a:solidFill>
                            <a:srgbClr val="FFFFFF"/>
                          </a:solidFill>
                          <a:latin typeface="Arial"/>
                        </a:rPr>
                        <a:t>Việc cần làm</a:t>
                      </a:r>
                    </a:p>
                  </a:txBody>
                  <a:tcPr marL="73152" marR="73152" marT="27432" marB="27432" anchor="ctr">
                    <a:solidFill>
                      <a:srgbClr val="262626"/>
                    </a:solidFill>
                  </a:tcPr>
                </a:tc>
              </a:tr>
              <a:tr h="640080">
                <a:tc>
                  <a:txBody>
                    <a:bodyPr wrap="square"/>
                    <a:lstStyle/>
                    <a:p>
                      <a:pPr algn="l"/>
                      <a:r>
                        <a:rPr sz="1200" b="0">
                          <a:solidFill>
                            <a:srgbClr val="262626"/>
                          </a:solidFill>
                          <a:latin typeface="Arial"/>
                        </a:rPr>
                        <a:t>Dưới 0,6</a:t>
                      </a:r>
                    </a:p>
                  </a:txBody>
                  <a:tcPr marL="73152" marR="73152" marT="27432" marB="27432" anchor="ctr">
                    <a:solidFill>
                      <a:srgbClr val="FFFFFF"/>
                    </a:solidFill>
                  </a:tcPr>
                </a:tc>
                <a:tc>
                  <a:txBody>
                    <a:bodyPr wrap="square"/>
                    <a:lstStyle/>
                    <a:p>
                      <a:pPr algn="l"/>
                      <a:r>
                        <a:rPr sz="1200" b="0">
                          <a:solidFill>
                            <a:srgbClr val="262626"/>
                          </a:solidFill>
                          <a:latin typeface="Arial"/>
                        </a:rPr>
                        <a:t>Thang đo kém nhất quán</a:t>
                      </a:r>
                    </a:p>
                  </a:txBody>
                  <a:tcPr marL="73152" marR="73152" marT="27432" marB="27432" anchor="ctr">
                    <a:solidFill>
                      <a:srgbClr val="FFFFFF"/>
                    </a:solidFill>
                  </a:tcPr>
                </a:tc>
                <a:tc>
                  <a:txBody>
                    <a:bodyPr wrap="square"/>
                    <a:lstStyle/>
                    <a:p>
                      <a:pPr algn="l"/>
                      <a:r>
                        <a:rPr sz="1200" b="0">
                          <a:solidFill>
                            <a:srgbClr val="262626"/>
                          </a:solidFill>
                          <a:latin typeface="Arial"/>
                        </a:rPr>
                        <a:t>Xem lại từng câu; không dùng thang đo nếu không cải thiện được</a:t>
                      </a:r>
                    </a:p>
                  </a:txBody>
                  <a:tcPr marL="73152" marR="73152" marT="27432" marB="27432" anchor="ctr">
                    <a:solidFill>
                      <a:srgbClr val="FFFFFF"/>
                    </a:solidFill>
                  </a:tcPr>
                </a:tc>
              </a:tr>
              <a:tr h="640080">
                <a:tc>
                  <a:txBody>
                    <a:bodyPr wrap="square"/>
                    <a:lstStyle/>
                    <a:p>
                      <a:pPr algn="l"/>
                      <a:r>
                        <a:rPr sz="1200" b="0">
                          <a:solidFill>
                            <a:srgbClr val="262626"/>
                          </a:solidFill>
                          <a:latin typeface="Arial"/>
                        </a:rPr>
                        <a:t>0,6 đến dưới 0,7</a:t>
                      </a:r>
                    </a:p>
                  </a:txBody>
                  <a:tcPr marL="73152" marR="73152" marT="27432" marB="27432" anchor="ctr">
                    <a:solidFill>
                      <a:srgbClr val="F3F3F3"/>
                    </a:solidFill>
                  </a:tcPr>
                </a:tc>
                <a:tc>
                  <a:txBody>
                    <a:bodyPr wrap="square"/>
                    <a:lstStyle/>
                    <a:p>
                      <a:pPr algn="l"/>
                      <a:r>
                        <a:rPr sz="1200" b="0">
                          <a:solidFill>
                            <a:srgbClr val="262626"/>
                          </a:solidFill>
                          <a:latin typeface="Arial"/>
                        </a:rPr>
                        <a:t>Chấp nhận khi khái niệm còn mới với người trả lời hoặc thang đo mới xây dựng</a:t>
                      </a:r>
                    </a:p>
                  </a:txBody>
                  <a:tcPr marL="73152" marR="73152" marT="27432" marB="27432" anchor="ctr">
                    <a:solidFill>
                      <a:srgbClr val="F3F3F3"/>
                    </a:solidFill>
                  </a:tcPr>
                </a:tc>
                <a:tc>
                  <a:txBody>
                    <a:bodyPr wrap="square"/>
                    <a:lstStyle/>
                    <a:p>
                      <a:pPr algn="l"/>
                      <a:r>
                        <a:rPr sz="1200" b="0">
                          <a:solidFill>
                            <a:srgbClr val="262626"/>
                          </a:solidFill>
                          <a:latin typeface="Arial"/>
                        </a:rPr>
                        <a:t>Chỉ ra được một trong hai lý do và ghi vào bài; nếu không thì xử lý như dưới 0,6</a:t>
                      </a:r>
                    </a:p>
                  </a:txBody>
                  <a:tcPr marL="73152" marR="73152" marT="27432" marB="27432" anchor="ctr">
                    <a:solidFill>
                      <a:srgbClr val="F3F3F3"/>
                    </a:solidFill>
                  </a:tcPr>
                </a:tc>
              </a:tr>
              <a:tr h="640080">
                <a:tc>
                  <a:txBody>
                    <a:bodyPr wrap="square"/>
                    <a:lstStyle/>
                    <a:p>
                      <a:pPr algn="l"/>
                      <a:r>
                        <a:rPr sz="1200" b="0">
                          <a:solidFill>
                            <a:srgbClr val="262626"/>
                          </a:solidFill>
                          <a:latin typeface="Arial"/>
                        </a:rPr>
                        <a:t>0,7 đến 0,9</a:t>
                      </a:r>
                    </a:p>
                  </a:txBody>
                  <a:tcPr marL="73152" marR="73152" marT="27432" marB="27432" anchor="ctr">
                    <a:solidFill>
                      <a:srgbClr val="FBEAEA"/>
                    </a:solidFill>
                  </a:tcPr>
                </a:tc>
                <a:tc>
                  <a:txBody>
                    <a:bodyPr wrap="square"/>
                    <a:lstStyle/>
                    <a:p>
                      <a:pPr algn="l"/>
                      <a:r>
                        <a:rPr sz="1200" b="0">
                          <a:solidFill>
                            <a:srgbClr val="262626"/>
                          </a:solidFill>
                          <a:latin typeface="Arial"/>
                        </a:rPr>
                        <a:t>Tốt; khoảng tối ưu</a:t>
                      </a:r>
                    </a:p>
                  </a:txBody>
                  <a:tcPr marL="73152" marR="73152" marT="27432" marB="27432" anchor="ctr">
                    <a:solidFill>
                      <a:srgbClr val="FBEAEA"/>
                    </a:solidFill>
                  </a:tcPr>
                </a:tc>
                <a:tc>
                  <a:txBody>
                    <a:bodyPr wrap="square"/>
                    <a:lstStyle/>
                    <a:p>
                      <a:pPr algn="l"/>
                      <a:r>
                        <a:rPr sz="1200" b="0">
                          <a:solidFill>
                            <a:srgbClr val="262626"/>
                          </a:solidFill>
                          <a:latin typeface="Arial"/>
                        </a:rPr>
                        <a:t>Dùng thang đo</a:t>
                      </a:r>
                    </a:p>
                  </a:txBody>
                  <a:tcPr marL="73152" marR="73152" marT="27432" marB="27432" anchor="ctr">
                    <a:solidFill>
                      <a:srgbClr val="FBEAEA"/>
                    </a:solidFill>
                  </a:tcPr>
                </a:tc>
              </a:tr>
              <a:tr h="640080">
                <a:tc>
                  <a:txBody>
                    <a:bodyPr wrap="square"/>
                    <a:lstStyle/>
                    <a:p>
                      <a:pPr algn="l"/>
                      <a:r>
                        <a:rPr sz="1200" b="0">
                          <a:solidFill>
                            <a:srgbClr val="262626"/>
                          </a:solidFill>
                          <a:latin typeface="Arial"/>
                        </a:rPr>
                        <a:t>Trên 0,95</a:t>
                      </a:r>
                    </a:p>
                  </a:txBody>
                  <a:tcPr marL="73152" marR="73152" marT="27432" marB="27432" anchor="ctr">
                    <a:solidFill>
                      <a:srgbClr val="F3F3F3"/>
                    </a:solidFill>
                  </a:tcPr>
                </a:tc>
                <a:tc>
                  <a:txBody>
                    <a:bodyPr wrap="square"/>
                    <a:lstStyle/>
                    <a:p>
                      <a:pPr algn="l"/>
                      <a:r>
                        <a:rPr sz="1200" b="0">
                          <a:solidFill>
                            <a:srgbClr val="262626"/>
                          </a:solidFill>
                          <a:latin typeface="Arial"/>
                        </a:rPr>
                        <a:t>Có thể các câu gần như lặp lại cùng một nội dung</a:t>
                      </a:r>
                    </a:p>
                  </a:txBody>
                  <a:tcPr marL="73152" marR="73152" marT="27432" marB="27432" anchor="ctr">
                    <a:solidFill>
                      <a:srgbClr val="F3F3F3"/>
                    </a:solidFill>
                  </a:tcPr>
                </a:tc>
                <a:tc>
                  <a:txBody>
                    <a:bodyPr wrap="square"/>
                    <a:lstStyle/>
                    <a:p>
                      <a:pPr algn="l"/>
                      <a:r>
                        <a:rPr sz="1200" b="0">
                          <a:solidFill>
                            <a:srgbClr val="262626"/>
                          </a:solidFill>
                          <a:latin typeface="Arial"/>
                        </a:rPr>
                        <a:t>Đọc lại; hai câu cùng một ý bằng hai cách nói thì bỏ một câu</a:t>
                      </a:r>
                    </a:p>
                  </a:txBody>
                  <a:tcPr marL="73152" marR="73152" marT="27432" marB="27432" anchor="ctr">
                    <a:solidFill>
                      <a:srgbClr val="F3F3F3"/>
                    </a:solidFill>
                  </a:tcPr>
                </a:tc>
              </a:tr>
            </a:tbl>
          </a:graphicData>
        </a:graphic>
      </p:graphicFrame>
      <p:sp>
        <p:nvSpPr>
          <p:cNvPr id="12" name="TextBox 11"/>
          <p:cNvSpPr txBox="1"/>
          <p:nvPr/>
        </p:nvSpPr>
        <p:spPr>
          <a:xfrm>
            <a:off x="8961120" y="1783080"/>
            <a:ext cx="2770631" cy="274320"/>
          </a:xfrm>
          <a:prstGeom prst="rect">
            <a:avLst/>
          </a:prstGeom>
          <a:noFill/>
        </p:spPr>
        <p:txBody>
          <a:bodyPr wrap="square" lIns="45720" rIns="45720" tIns="27432" bIns="27432" anchor="t">
            <a:spAutoFit/>
          </a:bodyPr>
          <a:lstStyle/>
          <a:p>
            <a:pPr algn="l"/>
            <a:r>
              <a:rPr sz="1000" b="1" i="0">
                <a:solidFill>
                  <a:srgbClr val="CC0000"/>
                </a:solidFill>
                <a:latin typeface="Arial"/>
              </a:rPr>
              <a:t>NGUỒN CỦA NGƯỠNG</a:t>
            </a:r>
          </a:p>
        </p:txBody>
      </p:sp>
      <p:cxnSp>
        <p:nvCxnSpPr>
          <p:cNvPr id="13" name="Connector 12"/>
          <p:cNvCxnSpPr/>
          <p:nvPr/>
        </p:nvCxnSpPr>
        <p:spPr>
          <a:xfrm>
            <a:off x="8961120" y="2103120"/>
            <a:ext cx="27706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961120" y="2167128"/>
            <a:ext cx="2770631" cy="3383280"/>
          </a:xfrm>
          <a:prstGeom prst="rect">
            <a:avLst/>
          </a:prstGeom>
          <a:noFill/>
        </p:spPr>
        <p:txBody>
          <a:bodyPr wrap="square" lIns="45720" rIns="45720" tIns="27432" bIns="27432" anchor="t">
            <a:spAutoFit/>
          </a:bodyPr>
          <a:lstStyle/>
          <a:p>
            <a:pPr algn="l"/>
            <a:r>
              <a:rPr sz="1250" b="0" i="0">
                <a:solidFill>
                  <a:srgbClr val="58595B"/>
                </a:solidFill>
                <a:latin typeface="Arial"/>
              </a:rPr>
              <a:t>Hair và cộng sự (2010): tối thiểu thường là 0,7; có thể giảm còn 0,6 trong nghiên cứu khám phá.</a:t>
            </a:r>
          </a:p>
          <a:p>
            <a:pPr algn="l">
              <a:spcBef>
                <a:spcPts val="562"/>
              </a:spcBef>
            </a:pPr>
          </a:p>
          <a:p>
            <a:pPr algn="l">
              <a:spcBef>
                <a:spcPts val="562"/>
              </a:spcBef>
            </a:pPr>
            <a:r>
              <a:rPr sz="1250" b="0" i="0">
                <a:solidFill>
                  <a:srgbClr val="58595B"/>
                </a:solidFill>
                <a:latin typeface="Arial"/>
              </a:rPr>
              <a:t>Creswell và Creswell (2018, tr. 215): khoảng 0,7 đến 0,9.</a:t>
            </a:r>
          </a:p>
          <a:p>
            <a:pPr algn="l">
              <a:spcBef>
                <a:spcPts val="562"/>
              </a:spcBef>
            </a:pPr>
          </a:p>
          <a:p>
            <a:pPr algn="l">
              <a:spcBef>
                <a:spcPts val="562"/>
              </a:spcBef>
            </a:pPr>
            <a:r>
              <a:rPr sz="1250" b="0" i="0">
                <a:solidFill>
                  <a:srgbClr val="58595B"/>
                </a:solidFill>
                <a:latin typeface="Arial"/>
              </a:rPr>
              <a:t>Khoa dùng giáo trình có ngưỡng khác thì theo giáo trình đó, </a:t>
            </a:r>
            <a:r>
              <a:rPr sz="1250" b="1" i="0">
                <a:solidFill>
                  <a:srgbClr val="58595B"/>
                </a:solidFill>
                <a:latin typeface="Arial"/>
              </a:rPr>
              <a:t>dẫn đúng nguồn</a:t>
            </a:r>
            <a:r>
              <a:rPr sz="1250" b="0" i="0">
                <a:solidFill>
                  <a:srgbClr val="58595B"/>
                </a:solidFill>
                <a:latin typeface="Arial"/>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PHÂN TÍCH NHÂN TỐ KHÁM PHÁ (TÙY CHỌN)</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EFA là mục tùy chọn; ba câu hỏi giúp các em tự quyết định có làm hay không</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Ghi "làm EFA và CFA bằng Excel" là mô tả sai công cụ; CFA và SEM thuộc cấp sau đại học.</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3.6.3 (*); Hair và cộng sự (2010)</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72</a:t>
            </a:r>
          </a:p>
        </p:txBody>
      </p:sp>
      <p:sp>
        <p:nvSpPr>
          <p:cNvPr id="11" name="Oval 10"/>
          <p:cNvSpPr/>
          <p:nvPr/>
        </p:nvSpPr>
        <p:spPr>
          <a:xfrm>
            <a:off x="457200" y="1828800"/>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2" name="TextBox 11"/>
          <p:cNvSpPr txBox="1"/>
          <p:nvPr/>
        </p:nvSpPr>
        <p:spPr>
          <a:xfrm>
            <a:off x="960120" y="1783080"/>
            <a:ext cx="10725912" cy="768096"/>
          </a:xfrm>
          <a:prstGeom prst="rect">
            <a:avLst/>
          </a:prstGeom>
          <a:noFill/>
        </p:spPr>
        <p:txBody>
          <a:bodyPr wrap="square" lIns="45720" rIns="45720" tIns="27432" bIns="27432" anchor="t">
            <a:spAutoFit/>
          </a:bodyPr>
          <a:lstStyle/>
          <a:p>
            <a:pPr algn="l"/>
            <a:r>
              <a:rPr sz="1400" b="1" i="0">
                <a:solidFill>
                  <a:srgbClr val="58595B"/>
                </a:solidFill>
                <a:latin typeface="Arial"/>
              </a:rPr>
              <a:t>Mẫu đề cương của khoa có mục EFA không?</a:t>
            </a:r>
            <a:r>
              <a:rPr sz="1400" b="0" i="0">
                <a:solidFill>
                  <a:srgbClr val="58595B"/>
                </a:solidFill>
                <a:latin typeface="Arial"/>
              </a:rPr>
              <a:t>  Có thì làm.</a:t>
            </a:r>
          </a:p>
        </p:txBody>
      </p:sp>
      <p:cxnSp>
        <p:nvCxnSpPr>
          <p:cNvPr id="13" name="Connector 12"/>
          <p:cNvCxnSpPr/>
          <p:nvPr/>
        </p:nvCxnSpPr>
        <p:spPr>
          <a:xfrm>
            <a:off x="960120" y="2496312"/>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57200" y="259689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5" name="TextBox 14"/>
          <p:cNvSpPr txBox="1"/>
          <p:nvPr/>
        </p:nvSpPr>
        <p:spPr>
          <a:xfrm>
            <a:off x="960120" y="2551176"/>
            <a:ext cx="10725912" cy="768096"/>
          </a:xfrm>
          <a:prstGeom prst="rect">
            <a:avLst/>
          </a:prstGeom>
          <a:noFill/>
        </p:spPr>
        <p:txBody>
          <a:bodyPr wrap="square" lIns="45720" rIns="45720" tIns="27432" bIns="27432" anchor="t">
            <a:spAutoFit/>
          </a:bodyPr>
          <a:lstStyle/>
          <a:p>
            <a:pPr algn="l"/>
            <a:r>
              <a:rPr sz="1400" b="1" i="0">
                <a:solidFill>
                  <a:srgbClr val="58595B"/>
                </a:solidFill>
                <a:latin typeface="Arial"/>
              </a:rPr>
              <a:t>Có thang đo tự xây, dịch mới hoặc sửa từ ngữ đáng kể?</a:t>
            </a:r>
            <a:r>
              <a:rPr sz="1400" b="0" i="0">
                <a:solidFill>
                  <a:srgbClr val="58595B"/>
                </a:solidFill>
                <a:latin typeface="Arial"/>
              </a:rPr>
              <a:t>  Có thì nên làm, vì chưa có bằng chứng các câu mới nhóm đúng khái niệm.</a:t>
            </a:r>
          </a:p>
        </p:txBody>
      </p:sp>
      <p:cxnSp>
        <p:nvCxnSpPr>
          <p:cNvPr id="16" name="Connector 15"/>
          <p:cNvCxnSpPr/>
          <p:nvPr/>
        </p:nvCxnSpPr>
        <p:spPr>
          <a:xfrm>
            <a:off x="960120" y="3264408"/>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57200" y="3364991"/>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18" name="TextBox 17"/>
          <p:cNvSpPr txBox="1"/>
          <p:nvPr/>
        </p:nvSpPr>
        <p:spPr>
          <a:xfrm>
            <a:off x="960120" y="3319272"/>
            <a:ext cx="10725912" cy="768096"/>
          </a:xfrm>
          <a:prstGeom prst="rect">
            <a:avLst/>
          </a:prstGeom>
          <a:noFill/>
        </p:spPr>
        <p:txBody>
          <a:bodyPr wrap="square" lIns="45720" rIns="45720" tIns="27432" bIns="27432" anchor="t">
            <a:spAutoFit/>
          </a:bodyPr>
          <a:lstStyle/>
          <a:p>
            <a:pPr algn="l"/>
            <a:r>
              <a:rPr sz="1400" b="1" i="0">
                <a:solidFill>
                  <a:srgbClr val="58595B"/>
                </a:solidFill>
                <a:latin typeface="Arial"/>
              </a:rPr>
              <a:t>Cỡ mẫu có đạt ít nhất 5 lần số câu hỏi?</a:t>
            </a:r>
            <a:r>
              <a:rPr sz="1400" b="0" i="0">
                <a:solidFill>
                  <a:srgbClr val="58595B"/>
                </a:solidFill>
                <a:latin typeface="Arial"/>
              </a:rPr>
              <a:t>  Không đạt thì không làm, vì kết quả EFA không đáng tin.</a:t>
            </a:r>
          </a:p>
        </p:txBody>
      </p:sp>
      <p:cxnSp>
        <p:nvCxnSpPr>
          <p:cNvPr id="19" name="Connector 18"/>
          <p:cNvCxnSpPr/>
          <p:nvPr/>
        </p:nvCxnSpPr>
        <p:spPr>
          <a:xfrm>
            <a:off x="960120" y="4032504"/>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57200" y="4133088"/>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1" name="TextBox 20"/>
          <p:cNvSpPr txBox="1"/>
          <p:nvPr/>
        </p:nvSpPr>
        <p:spPr>
          <a:xfrm>
            <a:off x="960120" y="4087368"/>
            <a:ext cx="10725912" cy="768096"/>
          </a:xfrm>
          <a:prstGeom prst="rect">
            <a:avLst/>
          </a:prstGeom>
          <a:noFill/>
        </p:spPr>
        <p:txBody>
          <a:bodyPr wrap="square" lIns="45720" rIns="45720" tIns="27432" bIns="27432" anchor="t">
            <a:spAutoFit/>
          </a:bodyPr>
          <a:lstStyle/>
          <a:p>
            <a:pPr algn="l"/>
            <a:r>
              <a:rPr sz="1400" b="1" i="0">
                <a:solidFill>
                  <a:srgbClr val="58595B"/>
                </a:solidFill>
                <a:latin typeface="Arial"/>
              </a:rPr>
              <a:t>Nếu làm: dùng phần mềm có chức năng EFA</a:t>
            </a:r>
            <a:r>
              <a:rPr sz="1400" b="0" i="0">
                <a:solidFill>
                  <a:srgbClr val="58595B"/>
                </a:solidFill>
                <a:latin typeface="Arial"/>
              </a:rPr>
              <a:t>  SPSS, JASP hoặc R; Excel không có sẵn EFA.</a:t>
            </a:r>
          </a:p>
        </p:txBody>
      </p:sp>
      <p:cxnSp>
        <p:nvCxnSpPr>
          <p:cNvPr id="22" name="Connector 21"/>
          <p:cNvCxnSpPr/>
          <p:nvPr/>
        </p:nvCxnSpPr>
        <p:spPr>
          <a:xfrm>
            <a:off x="960120" y="4800600"/>
            <a:ext cx="10771632" cy="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57200" y="4901184"/>
            <a:ext cx="384048" cy="384048"/>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5</a:t>
            </a:r>
          </a:p>
        </p:txBody>
      </p:sp>
      <p:sp>
        <p:nvSpPr>
          <p:cNvPr id="24" name="TextBox 23"/>
          <p:cNvSpPr txBox="1"/>
          <p:nvPr/>
        </p:nvSpPr>
        <p:spPr>
          <a:xfrm>
            <a:off x="960120" y="4855464"/>
            <a:ext cx="10725912" cy="768096"/>
          </a:xfrm>
          <a:prstGeom prst="rect">
            <a:avLst/>
          </a:prstGeom>
          <a:noFill/>
        </p:spPr>
        <p:txBody>
          <a:bodyPr wrap="square" lIns="45720" rIns="45720" tIns="27432" bIns="27432" anchor="t">
            <a:spAutoFit/>
          </a:bodyPr>
          <a:lstStyle/>
          <a:p>
            <a:pPr algn="l"/>
            <a:r>
              <a:rPr sz="1400" b="1" i="0">
                <a:solidFill>
                  <a:srgbClr val="58595B"/>
                </a:solidFill>
                <a:latin typeface="Arial"/>
              </a:rPr>
              <a:t>Bốn tiêu chí (Hair và cộng sự, 2010)</a:t>
            </a:r>
            <a:r>
              <a:rPr sz="1400" b="0" i="0">
                <a:solidFill>
                  <a:srgbClr val="58595B"/>
                </a:solidFill>
                <a:latin typeface="Arial"/>
              </a:rPr>
              <a:t>  KMO từ 0,5; Bartlett có P-value dưới 0,05; eigenvalue lớn hơn 1; hệ số tải từ 0,5.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HỒI QUY TRÊN EXCEL</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Hồi quy đa biến kiểm định mỗi giả thuyết qua dấu và P-value của đúng một hệ số</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Chạy: Data &gt; Data Analysis &gt; Regression; vùng X là các cột biến độc lập đứng liền nhau; đánh dấu Labels và các ô phần dư.</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3.6.4, Hình 3-21 đến 3-23, Bảng 3-22 và 3-23; file 2.Chapter_2_and_Chapter_3_Practice.xlsx (dữ liệu giả định), sheet 7_BienDaiDien đến 9_HoiQuy</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73</a:t>
            </a:r>
          </a:p>
        </p:txBody>
      </p:sp>
      <p:sp>
        <p:nvSpPr>
          <p:cNvPr id="11" name="Rectangle 10"/>
          <p:cNvSpPr/>
          <p:nvPr/>
        </p:nvSpPr>
        <p:spPr>
          <a:xfrm>
            <a:off x="974084" y="1728216"/>
            <a:ext cx="5275591" cy="39502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55_p1932.png"/>
          <p:cNvPicPr>
            <a:picLocks noChangeAspect="1"/>
          </p:cNvPicPr>
          <p:nvPr/>
        </p:nvPicPr>
        <p:blipFill>
          <a:blip r:embed="rId2"/>
          <a:stretch>
            <a:fillRect/>
          </a:stretch>
        </p:blipFill>
        <p:spPr>
          <a:xfrm>
            <a:off x="1028948" y="1783080"/>
            <a:ext cx="5165863" cy="3840480"/>
          </a:xfrm>
          <a:prstGeom prst="rect">
            <a:avLst/>
          </a:prstGeom>
        </p:spPr>
      </p:pic>
      <p:sp>
        <p:nvSpPr>
          <p:cNvPr id="13" name="TextBox 12"/>
          <p:cNvSpPr txBox="1"/>
          <p:nvPr/>
        </p:nvSpPr>
        <p:spPr>
          <a:xfrm>
            <a:off x="7086600" y="1783080"/>
            <a:ext cx="4645152" cy="274320"/>
          </a:xfrm>
          <a:prstGeom prst="rect">
            <a:avLst/>
          </a:prstGeom>
          <a:noFill/>
        </p:spPr>
        <p:txBody>
          <a:bodyPr wrap="square" lIns="45720" rIns="45720" tIns="27432" bIns="27432" anchor="t">
            <a:spAutoFit/>
          </a:bodyPr>
          <a:lstStyle/>
          <a:p>
            <a:pPr algn="l"/>
            <a:r>
              <a:rPr sz="1000" b="1" i="0">
                <a:solidFill>
                  <a:srgbClr val="CC0000"/>
                </a:solidFill>
                <a:latin typeface="Arial"/>
              </a:rPr>
              <a:t>BỐN ĐIỀU PHẢI HIỂU ĐÚNG</a:t>
            </a:r>
          </a:p>
        </p:txBody>
      </p:sp>
      <p:cxnSp>
        <p:nvCxnSpPr>
          <p:cNvPr id="14" name="Connector 13"/>
          <p:cNvCxnSpPr/>
          <p:nvPr/>
        </p:nvCxnSpPr>
        <p:spPr>
          <a:xfrm>
            <a:off x="7086600" y="2103120"/>
            <a:ext cx="46451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08660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498079" y="2194560"/>
            <a:ext cx="4233672" cy="857250"/>
          </a:xfrm>
          <a:prstGeom prst="rect">
            <a:avLst/>
          </a:prstGeom>
          <a:noFill/>
        </p:spPr>
        <p:txBody>
          <a:bodyPr wrap="square" lIns="45720" rIns="45720" tIns="27432" bIns="27432" anchor="t">
            <a:spAutoFit/>
          </a:bodyPr>
          <a:lstStyle/>
          <a:p>
            <a:pPr algn="l"/>
            <a:r>
              <a:rPr sz="1350" b="1" i="0">
                <a:solidFill>
                  <a:srgbClr val="58595B"/>
                </a:solidFill>
                <a:latin typeface="Arial"/>
              </a:rPr>
              <a:t>Phương trình:</a:t>
            </a:r>
            <a:r>
              <a:rPr sz="1350" b="0" i="0">
                <a:solidFill>
                  <a:srgbClr val="58595B"/>
                </a:solidFill>
                <a:latin typeface="Arial"/>
              </a:rPr>
              <a:t> YD = β0 + β1·HI + β2·SD + β3·NT + β4·XH + ε; H1 được ủng hộ khi β1 dương và P-value nhỏ hơn 0,05.</a:t>
            </a:r>
          </a:p>
        </p:txBody>
      </p:sp>
      <p:sp>
        <p:nvSpPr>
          <p:cNvPr id="17" name="Oval 16"/>
          <p:cNvSpPr/>
          <p:nvPr/>
        </p:nvSpPr>
        <p:spPr>
          <a:xfrm>
            <a:off x="708660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498079" y="3051810"/>
            <a:ext cx="4233672" cy="857250"/>
          </a:xfrm>
          <a:prstGeom prst="rect">
            <a:avLst/>
          </a:prstGeom>
          <a:noFill/>
        </p:spPr>
        <p:txBody>
          <a:bodyPr wrap="square" lIns="45720" rIns="45720" tIns="27432" bIns="27432" anchor="t">
            <a:spAutoFit/>
          </a:bodyPr>
          <a:lstStyle/>
          <a:p>
            <a:pPr algn="l"/>
            <a:r>
              <a:rPr sz="1350" b="1" i="0">
                <a:solidFill>
                  <a:srgbClr val="58595B"/>
                </a:solidFill>
                <a:latin typeface="Arial"/>
              </a:rPr>
              <a:t>Biến đại diện:</a:t>
            </a:r>
            <a:r>
              <a:rPr sz="1350" b="0" i="0">
                <a:solidFill>
                  <a:srgbClr val="58595B"/>
                </a:solidFill>
                <a:latin typeface="Arial"/>
              </a:rPr>
              <a:t> =AVERAGE(F2:I2) kéo xuống 150 dòng; dùng trung bình để giữ thang 1 đến 5.</a:t>
            </a:r>
          </a:p>
        </p:txBody>
      </p:sp>
      <p:sp>
        <p:nvSpPr>
          <p:cNvPr id="19" name="Oval 18"/>
          <p:cNvSpPr/>
          <p:nvPr/>
        </p:nvSpPr>
        <p:spPr>
          <a:xfrm>
            <a:off x="708660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498079" y="3909060"/>
            <a:ext cx="4233672" cy="857250"/>
          </a:xfrm>
          <a:prstGeom prst="rect">
            <a:avLst/>
          </a:prstGeom>
          <a:noFill/>
        </p:spPr>
        <p:txBody>
          <a:bodyPr wrap="square" lIns="45720" rIns="45720" tIns="27432" bIns="27432" anchor="t">
            <a:spAutoFit/>
          </a:bodyPr>
          <a:lstStyle/>
          <a:p>
            <a:pPr algn="l"/>
            <a:r>
              <a:rPr sz="1350" b="1" i="0">
                <a:solidFill>
                  <a:srgbClr val="58595B"/>
                </a:solidFill>
                <a:latin typeface="Arial"/>
              </a:rPr>
              <a:t>R²:</a:t>
            </a:r>
            <a:r>
              <a:rPr sz="1350" b="0" i="0">
                <a:solidFill>
                  <a:srgbClr val="58595B"/>
                </a:solidFill>
                <a:latin typeface="Arial"/>
              </a:rPr>
              <a:t> tỷ lệ biến động của Y được các X giải thích; R² hiệu chỉnh dùng khi so mô hình khác số biến.</a:t>
            </a:r>
          </a:p>
        </p:txBody>
      </p:sp>
      <p:sp>
        <p:nvSpPr>
          <p:cNvPr id="21" name="Oval 20"/>
          <p:cNvSpPr/>
          <p:nvPr/>
        </p:nvSpPr>
        <p:spPr>
          <a:xfrm>
            <a:off x="708660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498079" y="4766310"/>
            <a:ext cx="4233672" cy="857250"/>
          </a:xfrm>
          <a:prstGeom prst="rect">
            <a:avLst/>
          </a:prstGeom>
          <a:noFill/>
        </p:spPr>
        <p:txBody>
          <a:bodyPr wrap="square" lIns="45720" rIns="45720" tIns="27432" bIns="27432" anchor="t">
            <a:spAutoFit/>
          </a:bodyPr>
          <a:lstStyle/>
          <a:p>
            <a:pPr algn="l"/>
            <a:r>
              <a:rPr sz="1350" b="1" i="0">
                <a:solidFill>
                  <a:srgbClr val="58595B"/>
                </a:solidFill>
                <a:latin typeface="Arial"/>
              </a:rPr>
              <a:t>P-value</a:t>
            </a:r>
            <a:r>
              <a:rPr sz="1350" b="0" i="0">
                <a:solidFill>
                  <a:srgbClr val="58595B"/>
                </a:solidFill>
                <a:latin typeface="Arial"/>
              </a:rPr>
              <a:t> không phải xác suất giả thuyết đúng; nó cũng không cho biết tác động mạnh hay yếu.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GIẢ ĐỊNH CỦA HỒI QUY</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Hệ số và P-value chỉ đáng tin khi dữ liệu thỏa bốn giả định và cả bốn đều kiểm tra được ngay trên Excel</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VIF trên 10 là đa cộng tuyến nghiêm trọng; VIF từ 5 đến 10 là dấu hiệu để đọc lại hai biến có tương quan cao nhất.</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3.6.4 và Bảng 3-23; Hair và cộng sự (2010)</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74</a:t>
            </a:r>
          </a:p>
        </p:txBody>
      </p:sp>
      <p:graphicFrame>
        <p:nvGraphicFramePr>
          <p:cNvPr id="11" name="Table 10"/>
          <p:cNvGraphicFramePr>
            <a:graphicFrameLocks noGrp="1"/>
          </p:cNvGraphicFramePr>
          <p:nvPr/>
        </p:nvGraphicFramePr>
        <p:xfrm>
          <a:off x="457200" y="1783080"/>
          <a:ext cx="11274551" cy="3264408"/>
        </p:xfrm>
        <a:graphic>
          <a:graphicData uri="http://schemas.openxmlformats.org/drawingml/2006/table">
            <a:tbl>
              <a:tblPr firstRow="1" bandRow="1">
                <a:tableStyleId>{5C22544A-7EE6-4342-B048-85BDC9FD1C3A}</a:tableStyleId>
              </a:tblPr>
              <a:tblGrid>
                <a:gridCol w="1929878"/>
                <a:gridCol w="2844031"/>
                <a:gridCol w="2844031"/>
                <a:gridCol w="3656611"/>
              </a:tblGrid>
              <a:tr h="411480">
                <a:tc>
                  <a:txBody>
                    <a:bodyPr wrap="square"/>
                    <a:lstStyle/>
                    <a:p>
                      <a:pPr algn="l"/>
                      <a:r>
                        <a:rPr sz="1200" b="1">
                          <a:solidFill>
                            <a:srgbClr val="FFFFFF"/>
                          </a:solidFill>
                          <a:latin typeface="Arial"/>
                        </a:rPr>
                        <a:t>Giả định</a:t>
                      </a:r>
                    </a:p>
                  </a:txBody>
                  <a:tcPr marL="73152" marR="73152" marT="27432" marB="27432" anchor="ctr">
                    <a:solidFill>
                      <a:srgbClr val="262626"/>
                    </a:solidFill>
                  </a:tcPr>
                </a:tc>
                <a:tc>
                  <a:txBody>
                    <a:bodyPr wrap="square"/>
                    <a:lstStyle/>
                    <a:p>
                      <a:pPr algn="l"/>
                      <a:r>
                        <a:rPr sz="1200" b="1">
                          <a:solidFill>
                            <a:srgbClr val="FFFFFF"/>
                          </a:solidFill>
                          <a:latin typeface="Arial"/>
                        </a:rPr>
                        <a:t>Nghĩa là gì</a:t>
                      </a:r>
                    </a:p>
                  </a:txBody>
                  <a:tcPr marL="73152" marR="73152" marT="27432" marB="27432" anchor="ctr">
                    <a:solidFill>
                      <a:srgbClr val="262626"/>
                    </a:solidFill>
                  </a:tcPr>
                </a:tc>
                <a:tc>
                  <a:txBody>
                    <a:bodyPr wrap="square"/>
                    <a:lstStyle/>
                    <a:p>
                      <a:pPr algn="l"/>
                      <a:r>
                        <a:rPr sz="1200" b="1">
                          <a:solidFill>
                            <a:srgbClr val="FFFFFF"/>
                          </a:solidFill>
                          <a:latin typeface="Arial"/>
                        </a:rPr>
                        <a:t>Vì sao cần</a:t>
                      </a:r>
                    </a:p>
                  </a:txBody>
                  <a:tcPr marL="73152" marR="73152" marT="27432" marB="27432" anchor="ctr">
                    <a:solidFill>
                      <a:srgbClr val="262626"/>
                    </a:solidFill>
                  </a:tcPr>
                </a:tc>
                <a:tc>
                  <a:txBody>
                    <a:bodyPr wrap="square"/>
                    <a:lstStyle/>
                    <a:p>
                      <a:pPr algn="l"/>
                      <a:r>
                        <a:rPr sz="1200" b="1">
                          <a:solidFill>
                            <a:srgbClr val="FFFFFF"/>
                          </a:solidFill>
                          <a:latin typeface="Arial"/>
                        </a:rPr>
                        <a:t>Kiểm tra trên Excel</a:t>
                      </a:r>
                    </a:p>
                  </a:txBody>
                  <a:tcPr marL="73152" marR="73152" marT="27432" marB="27432" anchor="ctr">
                    <a:solidFill>
                      <a:srgbClr val="262626"/>
                    </a:solidFill>
                  </a:tcPr>
                </a:tc>
              </a:tr>
              <a:tr h="713232">
                <a:tc>
                  <a:txBody>
                    <a:bodyPr wrap="square"/>
                    <a:lstStyle/>
                    <a:p>
                      <a:pPr algn="l"/>
                      <a:r>
                        <a:rPr sz="1200" b="0">
                          <a:solidFill>
                            <a:srgbClr val="262626"/>
                          </a:solidFill>
                          <a:latin typeface="Arial"/>
                        </a:rPr>
                        <a:t>Tuyến tính</a:t>
                      </a:r>
                    </a:p>
                  </a:txBody>
                  <a:tcPr marL="73152" marR="73152" marT="27432" marB="27432" anchor="ctr">
                    <a:solidFill>
                      <a:srgbClr val="FFFFFF"/>
                    </a:solidFill>
                  </a:tcPr>
                </a:tc>
                <a:tc>
                  <a:txBody>
                    <a:bodyPr wrap="square"/>
                    <a:lstStyle/>
                    <a:p>
                      <a:pPr algn="l"/>
                      <a:r>
                        <a:rPr sz="1200" b="0">
                          <a:solidFill>
                            <a:srgbClr val="262626"/>
                          </a:solidFill>
                          <a:latin typeface="Arial"/>
                        </a:rPr>
                        <a:t>Quan hệ giữa X và Y là đường thẳng, không cong</a:t>
                      </a:r>
                    </a:p>
                  </a:txBody>
                  <a:tcPr marL="73152" marR="73152" marT="27432" marB="27432" anchor="ctr">
                    <a:solidFill>
                      <a:srgbClr val="FFFFFF"/>
                    </a:solidFill>
                  </a:tcPr>
                </a:tc>
                <a:tc>
                  <a:txBody>
                    <a:bodyPr wrap="square"/>
                    <a:lstStyle/>
                    <a:p>
                      <a:pPr algn="l"/>
                      <a:r>
                        <a:rPr sz="1200" b="0">
                          <a:solidFill>
                            <a:srgbClr val="262626"/>
                          </a:solidFill>
                          <a:latin typeface="Arial"/>
                        </a:rPr>
                        <a:t>Hồi quy tuyến tính chỉ mô tả đúng quan hệ đường thẳng</a:t>
                      </a:r>
                    </a:p>
                  </a:txBody>
                  <a:tcPr marL="73152" marR="73152" marT="27432" marB="27432" anchor="ctr">
                    <a:solidFill>
                      <a:srgbClr val="FFFFFF"/>
                    </a:solidFill>
                  </a:tcPr>
                </a:tc>
                <a:tc>
                  <a:txBody>
                    <a:bodyPr wrap="square"/>
                    <a:lstStyle/>
                    <a:p>
                      <a:pPr algn="l"/>
                      <a:r>
                        <a:rPr sz="1200" b="0">
                          <a:solidFill>
                            <a:srgbClr val="262626"/>
                          </a:solidFill>
                          <a:latin typeface="Arial"/>
                        </a:rPr>
                        <a:t>Residual Plots: điểm phân tán đều quanh đường 0, không tạo hình cong</a:t>
                      </a:r>
                    </a:p>
                  </a:txBody>
                  <a:tcPr marL="73152" marR="73152" marT="27432" marB="27432" anchor="ctr">
                    <a:solidFill>
                      <a:srgbClr val="FFFFFF"/>
                    </a:solidFill>
                  </a:tcPr>
                </a:tc>
              </a:tr>
              <a:tr h="713232">
                <a:tc>
                  <a:txBody>
                    <a:bodyPr wrap="square"/>
                    <a:lstStyle/>
                    <a:p>
                      <a:pPr algn="l"/>
                      <a:r>
                        <a:rPr sz="1200" b="0">
                          <a:solidFill>
                            <a:srgbClr val="262626"/>
                          </a:solidFill>
                          <a:latin typeface="Arial"/>
                        </a:rPr>
                        <a:t>Phương sai sai số không đổi</a:t>
                      </a:r>
                    </a:p>
                  </a:txBody>
                  <a:tcPr marL="73152" marR="73152" marT="27432" marB="27432" anchor="ctr">
                    <a:solidFill>
                      <a:srgbClr val="F3F3F3"/>
                    </a:solidFill>
                  </a:tcPr>
                </a:tc>
                <a:tc>
                  <a:txBody>
                    <a:bodyPr wrap="square"/>
                    <a:lstStyle/>
                    <a:p>
                      <a:pPr algn="l"/>
                      <a:r>
                        <a:rPr sz="1200" b="0">
                          <a:solidFill>
                            <a:srgbClr val="262626"/>
                          </a:solidFill>
                          <a:latin typeface="Arial"/>
                        </a:rPr>
                        <a:t>Mức phân tán của phần dư giống nhau ở mọi mức của X</a:t>
                      </a:r>
                    </a:p>
                  </a:txBody>
                  <a:tcPr marL="73152" marR="73152" marT="27432" marB="27432" anchor="ctr">
                    <a:solidFill>
                      <a:srgbClr val="F3F3F3"/>
                    </a:solidFill>
                  </a:tcPr>
                </a:tc>
                <a:tc>
                  <a:txBody>
                    <a:bodyPr wrap="square"/>
                    <a:lstStyle/>
                    <a:p>
                      <a:pPr algn="l"/>
                      <a:r>
                        <a:rPr sz="1200" b="0">
                          <a:solidFill>
                            <a:srgbClr val="262626"/>
                          </a:solidFill>
                          <a:latin typeface="Arial"/>
                        </a:rPr>
                        <a:t>Phần dư loe rộng dần thì P-value có thể sai</a:t>
                      </a:r>
                    </a:p>
                  </a:txBody>
                  <a:tcPr marL="73152" marR="73152" marT="27432" marB="27432" anchor="ctr">
                    <a:solidFill>
                      <a:srgbClr val="F3F3F3"/>
                    </a:solidFill>
                  </a:tcPr>
                </a:tc>
                <a:tc>
                  <a:txBody>
                    <a:bodyPr wrap="square"/>
                    <a:lstStyle/>
                    <a:p>
                      <a:pPr algn="l"/>
                      <a:r>
                        <a:rPr sz="1200" b="0">
                          <a:solidFill>
                            <a:srgbClr val="262626"/>
                          </a:solidFill>
                          <a:latin typeface="Arial"/>
                        </a:rPr>
                        <a:t>Residual Plots: dải điểm không có hình phễu</a:t>
                      </a:r>
                    </a:p>
                  </a:txBody>
                  <a:tcPr marL="73152" marR="73152" marT="27432" marB="27432" anchor="ctr">
                    <a:solidFill>
                      <a:srgbClr val="F3F3F3"/>
                    </a:solidFill>
                  </a:tcPr>
                </a:tc>
              </a:tr>
              <a:tr h="713232">
                <a:tc>
                  <a:txBody>
                    <a:bodyPr wrap="square"/>
                    <a:lstStyle/>
                    <a:p>
                      <a:pPr algn="l"/>
                      <a:r>
                        <a:rPr sz="1200" b="0">
                          <a:solidFill>
                            <a:srgbClr val="262626"/>
                          </a:solidFill>
                          <a:latin typeface="Arial"/>
                        </a:rPr>
                        <a:t>Phần dư phân phối chuẩn</a:t>
                      </a:r>
                    </a:p>
                  </a:txBody>
                  <a:tcPr marL="73152" marR="73152" marT="27432" marB="27432" anchor="ctr">
                    <a:solidFill>
                      <a:srgbClr val="FFFFFF"/>
                    </a:solidFill>
                  </a:tcPr>
                </a:tc>
                <a:tc>
                  <a:txBody>
                    <a:bodyPr wrap="square"/>
                    <a:lstStyle/>
                    <a:p>
                      <a:pPr algn="l"/>
                      <a:r>
                        <a:rPr sz="1200" b="0">
                          <a:solidFill>
                            <a:srgbClr val="262626"/>
                          </a:solidFill>
                          <a:latin typeface="Arial"/>
                        </a:rPr>
                        <a:t>Biểu đồ tần số phần dư có dạng hình chuông</a:t>
                      </a:r>
                    </a:p>
                  </a:txBody>
                  <a:tcPr marL="73152" marR="73152" marT="27432" marB="27432" anchor="ctr">
                    <a:solidFill>
                      <a:srgbClr val="FFFFFF"/>
                    </a:solidFill>
                  </a:tcPr>
                </a:tc>
                <a:tc>
                  <a:txBody>
                    <a:bodyPr wrap="square"/>
                    <a:lstStyle/>
                    <a:p>
                      <a:pPr algn="l"/>
                      <a:r>
                        <a:rPr sz="1200" b="0">
                          <a:solidFill>
                            <a:srgbClr val="262626"/>
                          </a:solidFill>
                          <a:latin typeface="Arial"/>
                        </a:rPr>
                        <a:t>Kiểm định t và F dựa trên giả định này</a:t>
                      </a:r>
                    </a:p>
                  </a:txBody>
                  <a:tcPr marL="73152" marR="73152" marT="27432" marB="27432" anchor="ctr">
                    <a:solidFill>
                      <a:srgbClr val="FFFFFF"/>
                    </a:solidFill>
                  </a:tcPr>
                </a:tc>
                <a:tc>
                  <a:txBody>
                    <a:bodyPr wrap="square"/>
                    <a:lstStyle/>
                    <a:p>
                      <a:pPr algn="l"/>
                      <a:r>
                        <a:rPr sz="1200" b="0">
                          <a:solidFill>
                            <a:srgbClr val="262626"/>
                          </a:solidFill>
                          <a:latin typeface="Arial"/>
                        </a:rPr>
                        <a:t>Chọn cột phần dư; Insert &gt; Chart &gt; Histogram</a:t>
                      </a:r>
                    </a:p>
                  </a:txBody>
                  <a:tcPr marL="73152" marR="73152" marT="27432" marB="27432" anchor="ctr">
                    <a:solidFill>
                      <a:srgbClr val="FFFFFF"/>
                    </a:solidFill>
                  </a:tcPr>
                </a:tc>
              </a:tr>
              <a:tr h="713232">
                <a:tc>
                  <a:txBody>
                    <a:bodyPr wrap="square"/>
                    <a:lstStyle/>
                    <a:p>
                      <a:pPr algn="l"/>
                      <a:r>
                        <a:rPr sz="1200" b="0">
                          <a:solidFill>
                            <a:srgbClr val="262626"/>
                          </a:solidFill>
                          <a:latin typeface="Arial"/>
                        </a:rPr>
                        <a:t>Không đa cộng tuyến</a:t>
                      </a:r>
                    </a:p>
                  </a:txBody>
                  <a:tcPr marL="73152" marR="73152" marT="27432" marB="27432" anchor="ctr">
                    <a:solidFill>
                      <a:srgbClr val="F3F3F3"/>
                    </a:solidFill>
                  </a:tcPr>
                </a:tc>
                <a:tc>
                  <a:txBody>
                    <a:bodyPr wrap="square"/>
                    <a:lstStyle/>
                    <a:p>
                      <a:pPr algn="l"/>
                      <a:r>
                        <a:rPr sz="1200" b="0">
                          <a:solidFill>
                            <a:srgbClr val="262626"/>
                          </a:solidFill>
                          <a:latin typeface="Arial"/>
                        </a:rPr>
                        <a:t>Các biến độc lập không quá giống nhau</a:t>
                      </a:r>
                    </a:p>
                  </a:txBody>
                  <a:tcPr marL="73152" marR="73152" marT="27432" marB="27432" anchor="ctr">
                    <a:solidFill>
                      <a:srgbClr val="F3F3F3"/>
                    </a:solidFill>
                  </a:tcPr>
                </a:tc>
                <a:tc>
                  <a:txBody>
                    <a:bodyPr wrap="square"/>
                    <a:lstStyle/>
                    <a:p>
                      <a:pPr algn="l"/>
                      <a:r>
                        <a:rPr sz="1200" b="0">
                          <a:solidFill>
                            <a:srgbClr val="262626"/>
                          </a:solidFill>
                          <a:latin typeface="Arial"/>
                        </a:rPr>
                        <a:t>Không tách được tác động riêng của từng biến</a:t>
                      </a:r>
                    </a:p>
                  </a:txBody>
                  <a:tcPr marL="73152" marR="73152" marT="27432" marB="27432" anchor="ctr">
                    <a:solidFill>
                      <a:srgbClr val="F3F3F3"/>
                    </a:solidFill>
                  </a:tcPr>
                </a:tc>
                <a:tc>
                  <a:txBody>
                    <a:bodyPr wrap="square"/>
                    <a:lstStyle/>
                    <a:p>
                      <a:pPr algn="l"/>
                      <a:r>
                        <a:rPr sz="1200" b="0">
                          <a:solidFill>
                            <a:srgbClr val="262626"/>
                          </a:solidFill>
                          <a:latin typeface="Arial"/>
                        </a:rPr>
                        <a:t>Tương quan giữa hai X trên 0,8 là dấu hiệu; VIF = 1/(1 - R²)</a:t>
                      </a:r>
                    </a:p>
                  </a:txBody>
                  <a:tcPr marL="73152" marR="73152" marT="27432" marB="27432" anchor="ctr">
                    <a:solidFill>
                      <a:srgbClr val="F3F3F3"/>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3 | ĐỘ TIN CẬY, GIÁ TRỊ VÀ ĐẠO ĐỨC</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Đo ổn định chưa đủ, phải đo đúng và người tham gia phải được thông tin, tự nguyện, bảo vệ</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Mọi kết quả, kể cả giả thuyết không được ủng hộ, đều phải được báo cáo đầy đủ.</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3.7 và Mục 3.8; Creswell và Creswell (2018, tr. 146 đến 153, 215 đến 216)</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75</a:t>
            </a:r>
          </a:p>
        </p:txBody>
      </p:sp>
      <p:sp>
        <p:nvSpPr>
          <p:cNvPr id="11" name="Rectangle 10"/>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Độ tin cậy</a:t>
            </a:r>
          </a:p>
        </p:txBody>
      </p:sp>
      <p:sp>
        <p:nvSpPr>
          <p:cNvPr id="14" name="TextBox 13"/>
          <p:cNvSpPr txBox="1"/>
          <p:nvPr/>
        </p:nvSpPr>
        <p:spPr>
          <a:xfrm>
            <a:off x="457200" y="2560320"/>
            <a:ext cx="3575304" cy="3017520"/>
          </a:xfrm>
          <a:prstGeom prst="rect">
            <a:avLst/>
          </a:prstGeom>
          <a:noFill/>
        </p:spPr>
        <p:txBody>
          <a:bodyPr wrap="square" lIns="45720" rIns="45720" tIns="27432" bIns="27432" anchor="t">
            <a:spAutoFit/>
          </a:bodyPr>
          <a:lstStyle/>
          <a:p>
            <a:pPr algn="l"/>
            <a:r>
              <a:rPr sz="1300" b="0" i="0">
                <a:solidFill>
                  <a:srgbClr val="58595B"/>
                </a:solidFill>
                <a:latin typeface="Arial"/>
              </a:rPr>
              <a:t>"Đo có ổn định không?"</a:t>
            </a:r>
          </a:p>
          <a:p>
            <a:pPr algn="l">
              <a:spcBef>
                <a:spcPts val="585"/>
              </a:spcBef>
            </a:pPr>
          </a:p>
          <a:p>
            <a:pPr algn="l">
              <a:spcBef>
                <a:spcPts val="585"/>
              </a:spcBef>
            </a:pPr>
            <a:r>
              <a:rPr sz="1300" b="0" i="0">
                <a:solidFill>
                  <a:srgbClr val="58595B"/>
                </a:solidFill>
                <a:latin typeface="Arial"/>
              </a:rPr>
              <a:t>Cái cân luôn chỉ 2 kg cho mọi vật rất nhất quán nhưng không đo đúng khối lượng.</a:t>
            </a:r>
          </a:p>
          <a:p>
            <a:pPr algn="l">
              <a:spcBef>
                <a:spcPts val="585"/>
              </a:spcBef>
            </a:pPr>
          </a:p>
          <a:p>
            <a:pPr algn="l">
              <a:spcBef>
                <a:spcPts val="585"/>
              </a:spcBef>
            </a:pPr>
            <a:r>
              <a:rPr sz="1300" b="0" i="0">
                <a:solidFill>
                  <a:srgbClr val="58595B"/>
                </a:solidFill>
                <a:latin typeface="Arial"/>
              </a:rPr>
              <a:t>Alpha đạt là </a:t>
            </a:r>
            <a:r>
              <a:rPr sz="1300" b="1" i="0">
                <a:solidFill>
                  <a:srgbClr val="58595B"/>
                </a:solidFill>
                <a:latin typeface="Arial"/>
              </a:rPr>
              <a:t>điều kiện cần</a:t>
            </a:r>
            <a:r>
              <a:rPr sz="1300" b="0" i="0">
                <a:solidFill>
                  <a:srgbClr val="58595B"/>
                </a:solidFill>
                <a:latin typeface="Arial"/>
              </a:rPr>
              <a:t>, chưa phải điều kiện đủ.</a:t>
            </a:r>
          </a:p>
        </p:txBody>
      </p:sp>
      <p:sp>
        <p:nvSpPr>
          <p:cNvPr id="15" name="Rectangle 14"/>
          <p:cNvSpPr/>
          <p:nvPr/>
        </p:nvSpPr>
        <p:spPr>
          <a:xfrm>
            <a:off x="4306824"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Giá trị</a:t>
            </a:r>
          </a:p>
        </p:txBody>
      </p:sp>
      <p:sp>
        <p:nvSpPr>
          <p:cNvPr id="18" name="TextBox 17"/>
          <p:cNvSpPr txBox="1"/>
          <p:nvPr/>
        </p:nvSpPr>
        <p:spPr>
          <a:xfrm>
            <a:off x="4306824" y="2560320"/>
            <a:ext cx="3575304" cy="3017520"/>
          </a:xfrm>
          <a:prstGeom prst="rect">
            <a:avLst/>
          </a:prstGeom>
          <a:noFill/>
        </p:spPr>
        <p:txBody>
          <a:bodyPr wrap="square" lIns="45720" rIns="45720" tIns="27432" bIns="27432" anchor="t">
            <a:spAutoFit/>
          </a:bodyPr>
          <a:lstStyle/>
          <a:p>
            <a:pPr algn="l"/>
            <a:r>
              <a:rPr sz="1300" b="0" i="0">
                <a:solidFill>
                  <a:srgbClr val="58595B"/>
                </a:solidFill>
                <a:latin typeface="Arial"/>
              </a:rPr>
              <a:t>"Đo có đúng cái cần đo không?"</a:t>
            </a:r>
          </a:p>
          <a:p>
            <a:pPr algn="l">
              <a:spcBef>
                <a:spcPts val="585"/>
              </a:spcBef>
            </a:pPr>
          </a:p>
          <a:p>
            <a:pPr algn="l">
              <a:spcBef>
                <a:spcPts val="585"/>
              </a:spcBef>
            </a:pPr>
            <a:r>
              <a:rPr sz="1300" b="0" i="0">
                <a:solidFill>
                  <a:srgbClr val="58595B"/>
                </a:solidFill>
                <a:latin typeface="Arial"/>
              </a:rPr>
              <a:t>Giá trị nội dung, dự báo hoặc đồng thời, cấu trúc.</a:t>
            </a:r>
          </a:p>
          <a:p>
            <a:pPr algn="l">
              <a:spcBef>
                <a:spcPts val="585"/>
              </a:spcBef>
            </a:pPr>
          </a:p>
          <a:p>
            <a:pPr algn="l">
              <a:spcBef>
                <a:spcPts val="585"/>
              </a:spcBef>
            </a:pPr>
            <a:r>
              <a:rPr sz="1300" b="0" i="0">
                <a:solidFill>
                  <a:srgbClr val="58595B"/>
                </a:solidFill>
                <a:latin typeface="Arial"/>
              </a:rPr>
              <a:t>Biện pháp: kế thừa thang đo đã công bố; định nghĩa từ Chương 2; đọc thử bảng hỏi.</a:t>
            </a:r>
          </a:p>
        </p:txBody>
      </p:sp>
      <p:sp>
        <p:nvSpPr>
          <p:cNvPr id="19" name="Rectangle 18"/>
          <p:cNvSpPr/>
          <p:nvPr/>
        </p:nvSpPr>
        <p:spPr>
          <a:xfrm>
            <a:off x="8156448" y="1783080"/>
            <a:ext cx="3575304"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Đạo đức</a:t>
            </a:r>
          </a:p>
        </p:txBody>
      </p:sp>
      <p:sp>
        <p:nvSpPr>
          <p:cNvPr id="22" name="TextBox 21"/>
          <p:cNvSpPr txBox="1"/>
          <p:nvPr/>
        </p:nvSpPr>
        <p:spPr>
          <a:xfrm>
            <a:off x="8156448" y="2560320"/>
            <a:ext cx="3575304" cy="3017520"/>
          </a:xfrm>
          <a:prstGeom prst="rect">
            <a:avLst/>
          </a:prstGeom>
          <a:noFill/>
        </p:spPr>
        <p:txBody>
          <a:bodyPr wrap="square" lIns="45720" rIns="45720" tIns="27432" bIns="27432" anchor="t">
            <a:spAutoFit/>
          </a:bodyPr>
          <a:lstStyle/>
          <a:p>
            <a:pPr algn="l"/>
            <a:r>
              <a:rPr sz="1300" b="0" i="0">
                <a:solidFill>
                  <a:srgbClr val="58595B"/>
                </a:solidFill>
                <a:latin typeface="Arial"/>
              </a:rPr>
              <a:t>Tự nguyện, đồng ý, bảo mật, ẩn danh, không gây hại, trung thực.</a:t>
            </a:r>
          </a:p>
          <a:p>
            <a:pPr algn="l">
              <a:spcBef>
                <a:spcPts val="585"/>
              </a:spcBef>
            </a:pPr>
          </a:p>
          <a:p>
            <a:pPr algn="l">
              <a:spcBef>
                <a:spcPts val="585"/>
              </a:spcBef>
            </a:pPr>
            <a:r>
              <a:rPr sz="1300" b="0" i="0">
                <a:solidFill>
                  <a:srgbClr val="58595B"/>
                </a:solidFill>
                <a:latin typeface="Arial"/>
              </a:rPr>
              <a:t>Phiếu không thu họ tên, số điện thoại, số tài khoản.</a:t>
            </a:r>
          </a:p>
          <a:p>
            <a:pPr algn="l">
              <a:spcBef>
                <a:spcPts val="585"/>
              </a:spcBef>
            </a:pPr>
          </a:p>
          <a:p>
            <a:pPr algn="l">
              <a:spcBef>
                <a:spcPts val="585"/>
              </a:spcBef>
            </a:pPr>
            <a:r>
              <a:rPr sz="1300" b="0" i="0">
                <a:solidFill>
                  <a:srgbClr val="58595B"/>
                </a:solidFill>
                <a:latin typeface="Arial"/>
              </a:rPr>
              <a:t>Trường Y: xin phép Ban giám hiệu; không khảo sát học sinh.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2 VÀ CHƯƠNG 3 | TỰ CHẤM BẢN THẢO</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Mười câu tự chấm, mỗi câu có một cách kiểm tra không dựa vào cảm giác; dưới 8 câu "có" thì sửa trước khi sang Chương 4</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Đạt 10/10 chỉ cho biết bản thảo đủ thành phần; chất lượng lập luận còn phải kiểm tra bằng checklist cuối Chương 2 và Chương 3.</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3, mục F (lỗi thường gặp, tự chấm, checklist), Bảng 3-26 và 3-27</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76</a:t>
            </a:r>
          </a:p>
        </p:txBody>
      </p:sp>
      <p:graphicFrame>
        <p:nvGraphicFramePr>
          <p:cNvPr id="12" name="Table 11"/>
          <p:cNvGraphicFramePr>
            <a:graphicFrameLocks noGrp="1"/>
          </p:cNvGraphicFramePr>
          <p:nvPr/>
        </p:nvGraphicFramePr>
        <p:xfrm>
          <a:off x="457200" y="1783080"/>
          <a:ext cx="11274551" cy="3794760"/>
        </p:xfrm>
        <a:graphic>
          <a:graphicData uri="http://schemas.openxmlformats.org/drawingml/2006/table">
            <a:tbl>
              <a:tblPr firstRow="1" bandRow="1">
                <a:tableStyleId>{5C22544A-7EE6-4342-B048-85BDC9FD1C3A}</a:tableStyleId>
              </a:tblPr>
              <a:tblGrid>
                <a:gridCol w="3966971"/>
                <a:gridCol w="7307580"/>
              </a:tblGrid>
              <a:tr h="411480">
                <a:tc>
                  <a:txBody>
                    <a:bodyPr wrap="square"/>
                    <a:lstStyle/>
                    <a:p>
                      <a:pPr algn="l"/>
                      <a:r>
                        <a:rPr sz="1200" b="1">
                          <a:solidFill>
                            <a:srgbClr val="FFFFFF"/>
                          </a:solidFill>
                          <a:latin typeface="Arial"/>
                        </a:rPr>
                        <a:t>Câu hỏi</a:t>
                      </a:r>
                    </a:p>
                  </a:txBody>
                  <a:tcPr marL="73152" marR="73152" marT="27432" marB="27432" anchor="ctr">
                    <a:solidFill>
                      <a:srgbClr val="262626"/>
                    </a:solidFill>
                  </a:tcPr>
                </a:tc>
                <a:tc>
                  <a:txBody>
                    <a:bodyPr wrap="square"/>
                    <a:lstStyle/>
                    <a:p>
                      <a:pPr algn="l"/>
                      <a:r>
                        <a:rPr sz="1200" b="1">
                          <a:solidFill>
                            <a:srgbClr val="FFFFFF"/>
                          </a:solidFill>
                          <a:latin typeface="Arial"/>
                        </a:rPr>
                        <a:t>Cách kiểm tra</a:t>
                      </a:r>
                    </a:p>
                  </a:txBody>
                  <a:tcPr marL="73152" marR="73152" marT="27432" marB="27432" anchor="ctr">
                    <a:solidFill>
                      <a:srgbClr val="262626"/>
                    </a:solidFill>
                  </a:tcPr>
                </a:tc>
              </a:tr>
              <a:tr h="338328">
                <a:tc>
                  <a:txBody>
                    <a:bodyPr wrap="square"/>
                    <a:lstStyle/>
                    <a:p>
                      <a:pPr algn="l"/>
                      <a:r>
                        <a:rPr sz="1200" b="0">
                          <a:solidFill>
                            <a:srgbClr val="262626"/>
                          </a:solidFill>
                          <a:latin typeface="Arial"/>
                        </a:rPr>
                        <a:t>1. Gom nhóm hay liệt kê?</a:t>
                      </a:r>
                    </a:p>
                  </a:txBody>
                  <a:tcPr marL="73152" marR="73152" marT="27432" marB="27432" anchor="ctr">
                    <a:solidFill>
                      <a:srgbClr val="FFFFFF"/>
                    </a:solidFill>
                  </a:tcPr>
                </a:tc>
                <a:tc>
                  <a:txBody>
                    <a:bodyPr wrap="square"/>
                    <a:lstStyle/>
                    <a:p>
                      <a:pPr algn="l"/>
                      <a:r>
                        <a:rPr sz="1200" b="0">
                          <a:solidFill>
                            <a:srgbClr val="262626"/>
                          </a:solidFill>
                          <a:latin typeface="Arial"/>
                        </a:rPr>
                        <a:t>Tô đậm chủ ngữ từng câu; phần lớn là tên tác giả thì đang liệt kê</a:t>
                      </a:r>
                    </a:p>
                  </a:txBody>
                  <a:tcPr marL="73152" marR="73152" marT="27432" marB="27432" anchor="ctr">
                    <a:solidFill>
                      <a:srgbClr val="FFFFFF"/>
                    </a:solidFill>
                  </a:tcPr>
                </a:tc>
              </a:tr>
              <a:tr h="338328">
                <a:tc>
                  <a:txBody>
                    <a:bodyPr wrap="square"/>
                    <a:lstStyle/>
                    <a:p>
                      <a:pPr algn="l"/>
                      <a:r>
                        <a:rPr sz="1200" b="0">
                          <a:solidFill>
                            <a:srgbClr val="262626"/>
                          </a:solidFill>
                          <a:latin typeface="Arial"/>
                        </a:rPr>
                        <a:t>2. Có so sánh, đối chiếu?</a:t>
                      </a:r>
                    </a:p>
                  </a:txBody>
                  <a:tcPr marL="73152" marR="73152" marT="27432" marB="27432" anchor="ctr">
                    <a:solidFill>
                      <a:srgbClr val="F3F3F3"/>
                    </a:solidFill>
                  </a:tcPr>
                </a:tc>
                <a:tc>
                  <a:txBody>
                    <a:bodyPr wrap="square"/>
                    <a:lstStyle/>
                    <a:p>
                      <a:pPr algn="l"/>
                      <a:r>
                        <a:rPr sz="1200" b="0">
                          <a:solidFill>
                            <a:srgbClr val="262626"/>
                          </a:solidFill>
                          <a:latin typeface="Arial"/>
                        </a:rPr>
                        <a:t>Tìm "cùng", "khác với", "trong khi"; mỗi đoạn ít nhất một cụm</a:t>
                      </a:r>
                    </a:p>
                  </a:txBody>
                  <a:tcPr marL="73152" marR="73152" marT="27432" marB="27432" anchor="ctr">
                    <a:solidFill>
                      <a:srgbClr val="F3F3F3"/>
                    </a:solidFill>
                  </a:tcPr>
                </a:tc>
              </a:tr>
              <a:tr h="338328">
                <a:tc>
                  <a:txBody>
                    <a:bodyPr wrap="square"/>
                    <a:lstStyle/>
                    <a:p>
                      <a:pPr algn="l"/>
                      <a:r>
                        <a:rPr sz="1200" b="0">
                          <a:solidFill>
                            <a:srgbClr val="262626"/>
                          </a:solidFill>
                          <a:latin typeface="Arial"/>
                        </a:rPr>
                        <a:t>3. Có chỉ ra mâu thuẫn?</a:t>
                      </a:r>
                    </a:p>
                  </a:txBody>
                  <a:tcPr marL="73152" marR="73152" marT="27432" marB="27432" anchor="ctr">
                    <a:solidFill>
                      <a:srgbClr val="FFFFFF"/>
                    </a:solidFill>
                  </a:tcPr>
                </a:tc>
                <a:tc>
                  <a:txBody>
                    <a:bodyPr wrap="square"/>
                    <a:lstStyle/>
                    <a:p>
                      <a:pPr algn="l"/>
                      <a:r>
                        <a:rPr sz="1200" b="0">
                          <a:solidFill>
                            <a:srgbClr val="262626"/>
                          </a:solidFill>
                          <a:latin typeface="Arial"/>
                        </a:rPr>
                        <a:t>Ít nhất một cặp nghiên cứu khác kết quả và một câu giải thích</a:t>
                      </a:r>
                    </a:p>
                  </a:txBody>
                  <a:tcPr marL="73152" marR="73152" marT="27432" marB="27432" anchor="ctr">
                    <a:solidFill>
                      <a:srgbClr val="FFFFFF"/>
                    </a:solidFill>
                  </a:tcPr>
                </a:tc>
              </a:tr>
              <a:tr h="338328">
                <a:tc>
                  <a:txBody>
                    <a:bodyPr wrap="square"/>
                    <a:lstStyle/>
                    <a:p>
                      <a:pPr algn="l"/>
                      <a:r>
                        <a:rPr sz="1200" b="0">
                          <a:solidFill>
                            <a:srgbClr val="262626"/>
                          </a:solidFill>
                          <a:latin typeface="Arial"/>
                        </a:rPr>
                        <a:t>4. Có khoảng trống?</a:t>
                      </a:r>
                    </a:p>
                  </a:txBody>
                  <a:tcPr marL="73152" marR="73152" marT="27432" marB="27432" anchor="ctr">
                    <a:solidFill>
                      <a:srgbClr val="F3F3F3"/>
                    </a:solidFill>
                  </a:tcPr>
                </a:tc>
                <a:tc>
                  <a:txBody>
                    <a:bodyPr wrap="square"/>
                    <a:lstStyle/>
                    <a:p>
                      <a:pPr algn="l"/>
                      <a:r>
                        <a:rPr sz="1200" b="0">
                          <a:solidFill>
                            <a:srgbClr val="262626"/>
                          </a:solidFill>
                          <a:latin typeface="Arial"/>
                        </a:rPr>
                        <a:t>Có trích dẫn và cụm giới hạn phạm vi tìm kiếm</a:t>
                      </a:r>
                    </a:p>
                  </a:txBody>
                  <a:tcPr marL="73152" marR="73152" marT="27432" marB="27432" anchor="ctr">
                    <a:solidFill>
                      <a:srgbClr val="F3F3F3"/>
                    </a:solidFill>
                  </a:tcPr>
                </a:tc>
              </a:tr>
              <a:tr h="338328">
                <a:tc>
                  <a:txBody>
                    <a:bodyPr wrap="square"/>
                    <a:lstStyle/>
                    <a:p>
                      <a:pPr algn="l"/>
                      <a:r>
                        <a:rPr sz="1200" b="0">
                          <a:solidFill>
                            <a:srgbClr val="262626"/>
                          </a:solidFill>
                          <a:latin typeface="Arial"/>
                        </a:rPr>
                        <a:t>5. Mô hình đơn giản, rõ?</a:t>
                      </a:r>
                    </a:p>
                  </a:txBody>
                  <a:tcPr marL="73152" marR="73152" marT="27432" marB="27432" anchor="ctr">
                    <a:solidFill>
                      <a:srgbClr val="FFFFFF"/>
                    </a:solidFill>
                  </a:tcPr>
                </a:tc>
                <a:tc>
                  <a:txBody>
                    <a:bodyPr wrap="square"/>
                    <a:lstStyle/>
                    <a:p>
                      <a:pPr algn="l"/>
                      <a:r>
                        <a:rPr sz="1200" b="0">
                          <a:solidFill>
                            <a:srgbClr val="262626"/>
                          </a:solidFill>
                          <a:latin typeface="Arial"/>
                        </a:rPr>
                        <a:t>3 đến 5 biến độc lập; số mũi tên bằng số giả thuyết</a:t>
                      </a:r>
                    </a:p>
                  </a:txBody>
                  <a:tcPr marL="73152" marR="73152" marT="27432" marB="27432" anchor="ctr">
                    <a:solidFill>
                      <a:srgbClr val="FFFFFF"/>
                    </a:solidFill>
                  </a:tcPr>
                </a:tc>
              </a:tr>
              <a:tr h="338328">
                <a:tc>
                  <a:txBody>
                    <a:bodyPr wrap="square"/>
                    <a:lstStyle/>
                    <a:p>
                      <a:pPr algn="l"/>
                      <a:r>
                        <a:rPr sz="1200" b="0">
                          <a:solidFill>
                            <a:srgbClr val="262626"/>
                          </a:solidFill>
                          <a:latin typeface="Arial"/>
                        </a:rPr>
                        <a:t>6. Giả thuyết có chiều?</a:t>
                      </a:r>
                    </a:p>
                  </a:txBody>
                  <a:tcPr marL="73152" marR="73152" marT="27432" marB="27432" anchor="ctr">
                    <a:solidFill>
                      <a:srgbClr val="F3F3F3"/>
                    </a:solidFill>
                  </a:tcPr>
                </a:tc>
                <a:tc>
                  <a:txBody>
                    <a:bodyPr wrap="square"/>
                    <a:lstStyle/>
                    <a:p>
                      <a:pPr algn="l"/>
                      <a:r>
                        <a:rPr sz="1200" b="0">
                          <a:solidFill>
                            <a:srgbClr val="262626"/>
                          </a:solidFill>
                          <a:latin typeface="Arial"/>
                        </a:rPr>
                        <a:t>Mỗi giả thuyết có "cùng chiều" hoặc "ngược chiều"</a:t>
                      </a:r>
                    </a:p>
                  </a:txBody>
                  <a:tcPr marL="73152" marR="73152" marT="27432" marB="27432" anchor="ctr">
                    <a:solidFill>
                      <a:srgbClr val="F3F3F3"/>
                    </a:solidFill>
                  </a:tcPr>
                </a:tc>
              </a:tr>
              <a:tr h="338328">
                <a:tc>
                  <a:txBody>
                    <a:bodyPr wrap="square"/>
                    <a:lstStyle/>
                    <a:p>
                      <a:pPr algn="l"/>
                      <a:r>
                        <a:rPr sz="1200" b="0">
                          <a:solidFill>
                            <a:srgbClr val="262626"/>
                          </a:solidFill>
                          <a:latin typeface="Arial"/>
                        </a:rPr>
                        <a:t>7. Trích dẫn đầy đủ?</a:t>
                      </a:r>
                    </a:p>
                  </a:txBody>
                  <a:tcPr marL="73152" marR="73152" marT="27432" marB="27432" anchor="ctr">
                    <a:solidFill>
                      <a:srgbClr val="FFFFFF"/>
                    </a:solidFill>
                  </a:tcPr>
                </a:tc>
                <a:tc>
                  <a:txBody>
                    <a:bodyPr wrap="square"/>
                    <a:lstStyle/>
                    <a:p>
                      <a:pPr algn="l"/>
                      <a:r>
                        <a:rPr sz="1200" b="0">
                          <a:solidFill>
                            <a:srgbClr val="262626"/>
                          </a:solidFill>
                          <a:latin typeface="Arial"/>
                        </a:rPr>
                        <a:t>Mỗi tên tác giả trong bài có trong danh mục và ngược lại</a:t>
                      </a:r>
                    </a:p>
                  </a:txBody>
                  <a:tcPr marL="73152" marR="73152" marT="27432" marB="27432" anchor="ctr">
                    <a:solidFill>
                      <a:srgbClr val="FFFFFF"/>
                    </a:solidFill>
                  </a:tcPr>
                </a:tc>
              </a:tr>
              <a:tr h="338328">
                <a:tc>
                  <a:txBody>
                    <a:bodyPr wrap="square"/>
                    <a:lstStyle/>
                    <a:p>
                      <a:pPr algn="l"/>
                      <a:r>
                        <a:rPr sz="1200" b="0">
                          <a:solidFill>
                            <a:srgbClr val="262626"/>
                          </a:solidFill>
                          <a:latin typeface="Arial"/>
                        </a:rPr>
                        <a:t>8. Giải thích vì sao chọn phương pháp?</a:t>
                      </a:r>
                    </a:p>
                  </a:txBody>
                  <a:tcPr marL="73152" marR="73152" marT="27432" marB="27432" anchor="ctr">
                    <a:solidFill>
                      <a:srgbClr val="F3F3F3"/>
                    </a:solidFill>
                  </a:tcPr>
                </a:tc>
                <a:tc>
                  <a:txBody>
                    <a:bodyPr wrap="square"/>
                    <a:lstStyle/>
                    <a:p>
                      <a:pPr algn="l"/>
                      <a:r>
                        <a:rPr sz="1200" b="0">
                          <a:solidFill>
                            <a:srgbClr val="262626"/>
                          </a:solidFill>
                          <a:latin typeface="Arial"/>
                        </a:rPr>
                        <a:t>Mỗi mục Chương 3 có ít nhất một câu "được chọn vì..."</a:t>
                      </a:r>
                    </a:p>
                  </a:txBody>
                  <a:tcPr marL="73152" marR="73152" marT="27432" marB="27432" anchor="ctr">
                    <a:solidFill>
                      <a:srgbClr val="F3F3F3"/>
                    </a:solidFill>
                  </a:tcPr>
                </a:tc>
              </a:tr>
              <a:tr h="338328">
                <a:tc>
                  <a:txBody>
                    <a:bodyPr wrap="square"/>
                    <a:lstStyle/>
                    <a:p>
                      <a:pPr algn="l"/>
                      <a:r>
                        <a:rPr sz="1200" b="0">
                          <a:solidFill>
                            <a:srgbClr val="262626"/>
                          </a:solidFill>
                          <a:latin typeface="Arial"/>
                        </a:rPr>
                        <a:t>9. Mô tả quy trình thu thập?</a:t>
                      </a:r>
                    </a:p>
                  </a:txBody>
                  <a:tcPr marL="73152" marR="73152" marT="27432" marB="27432" anchor="ctr">
                    <a:solidFill>
                      <a:srgbClr val="FFFFFF"/>
                    </a:solidFill>
                  </a:tcPr>
                </a:tc>
                <a:tc>
                  <a:txBody>
                    <a:bodyPr wrap="square"/>
                    <a:lstStyle/>
                    <a:p>
                      <a:pPr algn="l"/>
                      <a:r>
                        <a:rPr sz="1200" b="0">
                          <a:solidFill>
                            <a:srgbClr val="262626"/>
                          </a:solidFill>
                          <a:latin typeface="Arial"/>
                        </a:rPr>
                        <a:t>Đủ bốn con số: mời, thu về, loại, hợp lệ</a:t>
                      </a:r>
                    </a:p>
                  </a:txBody>
                  <a:tcPr marL="73152" marR="73152" marT="27432" marB="27432" anchor="ctr">
                    <a:solidFill>
                      <a:srgbClr val="FFFFFF"/>
                    </a:solidFill>
                  </a:tcPr>
                </a:tc>
              </a:tr>
              <a:tr h="338328">
                <a:tc>
                  <a:txBody>
                    <a:bodyPr wrap="square"/>
                    <a:lstStyle/>
                    <a:p>
                      <a:pPr algn="l"/>
                      <a:r>
                        <a:rPr sz="1200" b="0">
                          <a:solidFill>
                            <a:srgbClr val="262626"/>
                          </a:solidFill>
                          <a:latin typeface="Arial"/>
                        </a:rPr>
                        <a:t>10. Mô tả cách phân tích?</a:t>
                      </a:r>
                    </a:p>
                  </a:txBody>
                  <a:tcPr marL="73152" marR="73152" marT="27432" marB="27432" anchor="ctr">
                    <a:solidFill>
                      <a:srgbClr val="F3F3F3"/>
                    </a:solidFill>
                  </a:tcPr>
                </a:tc>
                <a:tc>
                  <a:txBody>
                    <a:bodyPr wrap="square"/>
                    <a:lstStyle/>
                    <a:p>
                      <a:pPr algn="l"/>
                      <a:r>
                        <a:rPr sz="1200" b="0">
                          <a:solidFill>
                            <a:srgbClr val="262626"/>
                          </a:solidFill>
                          <a:latin typeface="Arial"/>
                        </a:rPr>
                        <a:t>Danh sách bước, công cụ, tiêu chí chấp nhận giả thuyết</a:t>
                      </a:r>
                    </a:p>
                  </a:txBody>
                  <a:tcPr marL="73152" marR="73152" marT="27432" marB="27432" anchor="ctr">
                    <a:solidFill>
                      <a:srgbClr val="F3F3F3"/>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148840"/>
            <a:ext cx="109728" cy="21945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011680"/>
            <a:ext cx="9144000" cy="914400"/>
          </a:xfrm>
          <a:prstGeom prst="rect">
            <a:avLst/>
          </a:prstGeom>
          <a:noFill/>
        </p:spPr>
        <p:txBody>
          <a:bodyPr wrap="square" lIns="45720" rIns="45720" tIns="27432" bIns="27432" anchor="t">
            <a:spAutoFit/>
          </a:bodyPr>
          <a:lstStyle/>
          <a:p>
            <a:pPr algn="l"/>
            <a:r>
              <a:rPr sz="6000" b="1" i="0">
                <a:solidFill>
                  <a:srgbClr val="CC0000"/>
                </a:solidFill>
                <a:latin typeface="Arial"/>
              </a:rPr>
              <a:t>05</a:t>
            </a:r>
          </a:p>
        </p:txBody>
      </p:sp>
      <p:sp>
        <p:nvSpPr>
          <p:cNvPr id="5" name="TextBox 4"/>
          <p:cNvSpPr txBox="1"/>
          <p:nvPr/>
        </p:nvSpPr>
        <p:spPr>
          <a:xfrm>
            <a:off x="1051560" y="2926080"/>
            <a:ext cx="10058400" cy="914400"/>
          </a:xfrm>
          <a:prstGeom prst="rect">
            <a:avLst/>
          </a:prstGeom>
          <a:noFill/>
        </p:spPr>
        <p:txBody>
          <a:bodyPr wrap="square" lIns="45720" rIns="45720" tIns="27432" bIns="27432" anchor="t">
            <a:spAutoFit/>
          </a:bodyPr>
          <a:lstStyle/>
          <a:p>
            <a:pPr algn="l"/>
            <a:r>
              <a:rPr sz="3400" b="1" i="0">
                <a:solidFill>
                  <a:srgbClr val="FFFFFF"/>
                </a:solidFill>
                <a:latin typeface="Arial"/>
              </a:rPr>
              <a:t>Chương 4: Kết quả nghiên cứu và thảo luận</a:t>
            </a:r>
          </a:p>
        </p:txBody>
      </p:sp>
      <p:sp>
        <p:nvSpPr>
          <p:cNvPr id="6" name="TextBox 5"/>
          <p:cNvSpPr txBox="1"/>
          <p:nvPr/>
        </p:nvSpPr>
        <p:spPr>
          <a:xfrm>
            <a:off x="1051560" y="3794760"/>
            <a:ext cx="10058400" cy="822960"/>
          </a:xfrm>
          <a:prstGeom prst="rect">
            <a:avLst/>
          </a:prstGeom>
          <a:noFill/>
        </p:spPr>
        <p:txBody>
          <a:bodyPr wrap="square" lIns="45720" rIns="45720" tIns="27432" bIns="27432" anchor="t">
            <a:spAutoFit/>
          </a:bodyPr>
          <a:lstStyle/>
          <a:p>
            <a:pPr algn="l"/>
            <a:r>
              <a:rPr sz="1600" b="0" i="0">
                <a:solidFill>
                  <a:srgbClr val="D9D9D9"/>
                </a:solidFill>
                <a:latin typeface="Arial"/>
              </a:rPr>
              <a:t>Dữ liệu nói gì? Mọi bảng, mọi con số phục vụ việc kiểm định giả thuyết của Chương 2</a:t>
            </a:r>
          </a:p>
        </p:txBody>
      </p:sp>
      <p:sp>
        <p:nvSpPr>
          <p:cNvPr id="7" name="TextBox 6"/>
          <p:cNvSpPr txBox="1"/>
          <p:nvPr/>
        </p:nvSpPr>
        <p:spPr>
          <a:xfrm>
            <a:off x="1051560" y="4709160"/>
            <a:ext cx="10058400" cy="822960"/>
          </a:xfrm>
          <a:prstGeom prst="rect">
            <a:avLst/>
          </a:prstGeom>
          <a:noFill/>
        </p:spPr>
        <p:txBody>
          <a:bodyPr wrap="square" lIns="45720" rIns="45720" tIns="27432" bIns="27432" anchor="t">
            <a:spAutoFit/>
          </a:bodyPr>
          <a:lstStyle/>
          <a:p>
            <a:pPr algn="l"/>
            <a:r>
              <a:rPr sz="1300" b="1" i="0">
                <a:solidFill>
                  <a:srgbClr val="F29B9B"/>
                </a:solidFill>
                <a:latin typeface="Arial"/>
              </a:rPr>
              <a:t>ĐỌC TRONG SÁCH: Phần 4 (mục A đến H); Hình 4-1 đến 4-21; Bảng 4-1 đến 4-16; hai file 3.Chapter_4_and_Chapter_5</a:t>
            </a:r>
          </a:p>
        </p:txBody>
      </p:sp>
      <p:sp>
        <p:nvSpPr>
          <p:cNvPr id="8" name="TextBox 7"/>
          <p:cNvSpPr txBox="1"/>
          <p:nvPr/>
        </p:nvSpPr>
        <p:spPr>
          <a:xfrm>
            <a:off x="1051560" y="5943600"/>
            <a:ext cx="10058400" cy="365760"/>
          </a:xfrm>
          <a:prstGeom prst="rect">
            <a:avLst/>
          </a:prstGeom>
          <a:noFill/>
        </p:spPr>
        <p:txBody>
          <a:bodyPr wrap="square" lIns="45720" rIns="45720" tIns="27432" bIns="27432" anchor="t">
            <a:spAutoFit/>
          </a:bodyPr>
          <a:lstStyle/>
          <a:p>
            <a:pPr algn="l"/>
            <a:r>
              <a:rPr sz="1200" b="0" i="0">
                <a:solidFill>
                  <a:srgbClr val="9E9E9E"/>
                </a:solidFill>
                <a:latin typeface="Arial"/>
              </a:rPr>
              <a:t>Thời lượng ước tính: 38 phút | 17 slide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BẢN ĐỒ ĐỐI CHIẾU SÁCH</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Bản đồ đọc sách cho Chương 4: mỗi mục thực hiện đúng một bước đã hứa ở Chương 3</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Nếu Chương 4 báo cáo một chỉ số không có trong kế hoạch ở Chương 3, phải giải thích vì sao phải thêm.</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hai file 3.Chapter_4_and_Chapter_5_Practice</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78</a:t>
            </a:r>
          </a:p>
        </p:txBody>
      </p:sp>
      <p:graphicFrame>
        <p:nvGraphicFramePr>
          <p:cNvPr id="12" name="Table 11"/>
          <p:cNvGraphicFramePr>
            <a:graphicFrameLocks noGrp="1"/>
          </p:cNvGraphicFramePr>
          <p:nvPr/>
        </p:nvGraphicFramePr>
        <p:xfrm>
          <a:off x="457200" y="1783080"/>
          <a:ext cx="11274551" cy="3840480"/>
        </p:xfrm>
        <a:graphic>
          <a:graphicData uri="http://schemas.openxmlformats.org/drawingml/2006/table">
            <a:tbl>
              <a:tblPr firstRow="1" bandRow="1">
                <a:tableStyleId>{5C22544A-7EE6-4342-B048-85BDC9FD1C3A}</a:tableStyleId>
              </a:tblPr>
              <a:tblGrid>
                <a:gridCol w="3083638"/>
                <a:gridCol w="3276365"/>
                <a:gridCol w="3083638"/>
                <a:gridCol w="1830910"/>
              </a:tblGrid>
              <a:tr h="411480">
                <a:tc>
                  <a:txBody>
                    <a:bodyPr wrap="square"/>
                    <a:lstStyle/>
                    <a:p>
                      <a:pPr algn="l"/>
                      <a:r>
                        <a:rPr sz="1200" b="1">
                          <a:solidFill>
                            <a:srgbClr val="FFFFFF"/>
                          </a:solidFill>
                          <a:latin typeface="Arial"/>
                        </a:rPr>
                        <a:t>Mục trong khóa luận</a:t>
                      </a:r>
                    </a:p>
                  </a:txBody>
                  <a:tcPr marL="73152" marR="73152" marT="27432" marB="27432" anchor="ctr">
                    <a:solidFill>
                      <a:srgbClr val="262626"/>
                    </a:solidFill>
                  </a:tcPr>
                </a:tc>
                <a:tc>
                  <a:txBody>
                    <a:bodyPr wrap="square"/>
                    <a:lstStyle/>
                    <a:p>
                      <a:pPr algn="l"/>
                      <a:r>
                        <a:rPr sz="1200" b="1">
                          <a:solidFill>
                            <a:srgbClr val="FFFFFF"/>
                          </a:solidFill>
                          <a:latin typeface="Arial"/>
                        </a:rPr>
                        <a:t>Đọc ở đâu trong sách</a:t>
                      </a:r>
                    </a:p>
                  </a:txBody>
                  <a:tcPr marL="73152" marR="73152" marT="27432" marB="27432" anchor="ctr">
                    <a:solidFill>
                      <a:srgbClr val="262626"/>
                    </a:solidFill>
                  </a:tcPr>
                </a:tc>
                <a:tc>
                  <a:txBody>
                    <a:bodyPr wrap="square"/>
                    <a:lstStyle/>
                    <a:p>
                      <a:pPr algn="l"/>
                      <a:r>
                        <a:rPr sz="1200" b="1">
                          <a:solidFill>
                            <a:srgbClr val="FFFFFF"/>
                          </a:solidFill>
                          <a:latin typeface="Arial"/>
                        </a:rPr>
                        <a:t>Hình, bảng, sheet</a:t>
                      </a:r>
                    </a:p>
                  </a:txBody>
                  <a:tcPr marL="73152" marR="73152" marT="27432" marB="27432" anchor="ctr">
                    <a:solidFill>
                      <a:srgbClr val="262626"/>
                    </a:solidFill>
                  </a:tcPr>
                </a:tc>
                <a:tc>
                  <a:txBody>
                    <a:bodyPr wrap="square"/>
                    <a:lstStyle/>
                    <a:p>
                      <a:pPr algn="l"/>
                      <a:r>
                        <a:rPr sz="1200" b="1">
                          <a:solidFill>
                            <a:srgbClr val="FFFFFF"/>
                          </a:solidFill>
                          <a:latin typeface="Arial"/>
                        </a:rPr>
                        <a:t>Thời gian gợi ý</a:t>
                      </a:r>
                    </a:p>
                  </a:txBody>
                  <a:tcPr marL="73152" marR="73152" marT="27432" marB="27432" anchor="ctr">
                    <a:solidFill>
                      <a:srgbClr val="262626"/>
                    </a:solidFill>
                  </a:tcPr>
                </a:tc>
              </a:tr>
              <a:tr h="428625">
                <a:tc>
                  <a:txBody>
                    <a:bodyPr wrap="square"/>
                    <a:lstStyle/>
                    <a:p>
                      <a:pPr algn="l"/>
                      <a:r>
                        <a:rPr sz="1200" b="0">
                          <a:solidFill>
                            <a:srgbClr val="262626"/>
                          </a:solidFill>
                          <a:latin typeface="Arial"/>
                        </a:rPr>
                        <a:t>4.1 Mô tả mẫu, mô tả biến</a:t>
                      </a:r>
                    </a:p>
                  </a:txBody>
                  <a:tcPr marL="73152" marR="73152" marT="27432" marB="27432" anchor="ctr">
                    <a:solidFill>
                      <a:srgbClr val="FFFFFF"/>
                    </a:solidFill>
                  </a:tcPr>
                </a:tc>
                <a:tc>
                  <a:txBody>
                    <a:bodyPr wrap="square"/>
                    <a:lstStyle/>
                    <a:p>
                      <a:pPr algn="l"/>
                      <a:r>
                        <a:rPr sz="1200" b="0">
                          <a:solidFill>
                            <a:srgbClr val="262626"/>
                          </a:solidFill>
                          <a:latin typeface="Arial"/>
                        </a:rPr>
                        <a:t>Phần 4, mục D; Mục 4.1.1 và 4.1.2</a:t>
                      </a:r>
                    </a:p>
                  </a:txBody>
                  <a:tcPr marL="73152" marR="73152" marT="27432" marB="27432" anchor="ctr">
                    <a:solidFill>
                      <a:srgbClr val="FFFFFF"/>
                    </a:solidFill>
                  </a:tcPr>
                </a:tc>
                <a:tc>
                  <a:txBody>
                    <a:bodyPr wrap="square"/>
                    <a:lstStyle/>
                    <a:p>
                      <a:pPr algn="l"/>
                      <a:r>
                        <a:rPr sz="1200" b="0">
                          <a:solidFill>
                            <a:srgbClr val="262626"/>
                          </a:solidFill>
                          <a:latin typeface="Arial"/>
                        </a:rPr>
                        <a:t>Hình 4-3 đến 4-6; Bảng 4-2 và 4-3; sheet 4, 5, 11</a:t>
                      </a:r>
                    </a:p>
                  </a:txBody>
                  <a:tcPr marL="73152" marR="73152" marT="27432" marB="27432" anchor="ctr">
                    <a:solidFill>
                      <a:srgbClr val="FFFFFF"/>
                    </a:solidFill>
                  </a:tcPr>
                </a:tc>
                <a:tc>
                  <a:txBody>
                    <a:bodyPr wrap="square"/>
                    <a:lstStyle/>
                    <a:p>
                      <a:pPr algn="l"/>
                      <a:r>
                        <a:rPr sz="1200" b="0">
                          <a:solidFill>
                            <a:srgbClr val="262626"/>
                          </a:solidFill>
                          <a:latin typeface="Arial"/>
                        </a:rPr>
                        <a:t>2 ngày</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4.2 Thang đo (4.2.2 tùy chọn)</a:t>
                      </a:r>
                    </a:p>
                  </a:txBody>
                  <a:tcPr marL="73152" marR="73152" marT="27432" marB="27432" anchor="ctr">
                    <a:solidFill>
                      <a:srgbClr val="F3F3F3"/>
                    </a:solidFill>
                  </a:tcPr>
                </a:tc>
                <a:tc>
                  <a:txBody>
                    <a:bodyPr wrap="square"/>
                    <a:lstStyle/>
                    <a:p>
                      <a:pPr algn="l"/>
                      <a:r>
                        <a:rPr sz="1200" b="0">
                          <a:solidFill>
                            <a:srgbClr val="262626"/>
                          </a:solidFill>
                          <a:latin typeface="Arial"/>
                        </a:rPr>
                        <a:t>Mục 4.2.1 và 4.2.2</a:t>
                      </a:r>
                    </a:p>
                  </a:txBody>
                  <a:tcPr marL="73152" marR="73152" marT="27432" marB="27432" anchor="ctr">
                    <a:solidFill>
                      <a:srgbClr val="F3F3F3"/>
                    </a:solidFill>
                  </a:tcPr>
                </a:tc>
                <a:tc>
                  <a:txBody>
                    <a:bodyPr wrap="square"/>
                    <a:lstStyle/>
                    <a:p>
                      <a:pPr algn="l"/>
                      <a:r>
                        <a:rPr sz="1200" b="0">
                          <a:solidFill>
                            <a:srgbClr val="262626"/>
                          </a:solidFill>
                          <a:latin typeface="Arial"/>
                        </a:rPr>
                        <a:t>Bảng 4-4 và 4-5; sheet 6</a:t>
                      </a:r>
                    </a:p>
                  </a:txBody>
                  <a:tcPr marL="73152" marR="73152" marT="27432" marB="27432" anchor="ctr">
                    <a:solidFill>
                      <a:srgbClr val="F3F3F3"/>
                    </a:solidFill>
                  </a:tcPr>
                </a:tc>
                <a:tc>
                  <a:txBody>
                    <a:bodyPr wrap="square"/>
                    <a:lstStyle/>
                    <a:p>
                      <a:pPr algn="l"/>
                      <a:r>
                        <a:rPr sz="1200" b="0">
                          <a:solidFill>
                            <a:srgbClr val="262626"/>
                          </a:solidFill>
                          <a:latin typeface="Arial"/>
                        </a:rPr>
                        <a:t>1 ngày</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4.3 Tương quan</a:t>
                      </a:r>
                    </a:p>
                  </a:txBody>
                  <a:tcPr marL="73152" marR="73152" marT="27432" marB="27432" anchor="ctr">
                    <a:solidFill>
                      <a:srgbClr val="FFFFFF"/>
                    </a:solidFill>
                  </a:tcPr>
                </a:tc>
                <a:tc>
                  <a:txBody>
                    <a:bodyPr wrap="square"/>
                    <a:lstStyle/>
                    <a:p>
                      <a:pPr algn="l"/>
                      <a:r>
                        <a:rPr sz="1200" b="0">
                          <a:solidFill>
                            <a:srgbClr val="262626"/>
                          </a:solidFill>
                          <a:latin typeface="Arial"/>
                        </a:rPr>
                        <a:t>Mục 4.3</a:t>
                      </a:r>
                    </a:p>
                  </a:txBody>
                  <a:tcPr marL="73152" marR="73152" marT="27432" marB="27432" anchor="ctr">
                    <a:solidFill>
                      <a:srgbClr val="FFFFFF"/>
                    </a:solidFill>
                  </a:tcPr>
                </a:tc>
                <a:tc>
                  <a:txBody>
                    <a:bodyPr wrap="square"/>
                    <a:lstStyle/>
                    <a:p>
                      <a:pPr algn="l"/>
                      <a:r>
                        <a:rPr sz="1200" b="0">
                          <a:solidFill>
                            <a:srgbClr val="262626"/>
                          </a:solidFill>
                          <a:latin typeface="Arial"/>
                        </a:rPr>
                        <a:t>Hình 4-7; Bảng 4-6; sheet 8</a:t>
                      </a:r>
                    </a:p>
                  </a:txBody>
                  <a:tcPr marL="73152" marR="73152" marT="27432" marB="27432" anchor="ctr">
                    <a:solidFill>
                      <a:srgbClr val="FFFFFF"/>
                    </a:solidFill>
                  </a:tcPr>
                </a:tc>
                <a:tc>
                  <a:txBody>
                    <a:bodyPr wrap="square"/>
                    <a:lstStyle/>
                    <a:p>
                      <a:pPr algn="l"/>
                      <a:r>
                        <a:rPr sz="1200" b="0">
                          <a:solidFill>
                            <a:srgbClr val="262626"/>
                          </a:solidFill>
                          <a:latin typeface="Arial"/>
                        </a:rPr>
                        <a:t>1 ngày</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4.4 Hồi quy, giả thuyết, câu hỏi mở</a:t>
                      </a:r>
                    </a:p>
                  </a:txBody>
                  <a:tcPr marL="73152" marR="73152" marT="27432" marB="27432" anchor="ctr">
                    <a:solidFill>
                      <a:srgbClr val="F3F3F3"/>
                    </a:solidFill>
                  </a:tcPr>
                </a:tc>
                <a:tc>
                  <a:txBody>
                    <a:bodyPr wrap="square"/>
                    <a:lstStyle/>
                    <a:p>
                      <a:pPr algn="l"/>
                      <a:r>
                        <a:rPr sz="1200" b="0">
                          <a:solidFill>
                            <a:srgbClr val="262626"/>
                          </a:solidFill>
                          <a:latin typeface="Arial"/>
                        </a:rPr>
                        <a:t>Mục 4.4.1 đến 4.4.3</a:t>
                      </a:r>
                    </a:p>
                  </a:txBody>
                  <a:tcPr marL="73152" marR="73152" marT="27432" marB="27432" anchor="ctr">
                    <a:solidFill>
                      <a:srgbClr val="F3F3F3"/>
                    </a:solidFill>
                  </a:tcPr>
                </a:tc>
                <a:tc>
                  <a:txBody>
                    <a:bodyPr wrap="square"/>
                    <a:lstStyle/>
                    <a:p>
                      <a:pPr algn="l"/>
                      <a:r>
                        <a:rPr sz="1200" b="0">
                          <a:solidFill>
                            <a:srgbClr val="262626"/>
                          </a:solidFill>
                          <a:latin typeface="Arial"/>
                        </a:rPr>
                        <a:t>Hình 4-8 đến 4-15; Bảng 4-7 đến 4-12; sheet 9, 10, 12</a:t>
                      </a:r>
                    </a:p>
                  </a:txBody>
                  <a:tcPr marL="73152" marR="73152" marT="27432" marB="27432" anchor="ctr">
                    <a:solidFill>
                      <a:srgbClr val="F3F3F3"/>
                    </a:solidFill>
                  </a:tcPr>
                </a:tc>
                <a:tc>
                  <a:txBody>
                    <a:bodyPr wrap="square"/>
                    <a:lstStyle/>
                    <a:p>
                      <a:pPr algn="l"/>
                      <a:r>
                        <a:rPr sz="1200" b="0">
                          <a:solidFill>
                            <a:srgbClr val="262626"/>
                          </a:solidFill>
                          <a:latin typeface="Arial"/>
                        </a:rPr>
                        <a:t>3,5 đến 4 ngày</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4.5 Thảo luận</a:t>
                      </a:r>
                    </a:p>
                  </a:txBody>
                  <a:tcPr marL="73152" marR="73152" marT="27432" marB="27432" anchor="ctr">
                    <a:solidFill>
                      <a:srgbClr val="FFFFFF"/>
                    </a:solidFill>
                  </a:tcPr>
                </a:tc>
                <a:tc>
                  <a:txBody>
                    <a:bodyPr wrap="square"/>
                    <a:lstStyle/>
                    <a:p>
                      <a:pPr algn="l"/>
                      <a:r>
                        <a:rPr sz="1200" b="0">
                          <a:solidFill>
                            <a:srgbClr val="262626"/>
                          </a:solidFill>
                          <a:latin typeface="Arial"/>
                        </a:rPr>
                        <a:t>Mục 4.5.1 đến 4.5.3; Kỹ thuật dùng cho Mục 4.5.2; Đọc kỹ một đoạn thảo luận mẫu</a:t>
                      </a:r>
                    </a:p>
                  </a:txBody>
                  <a:tcPr marL="73152" marR="73152" marT="27432" marB="27432" anchor="ctr">
                    <a:solidFill>
                      <a:srgbClr val="FFFFFF"/>
                    </a:solidFill>
                  </a:tcPr>
                </a:tc>
                <a:tc>
                  <a:txBody>
                    <a:bodyPr wrap="square"/>
                    <a:lstStyle/>
                    <a:p>
                      <a:pPr algn="l"/>
                      <a:r>
                        <a:rPr sz="1200" b="0">
                          <a:solidFill>
                            <a:srgbClr val="262626"/>
                          </a:solidFill>
                          <a:latin typeface="Arial"/>
                        </a:rPr>
                        <a:t>Hình 4-16 đến 4-20; Bảng 4-13 và 4-14; sheet 12_TinhHuong</a:t>
                      </a:r>
                    </a:p>
                  </a:txBody>
                  <a:tcPr marL="73152" marR="73152" marT="27432" marB="27432" anchor="ctr">
                    <a:solidFill>
                      <a:srgbClr val="FFFFFF"/>
                    </a:solidFill>
                  </a:tcPr>
                </a:tc>
                <a:tc>
                  <a:txBody>
                    <a:bodyPr wrap="square"/>
                    <a:lstStyle/>
                    <a:p>
                      <a:pPr algn="l"/>
                      <a:r>
                        <a:rPr sz="1200" b="0">
                          <a:solidFill>
                            <a:srgbClr val="262626"/>
                          </a:solidFill>
                          <a:latin typeface="Arial"/>
                        </a:rPr>
                        <a:t>3 ngày</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Giới thiệu, kết luận chương</a:t>
                      </a:r>
                    </a:p>
                  </a:txBody>
                  <a:tcPr marL="73152" marR="73152" marT="27432" marB="27432" anchor="ctr">
                    <a:solidFill>
                      <a:srgbClr val="F3F3F3"/>
                    </a:solidFill>
                  </a:tcPr>
                </a:tc>
                <a:tc>
                  <a:txBody>
                    <a:bodyPr wrap="square"/>
                    <a:lstStyle/>
                    <a:p>
                      <a:pPr algn="l"/>
                      <a:r>
                        <a:rPr sz="1200" b="0">
                          <a:solidFill>
                            <a:srgbClr val="262626"/>
                          </a:solidFill>
                          <a:latin typeface="Arial"/>
                        </a:rPr>
                        <a:t>Đoạn giới thiệu chương và đoạn kết luận chương</a:t>
                      </a:r>
                    </a:p>
                  </a:txBody>
                  <a:tcPr marL="73152" marR="73152" marT="27432" marB="27432" anchor="ctr">
                    <a:solidFill>
                      <a:srgbClr val="F3F3F3"/>
                    </a:solidFill>
                  </a:tcPr>
                </a:tc>
                <a:tc>
                  <a:txBody>
                    <a:bodyPr wrap="square"/>
                    <a:lstStyle/>
                    <a:p>
                      <a:pPr algn="l"/>
                      <a:r>
                        <a:rPr sz="1200" b="0">
                          <a:solidFill>
                            <a:srgbClr val="262626"/>
                          </a:solidFill>
                          <a:latin typeface="Arial"/>
                        </a:rPr>
                        <a:t>Hình 4-21</a:t>
                      </a:r>
                    </a:p>
                  </a:txBody>
                  <a:tcPr marL="73152" marR="73152" marT="27432" marB="27432" anchor="ctr">
                    <a:solidFill>
                      <a:srgbClr val="F3F3F3"/>
                    </a:solidFill>
                  </a:tcPr>
                </a:tc>
                <a:tc>
                  <a:txBody>
                    <a:bodyPr wrap="square"/>
                    <a:lstStyle/>
                    <a:p>
                      <a:pPr algn="l"/>
                      <a:r>
                        <a:rPr sz="1200" b="0">
                          <a:solidFill>
                            <a:srgbClr val="262626"/>
                          </a:solidFill>
                          <a:latin typeface="Arial"/>
                        </a:rPr>
                        <a:t>1 giờ</a:t>
                      </a:r>
                    </a:p>
                  </a:txBody>
                  <a:tcPr marL="73152" marR="73152" marT="27432" marB="27432" anchor="ctr">
                    <a:solidFill>
                      <a:srgbClr val="F3F3F3"/>
                    </a:solidFill>
                  </a:tcPr>
                </a:tc>
              </a:tr>
              <a:tr h="428625">
                <a:tc>
                  <a:txBody>
                    <a:bodyPr wrap="square"/>
                    <a:lstStyle/>
                    <a:p>
                      <a:pPr algn="l"/>
                      <a:r>
                        <a:rPr sz="1200" b="0">
                          <a:solidFill>
                            <a:srgbClr val="262626"/>
                          </a:solidFill>
                          <a:latin typeface="Arial"/>
                        </a:rPr>
                        <a:t>Định lượng và định tính</a:t>
                      </a:r>
                    </a:p>
                  </a:txBody>
                  <a:tcPr marL="73152" marR="73152" marT="27432" marB="27432" anchor="ctr">
                    <a:solidFill>
                      <a:srgbClr val="FFFFFF"/>
                    </a:solidFill>
                  </a:tcPr>
                </a:tc>
                <a:tc>
                  <a:txBody>
                    <a:bodyPr wrap="square"/>
                    <a:lstStyle/>
                    <a:p>
                      <a:pPr algn="l"/>
                      <a:r>
                        <a:rPr sz="1200" b="0">
                          <a:solidFill>
                            <a:srgbClr val="262626"/>
                          </a:solidFill>
                          <a:latin typeface="Arial"/>
                        </a:rPr>
                        <a:t>Phần 4, mục F</a:t>
                      </a:r>
                    </a:p>
                  </a:txBody>
                  <a:tcPr marL="73152" marR="73152" marT="27432" marB="27432" anchor="ctr">
                    <a:solidFill>
                      <a:srgbClr val="FFFFFF"/>
                    </a:solidFill>
                  </a:tcPr>
                </a:tc>
                <a:tc>
                  <a:txBody>
                    <a:bodyPr wrap="square"/>
                    <a:lstStyle/>
                    <a:p>
                      <a:pPr algn="l"/>
                      <a:r>
                        <a:rPr sz="1200" b="0">
                          <a:solidFill>
                            <a:srgbClr val="262626"/>
                          </a:solidFill>
                          <a:latin typeface="Arial"/>
                        </a:rPr>
                        <a:t>Bảng 4-15</a:t>
                      </a:r>
                    </a:p>
                  </a:txBody>
                  <a:tcPr marL="73152" marR="73152" marT="27432" marB="27432" anchor="ctr">
                    <a:solidFill>
                      <a:srgbClr val="FFFFFF"/>
                    </a:solidFill>
                  </a:tcPr>
                </a:tc>
                <a:tc>
                  <a:txBody>
                    <a:bodyPr wrap="square"/>
                    <a:lstStyle/>
                    <a:p>
                      <a:pPr algn="l"/>
                      <a:r>
                        <a:rPr sz="1200" b="0">
                          <a:solidFill>
                            <a:srgbClr val="262626"/>
                          </a:solidFill>
                          <a:latin typeface="Arial"/>
                        </a:rPr>
                        <a:t>Đọc khi cần</a:t>
                      </a:r>
                    </a:p>
                  </a:txBody>
                  <a:tcPr marL="73152" marR="73152" marT="27432" marB="27432" anchor="ctr">
                    <a:solidFill>
                      <a:srgbClr val="FFFFFF"/>
                    </a:solidFill>
                  </a:tcPr>
                </a:tc>
              </a:tr>
              <a:tr h="428625">
                <a:tc>
                  <a:txBody>
                    <a:bodyPr wrap="square"/>
                    <a:lstStyle/>
                    <a:p>
                      <a:pPr algn="l"/>
                      <a:r>
                        <a:rPr sz="1200" b="0">
                          <a:solidFill>
                            <a:srgbClr val="262626"/>
                          </a:solidFill>
                          <a:latin typeface="Arial"/>
                        </a:rPr>
                        <a:t>Tự kiểm tra</a:t>
                      </a:r>
                    </a:p>
                  </a:txBody>
                  <a:tcPr marL="73152" marR="73152" marT="27432" marB="27432" anchor="ctr">
                    <a:solidFill>
                      <a:srgbClr val="F3F3F3"/>
                    </a:solidFill>
                  </a:tcPr>
                </a:tc>
                <a:tc>
                  <a:txBody>
                    <a:bodyPr wrap="square"/>
                    <a:lstStyle/>
                    <a:p>
                      <a:pPr algn="l"/>
                      <a:r>
                        <a:rPr sz="1200" b="0">
                          <a:solidFill>
                            <a:srgbClr val="262626"/>
                          </a:solidFill>
                          <a:latin typeface="Arial"/>
                        </a:rPr>
                        <a:t>Phần 4, mục G</a:t>
                      </a:r>
                    </a:p>
                  </a:txBody>
                  <a:tcPr marL="73152" marR="73152" marT="27432" marB="27432" anchor="ctr">
                    <a:solidFill>
                      <a:srgbClr val="F3F3F3"/>
                    </a:solidFill>
                  </a:tcPr>
                </a:tc>
                <a:tc>
                  <a:txBody>
                    <a:bodyPr wrap="square"/>
                    <a:lstStyle/>
                    <a:p>
                      <a:pPr algn="l"/>
                      <a:r>
                        <a:rPr sz="1200" b="0">
                          <a:solidFill>
                            <a:srgbClr val="262626"/>
                          </a:solidFill>
                          <a:latin typeface="Arial"/>
                        </a:rPr>
                        <a:t>Bảng 4-16; checklist</a:t>
                      </a:r>
                    </a:p>
                  </a:txBody>
                  <a:tcPr marL="73152" marR="73152" marT="27432" marB="27432" anchor="ctr">
                    <a:solidFill>
                      <a:srgbClr val="F3F3F3"/>
                    </a:solidFill>
                  </a:tcPr>
                </a:tc>
                <a:tc>
                  <a:txBody>
                    <a:bodyPr wrap="square"/>
                    <a:lstStyle/>
                    <a:p>
                      <a:pPr algn="l"/>
                      <a:r>
                        <a:rPr sz="1200" b="0">
                          <a:solidFill>
                            <a:srgbClr val="262626"/>
                          </a:solidFill>
                          <a:latin typeface="Arial"/>
                        </a:rPr>
                        <a:t>Sau khi viết</a:t>
                      </a:r>
                    </a:p>
                  </a:txBody>
                  <a:tcPr marL="73152" marR="73152" marT="27432" marB="27432" anchor="ctr">
                    <a:solidFill>
                      <a:srgbClr val="F3F3F3"/>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CẤU TRÚC</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Chương 4 kiểm tra từng lớp; lớp sau chỉ có giá trị khi lớp trước đạt</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Dành ít nhất một phần tư dung lượng Chương 4 cho mục 4.5 thảo luận; hàm ý quản trị để dành cho Chương 5.</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B và C, Hình 4-2</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79</a:t>
            </a:r>
          </a:p>
        </p:txBody>
      </p:sp>
      <p:sp>
        <p:nvSpPr>
          <p:cNvPr id="11" name="Rectangle 10"/>
          <p:cNvSpPr/>
          <p:nvPr/>
        </p:nvSpPr>
        <p:spPr>
          <a:xfrm>
            <a:off x="493776" y="4800600"/>
            <a:ext cx="2181758" cy="8229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4.1 Mô tả mẫu</a:t>
            </a:r>
          </a:p>
        </p:txBody>
      </p:sp>
      <p:sp>
        <p:nvSpPr>
          <p:cNvPr id="12" name="TextBox 11"/>
          <p:cNvSpPr txBox="1"/>
          <p:nvPr/>
        </p:nvSpPr>
        <p:spPr>
          <a:xfrm>
            <a:off x="512064" y="1783080"/>
            <a:ext cx="2145182" cy="2971800"/>
          </a:xfrm>
          <a:prstGeom prst="rect">
            <a:avLst/>
          </a:prstGeom>
          <a:noFill/>
        </p:spPr>
        <p:txBody>
          <a:bodyPr wrap="square" lIns="45720" rIns="45720" tIns="27432" bIns="27432" anchor="b">
            <a:spAutoFit/>
          </a:bodyPr>
          <a:lstStyle/>
          <a:p>
            <a:pPr algn="l"/>
            <a:r>
              <a:rPr sz="1150" b="0" i="0">
                <a:solidFill>
                  <a:srgbClr val="58595B"/>
                </a:solidFill>
                <a:latin typeface="Arial"/>
              </a:rPr>
              <a:t>Dữ liệu đến từ ai?</a:t>
            </a:r>
          </a:p>
        </p:txBody>
      </p:sp>
      <p:sp>
        <p:nvSpPr>
          <p:cNvPr id="13" name="Rectangle 12"/>
          <p:cNvSpPr/>
          <p:nvPr/>
        </p:nvSpPr>
        <p:spPr>
          <a:xfrm>
            <a:off x="2748686" y="4297680"/>
            <a:ext cx="2181758" cy="132588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4.2 Thang đo</a:t>
            </a:r>
          </a:p>
        </p:txBody>
      </p:sp>
      <p:sp>
        <p:nvSpPr>
          <p:cNvPr id="14" name="TextBox 13"/>
          <p:cNvSpPr txBox="1"/>
          <p:nvPr/>
        </p:nvSpPr>
        <p:spPr>
          <a:xfrm>
            <a:off x="2766974" y="1783080"/>
            <a:ext cx="2145182" cy="2468880"/>
          </a:xfrm>
          <a:prstGeom prst="rect">
            <a:avLst/>
          </a:prstGeom>
          <a:noFill/>
        </p:spPr>
        <p:txBody>
          <a:bodyPr wrap="square" lIns="45720" rIns="45720" tIns="27432" bIns="27432" anchor="b">
            <a:spAutoFit/>
          </a:bodyPr>
          <a:lstStyle/>
          <a:p>
            <a:pPr algn="l"/>
            <a:r>
              <a:rPr sz="1150" b="0" i="0">
                <a:solidFill>
                  <a:srgbClr val="58595B"/>
                </a:solidFill>
                <a:latin typeface="Arial"/>
              </a:rPr>
              <a:t>Công cụ đo có đáng tin không?</a:t>
            </a:r>
          </a:p>
        </p:txBody>
      </p:sp>
      <p:sp>
        <p:nvSpPr>
          <p:cNvPr id="15" name="Rectangle 14"/>
          <p:cNvSpPr/>
          <p:nvPr/>
        </p:nvSpPr>
        <p:spPr>
          <a:xfrm>
            <a:off x="5003596" y="3794760"/>
            <a:ext cx="2181758" cy="18288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4.3 Tương quan</a:t>
            </a:r>
          </a:p>
        </p:txBody>
      </p:sp>
      <p:sp>
        <p:nvSpPr>
          <p:cNvPr id="16" name="TextBox 15"/>
          <p:cNvSpPr txBox="1"/>
          <p:nvPr/>
        </p:nvSpPr>
        <p:spPr>
          <a:xfrm>
            <a:off x="5021884" y="1783080"/>
            <a:ext cx="2145182" cy="1965960"/>
          </a:xfrm>
          <a:prstGeom prst="rect">
            <a:avLst/>
          </a:prstGeom>
          <a:noFill/>
        </p:spPr>
        <p:txBody>
          <a:bodyPr wrap="square" lIns="45720" rIns="45720" tIns="27432" bIns="27432" anchor="b">
            <a:spAutoFit/>
          </a:bodyPr>
          <a:lstStyle/>
          <a:p>
            <a:pPr algn="l"/>
            <a:r>
              <a:rPr sz="1150" b="0" i="0">
                <a:solidFill>
                  <a:srgbClr val="58595B"/>
                </a:solidFill>
                <a:latin typeface="Arial"/>
              </a:rPr>
              <a:t>Các biến có liên hệ sơ bộ ra sao?</a:t>
            </a:r>
          </a:p>
        </p:txBody>
      </p:sp>
      <p:sp>
        <p:nvSpPr>
          <p:cNvPr id="17" name="Rectangle 16"/>
          <p:cNvSpPr/>
          <p:nvPr/>
        </p:nvSpPr>
        <p:spPr>
          <a:xfrm>
            <a:off x="7258507" y="3291840"/>
            <a:ext cx="2181758" cy="233172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4.4 Hồi quy</a:t>
            </a:r>
          </a:p>
        </p:txBody>
      </p:sp>
      <p:sp>
        <p:nvSpPr>
          <p:cNvPr id="18" name="TextBox 17"/>
          <p:cNvSpPr txBox="1"/>
          <p:nvPr/>
        </p:nvSpPr>
        <p:spPr>
          <a:xfrm>
            <a:off x="7276795" y="1783080"/>
            <a:ext cx="2145182" cy="1463039"/>
          </a:xfrm>
          <a:prstGeom prst="rect">
            <a:avLst/>
          </a:prstGeom>
          <a:noFill/>
        </p:spPr>
        <p:txBody>
          <a:bodyPr wrap="square" lIns="45720" rIns="45720" tIns="27432" bIns="27432" anchor="b">
            <a:spAutoFit/>
          </a:bodyPr>
          <a:lstStyle/>
          <a:p>
            <a:pPr algn="l"/>
            <a:r>
              <a:rPr sz="1150" b="0" i="0">
                <a:solidFill>
                  <a:srgbClr val="58595B"/>
                </a:solidFill>
                <a:latin typeface="Arial"/>
              </a:rPr>
              <a:t>Giả thuyết có được ủng hộ không?</a:t>
            </a:r>
          </a:p>
        </p:txBody>
      </p:sp>
      <p:sp>
        <p:nvSpPr>
          <p:cNvPr id="19" name="Rectangle 18"/>
          <p:cNvSpPr/>
          <p:nvPr/>
        </p:nvSpPr>
        <p:spPr>
          <a:xfrm>
            <a:off x="9513417" y="2788920"/>
            <a:ext cx="2181758" cy="28346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300" b="1" i="0">
                <a:solidFill>
                  <a:srgbClr val="FFFFFF"/>
                </a:solidFill>
                <a:latin typeface="Arial"/>
              </a:rPr>
              <a:t>4.5 Thảo luận</a:t>
            </a:r>
          </a:p>
        </p:txBody>
      </p:sp>
      <p:sp>
        <p:nvSpPr>
          <p:cNvPr id="20" name="TextBox 19"/>
          <p:cNvSpPr txBox="1"/>
          <p:nvPr/>
        </p:nvSpPr>
        <p:spPr>
          <a:xfrm>
            <a:off x="9531705" y="1783080"/>
            <a:ext cx="2145182" cy="960120"/>
          </a:xfrm>
          <a:prstGeom prst="rect">
            <a:avLst/>
          </a:prstGeom>
          <a:noFill/>
        </p:spPr>
        <p:txBody>
          <a:bodyPr wrap="square" lIns="45720" rIns="45720" tIns="27432" bIns="27432" anchor="b">
            <a:spAutoFit/>
          </a:bodyPr>
          <a:lstStyle/>
          <a:p>
            <a:pPr algn="l"/>
            <a:r>
              <a:rPr sz="1150" b="0" i="0">
                <a:solidFill>
                  <a:srgbClr val="58595B"/>
                </a:solidFill>
                <a:latin typeface="Arial"/>
              </a:rPr>
              <a:t>Kết quả có ý nghĩa gì với lý thuyết?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DIỄN GIẢI MỘT BẢNG SỐ</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Một bảng số chưa phải là kết quả; kết quả là đoạn văn đi qua bốn bước Đọc, So sánh, Ý nghĩa, Liên hệ</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Trước khi viết, gạch chân hai con số nổi bật nhất; mỗi câu diễn giải phải kiểm chứng được bằng con số trong bảng.</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D và Hình 4-3; file 3.Chapter_4_and_Chapter_5_Practice_NH_X.xlsx (dữ liệu giả định), sheet 4_NhanKhauHoc</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80</a:t>
            </a:r>
          </a:p>
        </p:txBody>
      </p:sp>
      <p:sp>
        <p:nvSpPr>
          <p:cNvPr id="12" name="Rectangle 11"/>
          <p:cNvSpPr/>
          <p:nvPr/>
        </p:nvSpPr>
        <p:spPr>
          <a:xfrm>
            <a:off x="457200" y="1783080"/>
            <a:ext cx="5486400" cy="365760"/>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CHƯA ĐẠT</a:t>
            </a:r>
          </a:p>
        </p:txBody>
      </p:sp>
      <p:sp>
        <p:nvSpPr>
          <p:cNvPr id="13" name="Rectangle 12"/>
          <p:cNvSpPr/>
          <p:nvPr/>
        </p:nvSpPr>
        <p:spPr>
          <a:xfrm>
            <a:off x="457200" y="2148840"/>
            <a:ext cx="5486400" cy="2103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240280"/>
            <a:ext cx="5212080" cy="1920240"/>
          </a:xfrm>
          <a:prstGeom prst="rect">
            <a:avLst/>
          </a:prstGeom>
          <a:noFill/>
        </p:spPr>
        <p:txBody>
          <a:bodyPr wrap="square" lIns="45720" rIns="45720" tIns="27432" bIns="27432" anchor="t">
            <a:spAutoFit/>
          </a:bodyPr>
          <a:lstStyle/>
          <a:p>
            <a:pPr algn="l"/>
            <a:r>
              <a:rPr sz="1150" b="0" i="1">
                <a:solidFill>
                  <a:srgbClr val="58595B"/>
                </a:solidFill>
                <a:latin typeface="Arial"/>
              </a:rPr>
              <a:t>"Nam có 86 người chiếm 57,3%. Nữ có 64 người chiếm 42,7%. Tuổi 18 đến 25 có 44 người chiếm 29,3%. Tuổi 26 đến 35 có 49 người chiếm 32,7%."</a:t>
            </a:r>
          </a:p>
        </p:txBody>
      </p:sp>
      <p:sp>
        <p:nvSpPr>
          <p:cNvPr id="15" name="Rectangle 14"/>
          <p:cNvSpPr/>
          <p:nvPr/>
        </p:nvSpPr>
        <p:spPr>
          <a:xfrm>
            <a:off x="6245352" y="1783080"/>
            <a:ext cx="5486400" cy="3657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ĐẠT</a:t>
            </a:r>
          </a:p>
        </p:txBody>
      </p:sp>
      <p:sp>
        <p:nvSpPr>
          <p:cNvPr id="16" name="Rectangle 15"/>
          <p:cNvSpPr/>
          <p:nvPr/>
        </p:nvSpPr>
        <p:spPr>
          <a:xfrm>
            <a:off x="6245352" y="2148840"/>
            <a:ext cx="5486400" cy="2103120"/>
          </a:xfrm>
          <a:prstGeom prst="rect">
            <a:avLst/>
          </a:prstGeom>
          <a:solidFill>
            <a:srgbClr val="FFFFFF"/>
          </a:solidFill>
          <a:ln w="95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240280"/>
            <a:ext cx="5212080" cy="1920240"/>
          </a:xfrm>
          <a:prstGeom prst="rect">
            <a:avLst/>
          </a:prstGeom>
          <a:noFill/>
        </p:spPr>
        <p:txBody>
          <a:bodyPr wrap="square" lIns="45720" rIns="45720" tIns="27432" bIns="27432" anchor="t">
            <a:spAutoFit/>
          </a:bodyPr>
          <a:lstStyle/>
          <a:p>
            <a:pPr algn="l"/>
            <a:r>
              <a:rPr sz="1150" b="0" i="1">
                <a:solidFill>
                  <a:srgbClr val="262626"/>
                </a:solidFill>
                <a:latin typeface="Arial"/>
              </a:rPr>
              <a:t>"Bảng 4.1 cho thấy mẫu có tỷ lệ nam (57,3%) cao hơn nữ (42,7%). Nhóm 26 đến 35 tuổi chiếm tỷ lệ cao nhất (32,7%), cao hơn gấp đôi nhóm trên 45 tuổi (14,7%); hai nhóm dưới 35 tuổi cộng lại chiếm 62,0% mẫu. Có 80,0% người trả lời đã dùng ngân hàng số từ một năm trở lên. Mẫu vì vậy nghiêng về khách hàng trẻ, đã có kinh nghiệm với ứng dụng. Đặc điểm này cần được lưu ý khi giải thích kết quả ở mục 4.5, nhất là với biến sự dễ sử dụng."</a:t>
            </a:r>
          </a:p>
        </p:txBody>
      </p:sp>
      <p:sp>
        <p:nvSpPr>
          <p:cNvPr id="18" name="TextBox 17"/>
          <p:cNvSpPr txBox="1"/>
          <p:nvPr/>
        </p:nvSpPr>
        <p:spPr>
          <a:xfrm>
            <a:off x="457200" y="4434840"/>
            <a:ext cx="2743200" cy="274320"/>
          </a:xfrm>
          <a:prstGeom prst="rect">
            <a:avLst/>
          </a:prstGeom>
          <a:noFill/>
        </p:spPr>
        <p:txBody>
          <a:bodyPr wrap="square" lIns="45720" rIns="45720" tIns="27432" bIns="27432" anchor="t">
            <a:spAutoFit/>
          </a:bodyPr>
          <a:lstStyle/>
          <a:p>
            <a:pPr algn="l"/>
            <a:r>
              <a:rPr sz="1000" b="1" i="0">
                <a:solidFill>
                  <a:srgbClr val="CC0000"/>
                </a:solidFill>
                <a:latin typeface="Arial"/>
              </a:rPr>
              <a:t>VÌ SAO BẢN CHƯA ĐẠT BỊ TRỪ ĐIỂM</a:t>
            </a:r>
          </a:p>
        </p:txBody>
      </p:sp>
      <p:cxnSp>
        <p:nvCxnSpPr>
          <p:cNvPr id="19" name="Connector 18"/>
          <p:cNvCxnSpPr/>
          <p:nvPr/>
        </p:nvCxnSpPr>
        <p:spPr>
          <a:xfrm>
            <a:off x="457200"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Đọc và so sánh.</a:t>
            </a:r>
            <a:r>
              <a:rPr sz="1200" b="0" i="0">
                <a:solidFill>
                  <a:srgbClr val="58595B"/>
                </a:solidFill>
                <a:latin typeface="Arial"/>
              </a:rPr>
              <a:t> Chỉ con số nổi bật nhất; so với nhóm khác, với ngưỡng, với tổng thể.</a:t>
            </a:r>
          </a:p>
        </p:txBody>
      </p:sp>
      <p:cxnSp>
        <p:nvCxnSpPr>
          <p:cNvPr id="21" name="Connector 20"/>
          <p:cNvCxnSpPr/>
          <p:nvPr/>
        </p:nvCxnSpPr>
        <p:spPr>
          <a:xfrm>
            <a:off x="4306824"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06824"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Ý nghĩa.</a:t>
            </a:r>
            <a:r>
              <a:rPr sz="1200" b="0" i="0">
                <a:solidFill>
                  <a:srgbClr val="58595B"/>
                </a:solidFill>
                <a:latin typeface="Arial"/>
              </a:rPr>
              <a:t> Con số trả lời được điều gì cho câu hỏi nghiên cứu.</a:t>
            </a:r>
          </a:p>
        </p:txBody>
      </p:sp>
      <p:cxnSp>
        <p:nvCxnSpPr>
          <p:cNvPr id="23" name="Connector 22"/>
          <p:cNvCxnSpPr/>
          <p:nvPr/>
        </p:nvCxnSpPr>
        <p:spPr>
          <a:xfrm>
            <a:off x="8156448"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56448"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Liên hệ.</a:t>
            </a:r>
            <a:r>
              <a:rPr sz="1200" b="0" i="0">
                <a:solidFill>
                  <a:srgbClr val="58595B"/>
                </a:solidFill>
                <a:latin typeface="Arial"/>
              </a:rPr>
              <a:t> Nối với lý thuyết, với bước phân tích sau hoặc với hạn chế.</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THỐNG KÊ MÔ TẢ CÁC BIẾN</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Khách hàng thấy rõ lợi ích nhưng còn dè dặt về an toàn: niềm tin và ảnh hưởng xã hội chỉ nhỉnh hơn mức trung lập</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Gọi điểm 3,4 là "cao" hay kết luận "khách hàng rất hài lòng" khi đề tài không đo sự hài lòng là diễn giải vượt quá dữ liệu.</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4.1.2, Bảng 4-3 và Hình 4-5; file 3.Chapter_4_and_Chapter_5_Practice_NH_X.xlsx (dữ liệu giả định), sheet 5_ThongKeMoTa và 11_BieuDo</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81</a:t>
            </a:r>
          </a:p>
        </p:txBody>
      </p:sp>
      <p:graphicFrame>
        <p:nvGraphicFramePr>
          <p:cNvPr id="12" name="Chart 11"/>
          <p:cNvGraphicFramePr>
            <a:graphicFrameLocks noGrp="1"/>
          </p:cNvGraphicFramePr>
          <p:nvPr/>
        </p:nvGraphicFramePr>
        <p:xfrm>
          <a:off x="457200" y="1783080"/>
          <a:ext cx="6583680" cy="3840480"/>
        </p:xfrm>
        <a:graphic>
          <a:graphicData uri="http://schemas.openxmlformats.org/drawingml/2006/chart">
            <c:chart xmlns:c="http://schemas.openxmlformats.org/drawingml/2006/chart" r:id="rId2"/>
          </a:graphicData>
        </a:graphic>
      </p:graphicFrame>
      <p:sp>
        <p:nvSpPr>
          <p:cNvPr id="13" name="TextBox 12"/>
          <p:cNvSpPr txBox="1"/>
          <p:nvPr/>
        </p:nvSpPr>
        <p:spPr>
          <a:xfrm>
            <a:off x="457200" y="1709928"/>
            <a:ext cx="6583680" cy="274320"/>
          </a:xfrm>
          <a:prstGeom prst="rect">
            <a:avLst/>
          </a:prstGeom>
          <a:noFill/>
        </p:spPr>
        <p:txBody>
          <a:bodyPr wrap="square" lIns="45720" rIns="45720" tIns="27432" bIns="27432" anchor="t">
            <a:spAutoFit/>
          </a:bodyPr>
          <a:lstStyle/>
          <a:p>
            <a:pPr algn="l"/>
            <a:r>
              <a:rPr sz="1050" b="1" i="0">
                <a:solidFill>
                  <a:srgbClr val="9E9E9E"/>
                </a:solidFill>
                <a:latin typeface="Arial"/>
              </a:rPr>
              <a:t>ĐIỂM TRUNG BÌNH TRÊN THANG 1 ĐẾN 5 (MỨC TRUNG LẬP = 3,0; n = 150)</a:t>
            </a:r>
          </a:p>
        </p:txBody>
      </p:sp>
      <p:sp>
        <p:nvSpPr>
          <p:cNvPr id="14" name="TextBox 13"/>
          <p:cNvSpPr txBox="1"/>
          <p:nvPr/>
        </p:nvSpPr>
        <p:spPr>
          <a:xfrm>
            <a:off x="7360920" y="1783080"/>
            <a:ext cx="4370831"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ĐỌC</a:t>
            </a:r>
          </a:p>
        </p:txBody>
      </p:sp>
      <p:cxnSp>
        <p:nvCxnSpPr>
          <p:cNvPr id="15" name="Connector 14"/>
          <p:cNvCxnSpPr/>
          <p:nvPr/>
        </p:nvCxnSpPr>
        <p:spPr>
          <a:xfrm>
            <a:off x="7360920" y="2103120"/>
            <a:ext cx="43708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36092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772400" y="219456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So với mức trung lập 3,0:</a:t>
            </a:r>
            <a:r>
              <a:rPr sz="1350" b="0" i="0">
                <a:solidFill>
                  <a:srgbClr val="58595B"/>
                </a:solidFill>
                <a:latin typeface="Arial"/>
              </a:rPr>
              <a:t> cả năm biến đều cao hơn; NT (3,41) và XH (3,36) chỉ nhỉnh hơn.</a:t>
            </a:r>
          </a:p>
        </p:txBody>
      </p:sp>
      <p:sp>
        <p:nvSpPr>
          <p:cNvPr id="18" name="Oval 17"/>
          <p:cNvSpPr/>
          <p:nvPr/>
        </p:nvSpPr>
        <p:spPr>
          <a:xfrm>
            <a:off x="736092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772400" y="305181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Độ lệch chuẩn 0,67 đến 0,75:</a:t>
            </a:r>
            <a:r>
              <a:rPr sz="1350" b="0" i="0">
                <a:solidFill>
                  <a:srgbClr val="58595B"/>
                </a:solidFill>
                <a:latin typeface="Arial"/>
              </a:rPr>
              <a:t> mức phân tán tương đương giữa các biến.</a:t>
            </a:r>
          </a:p>
        </p:txBody>
      </p:sp>
      <p:sp>
        <p:nvSpPr>
          <p:cNvPr id="20" name="Oval 19"/>
          <p:cNvSpPr/>
          <p:nvPr/>
        </p:nvSpPr>
        <p:spPr>
          <a:xfrm>
            <a:off x="736092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772400" y="390906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Trường Y:</a:t>
            </a:r>
            <a:r>
              <a:rPr sz="1350" b="0" i="0">
                <a:solidFill>
                  <a:srgbClr val="58595B"/>
                </a:solidFill>
                <a:latin typeface="Arial"/>
              </a:rPr>
              <a:t> TDNV 4,12 cao nhất; CSVC 3,97; HL 3,88; QTHC 3,48 thấp nhất.</a:t>
            </a:r>
          </a:p>
        </p:txBody>
      </p:sp>
      <p:sp>
        <p:nvSpPr>
          <p:cNvPr id="22" name="Oval 21"/>
          <p:cNvSpPr/>
          <p:nvPr/>
        </p:nvSpPr>
        <p:spPr>
          <a:xfrm>
            <a:off x="736092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3" name="TextBox 22"/>
          <p:cNvSpPr txBox="1"/>
          <p:nvPr/>
        </p:nvSpPr>
        <p:spPr>
          <a:xfrm>
            <a:off x="7772400" y="476631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Điểm trung bình nói về mức độ</a:t>
            </a:r>
            <a:r>
              <a:rPr sz="1350" b="0" i="0">
                <a:solidFill>
                  <a:srgbClr val="58595B"/>
                </a:solidFill>
                <a:latin typeface="Arial"/>
              </a:rPr>
              <a:t>, chưa nói về tác động; tác động đọc từ hồi quy ở mục 4.4.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KẾT QUẢ CRONBACH ALPHA</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Cả chín thang đo của hai đề tài đạt ngưỡng 0,7, nên toàn bộ câu hỏi được giữ lại</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Luôn báo cáo ba chỉ số: Alpha, tương quan biến tổng nhỏ nhất, Alpha nếu loại câu; rồi ghi rõ quyết định giữ hay loại.</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4.2.1, Bảng 4-4 và 4-5; file 3.Chapter_4_and_Chapter_5_Practice_NH_X.xlsx (dữ liệu giả định); file 3.Chapter_4_and_Chapter_5_Practice_Truong_Y.xlsx (dữ liệu giả định), sheet 6_Cronbach</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82</a:t>
            </a:r>
          </a:p>
        </p:txBody>
      </p:sp>
      <p:graphicFrame>
        <p:nvGraphicFramePr>
          <p:cNvPr id="11" name="Table 10"/>
          <p:cNvGraphicFramePr>
            <a:graphicFrameLocks noGrp="1"/>
          </p:cNvGraphicFramePr>
          <p:nvPr/>
        </p:nvGraphicFramePr>
        <p:xfrm>
          <a:off x="457200" y="1783080"/>
          <a:ext cx="7863837" cy="3703320"/>
        </p:xfrm>
        <a:graphic>
          <a:graphicData uri="http://schemas.openxmlformats.org/drawingml/2006/table">
            <a:tbl>
              <a:tblPr firstRow="1" bandRow="1">
                <a:tableStyleId>{5C22544A-7EE6-4342-B048-85BDC9FD1C3A}</a:tableStyleId>
              </a:tblPr>
              <a:tblGrid>
                <a:gridCol w="3260616"/>
                <a:gridCol w="767203"/>
                <a:gridCol w="1054905"/>
                <a:gridCol w="1822109"/>
                <a:gridCol w="959004"/>
              </a:tblGrid>
              <a:tr h="411480">
                <a:tc>
                  <a:txBody>
                    <a:bodyPr wrap="square"/>
                    <a:lstStyle/>
                    <a:p>
                      <a:pPr algn="l"/>
                      <a:r>
                        <a:rPr sz="1200" b="1">
                          <a:solidFill>
                            <a:srgbClr val="FFFFFF"/>
                          </a:solidFill>
                          <a:latin typeface="Arial"/>
                        </a:rPr>
                        <a:t>Thang đo</a:t>
                      </a:r>
                    </a:p>
                  </a:txBody>
                  <a:tcPr marL="73152" marR="73152" marT="27432" marB="27432" anchor="ctr">
                    <a:solidFill>
                      <a:srgbClr val="262626"/>
                    </a:solidFill>
                  </a:tcPr>
                </a:tc>
                <a:tc>
                  <a:txBody>
                    <a:bodyPr wrap="square"/>
                    <a:lstStyle/>
                    <a:p>
                      <a:pPr algn="ctr"/>
                      <a:r>
                        <a:rPr sz="1200" b="1">
                          <a:solidFill>
                            <a:srgbClr val="FFFFFF"/>
                          </a:solidFill>
                          <a:latin typeface="Arial"/>
                        </a:rPr>
                        <a:t>Số câu</a:t>
                      </a:r>
                    </a:p>
                  </a:txBody>
                  <a:tcPr marL="73152" marR="73152" marT="27432" marB="27432" anchor="ctr">
                    <a:solidFill>
                      <a:srgbClr val="262626"/>
                    </a:solidFill>
                  </a:tcPr>
                </a:tc>
                <a:tc>
                  <a:txBody>
                    <a:bodyPr wrap="square"/>
                    <a:lstStyle/>
                    <a:p>
                      <a:pPr algn="ctr"/>
                      <a:r>
                        <a:rPr sz="1200" b="1">
                          <a:solidFill>
                            <a:srgbClr val="FFFFFF"/>
                          </a:solidFill>
                          <a:latin typeface="Arial"/>
                        </a:rPr>
                        <a:t>Alpha</a:t>
                      </a:r>
                    </a:p>
                  </a:txBody>
                  <a:tcPr marL="73152" marR="73152" marT="27432" marB="27432" anchor="ctr">
                    <a:solidFill>
                      <a:srgbClr val="262626"/>
                    </a:solidFill>
                  </a:tcPr>
                </a:tc>
                <a:tc>
                  <a:txBody>
                    <a:bodyPr wrap="square"/>
                    <a:lstStyle/>
                    <a:p>
                      <a:pPr algn="ctr"/>
                      <a:r>
                        <a:rPr sz="1200" b="1">
                          <a:solidFill>
                            <a:srgbClr val="FFFFFF"/>
                          </a:solidFill>
                          <a:latin typeface="Arial"/>
                        </a:rPr>
                        <a:t>Tương quan biến tổng nhỏ nhất</a:t>
                      </a:r>
                    </a:p>
                  </a:txBody>
                  <a:tcPr marL="73152" marR="73152" marT="27432" marB="27432" anchor="ctr">
                    <a:solidFill>
                      <a:srgbClr val="262626"/>
                    </a:solidFill>
                  </a:tcPr>
                </a:tc>
                <a:tc>
                  <a:txBody>
                    <a:bodyPr wrap="square"/>
                    <a:lstStyle/>
                    <a:p>
                      <a:pPr algn="ctr"/>
                      <a:r>
                        <a:rPr sz="1200" b="1">
                          <a:solidFill>
                            <a:srgbClr val="FFFFFF"/>
                          </a:solidFill>
                          <a:latin typeface="Arial"/>
                        </a:rPr>
                        <a:t>Kết luận</a:t>
                      </a:r>
                    </a:p>
                  </a:txBody>
                  <a:tcPr marL="73152" marR="73152" marT="27432" marB="27432" anchor="ctr">
                    <a:solidFill>
                      <a:srgbClr val="262626"/>
                    </a:solidFill>
                  </a:tcPr>
                </a:tc>
              </a:tr>
              <a:tr h="365760">
                <a:tc>
                  <a:txBody>
                    <a:bodyPr wrap="square"/>
                    <a:lstStyle/>
                    <a:p>
                      <a:pPr algn="l"/>
                      <a:r>
                        <a:rPr sz="1200" b="0">
                          <a:solidFill>
                            <a:srgbClr val="262626"/>
                          </a:solidFill>
                          <a:latin typeface="Arial"/>
                        </a:rPr>
                        <a:t>Ngân hàng X: Sự hữu ích (HI)</a:t>
                      </a:r>
                    </a:p>
                  </a:txBody>
                  <a:tcPr marL="73152" marR="73152" marT="27432" marB="27432" anchor="ctr">
                    <a:solidFill>
                      <a:srgbClr val="FFFFFF"/>
                    </a:solidFill>
                  </a:tcPr>
                </a:tc>
                <a:tc>
                  <a:txBody>
                    <a:bodyPr wrap="square"/>
                    <a:lstStyle/>
                    <a:p>
                      <a:pPr algn="ctr"/>
                      <a:r>
                        <a:rPr sz="1200" b="0">
                          <a:solidFill>
                            <a:srgbClr val="262626"/>
                          </a:solidFill>
                          <a:latin typeface="Arial"/>
                        </a:rPr>
                        <a:t>4</a:t>
                      </a:r>
                    </a:p>
                  </a:txBody>
                  <a:tcPr marL="73152" marR="73152" marT="27432" marB="27432" anchor="ctr">
                    <a:solidFill>
                      <a:srgbClr val="FFFFFF"/>
                    </a:solidFill>
                  </a:tcPr>
                </a:tc>
                <a:tc>
                  <a:txBody>
                    <a:bodyPr wrap="square"/>
                    <a:lstStyle/>
                    <a:p>
                      <a:pPr algn="ctr"/>
                      <a:r>
                        <a:rPr sz="1200" b="0">
                          <a:solidFill>
                            <a:srgbClr val="262626"/>
                          </a:solidFill>
                          <a:latin typeface="Arial"/>
                        </a:rPr>
                        <a:t>0,792</a:t>
                      </a:r>
                    </a:p>
                  </a:txBody>
                  <a:tcPr marL="73152" marR="73152" marT="27432" marB="27432" anchor="ctr">
                    <a:solidFill>
                      <a:srgbClr val="FFFFFF"/>
                    </a:solidFill>
                  </a:tcPr>
                </a:tc>
                <a:tc>
                  <a:txBody>
                    <a:bodyPr wrap="square"/>
                    <a:lstStyle/>
                    <a:p>
                      <a:pPr algn="ctr"/>
                      <a:r>
                        <a:rPr sz="1200" b="0">
                          <a:solidFill>
                            <a:srgbClr val="262626"/>
                          </a:solidFill>
                          <a:latin typeface="Arial"/>
                        </a:rPr>
                        <a:t>0,587</a:t>
                      </a:r>
                    </a:p>
                  </a:txBody>
                  <a:tcPr marL="73152" marR="73152" marT="27432" marB="27432" anchor="ctr">
                    <a:solidFill>
                      <a:srgbClr val="FFFFFF"/>
                    </a:solidFill>
                  </a:tcPr>
                </a:tc>
                <a:tc>
                  <a:txBody>
                    <a:bodyPr wrap="square"/>
                    <a:lstStyle/>
                    <a:p>
                      <a:pPr algn="ctr"/>
                      <a:r>
                        <a:rPr sz="1200" b="0">
                          <a:solidFill>
                            <a:srgbClr val="262626"/>
                          </a:solidFill>
                          <a:latin typeface="Arial"/>
                        </a:rPr>
                        <a:t>Đạt</a:t>
                      </a:r>
                    </a:p>
                  </a:txBody>
                  <a:tcPr marL="73152" marR="73152" marT="27432" marB="27432" anchor="ctr">
                    <a:solidFill>
                      <a:srgbClr val="FFFFFF"/>
                    </a:solidFill>
                  </a:tcPr>
                </a:tc>
              </a:tr>
              <a:tr h="365760">
                <a:tc>
                  <a:txBody>
                    <a:bodyPr wrap="square"/>
                    <a:lstStyle/>
                    <a:p>
                      <a:pPr algn="l"/>
                      <a:r>
                        <a:rPr sz="1200" b="0">
                          <a:solidFill>
                            <a:srgbClr val="262626"/>
                          </a:solidFill>
                          <a:latin typeface="Arial"/>
                        </a:rPr>
                        <a:t>Ngân hàng X: Sự dễ sử dụng (SD)</a:t>
                      </a:r>
                    </a:p>
                  </a:txBody>
                  <a:tcPr marL="73152" marR="73152" marT="27432" marB="27432" anchor="ctr">
                    <a:solidFill>
                      <a:srgbClr val="F3F3F3"/>
                    </a:solidFill>
                  </a:tcPr>
                </a:tc>
                <a:tc>
                  <a:txBody>
                    <a:bodyPr wrap="square"/>
                    <a:lstStyle/>
                    <a:p>
                      <a:pPr algn="ctr"/>
                      <a:r>
                        <a:rPr sz="1200" b="0">
                          <a:solidFill>
                            <a:srgbClr val="262626"/>
                          </a:solidFill>
                          <a:latin typeface="Arial"/>
                        </a:rPr>
                        <a:t>4</a:t>
                      </a:r>
                    </a:p>
                  </a:txBody>
                  <a:tcPr marL="73152" marR="73152" marT="27432" marB="27432" anchor="ctr">
                    <a:solidFill>
                      <a:srgbClr val="F3F3F3"/>
                    </a:solidFill>
                  </a:tcPr>
                </a:tc>
                <a:tc>
                  <a:txBody>
                    <a:bodyPr wrap="square"/>
                    <a:lstStyle/>
                    <a:p>
                      <a:pPr algn="ctr"/>
                      <a:r>
                        <a:rPr sz="1200" b="0">
                          <a:solidFill>
                            <a:srgbClr val="262626"/>
                          </a:solidFill>
                          <a:latin typeface="Arial"/>
                        </a:rPr>
                        <a:t>0,803</a:t>
                      </a:r>
                    </a:p>
                  </a:txBody>
                  <a:tcPr marL="73152" marR="73152" marT="27432" marB="27432" anchor="ctr">
                    <a:solidFill>
                      <a:srgbClr val="F3F3F3"/>
                    </a:solidFill>
                  </a:tcPr>
                </a:tc>
                <a:tc>
                  <a:txBody>
                    <a:bodyPr wrap="square"/>
                    <a:lstStyle/>
                    <a:p>
                      <a:pPr algn="ctr"/>
                      <a:r>
                        <a:rPr sz="1200" b="0">
                          <a:solidFill>
                            <a:srgbClr val="262626"/>
                          </a:solidFill>
                          <a:latin typeface="Arial"/>
                        </a:rPr>
                        <a:t>0,595</a:t>
                      </a:r>
                    </a:p>
                  </a:txBody>
                  <a:tcPr marL="73152" marR="73152" marT="27432" marB="27432" anchor="ctr">
                    <a:solidFill>
                      <a:srgbClr val="F3F3F3"/>
                    </a:solidFill>
                  </a:tcPr>
                </a:tc>
                <a:tc>
                  <a:txBody>
                    <a:bodyPr wrap="square"/>
                    <a:lstStyle/>
                    <a:p>
                      <a:pPr algn="ctr"/>
                      <a:r>
                        <a:rPr sz="1200" b="0">
                          <a:solidFill>
                            <a:srgbClr val="262626"/>
                          </a:solidFill>
                          <a:latin typeface="Arial"/>
                        </a:rPr>
                        <a:t>Đạt</a:t>
                      </a:r>
                    </a:p>
                  </a:txBody>
                  <a:tcPr marL="73152" marR="73152" marT="27432" marB="27432" anchor="ctr">
                    <a:solidFill>
                      <a:srgbClr val="F3F3F3"/>
                    </a:solidFill>
                  </a:tcPr>
                </a:tc>
              </a:tr>
              <a:tr h="365760">
                <a:tc>
                  <a:txBody>
                    <a:bodyPr wrap="square"/>
                    <a:lstStyle/>
                    <a:p>
                      <a:pPr algn="l"/>
                      <a:r>
                        <a:rPr sz="1200" b="0">
                          <a:solidFill>
                            <a:srgbClr val="262626"/>
                          </a:solidFill>
                          <a:latin typeface="Arial"/>
                        </a:rPr>
                        <a:t>Ngân hàng X: Niềm tin (NT)</a:t>
                      </a:r>
                    </a:p>
                  </a:txBody>
                  <a:tcPr marL="73152" marR="73152" marT="27432" marB="27432" anchor="ctr">
                    <a:solidFill>
                      <a:srgbClr val="FFFFFF"/>
                    </a:solidFill>
                  </a:tcPr>
                </a:tc>
                <a:tc>
                  <a:txBody>
                    <a:bodyPr wrap="square"/>
                    <a:lstStyle/>
                    <a:p>
                      <a:pPr algn="ctr"/>
                      <a:r>
                        <a:rPr sz="1200" b="0">
                          <a:solidFill>
                            <a:srgbClr val="262626"/>
                          </a:solidFill>
                          <a:latin typeface="Arial"/>
                        </a:rPr>
                        <a:t>4</a:t>
                      </a:r>
                    </a:p>
                  </a:txBody>
                  <a:tcPr marL="73152" marR="73152" marT="27432" marB="27432" anchor="ctr">
                    <a:solidFill>
                      <a:srgbClr val="FFFFFF"/>
                    </a:solidFill>
                  </a:tcPr>
                </a:tc>
                <a:tc>
                  <a:txBody>
                    <a:bodyPr wrap="square"/>
                    <a:lstStyle/>
                    <a:p>
                      <a:pPr algn="ctr"/>
                      <a:r>
                        <a:rPr sz="1200" b="0">
                          <a:solidFill>
                            <a:srgbClr val="262626"/>
                          </a:solidFill>
                          <a:latin typeface="Arial"/>
                        </a:rPr>
                        <a:t>0,798</a:t>
                      </a:r>
                    </a:p>
                  </a:txBody>
                  <a:tcPr marL="73152" marR="73152" marT="27432" marB="27432" anchor="ctr">
                    <a:solidFill>
                      <a:srgbClr val="FFFFFF"/>
                    </a:solidFill>
                  </a:tcPr>
                </a:tc>
                <a:tc>
                  <a:txBody>
                    <a:bodyPr wrap="square"/>
                    <a:lstStyle/>
                    <a:p>
                      <a:pPr algn="ctr"/>
                      <a:r>
                        <a:rPr sz="1200" b="0">
                          <a:solidFill>
                            <a:srgbClr val="262626"/>
                          </a:solidFill>
                          <a:latin typeface="Arial"/>
                        </a:rPr>
                        <a:t>0,603</a:t>
                      </a:r>
                    </a:p>
                  </a:txBody>
                  <a:tcPr marL="73152" marR="73152" marT="27432" marB="27432" anchor="ctr">
                    <a:solidFill>
                      <a:srgbClr val="FFFFFF"/>
                    </a:solidFill>
                  </a:tcPr>
                </a:tc>
                <a:tc>
                  <a:txBody>
                    <a:bodyPr wrap="square"/>
                    <a:lstStyle/>
                    <a:p>
                      <a:pPr algn="ctr"/>
                      <a:r>
                        <a:rPr sz="1200" b="0">
                          <a:solidFill>
                            <a:srgbClr val="262626"/>
                          </a:solidFill>
                          <a:latin typeface="Arial"/>
                        </a:rPr>
                        <a:t>Đạt</a:t>
                      </a:r>
                    </a:p>
                  </a:txBody>
                  <a:tcPr marL="73152" marR="73152" marT="27432" marB="27432" anchor="ctr">
                    <a:solidFill>
                      <a:srgbClr val="FFFFFF"/>
                    </a:solidFill>
                  </a:tcPr>
                </a:tc>
              </a:tr>
              <a:tr h="365760">
                <a:tc>
                  <a:txBody>
                    <a:bodyPr wrap="square"/>
                    <a:lstStyle/>
                    <a:p>
                      <a:pPr algn="l"/>
                      <a:r>
                        <a:rPr sz="1200" b="0">
                          <a:solidFill>
                            <a:srgbClr val="262626"/>
                          </a:solidFill>
                          <a:latin typeface="Arial"/>
                        </a:rPr>
                        <a:t>Ngân hàng X: Ảnh hưởng xã hội (XH)</a:t>
                      </a:r>
                    </a:p>
                  </a:txBody>
                  <a:tcPr marL="73152" marR="73152" marT="27432" marB="27432" anchor="ctr">
                    <a:solidFill>
                      <a:srgbClr val="F3F3F3"/>
                    </a:solidFill>
                  </a:tcPr>
                </a:tc>
                <a:tc>
                  <a:txBody>
                    <a:bodyPr wrap="square"/>
                    <a:lstStyle/>
                    <a:p>
                      <a:pPr algn="ctr"/>
                      <a:r>
                        <a:rPr sz="1200" b="0">
                          <a:solidFill>
                            <a:srgbClr val="262626"/>
                          </a:solidFill>
                          <a:latin typeface="Arial"/>
                        </a:rPr>
                        <a:t>4</a:t>
                      </a:r>
                    </a:p>
                  </a:txBody>
                  <a:tcPr marL="73152" marR="73152" marT="27432" marB="27432" anchor="ctr">
                    <a:solidFill>
                      <a:srgbClr val="F3F3F3"/>
                    </a:solidFill>
                  </a:tcPr>
                </a:tc>
                <a:tc>
                  <a:txBody>
                    <a:bodyPr wrap="square"/>
                    <a:lstStyle/>
                    <a:p>
                      <a:pPr algn="ctr"/>
                      <a:r>
                        <a:rPr sz="1200" b="0">
                          <a:solidFill>
                            <a:srgbClr val="262626"/>
                          </a:solidFill>
                          <a:latin typeface="Arial"/>
                        </a:rPr>
                        <a:t>0,802</a:t>
                      </a:r>
                    </a:p>
                  </a:txBody>
                  <a:tcPr marL="73152" marR="73152" marT="27432" marB="27432" anchor="ctr">
                    <a:solidFill>
                      <a:srgbClr val="F3F3F3"/>
                    </a:solidFill>
                  </a:tcPr>
                </a:tc>
                <a:tc>
                  <a:txBody>
                    <a:bodyPr wrap="square"/>
                    <a:lstStyle/>
                    <a:p>
                      <a:pPr algn="ctr"/>
                      <a:r>
                        <a:rPr sz="1200" b="0">
                          <a:solidFill>
                            <a:srgbClr val="262626"/>
                          </a:solidFill>
                          <a:latin typeface="Arial"/>
                        </a:rPr>
                        <a:t>0,596</a:t>
                      </a:r>
                    </a:p>
                  </a:txBody>
                  <a:tcPr marL="73152" marR="73152" marT="27432" marB="27432" anchor="ctr">
                    <a:solidFill>
                      <a:srgbClr val="F3F3F3"/>
                    </a:solidFill>
                  </a:tcPr>
                </a:tc>
                <a:tc>
                  <a:txBody>
                    <a:bodyPr wrap="square"/>
                    <a:lstStyle/>
                    <a:p>
                      <a:pPr algn="ctr"/>
                      <a:r>
                        <a:rPr sz="1200" b="0">
                          <a:solidFill>
                            <a:srgbClr val="262626"/>
                          </a:solidFill>
                          <a:latin typeface="Arial"/>
                        </a:rPr>
                        <a:t>Đạt</a:t>
                      </a:r>
                    </a:p>
                  </a:txBody>
                  <a:tcPr marL="73152" marR="73152" marT="27432" marB="27432" anchor="ctr">
                    <a:solidFill>
                      <a:srgbClr val="F3F3F3"/>
                    </a:solidFill>
                  </a:tcPr>
                </a:tc>
              </a:tr>
              <a:tr h="365760">
                <a:tc>
                  <a:txBody>
                    <a:bodyPr wrap="square"/>
                    <a:lstStyle/>
                    <a:p>
                      <a:pPr algn="l"/>
                      <a:r>
                        <a:rPr sz="1200" b="0">
                          <a:solidFill>
                            <a:srgbClr val="262626"/>
                          </a:solidFill>
                          <a:latin typeface="Arial"/>
                        </a:rPr>
                        <a:t>Ngân hàng X: Ý định sử dụng (YD)</a:t>
                      </a:r>
                    </a:p>
                  </a:txBody>
                  <a:tcPr marL="73152" marR="73152" marT="27432" marB="27432" anchor="ctr">
                    <a:solidFill>
                      <a:srgbClr val="FFFFFF"/>
                    </a:solidFill>
                  </a:tcPr>
                </a:tc>
                <a:tc>
                  <a:txBody>
                    <a:bodyPr wrap="square"/>
                    <a:lstStyle/>
                    <a:p>
                      <a:pPr algn="ctr"/>
                      <a:r>
                        <a:rPr sz="1200" b="0">
                          <a:solidFill>
                            <a:srgbClr val="262626"/>
                          </a:solidFill>
                          <a:latin typeface="Arial"/>
                        </a:rPr>
                        <a:t>3</a:t>
                      </a:r>
                    </a:p>
                  </a:txBody>
                  <a:tcPr marL="73152" marR="73152" marT="27432" marB="27432" anchor="ctr">
                    <a:solidFill>
                      <a:srgbClr val="FFFFFF"/>
                    </a:solidFill>
                  </a:tcPr>
                </a:tc>
                <a:tc>
                  <a:txBody>
                    <a:bodyPr wrap="square"/>
                    <a:lstStyle/>
                    <a:p>
                      <a:pPr algn="ctr"/>
                      <a:r>
                        <a:rPr sz="1200" b="0">
                          <a:solidFill>
                            <a:srgbClr val="262626"/>
                          </a:solidFill>
                          <a:latin typeface="Arial"/>
                        </a:rPr>
                        <a:t>0,776</a:t>
                      </a:r>
                    </a:p>
                  </a:txBody>
                  <a:tcPr marL="73152" marR="73152" marT="27432" marB="27432" anchor="ctr">
                    <a:solidFill>
                      <a:srgbClr val="FFFFFF"/>
                    </a:solidFill>
                  </a:tcPr>
                </a:tc>
                <a:tc>
                  <a:txBody>
                    <a:bodyPr wrap="square"/>
                    <a:lstStyle/>
                    <a:p>
                      <a:pPr algn="ctr"/>
                      <a:r>
                        <a:rPr sz="1200" b="0">
                          <a:solidFill>
                            <a:srgbClr val="262626"/>
                          </a:solidFill>
                          <a:latin typeface="Arial"/>
                        </a:rPr>
                        <a:t>0,569</a:t>
                      </a:r>
                    </a:p>
                  </a:txBody>
                  <a:tcPr marL="73152" marR="73152" marT="27432" marB="27432" anchor="ctr">
                    <a:solidFill>
                      <a:srgbClr val="FFFFFF"/>
                    </a:solidFill>
                  </a:tcPr>
                </a:tc>
                <a:tc>
                  <a:txBody>
                    <a:bodyPr wrap="square"/>
                    <a:lstStyle/>
                    <a:p>
                      <a:pPr algn="ctr"/>
                      <a:r>
                        <a:rPr sz="1200" b="0">
                          <a:solidFill>
                            <a:srgbClr val="262626"/>
                          </a:solidFill>
                          <a:latin typeface="Arial"/>
                        </a:rPr>
                        <a:t>Đạt</a:t>
                      </a:r>
                    </a:p>
                  </a:txBody>
                  <a:tcPr marL="73152" marR="73152" marT="27432" marB="27432" anchor="ctr">
                    <a:solidFill>
                      <a:srgbClr val="FFFFFF"/>
                    </a:solidFill>
                  </a:tcPr>
                </a:tc>
              </a:tr>
              <a:tr h="365760">
                <a:tc>
                  <a:txBody>
                    <a:bodyPr wrap="square"/>
                    <a:lstStyle/>
                    <a:p>
                      <a:pPr algn="l"/>
                      <a:r>
                        <a:rPr sz="1200" b="0">
                          <a:solidFill>
                            <a:srgbClr val="262626"/>
                          </a:solidFill>
                          <a:latin typeface="Arial"/>
                        </a:rPr>
                        <a:t>Trường Y: Cơ sở vật chất (CSVC)</a:t>
                      </a:r>
                    </a:p>
                  </a:txBody>
                  <a:tcPr marL="73152" marR="73152" marT="27432" marB="27432" anchor="ctr">
                    <a:solidFill>
                      <a:srgbClr val="F3F3F3"/>
                    </a:solidFill>
                  </a:tcPr>
                </a:tc>
                <a:tc>
                  <a:txBody>
                    <a:bodyPr wrap="square"/>
                    <a:lstStyle/>
                    <a:p>
                      <a:pPr algn="ctr"/>
                      <a:r>
                        <a:rPr sz="1200" b="0">
                          <a:solidFill>
                            <a:srgbClr val="262626"/>
                          </a:solidFill>
                          <a:latin typeface="Arial"/>
                        </a:rPr>
                        <a:t>4</a:t>
                      </a:r>
                    </a:p>
                  </a:txBody>
                  <a:tcPr marL="73152" marR="73152" marT="27432" marB="27432" anchor="ctr">
                    <a:solidFill>
                      <a:srgbClr val="F3F3F3"/>
                    </a:solidFill>
                  </a:tcPr>
                </a:tc>
                <a:tc>
                  <a:txBody>
                    <a:bodyPr wrap="square"/>
                    <a:lstStyle/>
                    <a:p>
                      <a:pPr algn="ctr"/>
                      <a:r>
                        <a:rPr sz="1200" b="0">
                          <a:solidFill>
                            <a:srgbClr val="262626"/>
                          </a:solidFill>
                          <a:latin typeface="Arial"/>
                        </a:rPr>
                        <a:t>0,766</a:t>
                      </a:r>
                    </a:p>
                  </a:txBody>
                  <a:tcPr marL="73152" marR="73152" marT="27432" marB="27432" anchor="ctr">
                    <a:solidFill>
                      <a:srgbClr val="F3F3F3"/>
                    </a:solidFill>
                  </a:tcPr>
                </a:tc>
                <a:tc>
                  <a:txBody>
                    <a:bodyPr wrap="square"/>
                    <a:lstStyle/>
                    <a:p>
                      <a:pPr algn="ctr"/>
                      <a:r>
                        <a:rPr sz="1200" b="0">
                          <a:solidFill>
                            <a:srgbClr val="262626"/>
                          </a:solidFill>
                          <a:latin typeface="Arial"/>
                        </a:rPr>
                        <a:t>0,549</a:t>
                      </a:r>
                    </a:p>
                  </a:txBody>
                  <a:tcPr marL="73152" marR="73152" marT="27432" marB="27432" anchor="ctr">
                    <a:solidFill>
                      <a:srgbClr val="F3F3F3"/>
                    </a:solidFill>
                  </a:tcPr>
                </a:tc>
                <a:tc>
                  <a:txBody>
                    <a:bodyPr wrap="square"/>
                    <a:lstStyle/>
                    <a:p>
                      <a:pPr algn="ctr"/>
                      <a:r>
                        <a:rPr sz="1200" b="0">
                          <a:solidFill>
                            <a:srgbClr val="262626"/>
                          </a:solidFill>
                          <a:latin typeface="Arial"/>
                        </a:rPr>
                        <a:t>Đạt</a:t>
                      </a:r>
                    </a:p>
                  </a:txBody>
                  <a:tcPr marL="73152" marR="73152" marT="27432" marB="27432" anchor="ctr">
                    <a:solidFill>
                      <a:srgbClr val="F3F3F3"/>
                    </a:solidFill>
                  </a:tcPr>
                </a:tc>
              </a:tr>
              <a:tr h="365760">
                <a:tc>
                  <a:txBody>
                    <a:bodyPr wrap="square"/>
                    <a:lstStyle/>
                    <a:p>
                      <a:pPr algn="l"/>
                      <a:r>
                        <a:rPr sz="1200" b="0">
                          <a:solidFill>
                            <a:srgbClr val="262626"/>
                          </a:solidFill>
                          <a:latin typeface="Arial"/>
                        </a:rPr>
                        <a:t>Trường Y: Thái độ nhân viên (TDNV)</a:t>
                      </a:r>
                    </a:p>
                  </a:txBody>
                  <a:tcPr marL="73152" marR="73152" marT="27432" marB="27432" anchor="ctr">
                    <a:solidFill>
                      <a:srgbClr val="FFFFFF"/>
                    </a:solidFill>
                  </a:tcPr>
                </a:tc>
                <a:tc>
                  <a:txBody>
                    <a:bodyPr wrap="square"/>
                    <a:lstStyle/>
                    <a:p>
                      <a:pPr algn="ctr"/>
                      <a:r>
                        <a:rPr sz="1200" b="0">
                          <a:solidFill>
                            <a:srgbClr val="262626"/>
                          </a:solidFill>
                          <a:latin typeface="Arial"/>
                        </a:rPr>
                        <a:t>4</a:t>
                      </a:r>
                    </a:p>
                  </a:txBody>
                  <a:tcPr marL="73152" marR="73152" marT="27432" marB="27432" anchor="ctr">
                    <a:solidFill>
                      <a:srgbClr val="FFFFFF"/>
                    </a:solidFill>
                  </a:tcPr>
                </a:tc>
                <a:tc>
                  <a:txBody>
                    <a:bodyPr wrap="square"/>
                    <a:lstStyle/>
                    <a:p>
                      <a:pPr algn="ctr"/>
                      <a:r>
                        <a:rPr sz="1200" b="0">
                          <a:solidFill>
                            <a:srgbClr val="262626"/>
                          </a:solidFill>
                          <a:latin typeface="Arial"/>
                        </a:rPr>
                        <a:t>0,791</a:t>
                      </a:r>
                    </a:p>
                  </a:txBody>
                  <a:tcPr marL="73152" marR="73152" marT="27432" marB="27432" anchor="ctr">
                    <a:solidFill>
                      <a:srgbClr val="FFFFFF"/>
                    </a:solidFill>
                  </a:tcPr>
                </a:tc>
                <a:tc>
                  <a:txBody>
                    <a:bodyPr wrap="square"/>
                    <a:lstStyle/>
                    <a:p>
                      <a:pPr algn="ctr"/>
                      <a:r>
                        <a:rPr sz="1200" b="0">
                          <a:solidFill>
                            <a:srgbClr val="262626"/>
                          </a:solidFill>
                          <a:latin typeface="Arial"/>
                        </a:rPr>
                        <a:t>0,555</a:t>
                      </a:r>
                    </a:p>
                  </a:txBody>
                  <a:tcPr marL="73152" marR="73152" marT="27432" marB="27432" anchor="ctr">
                    <a:solidFill>
                      <a:srgbClr val="FFFFFF"/>
                    </a:solidFill>
                  </a:tcPr>
                </a:tc>
                <a:tc>
                  <a:txBody>
                    <a:bodyPr wrap="square"/>
                    <a:lstStyle/>
                    <a:p>
                      <a:pPr algn="ctr"/>
                      <a:r>
                        <a:rPr sz="1200" b="0">
                          <a:solidFill>
                            <a:srgbClr val="262626"/>
                          </a:solidFill>
                          <a:latin typeface="Arial"/>
                        </a:rPr>
                        <a:t>Đạt</a:t>
                      </a:r>
                    </a:p>
                  </a:txBody>
                  <a:tcPr marL="73152" marR="73152" marT="27432" marB="27432" anchor="ctr">
                    <a:solidFill>
                      <a:srgbClr val="FFFFFF"/>
                    </a:solidFill>
                  </a:tcPr>
                </a:tc>
              </a:tr>
              <a:tr h="365760">
                <a:tc>
                  <a:txBody>
                    <a:bodyPr wrap="square"/>
                    <a:lstStyle/>
                    <a:p>
                      <a:pPr algn="l"/>
                      <a:r>
                        <a:rPr sz="1200" b="0">
                          <a:solidFill>
                            <a:srgbClr val="262626"/>
                          </a:solidFill>
                          <a:latin typeface="Arial"/>
                        </a:rPr>
                        <a:t>Trường Y: Quy trình hành chính (QTHC)</a:t>
                      </a:r>
                    </a:p>
                  </a:txBody>
                  <a:tcPr marL="73152" marR="73152" marT="27432" marB="27432" anchor="ctr">
                    <a:solidFill>
                      <a:srgbClr val="FBEAEA"/>
                    </a:solidFill>
                  </a:tcPr>
                </a:tc>
                <a:tc>
                  <a:txBody>
                    <a:bodyPr wrap="square"/>
                    <a:lstStyle/>
                    <a:p>
                      <a:pPr algn="ctr"/>
                      <a:r>
                        <a:rPr sz="1200" b="0">
                          <a:solidFill>
                            <a:srgbClr val="262626"/>
                          </a:solidFill>
                          <a:latin typeface="Arial"/>
                        </a:rPr>
                        <a:t>4</a:t>
                      </a:r>
                    </a:p>
                  </a:txBody>
                  <a:tcPr marL="73152" marR="73152" marT="27432" marB="27432" anchor="ctr">
                    <a:solidFill>
                      <a:srgbClr val="FBEAEA"/>
                    </a:solidFill>
                  </a:tcPr>
                </a:tc>
                <a:tc>
                  <a:txBody>
                    <a:bodyPr wrap="square"/>
                    <a:lstStyle/>
                    <a:p>
                      <a:pPr algn="ctr"/>
                      <a:r>
                        <a:rPr sz="1200" b="1">
                          <a:solidFill>
                            <a:srgbClr val="262626"/>
                          </a:solidFill>
                          <a:latin typeface="Arial"/>
                        </a:rPr>
                        <a:t>0,740</a:t>
                      </a:r>
                    </a:p>
                  </a:txBody>
                  <a:tcPr marL="73152" marR="73152" marT="27432" marB="27432" anchor="ctr">
                    <a:solidFill>
                      <a:srgbClr val="FBEAEA"/>
                    </a:solidFill>
                  </a:tcPr>
                </a:tc>
                <a:tc>
                  <a:txBody>
                    <a:bodyPr wrap="square"/>
                    <a:lstStyle/>
                    <a:p>
                      <a:pPr algn="ctr"/>
                      <a:r>
                        <a:rPr sz="1200" b="1">
                          <a:solidFill>
                            <a:srgbClr val="262626"/>
                          </a:solidFill>
                          <a:latin typeface="Arial"/>
                        </a:rPr>
                        <a:t>0,485</a:t>
                      </a:r>
                    </a:p>
                  </a:txBody>
                  <a:tcPr marL="73152" marR="73152" marT="27432" marB="27432" anchor="ctr">
                    <a:solidFill>
                      <a:srgbClr val="FBEAEA"/>
                    </a:solidFill>
                  </a:tcPr>
                </a:tc>
                <a:tc>
                  <a:txBody>
                    <a:bodyPr wrap="square"/>
                    <a:lstStyle/>
                    <a:p>
                      <a:pPr algn="ctr"/>
                      <a:r>
                        <a:rPr sz="1200" b="0">
                          <a:solidFill>
                            <a:srgbClr val="262626"/>
                          </a:solidFill>
                          <a:latin typeface="Arial"/>
                        </a:rPr>
                        <a:t>Đạt</a:t>
                      </a:r>
                    </a:p>
                  </a:txBody>
                  <a:tcPr marL="73152" marR="73152" marT="27432" marB="27432" anchor="ctr">
                    <a:solidFill>
                      <a:srgbClr val="FBEAEA"/>
                    </a:solidFill>
                  </a:tcPr>
                </a:tc>
              </a:tr>
              <a:tr h="365760">
                <a:tc>
                  <a:txBody>
                    <a:bodyPr wrap="square"/>
                    <a:lstStyle/>
                    <a:p>
                      <a:pPr algn="l"/>
                      <a:r>
                        <a:rPr sz="1200" b="0">
                          <a:solidFill>
                            <a:srgbClr val="262626"/>
                          </a:solidFill>
                          <a:latin typeface="Arial"/>
                        </a:rPr>
                        <a:t>Trường Y: Sự hài lòng (HL)</a:t>
                      </a:r>
                    </a:p>
                  </a:txBody>
                  <a:tcPr marL="73152" marR="73152" marT="27432" marB="27432" anchor="ctr">
                    <a:solidFill>
                      <a:srgbClr val="FFFFFF"/>
                    </a:solidFill>
                  </a:tcPr>
                </a:tc>
                <a:tc>
                  <a:txBody>
                    <a:bodyPr wrap="square"/>
                    <a:lstStyle/>
                    <a:p>
                      <a:pPr algn="ctr"/>
                      <a:r>
                        <a:rPr sz="1200" b="0">
                          <a:solidFill>
                            <a:srgbClr val="262626"/>
                          </a:solidFill>
                          <a:latin typeface="Arial"/>
                        </a:rPr>
                        <a:t>4</a:t>
                      </a:r>
                    </a:p>
                  </a:txBody>
                  <a:tcPr marL="73152" marR="73152" marT="27432" marB="27432" anchor="ctr">
                    <a:solidFill>
                      <a:srgbClr val="FFFFFF"/>
                    </a:solidFill>
                  </a:tcPr>
                </a:tc>
                <a:tc>
                  <a:txBody>
                    <a:bodyPr wrap="square"/>
                    <a:lstStyle/>
                    <a:p>
                      <a:pPr algn="ctr"/>
                      <a:r>
                        <a:rPr sz="1200" b="0">
                          <a:solidFill>
                            <a:srgbClr val="262626"/>
                          </a:solidFill>
                          <a:latin typeface="Arial"/>
                        </a:rPr>
                        <a:t>0,809</a:t>
                      </a:r>
                    </a:p>
                  </a:txBody>
                  <a:tcPr marL="73152" marR="73152" marT="27432" marB="27432" anchor="ctr">
                    <a:solidFill>
                      <a:srgbClr val="FFFFFF"/>
                    </a:solidFill>
                  </a:tcPr>
                </a:tc>
                <a:tc>
                  <a:txBody>
                    <a:bodyPr wrap="square"/>
                    <a:lstStyle/>
                    <a:p>
                      <a:pPr algn="ctr"/>
                      <a:r>
                        <a:rPr sz="1200" b="0">
                          <a:solidFill>
                            <a:srgbClr val="262626"/>
                          </a:solidFill>
                          <a:latin typeface="Arial"/>
                        </a:rPr>
                        <a:t>0,580</a:t>
                      </a:r>
                    </a:p>
                  </a:txBody>
                  <a:tcPr marL="73152" marR="73152" marT="27432" marB="27432" anchor="ctr">
                    <a:solidFill>
                      <a:srgbClr val="FFFFFF"/>
                    </a:solidFill>
                  </a:tcPr>
                </a:tc>
                <a:tc>
                  <a:txBody>
                    <a:bodyPr wrap="square"/>
                    <a:lstStyle/>
                    <a:p>
                      <a:pPr algn="ctr"/>
                      <a:r>
                        <a:rPr sz="1200" b="0">
                          <a:solidFill>
                            <a:srgbClr val="262626"/>
                          </a:solidFill>
                          <a:latin typeface="Arial"/>
                        </a:rPr>
                        <a:t>Đạt</a:t>
                      </a:r>
                    </a:p>
                  </a:txBody>
                  <a:tcPr marL="73152" marR="73152" marT="27432" marB="27432" anchor="ctr">
                    <a:solidFill>
                      <a:srgbClr val="FFFFFF"/>
                    </a:solidFill>
                  </a:tcPr>
                </a:tc>
              </a:tr>
            </a:tbl>
          </a:graphicData>
        </a:graphic>
      </p:graphicFrame>
      <p:sp>
        <p:nvSpPr>
          <p:cNvPr id="12" name="TextBox 11"/>
          <p:cNvSpPr txBox="1"/>
          <p:nvPr/>
        </p:nvSpPr>
        <p:spPr>
          <a:xfrm>
            <a:off x="8595360" y="1783080"/>
            <a:ext cx="3136391" cy="274320"/>
          </a:xfrm>
          <a:prstGeom prst="rect">
            <a:avLst/>
          </a:prstGeom>
          <a:noFill/>
        </p:spPr>
        <p:txBody>
          <a:bodyPr wrap="square" lIns="45720" rIns="45720" tIns="27432" bIns="27432" anchor="t">
            <a:spAutoFit/>
          </a:bodyPr>
          <a:lstStyle/>
          <a:p>
            <a:pPr algn="l"/>
            <a:r>
              <a:rPr sz="1000" b="1" i="0">
                <a:solidFill>
                  <a:srgbClr val="CC0000"/>
                </a:solidFill>
                <a:latin typeface="Arial"/>
              </a:rPr>
              <a:t>ĐỌC BA CHỈ SỐ</a:t>
            </a:r>
          </a:p>
        </p:txBody>
      </p:sp>
      <p:cxnSp>
        <p:nvCxnSpPr>
          <p:cNvPr id="13" name="Connector 12"/>
          <p:cNvCxnSpPr/>
          <p:nvPr/>
        </p:nvCxnSpPr>
        <p:spPr>
          <a:xfrm>
            <a:off x="8595360" y="2103120"/>
            <a:ext cx="313639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95360" y="2167128"/>
            <a:ext cx="3136391" cy="3383280"/>
          </a:xfrm>
          <a:prstGeom prst="rect">
            <a:avLst/>
          </a:prstGeom>
          <a:noFill/>
        </p:spPr>
        <p:txBody>
          <a:bodyPr wrap="square" lIns="45720" rIns="45720" tIns="27432" bIns="27432" anchor="t">
            <a:spAutoFit/>
          </a:bodyPr>
          <a:lstStyle/>
          <a:p>
            <a:pPr algn="l"/>
            <a:r>
              <a:rPr sz="1250" b="1" i="0">
                <a:solidFill>
                  <a:srgbClr val="58595B"/>
                </a:solidFill>
                <a:latin typeface="Arial"/>
              </a:rPr>
              <a:t>Ngân hàng X:</a:t>
            </a:r>
            <a:r>
              <a:rPr sz="1250" b="0" i="0">
                <a:solidFill>
                  <a:srgbClr val="58595B"/>
                </a:solidFill>
                <a:latin typeface="Arial"/>
              </a:rPr>
              <a:t> tương quan biến tổng hiệu chỉnh của mọi câu từ 0,569 trở lên; Alpha nếu loại bất kỳ câu nào đều thấp hơn Alpha cả thang.</a:t>
            </a:r>
          </a:p>
          <a:p>
            <a:pPr algn="l">
              <a:spcBef>
                <a:spcPts val="562"/>
              </a:spcBef>
            </a:pPr>
          </a:p>
          <a:p>
            <a:pPr algn="l">
              <a:spcBef>
                <a:spcPts val="562"/>
              </a:spcBef>
            </a:pPr>
            <a:r>
              <a:rPr sz="1250" b="1" i="0">
                <a:solidFill>
                  <a:srgbClr val="58595B"/>
                </a:solidFill>
                <a:latin typeface="Arial"/>
              </a:rPr>
              <a:t>Trường Y:</a:t>
            </a:r>
            <a:r>
              <a:rPr sz="1250" b="0" i="0">
                <a:solidFill>
                  <a:srgbClr val="58595B"/>
                </a:solidFill>
                <a:latin typeface="Arial"/>
              </a:rPr>
              <a:t> QTHC thấp nhất nhưng vẫn trên ngưỡng; nên đọc lại câu có tương quan 0,485 xem phụ huynh có hiểu câu hỏi theo cùng một cách không.</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PHÂN TÍCH TƯƠNG QUAN</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Cả bốn biến tương quan cùng chiều với ý định sử dụng nhưng tương quan chưa phải là tác động</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Hai biến có thể cùng tăng vì một biến thứ ba; kết luận giả thuyết phải dựa vào hồi quy xét đồng thời các biến.</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4.3 và Bảng 4-6; file 3.Chapter_4_and_Chapter_5_Practice_NH_X.xlsx (dữ liệu giả định), sheet 8_TuongQuan</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83</a:t>
            </a:r>
          </a:p>
        </p:txBody>
      </p:sp>
      <p:graphicFrame>
        <p:nvGraphicFramePr>
          <p:cNvPr id="12" name="Chart 11"/>
          <p:cNvGraphicFramePr>
            <a:graphicFrameLocks noGrp="1"/>
          </p:cNvGraphicFramePr>
          <p:nvPr/>
        </p:nvGraphicFramePr>
        <p:xfrm>
          <a:off x="457200" y="1783080"/>
          <a:ext cx="6583680" cy="3840480"/>
        </p:xfrm>
        <a:graphic>
          <a:graphicData uri="http://schemas.openxmlformats.org/drawingml/2006/chart">
            <c:chart xmlns:c="http://schemas.openxmlformats.org/drawingml/2006/chart" r:id="rId2"/>
          </a:graphicData>
        </a:graphic>
      </p:graphicFrame>
      <p:sp>
        <p:nvSpPr>
          <p:cNvPr id="13" name="TextBox 12"/>
          <p:cNvSpPr txBox="1"/>
          <p:nvPr/>
        </p:nvSpPr>
        <p:spPr>
          <a:xfrm>
            <a:off x="457200" y="1709928"/>
            <a:ext cx="6583680" cy="274320"/>
          </a:xfrm>
          <a:prstGeom prst="rect">
            <a:avLst/>
          </a:prstGeom>
          <a:noFill/>
        </p:spPr>
        <p:txBody>
          <a:bodyPr wrap="square" lIns="45720" rIns="45720" tIns="27432" bIns="27432" anchor="t">
            <a:spAutoFit/>
          </a:bodyPr>
          <a:lstStyle/>
          <a:p>
            <a:pPr algn="l"/>
            <a:r>
              <a:rPr sz="1050" b="1" i="0">
                <a:solidFill>
                  <a:srgbClr val="9E9E9E"/>
                </a:solidFill>
                <a:latin typeface="Arial"/>
              </a:rPr>
              <a:t>HỆ SỐ TƯƠNG QUAN r VỚI Ý ĐỊNH SỬ DỤNG (YD)</a:t>
            </a:r>
          </a:p>
        </p:txBody>
      </p:sp>
      <p:sp>
        <p:nvSpPr>
          <p:cNvPr id="14" name="TextBox 13"/>
          <p:cNvSpPr txBox="1"/>
          <p:nvPr/>
        </p:nvSpPr>
        <p:spPr>
          <a:xfrm>
            <a:off x="7360920" y="1783080"/>
            <a:ext cx="4370831"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ĐỌC</a:t>
            </a:r>
          </a:p>
        </p:txBody>
      </p:sp>
      <p:cxnSp>
        <p:nvCxnSpPr>
          <p:cNvPr id="15" name="Connector 14"/>
          <p:cNvCxnSpPr/>
          <p:nvPr/>
        </p:nvCxnSpPr>
        <p:spPr>
          <a:xfrm>
            <a:off x="7360920" y="2103120"/>
            <a:ext cx="43708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36092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772400" y="219456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Việc 1:</a:t>
            </a:r>
            <a:r>
              <a:rPr sz="1350" b="0" i="0">
                <a:solidFill>
                  <a:srgbClr val="58595B"/>
                </a:solidFill>
                <a:latin typeface="Arial"/>
              </a:rPr>
              <a:t> mỗi biến độc lập có tương quan cùng chiều với YD như giả thuyết dự đoán không. Có, cả bốn.</a:t>
            </a:r>
          </a:p>
        </p:txBody>
      </p:sp>
      <p:sp>
        <p:nvSpPr>
          <p:cNvPr id="18" name="Oval 17"/>
          <p:cNvSpPr/>
          <p:nvPr/>
        </p:nvSpPr>
        <p:spPr>
          <a:xfrm>
            <a:off x="736092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772400" y="305181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Việc 2:</a:t>
            </a:r>
            <a:r>
              <a:rPr sz="1350" b="0" i="0">
                <a:solidFill>
                  <a:srgbClr val="58595B"/>
                </a:solidFill>
                <a:latin typeface="Arial"/>
              </a:rPr>
              <a:t> các biến độc lập có tương quan quá cao với nhau không. Chỉ 0,245 đến 0,348; chưa có dấu hiệu đa cộng tuyến.</a:t>
            </a:r>
          </a:p>
        </p:txBody>
      </p:sp>
      <p:sp>
        <p:nvSpPr>
          <p:cNvPr id="20" name="Oval 19"/>
          <p:cNvSpPr/>
          <p:nvPr/>
        </p:nvSpPr>
        <p:spPr>
          <a:xfrm>
            <a:off x="736092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772400" y="390906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Trường Y:</a:t>
            </a:r>
            <a:r>
              <a:rPr sz="1350" b="0" i="0">
                <a:solidFill>
                  <a:srgbClr val="58595B"/>
                </a:solidFill>
                <a:latin typeface="Arial"/>
              </a:rPr>
              <a:t> HL tương quan với TDNV 0,599; CSVC 0,551; QTHC 0,329.</a:t>
            </a:r>
          </a:p>
        </p:txBody>
      </p:sp>
      <p:sp>
        <p:nvSpPr>
          <p:cNvPr id="22" name="Oval 21"/>
          <p:cNvSpPr/>
          <p:nvPr/>
        </p:nvSpPr>
        <p:spPr>
          <a:xfrm>
            <a:off x="736092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3" name="TextBox 22"/>
          <p:cNvSpPr txBox="1"/>
          <p:nvPr/>
        </p:nvSpPr>
        <p:spPr>
          <a:xfrm>
            <a:off x="7772400" y="476631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SD có r = 0,356</a:t>
            </a:r>
            <a:r>
              <a:rPr sz="1350" b="0" i="0">
                <a:solidFill>
                  <a:srgbClr val="58595B"/>
                </a:solidFill>
                <a:latin typeface="Arial"/>
              </a:rPr>
              <a:t> nhưng hệ số hồi quy không có ý nghĩa: bằng chứng rằng tương quan khác tác động.</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KẾT QUẢ HỒI QUY</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Bốn biến giải thích 53,7% khác biệt về ý định sử dụng; sự hữu ích mạnh nhất, sự dễ sử dụng không có ý nghĩa</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Đọc theo thứ tự: Significance F, rồi R², rồi dấu và P-value từng hệ số, rồi giả định; B cho mức thay đổi, β cho so sánh độ mạnh.</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4.4.1, Bảng 4-7, Hình 4-8 đến 4-12; file 3.Chapter_4_and_Chapter_5_Practice_NH_X.xlsx (dữ liệu giả định), sheet 9_HoiQuy và 10_PhanDu</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84</a:t>
            </a:r>
          </a:p>
        </p:txBody>
      </p:sp>
      <p:graphicFrame>
        <p:nvGraphicFramePr>
          <p:cNvPr id="12" name="Chart 11"/>
          <p:cNvGraphicFramePr>
            <a:graphicFrameLocks noGrp="1"/>
          </p:cNvGraphicFramePr>
          <p:nvPr/>
        </p:nvGraphicFramePr>
        <p:xfrm>
          <a:off x="457200" y="1783080"/>
          <a:ext cx="6583680" cy="3840480"/>
        </p:xfrm>
        <a:graphic>
          <a:graphicData uri="http://schemas.openxmlformats.org/drawingml/2006/chart">
            <c:chart xmlns:c="http://schemas.openxmlformats.org/drawingml/2006/chart" r:id="rId2"/>
          </a:graphicData>
        </a:graphic>
      </p:graphicFrame>
      <p:sp>
        <p:nvSpPr>
          <p:cNvPr id="13" name="TextBox 12"/>
          <p:cNvSpPr txBox="1"/>
          <p:nvPr/>
        </p:nvSpPr>
        <p:spPr>
          <a:xfrm>
            <a:off x="457200" y="1709928"/>
            <a:ext cx="6583680" cy="274320"/>
          </a:xfrm>
          <a:prstGeom prst="rect">
            <a:avLst/>
          </a:prstGeom>
          <a:noFill/>
        </p:spPr>
        <p:txBody>
          <a:bodyPr wrap="square" lIns="45720" rIns="45720" tIns="27432" bIns="27432" anchor="t">
            <a:spAutoFit/>
          </a:bodyPr>
          <a:lstStyle/>
          <a:p>
            <a:pPr algn="l"/>
            <a:r>
              <a:rPr sz="1050" b="1" i="0">
                <a:solidFill>
                  <a:srgbClr val="9E9E9E"/>
                </a:solidFill>
                <a:latin typeface="Arial"/>
              </a:rPr>
              <a:t>HỆ SỐ CHUẨN HÓA β (SD ĐỂ TRẮNG: p = 0,310)</a:t>
            </a:r>
          </a:p>
        </p:txBody>
      </p:sp>
      <p:sp>
        <p:nvSpPr>
          <p:cNvPr id="14" name="TextBox 13"/>
          <p:cNvSpPr txBox="1"/>
          <p:nvPr/>
        </p:nvSpPr>
        <p:spPr>
          <a:xfrm>
            <a:off x="7360920" y="1783080"/>
            <a:ext cx="4370831"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ĐỌC</a:t>
            </a:r>
          </a:p>
        </p:txBody>
      </p:sp>
      <p:cxnSp>
        <p:nvCxnSpPr>
          <p:cNvPr id="15" name="Connector 14"/>
          <p:cNvCxnSpPr/>
          <p:nvPr/>
        </p:nvCxnSpPr>
        <p:spPr>
          <a:xfrm>
            <a:off x="7360920" y="2103120"/>
            <a:ext cx="43708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36092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772400" y="219456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Mô hình:</a:t>
            </a:r>
            <a:r>
              <a:rPr sz="1350" b="0" i="0">
                <a:solidFill>
                  <a:srgbClr val="58595B"/>
                </a:solidFill>
                <a:latin typeface="Arial"/>
              </a:rPr>
              <a:t> F(4; 145) = 42,04; Significance F nhỏ hơn 0,001; R² = 0,537; R² hiệu chỉnh = 0,524.</a:t>
            </a:r>
          </a:p>
        </p:txBody>
      </p:sp>
      <p:sp>
        <p:nvSpPr>
          <p:cNvPr id="18" name="Oval 17"/>
          <p:cNvSpPr/>
          <p:nvPr/>
        </p:nvSpPr>
        <p:spPr>
          <a:xfrm>
            <a:off x="736092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772400" y="305181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B cho mức thay đổi:</a:t>
            </a:r>
            <a:r>
              <a:rPr sz="1350" b="0" i="0">
                <a:solidFill>
                  <a:srgbClr val="58595B"/>
                </a:solidFill>
                <a:latin typeface="Arial"/>
              </a:rPr>
              <a:t> HI tăng 1 điểm thì YD tăng khoảng 0,443 điểm, các biến khác giữ nguyên.</a:t>
            </a:r>
          </a:p>
        </p:txBody>
      </p:sp>
      <p:sp>
        <p:nvSpPr>
          <p:cNvPr id="20" name="Oval 19"/>
          <p:cNvSpPr/>
          <p:nvPr/>
        </p:nvSpPr>
        <p:spPr>
          <a:xfrm>
            <a:off x="736092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772400" y="390906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β để so độ mạnh</a:t>
            </a:r>
            <a:r>
              <a:rPr sz="1350" b="0" i="0">
                <a:solidFill>
                  <a:srgbClr val="58595B"/>
                </a:solidFill>
                <a:latin typeface="Arial"/>
              </a:rPr>
              <a:t> vì đưa mọi biến về cùng thang độ lệch chuẩn.</a:t>
            </a:r>
          </a:p>
        </p:txBody>
      </p:sp>
      <p:sp>
        <p:nvSpPr>
          <p:cNvPr id="22" name="Oval 21"/>
          <p:cNvSpPr/>
          <p:nvPr/>
        </p:nvSpPr>
        <p:spPr>
          <a:xfrm>
            <a:off x="736092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3" name="TextBox 22"/>
          <p:cNvSpPr txBox="1"/>
          <p:nvPr/>
        </p:nvSpPr>
        <p:spPr>
          <a:xfrm>
            <a:off x="7772400" y="476631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Giả định:</a:t>
            </a:r>
            <a:r>
              <a:rPr sz="1350" b="0" i="0">
                <a:solidFill>
                  <a:srgbClr val="58595B"/>
                </a:solidFill>
                <a:latin typeface="Arial"/>
              </a:rPr>
              <a:t> VIF 1,19 đến 1,24; phần dư chuẩn hóa lớn nhất 2,65; hệ số bất đối xứng 0,05.</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BA LOẠI BẰNG CHỨNG</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Báo cáo ba loại bằng chứng: P-value nói có ngẫu nhiên hay không, khoảng tin cậy và độ lớn tác động nói mạnh đến đâu</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"Có ý nghĩa thống kê" chưa phải là "quan trọng về thực tiễn"; chỉ nói ý nghĩa mà không nói độ lớn là lỗi số 5 của Chương 4.</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4.4.1, Hình 4-11 và Bảng 4-16; Creswell và Creswell (2018, tr. 220); file 3.Chapter_4_and_Chapter_5_Practice_NH_X.xlsx (dữ liệu giả định), sheet 9_HoiQuy</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85</a:t>
            </a:r>
          </a:p>
        </p:txBody>
      </p:sp>
      <p:sp>
        <p:nvSpPr>
          <p:cNvPr id="12" name="Rectangle 11"/>
          <p:cNvSpPr/>
          <p:nvPr/>
        </p:nvSpPr>
        <p:spPr>
          <a:xfrm>
            <a:off x="402336" y="2602611"/>
            <a:ext cx="6144768" cy="220141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68_new.png"/>
          <p:cNvPicPr>
            <a:picLocks noChangeAspect="1"/>
          </p:cNvPicPr>
          <p:nvPr/>
        </p:nvPicPr>
        <p:blipFill>
          <a:blip r:embed="rId2"/>
          <a:stretch>
            <a:fillRect/>
          </a:stretch>
        </p:blipFill>
        <p:spPr>
          <a:xfrm>
            <a:off x="457200" y="2657475"/>
            <a:ext cx="6035040" cy="2091690"/>
          </a:xfrm>
          <a:prstGeom prst="rect">
            <a:avLst/>
          </a:prstGeom>
        </p:spPr>
      </p:pic>
      <p:sp>
        <p:nvSpPr>
          <p:cNvPr id="14" name="TextBox 13"/>
          <p:cNvSpPr txBox="1"/>
          <p:nvPr/>
        </p:nvSpPr>
        <p:spPr>
          <a:xfrm>
            <a:off x="6812279" y="1783080"/>
            <a:ext cx="4919472" cy="274320"/>
          </a:xfrm>
          <a:prstGeom prst="rect">
            <a:avLst/>
          </a:prstGeom>
          <a:noFill/>
        </p:spPr>
        <p:txBody>
          <a:bodyPr wrap="square" lIns="45720" rIns="45720" tIns="27432" bIns="27432" anchor="t">
            <a:spAutoFit/>
          </a:bodyPr>
          <a:lstStyle/>
          <a:p>
            <a:pPr algn="l"/>
            <a:r>
              <a:rPr sz="1000" b="1" i="0">
                <a:solidFill>
                  <a:srgbClr val="CC0000"/>
                </a:solidFill>
                <a:latin typeface="Arial"/>
              </a:rPr>
              <a:t>ĐỌC CÙNG MỘT LÚC</a:t>
            </a:r>
          </a:p>
        </p:txBody>
      </p:sp>
      <p:cxnSp>
        <p:nvCxnSpPr>
          <p:cNvPr id="15" name="Connector 14"/>
          <p:cNvCxnSpPr/>
          <p:nvPr/>
        </p:nvCxnSpPr>
        <p:spPr>
          <a:xfrm>
            <a:off x="6812279" y="2103120"/>
            <a:ext cx="4919473"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812279"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223759" y="219456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Kiểm định ý nghĩa:</a:t>
            </a:r>
            <a:r>
              <a:rPr sz="1350" b="0" i="0">
                <a:solidFill>
                  <a:srgbClr val="58595B"/>
                </a:solidFill>
                <a:latin typeface="Arial"/>
              </a:rPr>
              <a:t> P-value chỉ cho biết kết quả có khó xảy ra do ngẫu nhiên hay không.</a:t>
            </a:r>
          </a:p>
        </p:txBody>
      </p:sp>
      <p:sp>
        <p:nvSpPr>
          <p:cNvPr id="18" name="Oval 17"/>
          <p:cNvSpPr/>
          <p:nvPr/>
        </p:nvSpPr>
        <p:spPr>
          <a:xfrm>
            <a:off x="6812279"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223759" y="305181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Khoảng tin cậy 95% của B:</a:t>
            </a:r>
            <a:r>
              <a:rPr sz="1350" b="0" i="0">
                <a:solidFill>
                  <a:srgbClr val="58595B"/>
                </a:solidFill>
                <a:latin typeface="Arial"/>
              </a:rPr>
              <a:t> HI từ 0,303 đến 0,583; SD từ -0,063 đến 0,197, chứa số 0.</a:t>
            </a:r>
          </a:p>
        </p:txBody>
      </p:sp>
      <p:sp>
        <p:nvSpPr>
          <p:cNvPr id="20" name="Oval 19"/>
          <p:cNvSpPr/>
          <p:nvPr/>
        </p:nvSpPr>
        <p:spPr>
          <a:xfrm>
            <a:off x="6812279"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223759" y="390906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Độ lớn tác động:</a:t>
            </a:r>
            <a:r>
              <a:rPr sz="1350" b="0" i="0">
                <a:solidFill>
                  <a:srgbClr val="58595B"/>
                </a:solidFill>
                <a:latin typeface="Arial"/>
              </a:rPr>
              <a:t> đọc từ β và R²; QTHC của Trường Y có khoảng 0,037 đến 0,311, tác động có thật nhưng có thể khá nhỏ.</a:t>
            </a:r>
          </a:p>
        </p:txBody>
      </p:sp>
      <p:sp>
        <p:nvSpPr>
          <p:cNvPr id="22" name="Oval 21"/>
          <p:cNvSpPr/>
          <p:nvPr/>
        </p:nvSpPr>
        <p:spPr>
          <a:xfrm>
            <a:off x="6812279"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3" name="TextBox 22"/>
          <p:cNvSpPr txBox="1"/>
          <p:nvPr/>
        </p:nvSpPr>
        <p:spPr>
          <a:xfrm>
            <a:off x="7223759" y="476631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Mẫu lớn</a:t>
            </a:r>
            <a:r>
              <a:rPr sz="1350" b="0" i="0">
                <a:solidFill>
                  <a:srgbClr val="58595B"/>
                </a:solidFill>
                <a:latin typeface="Arial"/>
              </a:rPr>
              <a:t> làm hệ số rất nhỏ vẫn có P-value nhỏ; vì vậy luôn đọc P-value cùng độ lớn hệ số.</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KIỂM ĐỊNH GIẢ THUYẾT</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Giả thuyết được ủng hộ khi thỏa đồng thời hai điều kiện: đúng dấu dự đoán và P-value nhỏ hơn 0,05</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Với giả thuyết không được ủng hộ: kết luận trung thực, không viết lại giả thuyết cho khớp và hẹn giải thích ở mục 4.5.3.</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4.4.2, Hình 4-13, Bảng 4-8 và 4-9; file 3.Chapter_4_and_Chapter_5_Practice_NH_X.xlsx (dữ liệu giả định); file 3.Chapter_4_and_Chapter_5_Practice_Truong_Y.xlsx (dữ liệu giả định), sheet 9_HoiQuy</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86</a:t>
            </a:r>
          </a:p>
        </p:txBody>
      </p:sp>
      <p:graphicFrame>
        <p:nvGraphicFramePr>
          <p:cNvPr id="11" name="Table 10"/>
          <p:cNvGraphicFramePr>
            <a:graphicFrameLocks noGrp="1"/>
          </p:cNvGraphicFramePr>
          <p:nvPr/>
        </p:nvGraphicFramePr>
        <p:xfrm>
          <a:off x="457200" y="1783080"/>
          <a:ext cx="7863836" cy="3419856"/>
        </p:xfrm>
        <a:graphic>
          <a:graphicData uri="http://schemas.openxmlformats.org/drawingml/2006/table">
            <a:tbl>
              <a:tblPr firstRow="1" bandRow="1">
                <a:tableStyleId>{5C22544A-7EE6-4342-B048-85BDC9FD1C3A}</a:tableStyleId>
              </a:tblPr>
              <a:tblGrid>
                <a:gridCol w="761016"/>
                <a:gridCol w="2959509"/>
                <a:gridCol w="761016"/>
                <a:gridCol w="761016"/>
                <a:gridCol w="930131"/>
                <a:gridCol w="1691148"/>
              </a:tblGrid>
              <a:tr h="411480">
                <a:tc>
                  <a:txBody>
                    <a:bodyPr wrap="square"/>
                    <a:lstStyle/>
                    <a:p>
                      <a:pPr algn="l"/>
                      <a:r>
                        <a:rPr sz="1200" b="1">
                          <a:solidFill>
                            <a:srgbClr val="FFFFFF"/>
                          </a:solidFill>
                          <a:latin typeface="Arial"/>
                        </a:rPr>
                        <a:t>Mã</a:t>
                      </a:r>
                    </a:p>
                  </a:txBody>
                  <a:tcPr marL="73152" marR="73152" marT="27432" marB="27432" anchor="ctr">
                    <a:solidFill>
                      <a:srgbClr val="262626"/>
                    </a:solidFill>
                  </a:tcPr>
                </a:tc>
                <a:tc>
                  <a:txBody>
                    <a:bodyPr wrap="square"/>
                    <a:lstStyle/>
                    <a:p>
                      <a:pPr algn="ctr"/>
                      <a:r>
                        <a:rPr sz="1200" b="1">
                          <a:solidFill>
                            <a:srgbClr val="FFFFFF"/>
                          </a:solidFill>
                          <a:latin typeface="Arial"/>
                        </a:rPr>
                        <a:t>Quan hệ</a:t>
                      </a:r>
                    </a:p>
                  </a:txBody>
                  <a:tcPr marL="73152" marR="73152" marT="27432" marB="27432" anchor="ctr">
                    <a:solidFill>
                      <a:srgbClr val="262626"/>
                    </a:solidFill>
                  </a:tcPr>
                </a:tc>
                <a:tc>
                  <a:txBody>
                    <a:bodyPr wrap="square"/>
                    <a:lstStyle/>
                    <a:p>
                      <a:pPr algn="ctr"/>
                      <a:r>
                        <a:rPr sz="1200" b="1">
                          <a:solidFill>
                            <a:srgbClr val="FFFFFF"/>
                          </a:solidFill>
                          <a:latin typeface="Arial"/>
                        </a:rPr>
                        <a:t>B</a:t>
                      </a:r>
                    </a:p>
                  </a:txBody>
                  <a:tcPr marL="73152" marR="73152" marT="27432" marB="27432" anchor="ctr">
                    <a:solidFill>
                      <a:srgbClr val="262626"/>
                    </a:solidFill>
                  </a:tcPr>
                </a:tc>
                <a:tc>
                  <a:txBody>
                    <a:bodyPr wrap="square"/>
                    <a:lstStyle/>
                    <a:p>
                      <a:pPr algn="ctr"/>
                      <a:r>
                        <a:rPr sz="1200" b="1">
                          <a:solidFill>
                            <a:srgbClr val="FFFFFF"/>
                          </a:solidFill>
                          <a:latin typeface="Arial"/>
                        </a:rPr>
                        <a:t>β</a:t>
                      </a:r>
                    </a:p>
                  </a:txBody>
                  <a:tcPr marL="73152" marR="73152" marT="27432" marB="27432" anchor="ctr">
                    <a:solidFill>
                      <a:srgbClr val="262626"/>
                    </a:solidFill>
                  </a:tcPr>
                </a:tc>
                <a:tc>
                  <a:txBody>
                    <a:bodyPr wrap="square"/>
                    <a:lstStyle/>
                    <a:p>
                      <a:pPr algn="ctr"/>
                      <a:r>
                        <a:rPr sz="1200" b="1">
                          <a:solidFill>
                            <a:srgbClr val="FFFFFF"/>
                          </a:solidFill>
                          <a:latin typeface="Arial"/>
                        </a:rPr>
                        <a:t>P-value</a:t>
                      </a:r>
                    </a:p>
                  </a:txBody>
                  <a:tcPr marL="73152" marR="73152" marT="27432" marB="27432" anchor="ctr">
                    <a:solidFill>
                      <a:srgbClr val="262626"/>
                    </a:solidFill>
                  </a:tcPr>
                </a:tc>
                <a:tc>
                  <a:txBody>
                    <a:bodyPr wrap="square"/>
                    <a:lstStyle/>
                    <a:p>
                      <a:pPr algn="ctr"/>
                      <a:r>
                        <a:rPr sz="1200" b="1">
                          <a:solidFill>
                            <a:srgbClr val="FFFFFF"/>
                          </a:solidFill>
                          <a:latin typeface="Arial"/>
                        </a:rPr>
                        <a:t>Kết luận</a:t>
                      </a:r>
                    </a:p>
                  </a:txBody>
                  <a:tcPr marL="73152" marR="73152" marT="27432" marB="27432" anchor="ctr">
                    <a:solidFill>
                      <a:srgbClr val="262626"/>
                    </a:solidFill>
                  </a:tcPr>
                </a:tc>
              </a:tr>
              <a:tr h="429768">
                <a:tc>
                  <a:txBody>
                    <a:bodyPr wrap="square"/>
                    <a:lstStyle/>
                    <a:p>
                      <a:pPr algn="l"/>
                      <a:r>
                        <a:rPr sz="1200" b="0">
                          <a:solidFill>
                            <a:srgbClr val="262626"/>
                          </a:solidFill>
                          <a:latin typeface="Arial"/>
                        </a:rPr>
                        <a:t>H1</a:t>
                      </a:r>
                    </a:p>
                  </a:txBody>
                  <a:tcPr marL="73152" marR="73152" marT="27432" marB="27432" anchor="ctr">
                    <a:solidFill>
                      <a:srgbClr val="FFFFFF"/>
                    </a:solidFill>
                  </a:tcPr>
                </a:tc>
                <a:tc>
                  <a:txBody>
                    <a:bodyPr wrap="square"/>
                    <a:lstStyle/>
                    <a:p>
                      <a:pPr algn="ctr"/>
                      <a:r>
                        <a:rPr sz="1200" b="0">
                          <a:solidFill>
                            <a:srgbClr val="262626"/>
                          </a:solidFill>
                          <a:latin typeface="Arial"/>
                        </a:rPr>
                        <a:t>Sự hữu ích → Ý định sử dụng</a:t>
                      </a:r>
                    </a:p>
                  </a:txBody>
                  <a:tcPr marL="73152" marR="73152" marT="27432" marB="27432" anchor="ctr">
                    <a:solidFill>
                      <a:srgbClr val="FFFFFF"/>
                    </a:solidFill>
                  </a:tcPr>
                </a:tc>
                <a:tc>
                  <a:txBody>
                    <a:bodyPr wrap="square"/>
                    <a:lstStyle/>
                    <a:p>
                      <a:pPr algn="ctr"/>
                      <a:r>
                        <a:rPr sz="1200" b="0">
                          <a:solidFill>
                            <a:srgbClr val="262626"/>
                          </a:solidFill>
                          <a:latin typeface="Arial"/>
                        </a:rPr>
                        <a:t>0,443</a:t>
                      </a:r>
                    </a:p>
                  </a:txBody>
                  <a:tcPr marL="73152" marR="73152" marT="27432" marB="27432" anchor="ctr">
                    <a:solidFill>
                      <a:srgbClr val="FFFFFF"/>
                    </a:solidFill>
                  </a:tcPr>
                </a:tc>
                <a:tc>
                  <a:txBody>
                    <a:bodyPr wrap="square"/>
                    <a:lstStyle/>
                    <a:p>
                      <a:pPr algn="ctr"/>
                      <a:r>
                        <a:rPr sz="1200" b="0">
                          <a:solidFill>
                            <a:srgbClr val="262626"/>
                          </a:solidFill>
                          <a:latin typeface="Arial"/>
                        </a:rPr>
                        <a:t>0,394</a:t>
                      </a:r>
                    </a:p>
                  </a:txBody>
                  <a:tcPr marL="73152" marR="73152" marT="27432" marB="27432" anchor="ctr">
                    <a:solidFill>
                      <a:srgbClr val="FFFFFF"/>
                    </a:solidFill>
                  </a:tcPr>
                </a:tc>
                <a:tc>
                  <a:txBody>
                    <a:bodyPr wrap="square"/>
                    <a:lstStyle/>
                    <a:p>
                      <a:pPr algn="ctr"/>
                      <a:r>
                        <a:rPr sz="1200" b="0">
                          <a:solidFill>
                            <a:srgbClr val="262626"/>
                          </a:solidFill>
                          <a:latin typeface="Arial"/>
                        </a:rPr>
                        <a:t>&lt; 0,001</a:t>
                      </a:r>
                    </a:p>
                  </a:txBody>
                  <a:tcPr marL="73152" marR="73152" marT="27432" marB="27432" anchor="ctr">
                    <a:solidFill>
                      <a:srgbClr val="FFFFFF"/>
                    </a:solidFill>
                  </a:tcPr>
                </a:tc>
                <a:tc>
                  <a:txBody>
                    <a:bodyPr wrap="square"/>
                    <a:lstStyle/>
                    <a:p>
                      <a:pPr algn="ctr"/>
                      <a:r>
                        <a:rPr sz="1200" b="0">
                          <a:solidFill>
                            <a:srgbClr val="262626"/>
                          </a:solidFill>
                          <a:latin typeface="Arial"/>
                        </a:rPr>
                        <a:t>Được ủng hộ</a:t>
                      </a:r>
                    </a:p>
                  </a:txBody>
                  <a:tcPr marL="73152" marR="73152" marT="27432" marB="27432" anchor="ctr">
                    <a:solidFill>
                      <a:srgbClr val="FFFFFF"/>
                    </a:solidFill>
                  </a:tcPr>
                </a:tc>
              </a:tr>
              <a:tr h="429768">
                <a:tc>
                  <a:txBody>
                    <a:bodyPr wrap="square"/>
                    <a:lstStyle/>
                    <a:p>
                      <a:pPr algn="l"/>
                      <a:r>
                        <a:rPr sz="1200" b="0">
                          <a:solidFill>
                            <a:srgbClr val="262626"/>
                          </a:solidFill>
                          <a:latin typeface="Arial"/>
                        </a:rPr>
                        <a:t>H2</a:t>
                      </a:r>
                    </a:p>
                  </a:txBody>
                  <a:tcPr marL="73152" marR="73152" marT="27432" marB="27432" anchor="ctr">
                    <a:solidFill>
                      <a:srgbClr val="FBEAEA"/>
                    </a:solidFill>
                  </a:tcPr>
                </a:tc>
                <a:tc>
                  <a:txBody>
                    <a:bodyPr wrap="square"/>
                    <a:lstStyle/>
                    <a:p>
                      <a:pPr algn="ctr"/>
                      <a:r>
                        <a:rPr sz="1200" b="0">
                          <a:solidFill>
                            <a:srgbClr val="262626"/>
                          </a:solidFill>
                          <a:latin typeface="Arial"/>
                        </a:rPr>
                        <a:t>Sự dễ sử dụng → Ý định sử dụng</a:t>
                      </a:r>
                    </a:p>
                  </a:txBody>
                  <a:tcPr marL="73152" marR="73152" marT="27432" marB="27432" anchor="ctr">
                    <a:solidFill>
                      <a:srgbClr val="FBEAEA"/>
                    </a:solidFill>
                  </a:tcPr>
                </a:tc>
                <a:tc>
                  <a:txBody>
                    <a:bodyPr wrap="square"/>
                    <a:lstStyle/>
                    <a:p>
                      <a:pPr algn="ctr"/>
                      <a:r>
                        <a:rPr sz="1200" b="0">
                          <a:solidFill>
                            <a:srgbClr val="262626"/>
                          </a:solidFill>
                          <a:latin typeface="Arial"/>
                        </a:rPr>
                        <a:t>0,067</a:t>
                      </a:r>
                    </a:p>
                  </a:txBody>
                  <a:tcPr marL="73152" marR="73152" marT="27432" marB="27432" anchor="ctr">
                    <a:solidFill>
                      <a:srgbClr val="FBEAEA"/>
                    </a:solidFill>
                  </a:tcPr>
                </a:tc>
                <a:tc>
                  <a:txBody>
                    <a:bodyPr wrap="square"/>
                    <a:lstStyle/>
                    <a:p>
                      <a:pPr algn="ctr"/>
                      <a:r>
                        <a:rPr sz="1200" b="0">
                          <a:solidFill>
                            <a:srgbClr val="262626"/>
                          </a:solidFill>
                          <a:latin typeface="Arial"/>
                        </a:rPr>
                        <a:t>0,064</a:t>
                      </a:r>
                    </a:p>
                  </a:txBody>
                  <a:tcPr marL="73152" marR="73152" marT="27432" marB="27432" anchor="ctr">
                    <a:solidFill>
                      <a:srgbClr val="FBEAEA"/>
                    </a:solidFill>
                  </a:tcPr>
                </a:tc>
                <a:tc>
                  <a:txBody>
                    <a:bodyPr wrap="square"/>
                    <a:lstStyle/>
                    <a:p>
                      <a:pPr algn="ctr"/>
                      <a:r>
                        <a:rPr sz="1200" b="0">
                          <a:solidFill>
                            <a:srgbClr val="262626"/>
                          </a:solidFill>
                          <a:latin typeface="Arial"/>
                        </a:rPr>
                        <a:t>0,310</a:t>
                      </a:r>
                    </a:p>
                  </a:txBody>
                  <a:tcPr marL="73152" marR="73152" marT="27432" marB="27432" anchor="ctr">
                    <a:solidFill>
                      <a:srgbClr val="FBEAEA"/>
                    </a:solidFill>
                  </a:tcPr>
                </a:tc>
                <a:tc>
                  <a:txBody>
                    <a:bodyPr wrap="square"/>
                    <a:lstStyle/>
                    <a:p>
                      <a:pPr algn="ctr"/>
                      <a:r>
                        <a:rPr sz="1200" b="1">
                          <a:solidFill>
                            <a:srgbClr val="262626"/>
                          </a:solidFill>
                          <a:latin typeface="Arial"/>
                        </a:rPr>
                        <a:t>Không được ủng hộ</a:t>
                      </a:r>
                    </a:p>
                  </a:txBody>
                  <a:tcPr marL="73152" marR="73152" marT="27432" marB="27432" anchor="ctr">
                    <a:solidFill>
                      <a:srgbClr val="FBEAEA"/>
                    </a:solidFill>
                  </a:tcPr>
                </a:tc>
              </a:tr>
              <a:tr h="429768">
                <a:tc>
                  <a:txBody>
                    <a:bodyPr wrap="square"/>
                    <a:lstStyle/>
                    <a:p>
                      <a:pPr algn="l"/>
                      <a:r>
                        <a:rPr sz="1200" b="0">
                          <a:solidFill>
                            <a:srgbClr val="262626"/>
                          </a:solidFill>
                          <a:latin typeface="Arial"/>
                        </a:rPr>
                        <a:t>H3</a:t>
                      </a:r>
                    </a:p>
                  </a:txBody>
                  <a:tcPr marL="73152" marR="73152" marT="27432" marB="27432" anchor="ctr">
                    <a:solidFill>
                      <a:srgbClr val="FFFFFF"/>
                    </a:solidFill>
                  </a:tcPr>
                </a:tc>
                <a:tc>
                  <a:txBody>
                    <a:bodyPr wrap="square"/>
                    <a:lstStyle/>
                    <a:p>
                      <a:pPr algn="ctr"/>
                      <a:r>
                        <a:rPr sz="1200" b="0">
                          <a:solidFill>
                            <a:srgbClr val="262626"/>
                          </a:solidFill>
                          <a:latin typeface="Arial"/>
                        </a:rPr>
                        <a:t>Niềm tin → Ý định sử dụng</a:t>
                      </a:r>
                    </a:p>
                  </a:txBody>
                  <a:tcPr marL="73152" marR="73152" marT="27432" marB="27432" anchor="ctr">
                    <a:solidFill>
                      <a:srgbClr val="FFFFFF"/>
                    </a:solidFill>
                  </a:tcPr>
                </a:tc>
                <a:tc>
                  <a:txBody>
                    <a:bodyPr wrap="square"/>
                    <a:lstStyle/>
                    <a:p>
                      <a:pPr algn="ctr"/>
                      <a:r>
                        <a:rPr sz="1200" b="0">
                          <a:solidFill>
                            <a:srgbClr val="262626"/>
                          </a:solidFill>
                          <a:latin typeface="Arial"/>
                        </a:rPr>
                        <a:t>0,327</a:t>
                      </a:r>
                    </a:p>
                  </a:txBody>
                  <a:tcPr marL="73152" marR="73152" marT="27432" marB="27432" anchor="ctr">
                    <a:solidFill>
                      <a:srgbClr val="FFFFFF"/>
                    </a:solidFill>
                  </a:tcPr>
                </a:tc>
                <a:tc>
                  <a:txBody>
                    <a:bodyPr wrap="square"/>
                    <a:lstStyle/>
                    <a:p>
                      <a:pPr algn="ctr"/>
                      <a:r>
                        <a:rPr sz="1200" b="0">
                          <a:solidFill>
                            <a:srgbClr val="262626"/>
                          </a:solidFill>
                          <a:latin typeface="Arial"/>
                        </a:rPr>
                        <a:t>0,328</a:t>
                      </a:r>
                    </a:p>
                  </a:txBody>
                  <a:tcPr marL="73152" marR="73152" marT="27432" marB="27432" anchor="ctr">
                    <a:solidFill>
                      <a:srgbClr val="FFFFFF"/>
                    </a:solidFill>
                  </a:tcPr>
                </a:tc>
                <a:tc>
                  <a:txBody>
                    <a:bodyPr wrap="square"/>
                    <a:lstStyle/>
                    <a:p>
                      <a:pPr algn="ctr"/>
                      <a:r>
                        <a:rPr sz="1200" b="0">
                          <a:solidFill>
                            <a:srgbClr val="262626"/>
                          </a:solidFill>
                          <a:latin typeface="Arial"/>
                        </a:rPr>
                        <a:t>&lt; 0,001</a:t>
                      </a:r>
                    </a:p>
                  </a:txBody>
                  <a:tcPr marL="73152" marR="73152" marT="27432" marB="27432" anchor="ctr">
                    <a:solidFill>
                      <a:srgbClr val="FFFFFF"/>
                    </a:solidFill>
                  </a:tcPr>
                </a:tc>
                <a:tc>
                  <a:txBody>
                    <a:bodyPr wrap="square"/>
                    <a:lstStyle/>
                    <a:p>
                      <a:pPr algn="ctr"/>
                      <a:r>
                        <a:rPr sz="1200" b="0">
                          <a:solidFill>
                            <a:srgbClr val="262626"/>
                          </a:solidFill>
                          <a:latin typeface="Arial"/>
                        </a:rPr>
                        <a:t>Được ủng hộ</a:t>
                      </a:r>
                    </a:p>
                  </a:txBody>
                  <a:tcPr marL="73152" marR="73152" marT="27432" marB="27432" anchor="ctr">
                    <a:solidFill>
                      <a:srgbClr val="FFFFFF"/>
                    </a:solidFill>
                  </a:tcPr>
                </a:tc>
              </a:tr>
              <a:tr h="429768">
                <a:tc>
                  <a:txBody>
                    <a:bodyPr wrap="square"/>
                    <a:lstStyle/>
                    <a:p>
                      <a:pPr algn="l"/>
                      <a:r>
                        <a:rPr sz="1200" b="0">
                          <a:solidFill>
                            <a:srgbClr val="262626"/>
                          </a:solidFill>
                          <a:latin typeface="Arial"/>
                        </a:rPr>
                        <a:t>H4</a:t>
                      </a:r>
                    </a:p>
                  </a:txBody>
                  <a:tcPr marL="73152" marR="73152" marT="27432" marB="27432" anchor="ctr">
                    <a:solidFill>
                      <a:srgbClr val="F3F3F3"/>
                    </a:solidFill>
                  </a:tcPr>
                </a:tc>
                <a:tc>
                  <a:txBody>
                    <a:bodyPr wrap="square"/>
                    <a:lstStyle/>
                    <a:p>
                      <a:pPr algn="ctr"/>
                      <a:r>
                        <a:rPr sz="1200" b="0">
                          <a:solidFill>
                            <a:srgbClr val="262626"/>
                          </a:solidFill>
                          <a:latin typeface="Arial"/>
                        </a:rPr>
                        <a:t>Ảnh hưởng xã hội → Ý định sử dụng</a:t>
                      </a:r>
                    </a:p>
                  </a:txBody>
                  <a:tcPr marL="73152" marR="73152" marT="27432" marB="27432" anchor="ctr">
                    <a:solidFill>
                      <a:srgbClr val="F3F3F3"/>
                    </a:solidFill>
                  </a:tcPr>
                </a:tc>
                <a:tc>
                  <a:txBody>
                    <a:bodyPr wrap="square"/>
                    <a:lstStyle/>
                    <a:p>
                      <a:pPr algn="ctr"/>
                      <a:r>
                        <a:rPr sz="1200" b="0">
                          <a:solidFill>
                            <a:srgbClr val="262626"/>
                          </a:solidFill>
                          <a:latin typeface="Arial"/>
                        </a:rPr>
                        <a:t>0,235</a:t>
                      </a:r>
                    </a:p>
                  </a:txBody>
                  <a:tcPr marL="73152" marR="73152" marT="27432" marB="27432" anchor="ctr">
                    <a:solidFill>
                      <a:srgbClr val="F3F3F3"/>
                    </a:solidFill>
                  </a:tcPr>
                </a:tc>
                <a:tc>
                  <a:txBody>
                    <a:bodyPr wrap="square"/>
                    <a:lstStyle/>
                    <a:p>
                      <a:pPr algn="ctr"/>
                      <a:r>
                        <a:rPr sz="1200" b="0">
                          <a:solidFill>
                            <a:srgbClr val="262626"/>
                          </a:solidFill>
                          <a:latin typeface="Arial"/>
                        </a:rPr>
                        <a:t>0,227</a:t>
                      </a:r>
                    </a:p>
                  </a:txBody>
                  <a:tcPr marL="73152" marR="73152" marT="27432" marB="27432" anchor="ctr">
                    <a:solidFill>
                      <a:srgbClr val="F3F3F3"/>
                    </a:solidFill>
                  </a:tcPr>
                </a:tc>
                <a:tc>
                  <a:txBody>
                    <a:bodyPr wrap="square"/>
                    <a:lstStyle/>
                    <a:p>
                      <a:pPr algn="ctr"/>
                      <a:r>
                        <a:rPr sz="1200" b="0">
                          <a:solidFill>
                            <a:srgbClr val="262626"/>
                          </a:solidFill>
                          <a:latin typeface="Arial"/>
                        </a:rPr>
                        <a:t>&lt; 0,001</a:t>
                      </a:r>
                    </a:p>
                  </a:txBody>
                  <a:tcPr marL="73152" marR="73152" marT="27432" marB="27432" anchor="ctr">
                    <a:solidFill>
                      <a:srgbClr val="F3F3F3"/>
                    </a:solidFill>
                  </a:tcPr>
                </a:tc>
                <a:tc>
                  <a:txBody>
                    <a:bodyPr wrap="square"/>
                    <a:lstStyle/>
                    <a:p>
                      <a:pPr algn="ctr"/>
                      <a:r>
                        <a:rPr sz="1200" b="0">
                          <a:solidFill>
                            <a:srgbClr val="262626"/>
                          </a:solidFill>
                          <a:latin typeface="Arial"/>
                        </a:rPr>
                        <a:t>Được ủng hộ</a:t>
                      </a:r>
                    </a:p>
                  </a:txBody>
                  <a:tcPr marL="73152" marR="73152" marT="27432" marB="27432" anchor="ctr">
                    <a:solidFill>
                      <a:srgbClr val="F3F3F3"/>
                    </a:solidFill>
                  </a:tcPr>
                </a:tc>
              </a:tr>
              <a:tr h="429768">
                <a:tc>
                  <a:txBody>
                    <a:bodyPr wrap="square"/>
                    <a:lstStyle/>
                    <a:p>
                      <a:pPr algn="l"/>
                      <a:r>
                        <a:rPr sz="1200" b="0">
                          <a:solidFill>
                            <a:srgbClr val="262626"/>
                          </a:solidFill>
                          <a:latin typeface="Arial"/>
                        </a:rPr>
                        <a:t>H1 (Y)</a:t>
                      </a:r>
                    </a:p>
                  </a:txBody>
                  <a:tcPr marL="73152" marR="73152" marT="27432" marB="27432" anchor="ctr">
                    <a:solidFill>
                      <a:srgbClr val="FFFFFF"/>
                    </a:solidFill>
                  </a:tcPr>
                </a:tc>
                <a:tc>
                  <a:txBody>
                    <a:bodyPr wrap="square"/>
                    <a:lstStyle/>
                    <a:p>
                      <a:pPr algn="ctr"/>
                      <a:r>
                        <a:rPr sz="1200" b="0">
                          <a:solidFill>
                            <a:srgbClr val="262626"/>
                          </a:solidFill>
                          <a:latin typeface="Arial"/>
                        </a:rPr>
                        <a:t>Cơ sở vật chất → Sự hài lòng</a:t>
                      </a:r>
                    </a:p>
                  </a:txBody>
                  <a:tcPr marL="73152" marR="73152" marT="27432" marB="27432" anchor="ctr">
                    <a:solidFill>
                      <a:srgbClr val="FFFFFF"/>
                    </a:solidFill>
                  </a:tcPr>
                </a:tc>
                <a:tc>
                  <a:txBody>
                    <a:bodyPr wrap="square"/>
                    <a:lstStyle/>
                    <a:p>
                      <a:pPr algn="ctr"/>
                      <a:r>
                        <a:rPr sz="1200" b="0">
                          <a:solidFill>
                            <a:srgbClr val="262626"/>
                          </a:solidFill>
                          <a:latin typeface="Arial"/>
                        </a:rPr>
                        <a:t>0,376</a:t>
                      </a:r>
                    </a:p>
                  </a:txBody>
                  <a:tcPr marL="73152" marR="73152" marT="27432" marB="27432" anchor="ctr">
                    <a:solidFill>
                      <a:srgbClr val="FFFFFF"/>
                    </a:solidFill>
                  </a:tcPr>
                </a:tc>
                <a:tc>
                  <a:txBody>
                    <a:bodyPr wrap="square"/>
                    <a:lstStyle/>
                    <a:p>
                      <a:pPr algn="ctr"/>
                      <a:r>
                        <a:rPr sz="1200" b="0">
                          <a:solidFill>
                            <a:srgbClr val="262626"/>
                          </a:solidFill>
                          <a:latin typeface="Arial"/>
                        </a:rPr>
                        <a:t>0,351</a:t>
                      </a:r>
                    </a:p>
                  </a:txBody>
                  <a:tcPr marL="73152" marR="73152" marT="27432" marB="27432" anchor="ctr">
                    <a:solidFill>
                      <a:srgbClr val="FFFFFF"/>
                    </a:solidFill>
                  </a:tcPr>
                </a:tc>
                <a:tc>
                  <a:txBody>
                    <a:bodyPr wrap="square"/>
                    <a:lstStyle/>
                    <a:p>
                      <a:pPr algn="ctr"/>
                      <a:r>
                        <a:rPr sz="1200" b="0">
                          <a:solidFill>
                            <a:srgbClr val="262626"/>
                          </a:solidFill>
                          <a:latin typeface="Arial"/>
                        </a:rPr>
                        <a:t>&lt; 0,001</a:t>
                      </a:r>
                    </a:p>
                  </a:txBody>
                  <a:tcPr marL="73152" marR="73152" marT="27432" marB="27432" anchor="ctr">
                    <a:solidFill>
                      <a:srgbClr val="FFFFFF"/>
                    </a:solidFill>
                  </a:tcPr>
                </a:tc>
                <a:tc>
                  <a:txBody>
                    <a:bodyPr wrap="square"/>
                    <a:lstStyle/>
                    <a:p>
                      <a:pPr algn="ctr"/>
                      <a:r>
                        <a:rPr sz="1200" b="0">
                          <a:solidFill>
                            <a:srgbClr val="262626"/>
                          </a:solidFill>
                          <a:latin typeface="Arial"/>
                        </a:rPr>
                        <a:t>Được ủng hộ</a:t>
                      </a:r>
                    </a:p>
                  </a:txBody>
                  <a:tcPr marL="73152" marR="73152" marT="27432" marB="27432" anchor="ctr">
                    <a:solidFill>
                      <a:srgbClr val="FFFFFF"/>
                    </a:solidFill>
                  </a:tcPr>
                </a:tc>
              </a:tr>
              <a:tr h="429768">
                <a:tc>
                  <a:txBody>
                    <a:bodyPr wrap="square"/>
                    <a:lstStyle/>
                    <a:p>
                      <a:pPr algn="l"/>
                      <a:r>
                        <a:rPr sz="1200" b="0">
                          <a:solidFill>
                            <a:srgbClr val="262626"/>
                          </a:solidFill>
                          <a:latin typeface="Arial"/>
                        </a:rPr>
                        <a:t>H2 (Y)</a:t>
                      </a:r>
                    </a:p>
                  </a:txBody>
                  <a:tcPr marL="73152" marR="73152" marT="27432" marB="27432" anchor="ctr">
                    <a:solidFill>
                      <a:srgbClr val="F3F3F3"/>
                    </a:solidFill>
                  </a:tcPr>
                </a:tc>
                <a:tc>
                  <a:txBody>
                    <a:bodyPr wrap="square"/>
                    <a:lstStyle/>
                    <a:p>
                      <a:pPr algn="ctr"/>
                      <a:r>
                        <a:rPr sz="1200" b="0">
                          <a:solidFill>
                            <a:srgbClr val="262626"/>
                          </a:solidFill>
                          <a:latin typeface="Arial"/>
                        </a:rPr>
                        <a:t>Thái độ nhân viên → Sự hài lòng</a:t>
                      </a:r>
                    </a:p>
                  </a:txBody>
                  <a:tcPr marL="73152" marR="73152" marT="27432" marB="27432" anchor="ctr">
                    <a:solidFill>
                      <a:srgbClr val="F3F3F3"/>
                    </a:solidFill>
                  </a:tcPr>
                </a:tc>
                <a:tc>
                  <a:txBody>
                    <a:bodyPr wrap="square"/>
                    <a:lstStyle/>
                    <a:p>
                      <a:pPr algn="ctr"/>
                      <a:r>
                        <a:rPr sz="1200" b="0">
                          <a:solidFill>
                            <a:srgbClr val="262626"/>
                          </a:solidFill>
                          <a:latin typeface="Arial"/>
                        </a:rPr>
                        <a:t>0,501</a:t>
                      </a:r>
                    </a:p>
                  </a:txBody>
                  <a:tcPr marL="73152" marR="73152" marT="27432" marB="27432" anchor="ctr">
                    <a:solidFill>
                      <a:srgbClr val="F3F3F3"/>
                    </a:solidFill>
                  </a:tcPr>
                </a:tc>
                <a:tc>
                  <a:txBody>
                    <a:bodyPr wrap="square"/>
                    <a:lstStyle/>
                    <a:p>
                      <a:pPr algn="ctr"/>
                      <a:r>
                        <a:rPr sz="1200" b="0">
                          <a:solidFill>
                            <a:srgbClr val="262626"/>
                          </a:solidFill>
                          <a:latin typeface="Arial"/>
                        </a:rPr>
                        <a:t>0,432</a:t>
                      </a:r>
                    </a:p>
                  </a:txBody>
                  <a:tcPr marL="73152" marR="73152" marT="27432" marB="27432" anchor="ctr">
                    <a:solidFill>
                      <a:srgbClr val="F3F3F3"/>
                    </a:solidFill>
                  </a:tcPr>
                </a:tc>
                <a:tc>
                  <a:txBody>
                    <a:bodyPr wrap="square"/>
                    <a:lstStyle/>
                    <a:p>
                      <a:pPr algn="ctr"/>
                      <a:r>
                        <a:rPr sz="1200" b="0">
                          <a:solidFill>
                            <a:srgbClr val="262626"/>
                          </a:solidFill>
                          <a:latin typeface="Arial"/>
                        </a:rPr>
                        <a:t>&lt; 0,001</a:t>
                      </a:r>
                    </a:p>
                  </a:txBody>
                  <a:tcPr marL="73152" marR="73152" marT="27432" marB="27432" anchor="ctr">
                    <a:solidFill>
                      <a:srgbClr val="F3F3F3"/>
                    </a:solidFill>
                  </a:tcPr>
                </a:tc>
                <a:tc>
                  <a:txBody>
                    <a:bodyPr wrap="square"/>
                    <a:lstStyle/>
                    <a:p>
                      <a:pPr algn="ctr"/>
                      <a:r>
                        <a:rPr sz="1200" b="0">
                          <a:solidFill>
                            <a:srgbClr val="262626"/>
                          </a:solidFill>
                          <a:latin typeface="Arial"/>
                        </a:rPr>
                        <a:t>Được ủng hộ</a:t>
                      </a:r>
                    </a:p>
                  </a:txBody>
                  <a:tcPr marL="73152" marR="73152" marT="27432" marB="27432" anchor="ctr">
                    <a:solidFill>
                      <a:srgbClr val="F3F3F3"/>
                    </a:solidFill>
                  </a:tcPr>
                </a:tc>
              </a:tr>
              <a:tr h="429768">
                <a:tc>
                  <a:txBody>
                    <a:bodyPr wrap="square"/>
                    <a:lstStyle/>
                    <a:p>
                      <a:pPr algn="l"/>
                      <a:r>
                        <a:rPr sz="1200" b="0">
                          <a:solidFill>
                            <a:srgbClr val="262626"/>
                          </a:solidFill>
                          <a:latin typeface="Arial"/>
                        </a:rPr>
                        <a:t>H3 (Y)</a:t>
                      </a:r>
                    </a:p>
                  </a:txBody>
                  <a:tcPr marL="73152" marR="73152" marT="27432" marB="27432" anchor="ctr">
                    <a:solidFill>
                      <a:srgbClr val="FFFFFF"/>
                    </a:solidFill>
                  </a:tcPr>
                </a:tc>
                <a:tc>
                  <a:txBody>
                    <a:bodyPr wrap="square"/>
                    <a:lstStyle/>
                    <a:p>
                      <a:pPr algn="ctr"/>
                      <a:r>
                        <a:rPr sz="1200" b="0">
                          <a:solidFill>
                            <a:srgbClr val="262626"/>
                          </a:solidFill>
                          <a:latin typeface="Arial"/>
                        </a:rPr>
                        <a:t>Quy trình hành chính → Sự hài lòng</a:t>
                      </a:r>
                    </a:p>
                  </a:txBody>
                  <a:tcPr marL="73152" marR="73152" marT="27432" marB="27432" anchor="ctr">
                    <a:solidFill>
                      <a:srgbClr val="FFFFFF"/>
                    </a:solidFill>
                  </a:tcPr>
                </a:tc>
                <a:tc>
                  <a:txBody>
                    <a:bodyPr wrap="square"/>
                    <a:lstStyle/>
                    <a:p>
                      <a:pPr algn="ctr"/>
                      <a:r>
                        <a:rPr sz="1200" b="0">
                          <a:solidFill>
                            <a:srgbClr val="262626"/>
                          </a:solidFill>
                          <a:latin typeface="Arial"/>
                        </a:rPr>
                        <a:t>0,174</a:t>
                      </a:r>
                    </a:p>
                  </a:txBody>
                  <a:tcPr marL="73152" marR="73152" marT="27432" marB="27432" anchor="ctr">
                    <a:solidFill>
                      <a:srgbClr val="FFFFFF"/>
                    </a:solidFill>
                  </a:tcPr>
                </a:tc>
                <a:tc>
                  <a:txBody>
                    <a:bodyPr wrap="square"/>
                    <a:lstStyle/>
                    <a:p>
                      <a:pPr algn="ctr"/>
                      <a:r>
                        <a:rPr sz="1200" b="0">
                          <a:solidFill>
                            <a:srgbClr val="262626"/>
                          </a:solidFill>
                          <a:latin typeface="Arial"/>
                        </a:rPr>
                        <a:t>0,169</a:t>
                      </a:r>
                    </a:p>
                  </a:txBody>
                  <a:tcPr marL="73152" marR="73152" marT="27432" marB="27432" anchor="ctr">
                    <a:solidFill>
                      <a:srgbClr val="FFFFFF"/>
                    </a:solidFill>
                  </a:tcPr>
                </a:tc>
                <a:tc>
                  <a:txBody>
                    <a:bodyPr wrap="square"/>
                    <a:lstStyle/>
                    <a:p>
                      <a:pPr algn="ctr"/>
                      <a:r>
                        <a:rPr sz="1200" b="0">
                          <a:solidFill>
                            <a:srgbClr val="262626"/>
                          </a:solidFill>
                          <a:latin typeface="Arial"/>
                        </a:rPr>
                        <a:t>0,014</a:t>
                      </a:r>
                    </a:p>
                  </a:txBody>
                  <a:tcPr marL="73152" marR="73152" marT="27432" marB="27432" anchor="ctr">
                    <a:solidFill>
                      <a:srgbClr val="FFFFFF"/>
                    </a:solidFill>
                  </a:tcPr>
                </a:tc>
                <a:tc>
                  <a:txBody>
                    <a:bodyPr wrap="square"/>
                    <a:lstStyle/>
                    <a:p>
                      <a:pPr algn="ctr"/>
                      <a:r>
                        <a:rPr sz="1200" b="0">
                          <a:solidFill>
                            <a:srgbClr val="262626"/>
                          </a:solidFill>
                          <a:latin typeface="Arial"/>
                        </a:rPr>
                        <a:t>Được ủng hộ</a:t>
                      </a:r>
                    </a:p>
                  </a:txBody>
                  <a:tcPr marL="73152" marR="73152" marT="27432" marB="27432" anchor="ctr">
                    <a:solidFill>
                      <a:srgbClr val="FFFFFF"/>
                    </a:solidFill>
                  </a:tcPr>
                </a:tc>
              </a:tr>
            </a:tbl>
          </a:graphicData>
        </a:graphic>
      </p:graphicFrame>
      <p:sp>
        <p:nvSpPr>
          <p:cNvPr id="12" name="TextBox 11"/>
          <p:cNvSpPr txBox="1"/>
          <p:nvPr/>
        </p:nvSpPr>
        <p:spPr>
          <a:xfrm>
            <a:off x="8595360" y="1783080"/>
            <a:ext cx="3136391"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VIẾT KẾT LUẬN</a:t>
            </a:r>
          </a:p>
        </p:txBody>
      </p:sp>
      <p:cxnSp>
        <p:nvCxnSpPr>
          <p:cNvPr id="13" name="Connector 12"/>
          <p:cNvCxnSpPr/>
          <p:nvPr/>
        </p:nvCxnSpPr>
        <p:spPr>
          <a:xfrm>
            <a:off x="8595360" y="2103120"/>
            <a:ext cx="313639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95360" y="2167128"/>
            <a:ext cx="3136391" cy="3383280"/>
          </a:xfrm>
          <a:prstGeom prst="rect">
            <a:avLst/>
          </a:prstGeom>
          <a:noFill/>
        </p:spPr>
        <p:txBody>
          <a:bodyPr wrap="square" lIns="45720" rIns="45720" tIns="27432" bIns="27432" anchor="t">
            <a:spAutoFit/>
          </a:bodyPr>
          <a:lstStyle/>
          <a:p>
            <a:pPr algn="l"/>
            <a:r>
              <a:rPr sz="1250" b="0" i="0">
                <a:solidFill>
                  <a:srgbClr val="58595B"/>
                </a:solidFill>
                <a:latin typeface="Arial"/>
              </a:rPr>
              <a:t>Dùng </a:t>
            </a:r>
            <a:r>
              <a:rPr sz="1250" b="1" i="0">
                <a:solidFill>
                  <a:srgbClr val="58595B"/>
                </a:solidFill>
                <a:latin typeface="Arial"/>
              </a:rPr>
              <a:t>"được ủng hộ"</a:t>
            </a:r>
            <a:r>
              <a:rPr sz="1250" b="0" i="0">
                <a:solidFill>
                  <a:srgbClr val="58595B"/>
                </a:solidFill>
                <a:latin typeface="Arial"/>
              </a:rPr>
              <a:t> thay cho "được chấp nhận" hay "được chứng minh": một mẫu khảo sát chỉ cung cấp bằng chứng.</a:t>
            </a:r>
          </a:p>
          <a:p>
            <a:pPr algn="l">
              <a:spcBef>
                <a:spcPts val="562"/>
              </a:spcBef>
            </a:pPr>
          </a:p>
          <a:p>
            <a:pPr algn="l">
              <a:spcBef>
                <a:spcPts val="562"/>
              </a:spcBef>
            </a:pPr>
            <a:r>
              <a:rPr sz="1250" b="0" i="0">
                <a:solidFill>
                  <a:srgbClr val="58595B"/>
                </a:solidFill>
                <a:latin typeface="Arial"/>
              </a:rPr>
              <a:t>H2 viết là </a:t>
            </a:r>
            <a:r>
              <a:rPr sz="1250" b="1" i="0">
                <a:solidFill>
                  <a:srgbClr val="58595B"/>
                </a:solidFill>
                <a:latin typeface="Arial"/>
              </a:rPr>
              <a:t>"chưa đủ bằng chứng"</a:t>
            </a:r>
            <a:r>
              <a:rPr sz="1250" b="0" i="0">
                <a:solidFill>
                  <a:srgbClr val="58595B"/>
                </a:solidFill>
                <a:latin typeface="Arial"/>
              </a:rPr>
              <a:t>, không viết "không có tác động": khoảng tin cậy 95% của B từ -0,063 đến 0,197 chứa số 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CÂU HỎI MỞ</a:t>
            </a:r>
          </a:p>
        </p:txBody>
      </p:sp>
      <p:sp>
        <p:nvSpPr>
          <p:cNvPr id="3" name="Rounded Rectangle 2"/>
          <p:cNvSpPr/>
          <p:nvPr/>
        </p:nvSpPr>
        <p:spPr>
          <a:xfrm>
            <a:off x="10273284" y="219456"/>
            <a:ext cx="145846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TRƯỜNG TIỂU HỌC Y</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Điểm thái độ nhân viên toàn mẫu cao nhất nhưng 25 phụ huynh nêu chủ đề thái độ chỉ chấm 3,28</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Câu hỏi mở được mã hóa thành chủ đề, đếm tần số, minh họa bằng trích dẫn đã ẩn danh và đối chiếu với kết quả định lượng.</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4.4.3 (*), Bảng 4-10 đến 4-12, Hình 4-14 và 4-15; Trần Phước (n.d., tr. 57 đến 71); file 3.Chapter_4_and_Chapter_5_Practice_Truong_Y.xlsx (dữ liệu giả định), sheet 12_CauHoiMo</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87</a:t>
            </a:r>
          </a:p>
        </p:txBody>
      </p:sp>
      <p:graphicFrame>
        <p:nvGraphicFramePr>
          <p:cNvPr id="12" name="Chart 11"/>
          <p:cNvGraphicFramePr>
            <a:graphicFrameLocks noGrp="1"/>
          </p:cNvGraphicFramePr>
          <p:nvPr/>
        </p:nvGraphicFramePr>
        <p:xfrm>
          <a:off x="457200" y="1783080"/>
          <a:ext cx="6583680" cy="3840480"/>
        </p:xfrm>
        <a:graphic>
          <a:graphicData uri="http://schemas.openxmlformats.org/drawingml/2006/chart">
            <c:chart xmlns:c="http://schemas.openxmlformats.org/drawingml/2006/chart" r:id="rId2"/>
          </a:graphicData>
        </a:graphic>
      </p:graphicFrame>
      <p:sp>
        <p:nvSpPr>
          <p:cNvPr id="13" name="TextBox 12"/>
          <p:cNvSpPr txBox="1"/>
          <p:nvPr/>
        </p:nvSpPr>
        <p:spPr>
          <a:xfrm>
            <a:off x="457200" y="1709928"/>
            <a:ext cx="6583680" cy="274320"/>
          </a:xfrm>
          <a:prstGeom prst="rect">
            <a:avLst/>
          </a:prstGeom>
          <a:noFill/>
        </p:spPr>
        <p:txBody>
          <a:bodyPr wrap="square" lIns="45720" rIns="45720" tIns="27432" bIns="27432" anchor="t">
            <a:spAutoFit/>
          </a:bodyPr>
          <a:lstStyle/>
          <a:p>
            <a:pPr algn="l"/>
            <a:r>
              <a:rPr sz="1050" b="1" i="0">
                <a:solidFill>
                  <a:srgbClr val="9E9E9E"/>
                </a:solidFill>
                <a:latin typeface="Arial"/>
              </a:rPr>
              <a:t>TỶ LỆ CHỦ ĐỀ TRONG 98 CÂU TRẢ LỜI MỞ (MẪU SỐ n = 98, KHÔNG PHẢI 120)</a:t>
            </a:r>
          </a:p>
        </p:txBody>
      </p:sp>
      <p:sp>
        <p:nvSpPr>
          <p:cNvPr id="14" name="TextBox 13"/>
          <p:cNvSpPr txBox="1"/>
          <p:nvPr/>
        </p:nvSpPr>
        <p:spPr>
          <a:xfrm>
            <a:off x="7360920" y="1783080"/>
            <a:ext cx="4370831"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ĐỌC</a:t>
            </a:r>
          </a:p>
        </p:txBody>
      </p:sp>
      <p:cxnSp>
        <p:nvCxnSpPr>
          <p:cNvPr id="15" name="Connector 14"/>
          <p:cNvCxnSpPr/>
          <p:nvPr/>
        </p:nvCxnSpPr>
        <p:spPr>
          <a:xfrm>
            <a:off x="7360920" y="2103120"/>
            <a:ext cx="43708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36092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772400" y="219456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Hai chủ đề đầu</a:t>
            </a:r>
            <a:r>
              <a:rPr sz="1350" b="0" i="0">
                <a:solidFill>
                  <a:srgbClr val="58595B"/>
                </a:solidFill>
                <a:latin typeface="Arial"/>
              </a:rPr>
              <a:t> gắn với quy trình hành chính; nhóm nêu hai chủ đề này chấm QTHC 3,35 và 3,27 (toàn mẫu 3,48).</a:t>
            </a:r>
          </a:p>
        </p:txBody>
      </p:sp>
      <p:sp>
        <p:nvSpPr>
          <p:cNvPr id="18" name="Oval 17"/>
          <p:cNvSpPr/>
          <p:nvPr/>
        </p:nvSpPr>
        <p:spPr>
          <a:xfrm>
            <a:off x="736092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772400" y="305181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Nhóm nêu thái độ</a:t>
            </a:r>
            <a:r>
              <a:rPr sz="1350" b="0" i="0">
                <a:solidFill>
                  <a:srgbClr val="58595B"/>
                </a:solidFill>
                <a:latin typeface="Arial"/>
              </a:rPr>
              <a:t> chấm TDNV 3,28 so với 4,12 toàn mẫu: trung bình cao không có nghĩa mọi phụ huynh đều hài lòng.</a:t>
            </a:r>
          </a:p>
        </p:txBody>
      </p:sp>
      <p:sp>
        <p:nvSpPr>
          <p:cNvPr id="20" name="Oval 19"/>
          <p:cNvSpPr/>
          <p:nvPr/>
        </p:nvSpPr>
        <p:spPr>
          <a:xfrm>
            <a:off x="736092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772400" y="390906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TG là mã bất ngờ:</a:t>
            </a:r>
            <a:r>
              <a:rPr sz="1350" b="0" i="0">
                <a:solidFill>
                  <a:srgbClr val="58595B"/>
                </a:solidFill>
                <a:latin typeface="Arial"/>
              </a:rPr>
              <a:t> bảng hỏi không có thang đo thời gian chờ nhưng 42 phụ huynh nêu; nguyên liệu cho hạn chế và hướng nghiên cứu.</a:t>
            </a:r>
          </a:p>
        </p:txBody>
      </p:sp>
      <p:sp>
        <p:nvSpPr>
          <p:cNvPr id="22" name="Oval 21"/>
          <p:cNvSpPr/>
          <p:nvPr/>
        </p:nvSpPr>
        <p:spPr>
          <a:xfrm>
            <a:off x="736092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3" name="TextBox 22"/>
          <p:cNvSpPr txBox="1"/>
          <p:nvPr/>
        </p:nvSpPr>
        <p:spPr>
          <a:xfrm>
            <a:off x="7772400" y="4766310"/>
            <a:ext cx="3959351" cy="857250"/>
          </a:xfrm>
          <a:prstGeom prst="rect">
            <a:avLst/>
          </a:prstGeom>
          <a:noFill/>
        </p:spPr>
        <p:txBody>
          <a:bodyPr wrap="square" lIns="45720" rIns="45720" tIns="27432" bIns="27432" anchor="t">
            <a:spAutoFit/>
          </a:bodyPr>
          <a:lstStyle/>
          <a:p>
            <a:pPr algn="l"/>
            <a:r>
              <a:rPr sz="1350" b="1" i="0">
                <a:solidFill>
                  <a:srgbClr val="58595B"/>
                </a:solidFill>
                <a:latin typeface="Arial"/>
              </a:rPr>
              <a:t>Mã hóa lại 20 câu</a:t>
            </a:r>
            <a:r>
              <a:rPr sz="1350" b="0" i="0">
                <a:solidFill>
                  <a:srgbClr val="58595B"/>
                </a:solidFill>
                <a:latin typeface="Arial"/>
              </a:rPr>
              <a:t> với người thứ hai; đồng thuận ít nhất 80% (ví dụ 17/20 = 85%).</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THẢO LUẬN</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Thảo luận đặt kết quả cạnh lý thuyết gốc và cạnh nghiên cứu trước, rồi giải thích vì sao giống hoặc khác</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Dùng "phù hợp với", "khớp một phần", "bổ sung bằng chứng"; không dùng "chứng minh" hay "phát hiện mới".</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4.5.1, Mục 4.5.2, Kỹ thuật dùng cho Mục 4.5.2 và Bảng 4-13; Creswell và Creswell (2018, tr. 220 đến 221)</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88</a:t>
            </a:r>
          </a:p>
        </p:txBody>
      </p:sp>
      <p:sp>
        <p:nvSpPr>
          <p:cNvPr id="12" name="Rectangle 11"/>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4" name="TextBox 13"/>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So với lý thuyết (4.5.1)</a:t>
            </a:r>
          </a:p>
        </p:txBody>
      </p:sp>
      <p:sp>
        <p:nvSpPr>
          <p:cNvPr id="15" name="TextBox 14"/>
          <p:cNvSpPr txBox="1"/>
          <p:nvPr/>
        </p:nvSpPr>
        <p:spPr>
          <a:xfrm>
            <a:off x="457200" y="2560320"/>
            <a:ext cx="3575304" cy="3017520"/>
          </a:xfrm>
          <a:prstGeom prst="rect">
            <a:avLst/>
          </a:prstGeom>
          <a:noFill/>
        </p:spPr>
        <p:txBody>
          <a:bodyPr wrap="square" lIns="45720" rIns="45720" tIns="27432" bIns="27432" anchor="t">
            <a:spAutoFit/>
          </a:bodyPr>
          <a:lstStyle/>
          <a:p>
            <a:pPr algn="l"/>
            <a:r>
              <a:rPr sz="1250" b="0" i="0">
                <a:solidFill>
                  <a:srgbClr val="58595B"/>
                </a:solidFill>
                <a:latin typeface="Arial"/>
              </a:rPr>
              <a:t>Kết quả </a:t>
            </a:r>
            <a:r>
              <a:rPr sz="1250" b="1" i="0">
                <a:solidFill>
                  <a:srgbClr val="58595B"/>
                </a:solidFill>
                <a:latin typeface="Arial"/>
              </a:rPr>
              <a:t>khớp, bác bỏ hay mở rộng</a:t>
            </a:r>
            <a:r>
              <a:rPr sz="1250" b="0" i="0">
                <a:solidFill>
                  <a:srgbClr val="58595B"/>
                </a:solidFill>
                <a:latin typeface="Arial"/>
              </a:rPr>
              <a:t> lý thuyết nền.</a:t>
            </a:r>
          </a:p>
          <a:p>
            <a:pPr algn="l">
              <a:spcBef>
                <a:spcPts val="562"/>
              </a:spcBef>
            </a:pPr>
          </a:p>
          <a:p>
            <a:pPr algn="l">
              <a:spcBef>
                <a:spcPts val="562"/>
              </a:spcBef>
            </a:pPr>
            <a:r>
              <a:rPr sz="1250" b="0" i="0">
                <a:solidFill>
                  <a:srgbClr val="58595B"/>
                </a:solidFill>
                <a:latin typeface="Arial"/>
              </a:rPr>
              <a:t>H1 phù hợp với TAM (Davis, 1989): sự hữu ích mạnh nhất (β = 0,394). H3 phù hợp với Morgan và Hunt (1994). H4 phù hợp với chuẩn chủ quan của Ajzen (1991).</a:t>
            </a:r>
          </a:p>
        </p:txBody>
      </p:sp>
      <p:sp>
        <p:nvSpPr>
          <p:cNvPr id="16" name="Rectangle 15"/>
          <p:cNvSpPr/>
          <p:nvPr/>
        </p:nvSpPr>
        <p:spPr>
          <a:xfrm>
            <a:off x="4306824"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So với nghiên cứu trước (4.5.2)</a:t>
            </a:r>
          </a:p>
        </p:txBody>
      </p:sp>
      <p:sp>
        <p:nvSpPr>
          <p:cNvPr id="19" name="TextBox 18"/>
          <p:cNvSpPr txBox="1"/>
          <p:nvPr/>
        </p:nvSpPr>
        <p:spPr>
          <a:xfrm>
            <a:off x="4306824" y="2560320"/>
            <a:ext cx="3575304" cy="3017520"/>
          </a:xfrm>
          <a:prstGeom prst="rect">
            <a:avLst/>
          </a:prstGeom>
          <a:noFill/>
        </p:spPr>
        <p:txBody>
          <a:bodyPr wrap="square" lIns="45720" rIns="45720" tIns="27432" bIns="27432" anchor="t">
            <a:spAutoFit/>
          </a:bodyPr>
          <a:lstStyle/>
          <a:p>
            <a:pPr algn="l"/>
            <a:r>
              <a:rPr sz="1250" b="0" i="0">
                <a:solidFill>
                  <a:srgbClr val="58595B"/>
                </a:solidFill>
                <a:latin typeface="Arial"/>
              </a:rPr>
              <a:t>Chú ý ba yếu tố làm kết quả khác nhau: </a:t>
            </a:r>
            <a:r>
              <a:rPr sz="1250" b="1" i="0">
                <a:solidFill>
                  <a:srgbClr val="58595B"/>
                </a:solidFill>
                <a:latin typeface="Arial"/>
              </a:rPr>
              <a:t>bối cảnh, mẫu, cách đo.</a:t>
            </a:r>
          </a:p>
          <a:p>
            <a:pPr algn="l">
              <a:spcBef>
                <a:spcPts val="562"/>
              </a:spcBef>
            </a:pPr>
          </a:p>
          <a:p>
            <a:pPr algn="l">
              <a:spcBef>
                <a:spcPts val="562"/>
              </a:spcBef>
            </a:pPr>
            <a:r>
              <a:rPr sz="1250" b="0" i="0">
                <a:solidFill>
                  <a:srgbClr val="58595B"/>
                </a:solidFill>
                <a:latin typeface="Arial"/>
              </a:rPr>
              <a:t>Niềm tin mạnh thứ hai ở đây nhưng mạnh nhất ở Trần Thị B (2021): mẫu của B là khách hàng trung niên, còn 62,0% mẫu khóa luận dưới 35 tuổi.</a:t>
            </a:r>
          </a:p>
        </p:txBody>
      </p:sp>
      <p:sp>
        <p:nvSpPr>
          <p:cNvPr id="20" name="Rectangle 19"/>
          <p:cNvSpPr/>
          <p:nvPr/>
        </p:nvSpPr>
        <p:spPr>
          <a:xfrm>
            <a:off x="8156448"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2" name="TextBox 21"/>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Quy tắc điền bảng so sánh</a:t>
            </a:r>
          </a:p>
        </p:txBody>
      </p:sp>
      <p:sp>
        <p:nvSpPr>
          <p:cNvPr id="23" name="TextBox 22"/>
          <p:cNvSpPr txBox="1"/>
          <p:nvPr/>
        </p:nvSpPr>
        <p:spPr>
          <a:xfrm>
            <a:off x="8156448" y="2560320"/>
            <a:ext cx="3575304" cy="3017520"/>
          </a:xfrm>
          <a:prstGeom prst="rect">
            <a:avLst/>
          </a:prstGeom>
          <a:noFill/>
        </p:spPr>
        <p:txBody>
          <a:bodyPr wrap="square" lIns="45720" rIns="45720" tIns="27432" bIns="27432" anchor="t">
            <a:spAutoFit/>
          </a:bodyPr>
          <a:lstStyle/>
          <a:p>
            <a:pPr algn="l"/>
            <a:r>
              <a:rPr sz="1250" b="0" i="0">
                <a:solidFill>
                  <a:srgbClr val="58595B"/>
                </a:solidFill>
                <a:latin typeface="Arial"/>
              </a:rPr>
              <a:t>Chỉ ghi con số của nghiên cứu trước khi </a:t>
            </a:r>
            <a:r>
              <a:rPr sz="1250" b="1" i="0">
                <a:solidFill>
                  <a:srgbClr val="58595B"/>
                </a:solidFill>
                <a:latin typeface="Arial"/>
              </a:rPr>
              <a:t>đã đọc bài gốc</a:t>
            </a:r>
            <a:r>
              <a:rPr sz="1250" b="0" i="0">
                <a:solidFill>
                  <a:srgbClr val="58595B"/>
                </a:solidFill>
                <a:latin typeface="Arial"/>
              </a:rPr>
              <a:t> và ghi được số trang.</a:t>
            </a:r>
          </a:p>
          <a:p>
            <a:pPr algn="l">
              <a:spcBef>
                <a:spcPts val="562"/>
              </a:spcBef>
            </a:pPr>
          </a:p>
          <a:p>
            <a:pPr algn="l">
              <a:spcBef>
                <a:spcPts val="562"/>
              </a:spcBef>
            </a:pPr>
            <a:r>
              <a:rPr sz="1250" b="0" i="0">
                <a:solidFill>
                  <a:srgbClr val="58595B"/>
                </a:solidFill>
                <a:latin typeface="Arial"/>
              </a:rPr>
              <a:t>Nghiên cứu trước dùng SEM thì chỉ so chiều và thứ tự mạnh yếu, không so trực tiếp độ lớn hệ số.</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ĐỌC KỸ ĐOẠN THẢO LUẬN MẪU</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Đoạn thảo luận mẫu đi theo trình tự: kết quả khớp, kết quả khác, giải thích, củng cố, đóng góp, hướng tiếp theo</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Một khóa luận với một mẫu thuận tiện chưa đủ căn cứ để tuyên bố phát hiện mới; viết "bổ sung bằng chứng".</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phần Đọc kỹ một đoạn thảo luận mẫu và Bảng 4-14</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89</a:t>
            </a:r>
          </a:p>
        </p:txBody>
      </p:sp>
      <p:graphicFrame>
        <p:nvGraphicFramePr>
          <p:cNvPr id="12" name="Table 11"/>
          <p:cNvGraphicFramePr>
            <a:graphicFrameLocks noGrp="1"/>
          </p:cNvGraphicFramePr>
          <p:nvPr/>
        </p:nvGraphicFramePr>
        <p:xfrm>
          <a:off x="457200" y="1783080"/>
          <a:ext cx="8138159" cy="3429000"/>
        </p:xfrm>
        <a:graphic>
          <a:graphicData uri="http://schemas.openxmlformats.org/drawingml/2006/table">
            <a:tbl>
              <a:tblPr firstRow="1" bandRow="1">
                <a:tableStyleId>{5C22544A-7EE6-4342-B048-85BDC9FD1C3A}</a:tableStyleId>
              </a:tblPr>
              <a:tblGrid>
                <a:gridCol w="1128061"/>
                <a:gridCol w="3464761"/>
                <a:gridCol w="3545337"/>
              </a:tblGrid>
              <a:tr h="411480">
                <a:tc>
                  <a:txBody>
                    <a:bodyPr wrap="square"/>
                    <a:lstStyle/>
                    <a:p>
                      <a:pPr algn="l"/>
                      <a:r>
                        <a:rPr sz="1200" b="1">
                          <a:solidFill>
                            <a:srgbClr val="FFFFFF"/>
                          </a:solidFill>
                          <a:latin typeface="Arial"/>
                        </a:rPr>
                        <a:t>Câu</a:t>
                      </a:r>
                    </a:p>
                  </a:txBody>
                  <a:tcPr marL="73152" marR="73152" marT="27432" marB="27432" anchor="ctr">
                    <a:solidFill>
                      <a:srgbClr val="262626"/>
                    </a:solidFill>
                  </a:tcPr>
                </a:tc>
                <a:tc>
                  <a:txBody>
                    <a:bodyPr wrap="square"/>
                    <a:lstStyle/>
                    <a:p>
                      <a:pPr algn="l"/>
                      <a:r>
                        <a:rPr sz="1200" b="1">
                          <a:solidFill>
                            <a:srgbClr val="FFFFFF"/>
                          </a:solidFill>
                          <a:latin typeface="Arial"/>
                        </a:rPr>
                        <a:t>Nhiệm vụ</a:t>
                      </a:r>
                    </a:p>
                  </a:txBody>
                  <a:tcPr marL="73152" marR="73152" marT="27432" marB="27432" anchor="ctr">
                    <a:solidFill>
                      <a:srgbClr val="262626"/>
                    </a:solidFill>
                  </a:tcPr>
                </a:tc>
                <a:tc>
                  <a:txBody>
                    <a:bodyPr wrap="square"/>
                    <a:lstStyle/>
                    <a:p>
                      <a:pPr algn="l"/>
                      <a:r>
                        <a:rPr sz="1200" b="1">
                          <a:solidFill>
                            <a:srgbClr val="FFFFFF"/>
                          </a:solidFill>
                          <a:latin typeface="Arial"/>
                        </a:rPr>
                        <a:t>Dấu hiệu nhận biết</a:t>
                      </a:r>
                    </a:p>
                  </a:txBody>
                  <a:tcPr marL="73152" marR="73152" marT="27432" marB="27432" anchor="ctr">
                    <a:solidFill>
                      <a:srgbClr val="262626"/>
                    </a:solidFill>
                  </a:tcPr>
                </a:tc>
              </a:tr>
              <a:tr h="502920">
                <a:tc>
                  <a:txBody>
                    <a:bodyPr wrap="square"/>
                    <a:lstStyle/>
                    <a:p>
                      <a:pPr algn="l"/>
                      <a:r>
                        <a:rPr sz="1200" b="0">
                          <a:solidFill>
                            <a:srgbClr val="262626"/>
                          </a:solidFill>
                          <a:latin typeface="Arial"/>
                        </a:rPr>
                        <a:t>[1] và [2]</a:t>
                      </a:r>
                    </a:p>
                  </a:txBody>
                  <a:tcPr marL="73152" marR="73152" marT="27432" marB="27432" anchor="ctr">
                    <a:solidFill>
                      <a:srgbClr val="FFFFFF"/>
                    </a:solidFill>
                  </a:tcPr>
                </a:tc>
                <a:tc>
                  <a:txBody>
                    <a:bodyPr wrap="square"/>
                    <a:lstStyle/>
                    <a:p>
                      <a:pPr algn="l"/>
                      <a:r>
                        <a:rPr sz="1200" b="0">
                          <a:solidFill>
                            <a:srgbClr val="262626"/>
                          </a:solidFill>
                          <a:latin typeface="Arial"/>
                        </a:rPr>
                        <a:t>So với lý thuyết nền: kết quả khớp</a:t>
                      </a:r>
                    </a:p>
                  </a:txBody>
                  <a:tcPr marL="73152" marR="73152" marT="27432" marB="27432" anchor="ctr">
                    <a:solidFill>
                      <a:srgbClr val="FFFFFF"/>
                    </a:solidFill>
                  </a:tcPr>
                </a:tc>
                <a:tc>
                  <a:txBody>
                    <a:bodyPr wrap="square"/>
                    <a:lstStyle/>
                    <a:p>
                      <a:pPr algn="l"/>
                      <a:r>
                        <a:rPr sz="1200" b="0">
                          <a:solidFill>
                            <a:srgbClr val="262626"/>
                          </a:solidFill>
                          <a:latin typeface="Arial"/>
                        </a:rPr>
                        <a:t>"phù hợp với"; tên lý thuyết; trích dẫn; con số β</a:t>
                      </a:r>
                    </a:p>
                  </a:txBody>
                  <a:tcPr marL="73152" marR="73152" marT="27432" marB="27432" anchor="ctr">
                    <a:solidFill>
                      <a:srgbClr val="FFFFFF"/>
                    </a:solidFill>
                  </a:tcPr>
                </a:tc>
              </a:tr>
              <a:tr h="502920">
                <a:tc>
                  <a:txBody>
                    <a:bodyPr wrap="square"/>
                    <a:lstStyle/>
                    <a:p>
                      <a:pPr algn="l"/>
                      <a:r>
                        <a:rPr sz="1200" b="0">
                          <a:solidFill>
                            <a:srgbClr val="262626"/>
                          </a:solidFill>
                          <a:latin typeface="Arial"/>
                        </a:rPr>
                        <a:t>[3]</a:t>
                      </a:r>
                    </a:p>
                  </a:txBody>
                  <a:tcPr marL="73152" marR="73152" marT="27432" marB="27432" anchor="ctr">
                    <a:solidFill>
                      <a:srgbClr val="F3F3F3"/>
                    </a:solidFill>
                  </a:tcPr>
                </a:tc>
                <a:tc>
                  <a:txBody>
                    <a:bodyPr wrap="square"/>
                    <a:lstStyle/>
                    <a:p>
                      <a:pPr algn="l"/>
                      <a:r>
                        <a:rPr sz="1200" b="0">
                          <a:solidFill>
                            <a:srgbClr val="262626"/>
                          </a:solidFill>
                          <a:latin typeface="Arial"/>
                        </a:rPr>
                        <a:t>Chỉ ra kết quả khác dự đoán</a:t>
                      </a:r>
                    </a:p>
                  </a:txBody>
                  <a:tcPr marL="73152" marR="73152" marT="27432" marB="27432" anchor="ctr">
                    <a:solidFill>
                      <a:srgbClr val="F3F3F3"/>
                    </a:solidFill>
                  </a:tcPr>
                </a:tc>
                <a:tc>
                  <a:txBody>
                    <a:bodyPr wrap="square"/>
                    <a:lstStyle/>
                    <a:p>
                      <a:pPr algn="l"/>
                      <a:r>
                        <a:rPr sz="1200" b="0">
                          <a:solidFill>
                            <a:srgbClr val="262626"/>
                          </a:solidFill>
                          <a:latin typeface="Arial"/>
                        </a:rPr>
                        <a:t>"khác với dự đoán"; P-value</a:t>
                      </a:r>
                    </a:p>
                  </a:txBody>
                  <a:tcPr marL="73152" marR="73152" marT="27432" marB="27432" anchor="ctr">
                    <a:solidFill>
                      <a:srgbClr val="F3F3F3"/>
                    </a:solidFill>
                  </a:tcPr>
                </a:tc>
              </a:tr>
              <a:tr h="502920">
                <a:tc>
                  <a:txBody>
                    <a:bodyPr wrap="square"/>
                    <a:lstStyle/>
                    <a:p>
                      <a:pPr algn="l"/>
                      <a:r>
                        <a:rPr sz="1200" b="0">
                          <a:solidFill>
                            <a:srgbClr val="262626"/>
                          </a:solidFill>
                          <a:latin typeface="Arial"/>
                        </a:rPr>
                        <a:t>[4]</a:t>
                      </a:r>
                    </a:p>
                  </a:txBody>
                  <a:tcPr marL="73152" marR="73152" marT="27432" marB="27432" anchor="ctr">
                    <a:solidFill>
                      <a:srgbClr val="FFFFFF"/>
                    </a:solidFill>
                  </a:tcPr>
                </a:tc>
                <a:tc>
                  <a:txBody>
                    <a:bodyPr wrap="square"/>
                    <a:lstStyle/>
                    <a:p>
                      <a:pPr algn="l"/>
                      <a:r>
                        <a:rPr sz="1200" b="0">
                          <a:solidFill>
                            <a:srgbClr val="262626"/>
                          </a:solidFill>
                          <a:latin typeface="Arial"/>
                        </a:rPr>
                        <a:t>Một cách giải thích có bằng chứng trong dữ liệu</a:t>
                      </a:r>
                    </a:p>
                  </a:txBody>
                  <a:tcPr marL="73152" marR="73152" marT="27432" marB="27432" anchor="ctr">
                    <a:solidFill>
                      <a:srgbClr val="FFFFFF"/>
                    </a:solidFill>
                  </a:tcPr>
                </a:tc>
                <a:tc>
                  <a:txBody>
                    <a:bodyPr wrap="square"/>
                    <a:lstStyle/>
                    <a:p>
                      <a:pPr algn="l"/>
                      <a:r>
                        <a:rPr sz="1200" b="0">
                          <a:solidFill>
                            <a:srgbClr val="262626"/>
                          </a:solidFill>
                          <a:latin typeface="Arial"/>
                        </a:rPr>
                        <a:t>"có thể"; con số từ bảng đặc điểm mẫu (80,0%)</a:t>
                      </a:r>
                    </a:p>
                  </a:txBody>
                  <a:tcPr marL="73152" marR="73152" marT="27432" marB="27432" anchor="ctr">
                    <a:solidFill>
                      <a:srgbClr val="FFFFFF"/>
                    </a:solidFill>
                  </a:tcPr>
                </a:tc>
              </a:tr>
              <a:tr h="502920">
                <a:tc>
                  <a:txBody>
                    <a:bodyPr wrap="square"/>
                    <a:lstStyle/>
                    <a:p>
                      <a:pPr algn="l"/>
                      <a:r>
                        <a:rPr sz="1200" b="0">
                          <a:solidFill>
                            <a:srgbClr val="262626"/>
                          </a:solidFill>
                          <a:latin typeface="Arial"/>
                        </a:rPr>
                        <a:t>[5]</a:t>
                      </a:r>
                    </a:p>
                  </a:txBody>
                  <a:tcPr marL="73152" marR="73152" marT="27432" marB="27432" anchor="ctr">
                    <a:solidFill>
                      <a:srgbClr val="F3F3F3"/>
                    </a:solidFill>
                  </a:tcPr>
                </a:tc>
                <a:tc>
                  <a:txBody>
                    <a:bodyPr wrap="square"/>
                    <a:lstStyle/>
                    <a:p>
                      <a:pPr algn="l"/>
                      <a:r>
                        <a:rPr sz="1200" b="0">
                          <a:solidFill>
                            <a:srgbClr val="262626"/>
                          </a:solidFill>
                          <a:latin typeface="Arial"/>
                        </a:rPr>
                        <a:t>Dựa vào tài liệu để củng cố cách giải thích</a:t>
                      </a:r>
                    </a:p>
                  </a:txBody>
                  <a:tcPr marL="73152" marR="73152" marT="27432" marB="27432" anchor="ctr">
                    <a:solidFill>
                      <a:srgbClr val="F3F3F3"/>
                    </a:solidFill>
                  </a:tcPr>
                </a:tc>
                <a:tc>
                  <a:txBody>
                    <a:bodyPr wrap="square"/>
                    <a:lstStyle/>
                    <a:p>
                      <a:pPr algn="l"/>
                      <a:r>
                        <a:rPr sz="1200" b="0">
                          <a:solidFill>
                            <a:srgbClr val="262626"/>
                          </a:solidFill>
                          <a:latin typeface="Arial"/>
                        </a:rPr>
                        <a:t>Tên lý thuyết khác (UTAUT); trích dẫn</a:t>
                      </a:r>
                    </a:p>
                  </a:txBody>
                  <a:tcPr marL="73152" marR="73152" marT="27432" marB="27432" anchor="ctr">
                    <a:solidFill>
                      <a:srgbClr val="F3F3F3"/>
                    </a:solidFill>
                  </a:tcPr>
                </a:tc>
              </a:tr>
              <a:tr h="502920">
                <a:tc>
                  <a:txBody>
                    <a:bodyPr wrap="square"/>
                    <a:lstStyle/>
                    <a:p>
                      <a:pPr algn="l"/>
                      <a:r>
                        <a:rPr sz="1200" b="0">
                          <a:solidFill>
                            <a:srgbClr val="262626"/>
                          </a:solidFill>
                          <a:latin typeface="Arial"/>
                        </a:rPr>
                        <a:t>[6]</a:t>
                      </a:r>
                    </a:p>
                  </a:txBody>
                  <a:tcPr marL="73152" marR="73152" marT="27432" marB="27432" anchor="ctr">
                    <a:solidFill>
                      <a:srgbClr val="FFFFFF"/>
                    </a:solidFill>
                  </a:tcPr>
                </a:tc>
                <a:tc>
                  <a:txBody>
                    <a:bodyPr wrap="square"/>
                    <a:lstStyle/>
                    <a:p>
                      <a:pPr algn="l"/>
                      <a:r>
                        <a:rPr sz="1200" b="0">
                          <a:solidFill>
                            <a:srgbClr val="262626"/>
                          </a:solidFill>
                          <a:latin typeface="Arial"/>
                        </a:rPr>
                        <a:t>Nêu đóng góp ở mức phù hợp</a:t>
                      </a:r>
                    </a:p>
                  </a:txBody>
                  <a:tcPr marL="73152" marR="73152" marT="27432" marB="27432" anchor="ctr">
                    <a:solidFill>
                      <a:srgbClr val="FFFFFF"/>
                    </a:solidFill>
                  </a:tcPr>
                </a:tc>
                <a:tc>
                  <a:txBody>
                    <a:bodyPr wrap="square"/>
                    <a:lstStyle/>
                    <a:p>
                      <a:pPr algn="l"/>
                      <a:r>
                        <a:rPr sz="1200" b="0">
                          <a:solidFill>
                            <a:srgbClr val="262626"/>
                          </a:solidFill>
                          <a:latin typeface="Arial"/>
                        </a:rPr>
                        <a:t>"bổ sung bằng chứng"; nêu rõ bối cảnh</a:t>
                      </a:r>
                    </a:p>
                  </a:txBody>
                  <a:tcPr marL="73152" marR="73152" marT="27432" marB="27432" anchor="ctr">
                    <a:solidFill>
                      <a:srgbClr val="FFFFFF"/>
                    </a:solidFill>
                  </a:tcPr>
                </a:tc>
              </a:tr>
              <a:tr h="502920">
                <a:tc>
                  <a:txBody>
                    <a:bodyPr wrap="square"/>
                    <a:lstStyle/>
                    <a:p>
                      <a:pPr algn="l"/>
                      <a:r>
                        <a:rPr sz="1200" b="0">
                          <a:solidFill>
                            <a:srgbClr val="262626"/>
                          </a:solidFill>
                          <a:latin typeface="Arial"/>
                        </a:rPr>
                        <a:t>[7]</a:t>
                      </a:r>
                    </a:p>
                  </a:txBody>
                  <a:tcPr marL="73152" marR="73152" marT="27432" marB="27432" anchor="ctr">
                    <a:solidFill>
                      <a:srgbClr val="F3F3F3"/>
                    </a:solidFill>
                  </a:tcPr>
                </a:tc>
                <a:tc>
                  <a:txBody>
                    <a:bodyPr wrap="square"/>
                    <a:lstStyle/>
                    <a:p>
                      <a:pPr algn="l"/>
                      <a:r>
                        <a:rPr sz="1200" b="0">
                          <a:solidFill>
                            <a:srgbClr val="262626"/>
                          </a:solidFill>
                          <a:latin typeface="Arial"/>
                        </a:rPr>
                        <a:t>Chuyển cách giải thích thành việc cho nghiên cứu sau</a:t>
                      </a:r>
                    </a:p>
                  </a:txBody>
                  <a:tcPr marL="73152" marR="73152" marT="27432" marB="27432" anchor="ctr">
                    <a:solidFill>
                      <a:srgbClr val="F3F3F3"/>
                    </a:solidFill>
                  </a:tcPr>
                </a:tc>
                <a:tc>
                  <a:txBody>
                    <a:bodyPr wrap="square"/>
                    <a:lstStyle/>
                    <a:p>
                      <a:pPr algn="l"/>
                      <a:r>
                        <a:rPr sz="1200" b="0">
                          <a:solidFill>
                            <a:srgbClr val="262626"/>
                          </a:solidFill>
                          <a:latin typeface="Arial"/>
                        </a:rPr>
                        <a:t>"nghiên cứu sau có thể"</a:t>
                      </a:r>
                    </a:p>
                  </a:txBody>
                  <a:tcPr marL="73152" marR="73152" marT="27432" marB="27432" anchor="ctr">
                    <a:solidFill>
                      <a:srgbClr val="F3F3F3"/>
                    </a:solidFill>
                  </a:tcPr>
                </a:tc>
              </a:tr>
            </a:tbl>
          </a:graphicData>
        </a:graphic>
      </p:graphicFrame>
      <p:sp>
        <p:nvSpPr>
          <p:cNvPr id="13" name="TextBox 12"/>
          <p:cNvSpPr txBox="1"/>
          <p:nvPr/>
        </p:nvSpPr>
        <p:spPr>
          <a:xfrm>
            <a:off x="8869680" y="1783080"/>
            <a:ext cx="2862071"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VIẾT CHƯA ĐẠT</a:t>
            </a:r>
          </a:p>
        </p:txBody>
      </p:sp>
      <p:cxnSp>
        <p:nvCxnSpPr>
          <p:cNvPr id="14" name="Connector 13"/>
          <p:cNvCxnSpPr/>
          <p:nvPr/>
        </p:nvCxnSpPr>
        <p:spPr>
          <a:xfrm>
            <a:off x="8869680" y="2103120"/>
            <a:ext cx="286207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869680" y="2167128"/>
            <a:ext cx="2862071" cy="3383280"/>
          </a:xfrm>
          <a:prstGeom prst="rect">
            <a:avLst/>
          </a:prstGeom>
          <a:noFill/>
        </p:spPr>
        <p:txBody>
          <a:bodyPr wrap="square" lIns="45720" rIns="45720" tIns="27432" bIns="27432" anchor="t">
            <a:spAutoFit/>
          </a:bodyPr>
          <a:lstStyle/>
          <a:p>
            <a:pPr algn="l"/>
            <a:r>
              <a:rPr sz="1250" b="0" i="0">
                <a:solidFill>
                  <a:srgbClr val="58595B"/>
                </a:solidFill>
                <a:latin typeface="Arial"/>
              </a:rPr>
              <a:t>"Riêng H2 không được ủng hộ, đây là </a:t>
            </a:r>
            <a:r>
              <a:rPr sz="1250" b="1" i="0">
                <a:solidFill>
                  <a:srgbClr val="58595B"/>
                </a:solidFill>
                <a:latin typeface="Arial"/>
              </a:rPr>
              <a:t>đóng góp mới</a:t>
            </a:r>
            <a:r>
              <a:rPr sz="1250" b="0" i="0">
                <a:solidFill>
                  <a:srgbClr val="58595B"/>
                </a:solidFill>
                <a:latin typeface="Arial"/>
              </a:rPr>
              <a:t> của nghiên cứu."</a:t>
            </a:r>
          </a:p>
          <a:p>
            <a:pPr algn="l">
              <a:spcBef>
                <a:spcPts val="562"/>
              </a:spcBef>
            </a:pPr>
          </a:p>
          <a:p>
            <a:pPr algn="l">
              <a:spcBef>
                <a:spcPts val="562"/>
              </a:spcBef>
            </a:pPr>
            <a:r>
              <a:rPr sz="1250" b="0" i="0">
                <a:solidFill>
                  <a:srgbClr val="58595B"/>
                </a:solidFill>
                <a:latin typeface="Arial"/>
              </a:rPr>
              <a:t>Không giải thích vì sao; biến một kết quả chưa rõ nguyên nhân thành đóng góp. Người chấm sẽ hỏi: mới ở điểm nào, căn cứ là gì?</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KẾT QUẢ BẤT NGỜ</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H2 không được ủng hộ là phần thảo luận có giá trị nhất nếu được giải thích bằng số liệu và lý thuyết</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Mỗi giải thích là một giả định để nghiên cứu sau kiểm tra, nên luôn dùng "có thể" và dẫn sang hướng nghiên cứu tiếp theo.</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4.5.3, Hình 4-17; file 3.Chapter_4_and_Chapter_5_Practice_NH_X.xlsx (dữ liệu giả định), sheet 12_TinhHuong</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90</a:t>
            </a:r>
          </a:p>
        </p:txBody>
      </p:sp>
      <p:sp>
        <p:nvSpPr>
          <p:cNvPr id="12" name="Rectangle 11"/>
          <p:cNvSpPr/>
          <p:nvPr/>
        </p:nvSpPr>
        <p:spPr>
          <a:xfrm>
            <a:off x="402336" y="2139234"/>
            <a:ext cx="5961888" cy="312817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74_new.png"/>
          <p:cNvPicPr>
            <a:picLocks noChangeAspect="1"/>
          </p:cNvPicPr>
          <p:nvPr/>
        </p:nvPicPr>
        <p:blipFill>
          <a:blip r:embed="rId2"/>
          <a:stretch>
            <a:fillRect/>
          </a:stretch>
        </p:blipFill>
        <p:spPr>
          <a:xfrm>
            <a:off x="457200" y="2194098"/>
            <a:ext cx="5852160" cy="3018443"/>
          </a:xfrm>
          <a:prstGeom prst="rect">
            <a:avLst/>
          </a:prstGeom>
        </p:spPr>
      </p:pic>
      <p:sp>
        <p:nvSpPr>
          <p:cNvPr id="14" name="TextBox 13"/>
          <p:cNvSpPr txBox="1"/>
          <p:nvPr/>
        </p:nvSpPr>
        <p:spPr>
          <a:xfrm>
            <a:off x="6629400" y="1783080"/>
            <a:ext cx="5102352" cy="274320"/>
          </a:xfrm>
          <a:prstGeom prst="rect">
            <a:avLst/>
          </a:prstGeom>
          <a:noFill/>
        </p:spPr>
        <p:txBody>
          <a:bodyPr wrap="square" lIns="45720" rIns="45720" tIns="27432" bIns="27432" anchor="t">
            <a:spAutoFit/>
          </a:bodyPr>
          <a:lstStyle/>
          <a:p>
            <a:pPr algn="l"/>
            <a:r>
              <a:rPr sz="1000" b="1" i="0">
                <a:solidFill>
                  <a:srgbClr val="CC0000"/>
                </a:solidFill>
                <a:latin typeface="Arial"/>
              </a:rPr>
              <a:t>HAI CÁCH GIẢI THÍCH CÓ CĂN CỨ</a:t>
            </a:r>
          </a:p>
        </p:txBody>
      </p:sp>
      <p:cxnSp>
        <p:nvCxnSpPr>
          <p:cNvPr id="15" name="Connector 14"/>
          <p:cNvCxnSpPr/>
          <p:nvPr/>
        </p:nvCxnSpPr>
        <p:spPr>
          <a:xfrm>
            <a:off x="6629400" y="2103120"/>
            <a:ext cx="51023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62940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040880" y="219456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Kinh nghiệm người dùng:</a:t>
            </a:r>
            <a:r>
              <a:rPr sz="1350" b="0" i="0">
                <a:solidFill>
                  <a:srgbClr val="58595B"/>
                </a:solidFill>
                <a:latin typeface="Arial"/>
              </a:rPr>
              <a:t> 80,0% đã dùng từ một năm; theo UTAUT, tác động của kỳ vọng nỗ lực giảm khi người dùng có kinh nghiệm (Venkatesh và cộng sự, 2003).</a:t>
            </a:r>
          </a:p>
        </p:txBody>
      </p:sp>
      <p:sp>
        <p:nvSpPr>
          <p:cNvPr id="18" name="Oval 17"/>
          <p:cNvSpPr/>
          <p:nvPr/>
        </p:nvSpPr>
        <p:spPr>
          <a:xfrm>
            <a:off x="662940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040880" y="305181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Quan hệ gián tiếp:</a:t>
            </a:r>
            <a:r>
              <a:rPr sz="1350" b="0" i="0">
                <a:solidFill>
                  <a:srgbClr val="58595B"/>
                </a:solidFill>
                <a:latin typeface="Arial"/>
              </a:rPr>
              <a:t> Davis (1989) cho rằng sự dễ sử dụng có thể dẫn đến sự hữu ích; trong dữ liệu SD tương quan với HI (r = 0,348).</a:t>
            </a:r>
          </a:p>
        </p:txBody>
      </p:sp>
      <p:sp>
        <p:nvSpPr>
          <p:cNvPr id="20" name="Oval 19"/>
          <p:cNvSpPr/>
          <p:nvPr/>
        </p:nvSpPr>
        <p:spPr>
          <a:xfrm>
            <a:off x="662940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040880" y="390906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Bằng chứng trong file:</a:t>
            </a:r>
            <a:r>
              <a:rPr sz="1350" b="0" i="0">
                <a:solidFill>
                  <a:srgbClr val="58595B"/>
                </a:solidFill>
                <a:latin typeface="Arial"/>
              </a:rPr>
              <a:t> SD có ý nghĩa khi chỉ đứng cùng XH (p = 0,003) nhưng mất ý nghĩa khi HI có mặt (p = 0,310).</a:t>
            </a:r>
          </a:p>
        </p:txBody>
      </p:sp>
      <p:sp>
        <p:nvSpPr>
          <p:cNvPr id="22" name="Oval 21"/>
          <p:cNvSpPr/>
          <p:nvPr/>
        </p:nvSpPr>
        <p:spPr>
          <a:xfrm>
            <a:off x="662940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3" name="TextBox 22"/>
          <p:cNvSpPr txBox="1"/>
          <p:nvPr/>
        </p:nvSpPr>
        <p:spPr>
          <a:xfrm>
            <a:off x="7040880" y="4766310"/>
            <a:ext cx="4690872" cy="857250"/>
          </a:xfrm>
          <a:prstGeom prst="rect">
            <a:avLst/>
          </a:prstGeom>
          <a:noFill/>
        </p:spPr>
        <p:txBody>
          <a:bodyPr wrap="square" lIns="45720" rIns="45720" tIns="27432" bIns="27432" anchor="t">
            <a:spAutoFit/>
          </a:bodyPr>
          <a:lstStyle/>
          <a:p>
            <a:pPr algn="l"/>
            <a:r>
              <a:rPr sz="1350" b="1" i="0">
                <a:solidFill>
                  <a:srgbClr val="58595B"/>
                </a:solidFill>
                <a:latin typeface="Arial"/>
              </a:rPr>
              <a:t>Không được viết:</a:t>
            </a:r>
            <a:r>
              <a:rPr sz="1350" b="0" i="0">
                <a:solidFill>
                  <a:srgbClr val="58595B"/>
                </a:solidFill>
                <a:latin typeface="Arial"/>
              </a:rPr>
              <a:t> "do khách hàng trả lời không trung thực" hay "đây là đóng góp mới".</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BA TÌNH HUỐNG KHÓ</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Kết quả khác dự đoán không phải lỗi; lỗi chỉ xuất hiện khi giấu kết quả, sửa dữ liệu hoặc thêm bớt biến cho "đẹp"</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Thứ tự đọc khi gặp khó: Significance F, rồi R², rồi từng hệ số; ở bước nào có vấn đề thì xử lý ở bước đó.</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4.5.3 (Ba tình huống khó khi đọc kết quả hồi quy), Hình 4-18 đến 4-20; file 3.Chapter_4_and_Chapter_5_Practice_NH_X.xlsx (dữ liệu giả định), sheet 12_TinhHuong</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91</a:t>
            </a:r>
          </a:p>
        </p:txBody>
      </p:sp>
      <p:sp>
        <p:nvSpPr>
          <p:cNvPr id="11" name="Rectangle 10"/>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Mô hình không có ý nghĩa</a:t>
            </a:r>
          </a:p>
        </p:txBody>
      </p:sp>
      <p:sp>
        <p:nvSpPr>
          <p:cNvPr id="14" name="TextBox 13"/>
          <p:cNvSpPr txBox="1"/>
          <p:nvPr/>
        </p:nvSpPr>
        <p:spPr>
          <a:xfrm>
            <a:off x="457200" y="2560320"/>
            <a:ext cx="3575304" cy="3017520"/>
          </a:xfrm>
          <a:prstGeom prst="rect">
            <a:avLst/>
          </a:prstGeom>
          <a:noFill/>
        </p:spPr>
        <p:txBody>
          <a:bodyPr wrap="square" lIns="45720" rIns="45720" tIns="27432" bIns="27432" anchor="t">
            <a:spAutoFit/>
          </a:bodyPr>
          <a:lstStyle/>
          <a:p>
            <a:pPr algn="l"/>
            <a:r>
              <a:rPr sz="1250" b="0" i="0">
                <a:solidFill>
                  <a:srgbClr val="58595B"/>
                </a:solidFill>
                <a:latin typeface="Arial"/>
              </a:rPr>
              <a:t>Significance F từ 0,05 trở lên.</a:t>
            </a:r>
          </a:p>
          <a:p>
            <a:pPr algn="l">
              <a:spcBef>
                <a:spcPts val="562"/>
              </a:spcBef>
            </a:pPr>
          </a:p>
          <a:p>
            <a:pPr algn="l">
              <a:spcBef>
                <a:spcPts val="562"/>
              </a:spcBef>
            </a:pPr>
            <a:r>
              <a:rPr sz="1250" b="0" i="0">
                <a:solidFill>
                  <a:srgbClr val="58595B"/>
                </a:solidFill>
                <a:latin typeface="Arial"/>
              </a:rPr>
              <a:t>Kiểm tra lại dữ liệu, thang đo, giả định. Không có lỗi thì giữ nguyên và viết "dữ liệu chưa ủng hộ mô hình đề xuất".</a:t>
            </a:r>
          </a:p>
          <a:p>
            <a:pPr algn="l">
              <a:spcBef>
                <a:spcPts val="562"/>
              </a:spcBef>
            </a:pPr>
          </a:p>
          <a:p>
            <a:pPr algn="l">
              <a:spcBef>
                <a:spcPts val="562"/>
              </a:spcBef>
            </a:pPr>
            <a:r>
              <a:rPr sz="1250" b="0" i="0">
                <a:solidFill>
                  <a:srgbClr val="58595B"/>
                </a:solidFill>
                <a:latin typeface="Arial"/>
              </a:rPr>
              <a:t>Không kết luận giả thuyết từ một hệ số đơn lẻ.</a:t>
            </a:r>
          </a:p>
        </p:txBody>
      </p:sp>
      <p:sp>
        <p:nvSpPr>
          <p:cNvPr id="15" name="Rectangle 14"/>
          <p:cNvSpPr/>
          <p:nvPr/>
        </p:nvSpPr>
        <p:spPr>
          <a:xfrm>
            <a:off x="4306824" y="1783080"/>
            <a:ext cx="3575304"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R² thấp</a:t>
            </a:r>
          </a:p>
        </p:txBody>
      </p:sp>
      <p:sp>
        <p:nvSpPr>
          <p:cNvPr id="18" name="TextBox 17"/>
          <p:cNvSpPr txBox="1"/>
          <p:nvPr/>
        </p:nvSpPr>
        <p:spPr>
          <a:xfrm>
            <a:off x="4306824" y="2560320"/>
            <a:ext cx="3575304" cy="3017520"/>
          </a:xfrm>
          <a:prstGeom prst="rect">
            <a:avLst/>
          </a:prstGeom>
          <a:noFill/>
        </p:spPr>
        <p:txBody>
          <a:bodyPr wrap="square" lIns="45720" rIns="45720" tIns="27432" bIns="27432" anchor="t">
            <a:spAutoFit/>
          </a:bodyPr>
          <a:lstStyle/>
          <a:p>
            <a:pPr algn="l"/>
            <a:r>
              <a:rPr sz="1250" b="0" i="0">
                <a:solidFill>
                  <a:srgbClr val="58595B"/>
                </a:solidFill>
                <a:latin typeface="Arial"/>
              </a:rPr>
              <a:t>Không có ngưỡng R² chung; so với R² của các nghiên cứu cùng chủ đề.</a:t>
            </a:r>
          </a:p>
          <a:p>
            <a:pPr algn="l">
              <a:spcBef>
                <a:spcPts val="562"/>
              </a:spcBef>
            </a:pPr>
          </a:p>
          <a:p>
            <a:pPr algn="l">
              <a:spcBef>
                <a:spcPts val="562"/>
              </a:spcBef>
            </a:pPr>
            <a:r>
              <a:rPr sz="1250" b="0" i="0">
                <a:solidFill>
                  <a:srgbClr val="58595B"/>
                </a:solidFill>
                <a:latin typeface="Arial"/>
              </a:rPr>
              <a:t>Mô hình chỉ có SD và XH: R² = </a:t>
            </a:r>
            <a:r>
              <a:rPr sz="1250" b="1" i="0">
                <a:solidFill>
                  <a:srgbClr val="58595B"/>
                </a:solidFill>
                <a:latin typeface="Arial"/>
              </a:rPr>
              <a:t>0,266</a:t>
            </a:r>
            <a:r>
              <a:rPr sz="1250" b="0" i="0">
                <a:solidFill>
                  <a:srgbClr val="58595B"/>
                </a:solidFill>
                <a:latin typeface="Arial"/>
              </a:rPr>
              <a:t> so với </a:t>
            </a:r>
            <a:r>
              <a:rPr sz="1250" b="1" i="0">
                <a:solidFill>
                  <a:srgbClr val="58595B"/>
                </a:solidFill>
                <a:latin typeface="Arial"/>
              </a:rPr>
              <a:t>0,537</a:t>
            </a:r>
            <a:r>
              <a:rPr sz="1250" b="0" i="0">
                <a:solidFill>
                  <a:srgbClr val="58595B"/>
                </a:solidFill>
                <a:latin typeface="Arial"/>
              </a:rPr>
              <a:t> của mô hình đầy đủ, vẫn có ý nghĩa.</a:t>
            </a:r>
          </a:p>
          <a:p>
            <a:pPr algn="l">
              <a:spcBef>
                <a:spcPts val="562"/>
              </a:spcBef>
            </a:pPr>
          </a:p>
          <a:p>
            <a:pPr algn="l">
              <a:spcBef>
                <a:spcPts val="562"/>
              </a:spcBef>
            </a:pPr>
            <a:r>
              <a:rPr sz="1250" b="0" i="0">
                <a:solidFill>
                  <a:srgbClr val="58595B"/>
                </a:solidFill>
                <a:latin typeface="Arial"/>
              </a:rPr>
              <a:t>HI, NT được đưa vào vì lý thuyết, không phải để R² tăng.</a:t>
            </a:r>
          </a:p>
        </p:txBody>
      </p:sp>
      <p:sp>
        <p:nvSpPr>
          <p:cNvPr id="19" name="Rectangle 18"/>
          <p:cNvSpPr/>
          <p:nvPr/>
        </p:nvSpPr>
        <p:spPr>
          <a:xfrm>
            <a:off x="8156448"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Nhiều giả thuyết không được ủng hộ</a:t>
            </a:r>
          </a:p>
        </p:txBody>
      </p:sp>
      <p:sp>
        <p:nvSpPr>
          <p:cNvPr id="22" name="TextBox 21"/>
          <p:cNvSpPr txBox="1"/>
          <p:nvPr/>
        </p:nvSpPr>
        <p:spPr>
          <a:xfrm>
            <a:off x="8156448" y="2560320"/>
            <a:ext cx="3575304" cy="3017520"/>
          </a:xfrm>
          <a:prstGeom prst="rect">
            <a:avLst/>
          </a:prstGeom>
          <a:noFill/>
        </p:spPr>
        <p:txBody>
          <a:bodyPr wrap="square" lIns="45720" rIns="45720" tIns="27432" bIns="27432" anchor="t">
            <a:spAutoFit/>
          </a:bodyPr>
          <a:lstStyle/>
          <a:p>
            <a:pPr algn="l"/>
            <a:r>
              <a:rPr sz="1250" b="0" i="0">
                <a:solidFill>
                  <a:srgbClr val="58595B"/>
                </a:solidFill>
                <a:latin typeface="Arial"/>
              </a:rPr>
              <a:t>Giữ nguyên giả thuyết ở Chương 2.</a:t>
            </a:r>
          </a:p>
          <a:p>
            <a:pPr algn="l">
              <a:spcBef>
                <a:spcPts val="562"/>
              </a:spcBef>
            </a:pPr>
          </a:p>
          <a:p>
            <a:pPr algn="l">
              <a:spcBef>
                <a:spcPts val="562"/>
              </a:spcBef>
            </a:pPr>
            <a:r>
              <a:rPr sz="1250" b="0" i="0">
                <a:solidFill>
                  <a:srgbClr val="58595B"/>
                </a:solidFill>
                <a:latin typeface="Arial"/>
              </a:rPr>
              <a:t>So cỡ mẫu thực tế với cỡ mẫu tối thiểu.</a:t>
            </a:r>
          </a:p>
          <a:p>
            <a:pPr algn="l">
              <a:spcBef>
                <a:spcPts val="562"/>
              </a:spcBef>
            </a:pPr>
          </a:p>
          <a:p>
            <a:pPr algn="l">
              <a:spcBef>
                <a:spcPts val="562"/>
              </a:spcBef>
            </a:pPr>
            <a:r>
              <a:rPr sz="1250" b="0" i="0">
                <a:solidFill>
                  <a:srgbClr val="58595B"/>
                </a:solidFill>
                <a:latin typeface="Arial"/>
              </a:rPr>
              <a:t>Mỗi giả thuyết một đoạn riêng; không gộp và không gọi là "phát hiện mới".</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VIẾT KẾT QUẢ ĐỊNH LƯỢNG VÀ ĐỊNH TÍNH</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Cả hai loại nghiên cứu đều quay về câu hỏi ở Chương 1; khác nhau ở loại bằng chứng được trình bày</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Khóa luận định tính không có P-value nhưng vẫn cần bằng chứng: trích dẫn nguyên văn và mô tả rõ cách phân tích.</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F và Bảng 4-15; Trần Phước (n.d., tr. 58, 69 đến 71)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92</a:t>
            </a:r>
          </a:p>
        </p:txBody>
      </p:sp>
      <p:graphicFrame>
        <p:nvGraphicFramePr>
          <p:cNvPr id="11" name="Table 10"/>
          <p:cNvGraphicFramePr>
            <a:graphicFrameLocks noGrp="1"/>
          </p:cNvGraphicFramePr>
          <p:nvPr/>
        </p:nvGraphicFramePr>
        <p:xfrm>
          <a:off x="457200" y="1783080"/>
          <a:ext cx="11274551" cy="3593592"/>
        </p:xfrm>
        <a:graphic>
          <a:graphicData uri="http://schemas.openxmlformats.org/drawingml/2006/table">
            <a:tbl>
              <a:tblPr firstRow="1" bandRow="1">
                <a:tableStyleId>{5C22544A-7EE6-4342-B048-85BDC9FD1C3A}</a:tableStyleId>
              </a:tblPr>
              <a:tblGrid>
                <a:gridCol w="2423501"/>
                <a:gridCol w="4425525"/>
                <a:gridCol w="4425525"/>
              </a:tblGrid>
              <a:tr h="411480">
                <a:tc>
                  <a:txBody>
                    <a:bodyPr wrap="square"/>
                    <a:lstStyle/>
                    <a:p>
                      <a:pPr algn="l"/>
                      <a:r>
                        <a:rPr sz="1200" b="1">
                          <a:solidFill>
                            <a:srgbClr val="FFFFFF"/>
                          </a:solidFill>
                          <a:latin typeface="Arial"/>
                        </a:rPr>
                        <a:t>Tiêu chí</a:t>
                      </a:r>
                    </a:p>
                  </a:txBody>
                  <a:tcPr marL="73152" marR="73152" marT="27432" marB="27432" anchor="ctr">
                    <a:solidFill>
                      <a:srgbClr val="262626"/>
                    </a:solidFill>
                  </a:tcPr>
                </a:tc>
                <a:tc>
                  <a:txBody>
                    <a:bodyPr wrap="square"/>
                    <a:lstStyle/>
                    <a:p>
                      <a:pPr algn="l"/>
                      <a:r>
                        <a:rPr sz="1200" b="1">
                          <a:solidFill>
                            <a:srgbClr val="FFFFFF"/>
                          </a:solidFill>
                          <a:latin typeface="Arial"/>
                        </a:rPr>
                        <a:t>Định lượng</a:t>
                      </a:r>
                    </a:p>
                  </a:txBody>
                  <a:tcPr marL="73152" marR="73152" marT="27432" marB="27432" anchor="ctr">
                    <a:solidFill>
                      <a:srgbClr val="262626"/>
                    </a:solidFill>
                  </a:tcPr>
                </a:tc>
                <a:tc>
                  <a:txBody>
                    <a:bodyPr wrap="square"/>
                    <a:lstStyle/>
                    <a:p>
                      <a:pPr algn="l"/>
                      <a:r>
                        <a:rPr sz="1200" b="1">
                          <a:solidFill>
                            <a:srgbClr val="FFFFFF"/>
                          </a:solidFill>
                          <a:latin typeface="Arial"/>
                        </a:rPr>
                        <a:t>Định tính</a:t>
                      </a:r>
                    </a:p>
                  </a:txBody>
                  <a:tcPr marL="73152" marR="73152" marT="27432" marB="27432" anchor="ctr">
                    <a:solidFill>
                      <a:srgbClr val="262626"/>
                    </a:solidFill>
                  </a:tcPr>
                </a:tc>
              </a:tr>
              <a:tr h="530352">
                <a:tc>
                  <a:txBody>
                    <a:bodyPr wrap="square"/>
                    <a:lstStyle/>
                    <a:p>
                      <a:pPr algn="l"/>
                      <a:r>
                        <a:rPr sz="1200" b="0">
                          <a:solidFill>
                            <a:srgbClr val="262626"/>
                          </a:solidFill>
                          <a:latin typeface="Arial"/>
                        </a:rPr>
                        <a:t>Câu hỏi chương trả lời</a:t>
                      </a:r>
                    </a:p>
                  </a:txBody>
                  <a:tcPr marL="73152" marR="73152" marT="27432" marB="27432" anchor="ctr">
                    <a:solidFill>
                      <a:srgbClr val="FFFFFF"/>
                    </a:solidFill>
                  </a:tcPr>
                </a:tc>
                <a:tc>
                  <a:txBody>
                    <a:bodyPr wrap="square"/>
                    <a:lstStyle/>
                    <a:p>
                      <a:pPr algn="l"/>
                      <a:r>
                        <a:rPr sz="1200" b="0">
                          <a:solidFill>
                            <a:srgbClr val="262626"/>
                          </a:solidFill>
                          <a:latin typeface="Arial"/>
                        </a:rPr>
                        <a:t>Giả thuyết có được ủng hộ; tác động mạnh hay yếu</a:t>
                      </a:r>
                    </a:p>
                  </a:txBody>
                  <a:tcPr marL="73152" marR="73152" marT="27432" marB="27432" anchor="ctr">
                    <a:solidFill>
                      <a:srgbClr val="FFFFFF"/>
                    </a:solidFill>
                  </a:tcPr>
                </a:tc>
                <a:tc>
                  <a:txBody>
                    <a:bodyPr wrap="square"/>
                    <a:lstStyle/>
                    <a:p>
                      <a:pPr algn="l"/>
                      <a:r>
                        <a:rPr sz="1200" b="0">
                          <a:solidFill>
                            <a:srgbClr val="262626"/>
                          </a:solidFill>
                          <a:latin typeface="Arial"/>
                        </a:rPr>
                        <a:t>Người tham gia trải nghiệm vấn đề ra sao; vì sao họ nghĩ vậy</a:t>
                      </a:r>
                    </a:p>
                  </a:txBody>
                  <a:tcPr marL="73152" marR="73152" marT="27432" marB="27432" anchor="ctr">
                    <a:solidFill>
                      <a:srgbClr val="FFFFFF"/>
                    </a:solidFill>
                  </a:tcPr>
                </a:tc>
              </a:tr>
              <a:tr h="530352">
                <a:tc>
                  <a:txBody>
                    <a:bodyPr wrap="square"/>
                    <a:lstStyle/>
                    <a:p>
                      <a:pPr algn="l"/>
                      <a:r>
                        <a:rPr sz="1200" b="0">
                          <a:solidFill>
                            <a:srgbClr val="262626"/>
                          </a:solidFill>
                          <a:latin typeface="Arial"/>
                        </a:rPr>
                        <a:t>Dữ liệu trình bày</a:t>
                      </a:r>
                    </a:p>
                  </a:txBody>
                  <a:tcPr marL="73152" marR="73152" marT="27432" marB="27432" anchor="ctr">
                    <a:solidFill>
                      <a:srgbClr val="F3F3F3"/>
                    </a:solidFill>
                  </a:tcPr>
                </a:tc>
                <a:tc>
                  <a:txBody>
                    <a:bodyPr wrap="square"/>
                    <a:lstStyle/>
                    <a:p>
                      <a:pPr algn="l"/>
                      <a:r>
                        <a:rPr sz="1200" b="0">
                          <a:solidFill>
                            <a:srgbClr val="262626"/>
                          </a:solidFill>
                          <a:latin typeface="Arial"/>
                        </a:rPr>
                        <a:t>Bảng số, biểu đồ</a:t>
                      </a:r>
                    </a:p>
                  </a:txBody>
                  <a:tcPr marL="73152" marR="73152" marT="27432" marB="27432" anchor="ctr">
                    <a:solidFill>
                      <a:srgbClr val="F3F3F3"/>
                    </a:solidFill>
                  </a:tcPr>
                </a:tc>
                <a:tc>
                  <a:txBody>
                    <a:bodyPr wrap="square"/>
                    <a:lstStyle/>
                    <a:p>
                      <a:pPr algn="l"/>
                      <a:r>
                        <a:rPr sz="1200" b="0">
                          <a:solidFill>
                            <a:srgbClr val="262626"/>
                          </a:solidFill>
                          <a:latin typeface="Arial"/>
                        </a:rPr>
                        <a:t>Chủ đề và trích dẫn nguyên văn</a:t>
                      </a:r>
                    </a:p>
                  </a:txBody>
                  <a:tcPr marL="73152" marR="73152" marT="27432" marB="27432" anchor="ctr">
                    <a:solidFill>
                      <a:srgbClr val="F3F3F3"/>
                    </a:solidFill>
                  </a:tcPr>
                </a:tc>
              </a:tr>
              <a:tr h="530352">
                <a:tc>
                  <a:txBody>
                    <a:bodyPr wrap="square"/>
                    <a:lstStyle/>
                    <a:p>
                      <a:pPr algn="l"/>
                      <a:r>
                        <a:rPr sz="1200" b="0">
                          <a:solidFill>
                            <a:srgbClr val="262626"/>
                          </a:solidFill>
                          <a:latin typeface="Arial"/>
                        </a:rPr>
                        <a:t>Số chủ đề chính</a:t>
                      </a:r>
                    </a:p>
                  </a:txBody>
                  <a:tcPr marL="73152" marR="73152" marT="27432" marB="27432" anchor="ctr">
                    <a:solidFill>
                      <a:srgbClr val="FFFFFF"/>
                    </a:solidFill>
                  </a:tcPr>
                </a:tc>
                <a:tc>
                  <a:txBody>
                    <a:bodyPr wrap="square"/>
                    <a:lstStyle/>
                    <a:p>
                      <a:pPr algn="l"/>
                      <a:r>
                        <a:rPr sz="1200" b="0">
                          <a:solidFill>
                            <a:srgbClr val="262626"/>
                          </a:solidFill>
                          <a:latin typeface="Arial"/>
                        </a:rPr>
                        <a:t>Không áp dụng; trình bày theo giả thuyết</a:t>
                      </a:r>
                    </a:p>
                  </a:txBody>
                  <a:tcPr marL="73152" marR="73152" marT="27432" marB="27432" anchor="ctr">
                    <a:solidFill>
                      <a:srgbClr val="FFFFFF"/>
                    </a:solidFill>
                  </a:tcPr>
                </a:tc>
                <a:tc>
                  <a:txBody>
                    <a:bodyPr wrap="square"/>
                    <a:lstStyle/>
                    <a:p>
                      <a:pPr algn="l"/>
                      <a:r>
                        <a:rPr sz="1200" b="0">
                          <a:solidFill>
                            <a:srgbClr val="262626"/>
                          </a:solidFill>
                          <a:latin typeface="Arial"/>
                        </a:rPr>
                        <a:t>Thường 5 đến 7 chủ đề, mỗi chủ đề một tiêu đề</a:t>
                      </a:r>
                    </a:p>
                  </a:txBody>
                  <a:tcPr marL="73152" marR="73152" marT="27432" marB="27432" anchor="ctr">
                    <a:solidFill>
                      <a:srgbClr val="FFFFFF"/>
                    </a:solidFill>
                  </a:tcPr>
                </a:tc>
              </a:tr>
              <a:tr h="530352">
                <a:tc>
                  <a:txBody>
                    <a:bodyPr wrap="square"/>
                    <a:lstStyle/>
                    <a:p>
                      <a:pPr algn="l"/>
                      <a:r>
                        <a:rPr sz="1200" b="0">
                          <a:solidFill>
                            <a:srgbClr val="262626"/>
                          </a:solidFill>
                          <a:latin typeface="Arial"/>
                        </a:rPr>
                        <a:t>Ví dụ câu văn (Trường Y)</a:t>
                      </a:r>
                    </a:p>
                  </a:txBody>
                  <a:tcPr marL="73152" marR="73152" marT="27432" marB="27432" anchor="ctr">
                    <a:solidFill>
                      <a:srgbClr val="F3F3F3"/>
                    </a:solidFill>
                  </a:tcPr>
                </a:tc>
                <a:tc>
                  <a:txBody>
                    <a:bodyPr wrap="square"/>
                    <a:lstStyle/>
                    <a:p>
                      <a:pPr algn="l"/>
                      <a:r>
                        <a:rPr sz="1200" b="0">
                          <a:solidFill>
                            <a:srgbClr val="262626"/>
                          </a:solidFill>
                          <a:latin typeface="Arial"/>
                        </a:rPr>
                        <a:t>"QTHC có tác động cùng chiều đến sự hài lòng (B = 0,174; P-value = 0,014)."</a:t>
                      </a:r>
                    </a:p>
                  </a:txBody>
                  <a:tcPr marL="73152" marR="73152" marT="27432" marB="27432" anchor="ctr">
                    <a:solidFill>
                      <a:srgbClr val="F3F3F3"/>
                    </a:solidFill>
                  </a:tcPr>
                </a:tc>
                <a:tc>
                  <a:txBody>
                    <a:bodyPr wrap="square"/>
                    <a:lstStyle/>
                    <a:p>
                      <a:pPr algn="l"/>
                      <a:r>
                        <a:rPr sz="1200" b="0">
                          <a:solidFill>
                            <a:srgbClr val="262626"/>
                          </a:solidFill>
                          <a:latin typeface="Arial"/>
                        </a:rPr>
                        <a:t>"Nhiều phụ huynh mô tả việc nộp hồ sơ nhiều lần là trải nghiệm mất thời gian..."</a:t>
                      </a:r>
                    </a:p>
                  </a:txBody>
                  <a:tcPr marL="73152" marR="73152" marT="27432" marB="27432" anchor="ctr">
                    <a:solidFill>
                      <a:srgbClr val="F3F3F3"/>
                    </a:solidFill>
                  </a:tcPr>
                </a:tc>
              </a:tr>
              <a:tr h="530352">
                <a:tc>
                  <a:txBody>
                    <a:bodyPr wrap="square"/>
                    <a:lstStyle/>
                    <a:p>
                      <a:pPr algn="l"/>
                      <a:r>
                        <a:rPr sz="1200" b="0">
                          <a:solidFill>
                            <a:srgbClr val="262626"/>
                          </a:solidFill>
                          <a:latin typeface="Arial"/>
                        </a:rPr>
                        <a:t>Kết luận</a:t>
                      </a:r>
                    </a:p>
                  </a:txBody>
                  <a:tcPr marL="73152" marR="73152" marT="27432" marB="27432" anchor="ctr">
                    <a:solidFill>
                      <a:srgbClr val="FFFFFF"/>
                    </a:solidFill>
                  </a:tcPr>
                </a:tc>
                <a:tc>
                  <a:txBody>
                    <a:bodyPr wrap="square"/>
                    <a:lstStyle/>
                    <a:p>
                      <a:pPr algn="l"/>
                      <a:r>
                        <a:rPr sz="1200" b="0">
                          <a:solidFill>
                            <a:srgbClr val="262626"/>
                          </a:solidFill>
                          <a:latin typeface="Arial"/>
                        </a:rPr>
                        <a:t>Khái quát trong phạm vi mẫu cho phép</a:t>
                      </a:r>
                    </a:p>
                  </a:txBody>
                  <a:tcPr marL="73152" marR="73152" marT="27432" marB="27432" anchor="ctr">
                    <a:solidFill>
                      <a:srgbClr val="FFFFFF"/>
                    </a:solidFill>
                  </a:tcPr>
                </a:tc>
                <a:tc>
                  <a:txBody>
                    <a:bodyPr wrap="square"/>
                    <a:lstStyle/>
                    <a:p>
                      <a:pPr algn="l"/>
                      <a:r>
                        <a:rPr sz="1200" b="0">
                          <a:solidFill>
                            <a:srgbClr val="262626"/>
                          </a:solidFill>
                          <a:latin typeface="Arial"/>
                        </a:rPr>
                        <a:t>Hiểu sâu một bối cảnh; không khái quát bằng thống kê</a:t>
                      </a:r>
                    </a:p>
                  </a:txBody>
                  <a:tcPr marL="73152" marR="73152" marT="27432" marB="27432" anchor="ctr">
                    <a:solidFill>
                      <a:srgbClr val="FFFFFF"/>
                    </a:solidFill>
                  </a:tcPr>
                </a:tc>
              </a:tr>
              <a:tr h="530352">
                <a:tc>
                  <a:txBody>
                    <a:bodyPr wrap="square"/>
                    <a:lstStyle/>
                    <a:p>
                      <a:pPr algn="l"/>
                      <a:r>
                        <a:rPr sz="1200" b="0">
                          <a:solidFill>
                            <a:srgbClr val="262626"/>
                          </a:solidFill>
                          <a:latin typeface="Arial"/>
                        </a:rPr>
                        <a:t>Tính tin cậy</a:t>
                      </a:r>
                    </a:p>
                  </a:txBody>
                  <a:tcPr marL="73152" marR="73152" marT="27432" marB="27432" anchor="ctr">
                    <a:solidFill>
                      <a:srgbClr val="F3F3F3"/>
                    </a:solidFill>
                  </a:tcPr>
                </a:tc>
                <a:tc>
                  <a:txBody>
                    <a:bodyPr wrap="square"/>
                    <a:lstStyle/>
                    <a:p>
                      <a:pPr algn="l"/>
                      <a:r>
                        <a:rPr sz="1200" b="0">
                          <a:solidFill>
                            <a:srgbClr val="262626"/>
                          </a:solidFill>
                          <a:latin typeface="Arial"/>
                        </a:rPr>
                        <a:t>Cronbach Alpha, VIF, phần dư</a:t>
                      </a:r>
                    </a:p>
                  </a:txBody>
                  <a:tcPr marL="73152" marR="73152" marT="27432" marB="27432" anchor="ctr">
                    <a:solidFill>
                      <a:srgbClr val="F3F3F3"/>
                    </a:solidFill>
                  </a:tcPr>
                </a:tc>
                <a:tc>
                  <a:txBody>
                    <a:bodyPr wrap="square"/>
                    <a:lstStyle/>
                    <a:p>
                      <a:pPr algn="l"/>
                      <a:r>
                        <a:rPr sz="1200" b="0">
                          <a:solidFill>
                            <a:srgbClr val="262626"/>
                          </a:solidFill>
                          <a:latin typeface="Arial"/>
                        </a:rPr>
                        <a:t>Tam giác hóa; kiểm tra lại với người tham gia; mã hóa lại đạt 80%</a:t>
                      </a:r>
                    </a:p>
                  </a:txBody>
                  <a:tcPr marL="73152" marR="73152" marT="27432" marB="27432" anchor="ctr">
                    <a:solidFill>
                      <a:srgbClr val="F3F3F3"/>
                    </a:solidFill>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GIỚI THIỆU VÀ KẾT LUẬN CHƯƠNG</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Đoạn giới thiệu nói chương sẽ trình bày gì và không nêu kết quả; đoạn kết luận nói giả thuyết nào được trả lời và dẫn sang Chương 5</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Thứ tự các mục trong đoạn giới thiệu phải khớp với mục lục; đoạn giới thiệu không nêu kết quả.</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"Đoạn giới thiệu chương và đoạn kết luận chương", Hình 4-21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93</a:t>
            </a:r>
          </a:p>
        </p:txBody>
      </p:sp>
      <p:sp>
        <p:nvSpPr>
          <p:cNvPr id="11" name="Rectangle 10"/>
          <p:cNvSpPr/>
          <p:nvPr/>
        </p:nvSpPr>
        <p:spPr>
          <a:xfrm>
            <a:off x="402336" y="2017949"/>
            <a:ext cx="6510528" cy="33707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78_new.png"/>
          <p:cNvPicPr>
            <a:picLocks noChangeAspect="1"/>
          </p:cNvPicPr>
          <p:nvPr/>
        </p:nvPicPr>
        <p:blipFill>
          <a:blip r:embed="rId2"/>
          <a:stretch>
            <a:fillRect/>
          </a:stretch>
        </p:blipFill>
        <p:spPr>
          <a:xfrm>
            <a:off x="457200" y="2072813"/>
            <a:ext cx="6400800" cy="3261013"/>
          </a:xfrm>
          <a:prstGeom prst="rect">
            <a:avLst/>
          </a:prstGeom>
        </p:spPr>
      </p:pic>
      <p:sp>
        <p:nvSpPr>
          <p:cNvPr id="13" name="TextBox 12"/>
          <p:cNvSpPr txBox="1"/>
          <p:nvPr/>
        </p:nvSpPr>
        <p:spPr>
          <a:xfrm>
            <a:off x="7178040" y="1783080"/>
            <a:ext cx="4553712" cy="274320"/>
          </a:xfrm>
          <a:prstGeom prst="rect">
            <a:avLst/>
          </a:prstGeom>
          <a:noFill/>
        </p:spPr>
        <p:txBody>
          <a:bodyPr wrap="square" lIns="45720" rIns="45720" tIns="27432" bIns="27432" anchor="t">
            <a:spAutoFit/>
          </a:bodyPr>
          <a:lstStyle/>
          <a:p>
            <a:pPr algn="l"/>
            <a:r>
              <a:rPr sz="1000" b="1" i="0">
                <a:solidFill>
                  <a:srgbClr val="CC0000"/>
                </a:solidFill>
                <a:latin typeface="Arial"/>
              </a:rPr>
              <a:t>HAI ĐOẠN MẪU</a:t>
            </a:r>
          </a:p>
        </p:txBody>
      </p:sp>
      <p:cxnSp>
        <p:nvCxnSpPr>
          <p:cNvPr id="14" name="Connector 13"/>
          <p:cNvCxnSpPr/>
          <p:nvPr/>
        </p:nvCxnSpPr>
        <p:spPr>
          <a:xfrm>
            <a:off x="7178040" y="2103120"/>
            <a:ext cx="45537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17804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589519" y="2194560"/>
            <a:ext cx="4142232" cy="1143000"/>
          </a:xfrm>
          <a:prstGeom prst="rect">
            <a:avLst/>
          </a:prstGeom>
          <a:noFill/>
        </p:spPr>
        <p:txBody>
          <a:bodyPr wrap="square" lIns="45720" rIns="45720" tIns="27432" bIns="27432" anchor="t">
            <a:spAutoFit/>
          </a:bodyPr>
          <a:lstStyle/>
          <a:p>
            <a:pPr algn="l"/>
            <a:r>
              <a:rPr sz="1350" b="1" i="0">
                <a:solidFill>
                  <a:srgbClr val="58595B"/>
                </a:solidFill>
                <a:latin typeface="Arial"/>
              </a:rPr>
              <a:t>Giới thiệu (3 đến 4 câu):</a:t>
            </a:r>
            <a:r>
              <a:rPr sz="1350" b="0" i="0">
                <a:solidFill>
                  <a:srgbClr val="58595B"/>
                </a:solidFill>
                <a:latin typeface="Arial"/>
              </a:rPr>
              <a:t> "Chương 4 trình bày kết quả phân tích dữ liệu từ 150 phiếu khảo sát hợp lệ..." Viết sau khi các mục đã cố định.</a:t>
            </a:r>
          </a:p>
        </p:txBody>
      </p:sp>
      <p:sp>
        <p:nvSpPr>
          <p:cNvPr id="17" name="Oval 16"/>
          <p:cNvSpPr/>
          <p:nvPr/>
        </p:nvSpPr>
        <p:spPr>
          <a:xfrm>
            <a:off x="7178040" y="3355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589519" y="3337560"/>
            <a:ext cx="4142232" cy="1143000"/>
          </a:xfrm>
          <a:prstGeom prst="rect">
            <a:avLst/>
          </a:prstGeom>
          <a:noFill/>
        </p:spPr>
        <p:txBody>
          <a:bodyPr wrap="square" lIns="45720" rIns="45720" tIns="27432" bIns="27432" anchor="t">
            <a:spAutoFit/>
          </a:bodyPr>
          <a:lstStyle/>
          <a:p>
            <a:pPr algn="l"/>
            <a:r>
              <a:rPr sz="1350" b="1" i="0">
                <a:solidFill>
                  <a:srgbClr val="58595B"/>
                </a:solidFill>
                <a:latin typeface="Arial"/>
              </a:rPr>
              <a:t>Kết luận (4 đến 6 câu):</a:t>
            </a:r>
            <a:r>
              <a:rPr sz="1350" b="0" i="0">
                <a:solidFill>
                  <a:srgbClr val="58595B"/>
                </a:solidFill>
                <a:latin typeface="Arial"/>
              </a:rPr>
              <a:t> thang đo đạt; mô hình giải thích 53,7%; H1, H3, H4 được ủng hộ, H2 không; sự hữu ích mạnh nhất.</a:t>
            </a:r>
          </a:p>
        </p:txBody>
      </p:sp>
      <p:sp>
        <p:nvSpPr>
          <p:cNvPr id="19" name="Oval 18"/>
          <p:cNvSpPr/>
          <p:nvPr/>
        </p:nvSpPr>
        <p:spPr>
          <a:xfrm>
            <a:off x="7178040" y="4498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589519" y="4480560"/>
            <a:ext cx="4142232" cy="1143000"/>
          </a:xfrm>
          <a:prstGeom prst="rect">
            <a:avLst/>
          </a:prstGeom>
          <a:noFill/>
        </p:spPr>
        <p:txBody>
          <a:bodyPr wrap="square" lIns="45720" rIns="45720" tIns="27432" bIns="27432" anchor="t">
            <a:spAutoFit/>
          </a:bodyPr>
          <a:lstStyle/>
          <a:p>
            <a:pPr algn="l"/>
            <a:r>
              <a:rPr sz="1350" b="1" i="0">
                <a:solidFill>
                  <a:srgbClr val="58595B"/>
                </a:solidFill>
                <a:latin typeface="Arial"/>
              </a:rPr>
              <a:t>Câu cuối</a:t>
            </a:r>
            <a:r>
              <a:rPr sz="1350" b="0" i="0">
                <a:solidFill>
                  <a:srgbClr val="58595B"/>
                </a:solidFill>
                <a:latin typeface="Arial"/>
              </a:rPr>
              <a:t> dẫn sang Chương 5: trả lời câu hỏi nghiên cứu và đề xuất hàm ý cho Ngân hàng X.</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4 | LỖI THƯỜNG GẶP</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Bảy lỗi của Chương 4, trong đó nhầm B với β và kết luận "ủng hộ" khi hệ số ngược dấu là hai lỗi sai về phương pháp</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Con số trong bài phải khớp với file dữ liệu; lời văn phải tương xứng với mức bằng chứng.</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4, mục G, Bảng 4-16; khung POINT cuối phần</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94</a:t>
            </a:r>
          </a:p>
        </p:txBody>
      </p:sp>
      <p:graphicFrame>
        <p:nvGraphicFramePr>
          <p:cNvPr id="12" name="Table 11"/>
          <p:cNvGraphicFramePr>
            <a:graphicFrameLocks noGrp="1"/>
          </p:cNvGraphicFramePr>
          <p:nvPr/>
        </p:nvGraphicFramePr>
        <p:xfrm>
          <a:off x="457200" y="1783080"/>
          <a:ext cx="11274550" cy="3611880"/>
        </p:xfrm>
        <a:graphic>
          <a:graphicData uri="http://schemas.openxmlformats.org/drawingml/2006/table">
            <a:tbl>
              <a:tblPr firstRow="1" bandRow="1">
                <a:tableStyleId>{5C22544A-7EE6-4342-B048-85BDC9FD1C3A}</a:tableStyleId>
              </a:tblPr>
              <a:tblGrid>
                <a:gridCol w="3966971"/>
                <a:gridCol w="3340608"/>
                <a:gridCol w="3966971"/>
              </a:tblGrid>
              <a:tr h="411480">
                <a:tc>
                  <a:txBody>
                    <a:bodyPr wrap="square"/>
                    <a:lstStyle/>
                    <a:p>
                      <a:pPr algn="l"/>
                      <a:r>
                        <a:rPr sz="1200" b="1">
                          <a:solidFill>
                            <a:srgbClr val="FFFFFF"/>
                          </a:solidFill>
                          <a:latin typeface="Arial"/>
                        </a:rPr>
                        <a:t>Lỗi</a:t>
                      </a:r>
                    </a:p>
                  </a:txBody>
                  <a:tcPr marL="73152" marR="73152" marT="27432" marB="27432" anchor="ctr">
                    <a:solidFill>
                      <a:srgbClr val="262626"/>
                    </a:solidFill>
                  </a:tcPr>
                </a:tc>
                <a:tc>
                  <a:txBody>
                    <a:bodyPr wrap="square"/>
                    <a:lstStyle/>
                    <a:p>
                      <a:pPr algn="l"/>
                      <a:r>
                        <a:rPr sz="1200" b="1">
                          <a:solidFill>
                            <a:srgbClr val="FFFFFF"/>
                          </a:solidFill>
                          <a:latin typeface="Arial"/>
                        </a:rPr>
                        <a:t>Hậu quả</a:t>
                      </a:r>
                    </a:p>
                  </a:txBody>
                  <a:tcPr marL="73152" marR="73152" marT="27432" marB="27432" anchor="ctr">
                    <a:solidFill>
                      <a:srgbClr val="262626"/>
                    </a:solidFill>
                  </a:tcPr>
                </a:tc>
                <a:tc>
                  <a:txBody>
                    <a:bodyPr wrap="square"/>
                    <a:lstStyle/>
                    <a:p>
                      <a:pPr algn="l"/>
                      <a:r>
                        <a:rPr sz="1200" b="1">
                          <a:solidFill>
                            <a:srgbClr val="FFFFFF"/>
                          </a:solidFill>
                          <a:latin typeface="Arial"/>
                        </a:rPr>
                        <a:t>Cách khắc phục</a:t>
                      </a:r>
                    </a:p>
                  </a:txBody>
                  <a:tcPr marL="73152" marR="73152" marT="27432" marB="27432" anchor="ctr">
                    <a:solidFill>
                      <a:srgbClr val="262626"/>
                    </a:solidFill>
                  </a:tcPr>
                </a:tc>
              </a:tr>
              <a:tr h="457200">
                <a:tc>
                  <a:txBody>
                    <a:bodyPr wrap="square"/>
                    <a:lstStyle/>
                    <a:p>
                      <a:pPr algn="l"/>
                      <a:r>
                        <a:rPr sz="1200" b="0">
                          <a:solidFill>
                            <a:srgbClr val="262626"/>
                          </a:solidFill>
                          <a:latin typeface="Arial"/>
                        </a:rPr>
                        <a:t>1. Chỉ trình bày bảng số, không diễn giải</a:t>
                      </a:r>
                    </a:p>
                  </a:txBody>
                  <a:tcPr marL="73152" marR="73152" marT="27432" marB="27432" anchor="ctr">
                    <a:solidFill>
                      <a:srgbClr val="FFFFFF"/>
                    </a:solidFill>
                  </a:tcPr>
                </a:tc>
                <a:tc>
                  <a:txBody>
                    <a:bodyPr wrap="square"/>
                    <a:lstStyle/>
                    <a:p>
                      <a:pPr algn="l"/>
                      <a:r>
                        <a:rPr sz="1200" b="0">
                          <a:solidFill>
                            <a:srgbClr val="262626"/>
                          </a:solidFill>
                          <a:latin typeface="Arial"/>
                        </a:rPr>
                        <a:t>Người đọc không biết con số có ý nghĩa gì</a:t>
                      </a:r>
                    </a:p>
                  </a:txBody>
                  <a:tcPr marL="73152" marR="73152" marT="27432" marB="27432" anchor="ctr">
                    <a:solidFill>
                      <a:srgbClr val="FFFFFF"/>
                    </a:solidFill>
                  </a:tcPr>
                </a:tc>
                <a:tc>
                  <a:txBody>
                    <a:bodyPr wrap="square"/>
                    <a:lstStyle/>
                    <a:p>
                      <a:pPr algn="l"/>
                      <a:r>
                        <a:rPr sz="1200" b="0">
                          <a:solidFill>
                            <a:srgbClr val="262626"/>
                          </a:solidFill>
                          <a:latin typeface="Arial"/>
                        </a:rPr>
                        <a:t>Đoạn diễn giải bốn bước ngay sau mỗi bảng</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2. Nhầm B với β; dùng β để nói "tăng 1 điểm"</a:t>
                      </a:r>
                    </a:p>
                  </a:txBody>
                  <a:tcPr marL="73152" marR="73152" marT="27432" marB="27432" anchor="ctr">
                    <a:solidFill>
                      <a:srgbClr val="FBEAEA"/>
                    </a:solidFill>
                  </a:tcPr>
                </a:tc>
                <a:tc>
                  <a:txBody>
                    <a:bodyPr wrap="square"/>
                    <a:lstStyle/>
                    <a:p>
                      <a:pPr algn="l"/>
                      <a:r>
                        <a:rPr sz="1200" b="0">
                          <a:solidFill>
                            <a:srgbClr val="262626"/>
                          </a:solidFill>
                          <a:latin typeface="Arial"/>
                        </a:rPr>
                        <a:t>Diễn giải sai độ lớn tác động</a:t>
                      </a:r>
                    </a:p>
                  </a:txBody>
                  <a:tcPr marL="73152" marR="73152" marT="27432" marB="27432" anchor="ctr">
                    <a:solidFill>
                      <a:srgbClr val="FBEAEA"/>
                    </a:solidFill>
                  </a:tcPr>
                </a:tc>
                <a:tc>
                  <a:txBody>
                    <a:bodyPr wrap="square"/>
                    <a:lstStyle/>
                    <a:p>
                      <a:pPr algn="l"/>
                      <a:r>
                        <a:rPr sz="1200" b="0">
                          <a:solidFill>
                            <a:srgbClr val="262626"/>
                          </a:solidFill>
                          <a:latin typeface="Arial"/>
                        </a:rPr>
                        <a:t>B cho mức thay đổi; β để so sánh các biến</a:t>
                      </a:r>
                    </a:p>
                  </a:txBody>
                  <a:tcPr marL="73152" marR="73152" marT="27432" marB="27432" anchor="ctr">
                    <a:solidFill>
                      <a:srgbClr val="FBEAEA"/>
                    </a:solidFill>
                  </a:tcPr>
                </a:tc>
              </a:tr>
              <a:tr h="457200">
                <a:tc>
                  <a:txBody>
                    <a:bodyPr wrap="square"/>
                    <a:lstStyle/>
                    <a:p>
                      <a:pPr algn="l"/>
                      <a:r>
                        <a:rPr sz="1200" b="0">
                          <a:solidFill>
                            <a:srgbClr val="262626"/>
                          </a:solidFill>
                          <a:latin typeface="Arial"/>
                        </a:rPr>
                        <a:t>3. Kết luận "ủng hộ" khi hệ số ngược dấu</a:t>
                      </a:r>
                    </a:p>
                  </a:txBody>
                  <a:tcPr marL="73152" marR="73152" marT="27432" marB="27432" anchor="ctr">
                    <a:solidFill>
                      <a:srgbClr val="FBEAEA"/>
                    </a:solidFill>
                  </a:tcPr>
                </a:tc>
                <a:tc>
                  <a:txBody>
                    <a:bodyPr wrap="square"/>
                    <a:lstStyle/>
                    <a:p>
                      <a:pPr algn="l"/>
                      <a:r>
                        <a:rPr sz="1200" b="0">
                          <a:solidFill>
                            <a:srgbClr val="262626"/>
                          </a:solidFill>
                          <a:latin typeface="Arial"/>
                        </a:rPr>
                        <a:t>Sai về phương pháp</a:t>
                      </a:r>
                    </a:p>
                  </a:txBody>
                  <a:tcPr marL="73152" marR="73152" marT="27432" marB="27432" anchor="ctr">
                    <a:solidFill>
                      <a:srgbClr val="FBEAEA"/>
                    </a:solidFill>
                  </a:tcPr>
                </a:tc>
                <a:tc>
                  <a:txBody>
                    <a:bodyPr wrap="square"/>
                    <a:lstStyle/>
                    <a:p>
                      <a:pPr algn="l"/>
                      <a:r>
                        <a:rPr sz="1200" b="0">
                          <a:solidFill>
                            <a:srgbClr val="262626"/>
                          </a:solidFill>
                          <a:latin typeface="Arial"/>
                        </a:rPr>
                        <a:t>Kiểm tra đồng thời dấu và P-value</a:t>
                      </a:r>
                    </a:p>
                  </a:txBody>
                  <a:tcPr marL="73152" marR="73152" marT="27432" marB="27432" anchor="ctr">
                    <a:solidFill>
                      <a:srgbClr val="FBEAEA"/>
                    </a:solidFill>
                  </a:tcPr>
                </a:tc>
              </a:tr>
              <a:tr h="457200">
                <a:tc>
                  <a:txBody>
                    <a:bodyPr wrap="square"/>
                    <a:lstStyle/>
                    <a:p>
                      <a:pPr algn="l"/>
                      <a:r>
                        <a:rPr sz="1200" b="0">
                          <a:solidFill>
                            <a:srgbClr val="262626"/>
                          </a:solidFill>
                          <a:latin typeface="Arial"/>
                        </a:rPr>
                        <a:t>4. Không kiểm tra giả định hồi quy</a:t>
                      </a:r>
                    </a:p>
                  </a:txBody>
                  <a:tcPr marL="73152" marR="73152" marT="27432" marB="27432" anchor="ctr">
                    <a:solidFill>
                      <a:srgbClr val="F3F3F3"/>
                    </a:solidFill>
                  </a:tcPr>
                </a:tc>
                <a:tc>
                  <a:txBody>
                    <a:bodyPr wrap="square"/>
                    <a:lstStyle/>
                    <a:p>
                      <a:pPr algn="l"/>
                      <a:r>
                        <a:rPr sz="1200" b="0">
                          <a:solidFill>
                            <a:srgbClr val="262626"/>
                          </a:solidFill>
                          <a:latin typeface="Arial"/>
                        </a:rPr>
                        <a:t>Không biết kết quả có đáng tin không</a:t>
                      </a:r>
                    </a:p>
                  </a:txBody>
                  <a:tcPr marL="73152" marR="73152" marT="27432" marB="27432" anchor="ctr">
                    <a:solidFill>
                      <a:srgbClr val="F3F3F3"/>
                    </a:solidFill>
                  </a:tcPr>
                </a:tc>
                <a:tc>
                  <a:txBody>
                    <a:bodyPr wrap="square"/>
                    <a:lstStyle/>
                    <a:p>
                      <a:pPr algn="l"/>
                      <a:r>
                        <a:rPr sz="1200" b="0">
                          <a:solidFill>
                            <a:srgbClr val="262626"/>
                          </a:solidFill>
                          <a:latin typeface="Arial"/>
                        </a:rPr>
                        <a:t>VIF, đồ thị phần dư, phân phối phần dư</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5. Chỉ nói "có ý nghĩa" mà không nói độ lớn</a:t>
                      </a:r>
                    </a:p>
                  </a:txBody>
                  <a:tcPr marL="73152" marR="73152" marT="27432" marB="27432" anchor="ctr">
                    <a:solidFill>
                      <a:srgbClr val="FFFFFF"/>
                    </a:solidFill>
                  </a:tcPr>
                </a:tc>
                <a:tc>
                  <a:txBody>
                    <a:bodyPr wrap="square"/>
                    <a:lstStyle/>
                    <a:p>
                      <a:pPr algn="l"/>
                      <a:r>
                        <a:rPr sz="1200" b="0">
                          <a:solidFill>
                            <a:srgbClr val="262626"/>
                          </a:solidFill>
                          <a:latin typeface="Arial"/>
                        </a:rPr>
                        <a:t>Nhầm ý nghĩa thống kê với thực tế</a:t>
                      </a:r>
                    </a:p>
                  </a:txBody>
                  <a:tcPr marL="73152" marR="73152" marT="27432" marB="27432" anchor="ctr">
                    <a:solidFill>
                      <a:srgbClr val="FFFFFF"/>
                    </a:solidFill>
                  </a:tcPr>
                </a:tc>
                <a:tc>
                  <a:txBody>
                    <a:bodyPr wrap="square"/>
                    <a:lstStyle/>
                    <a:p>
                      <a:pPr algn="l"/>
                      <a:r>
                        <a:rPr sz="1200" b="0">
                          <a:solidFill>
                            <a:srgbClr val="262626"/>
                          </a:solidFill>
                          <a:latin typeface="Arial"/>
                        </a:rPr>
                        <a:t>Báo cáo B, β, R², khoảng tin cậy</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6. Không thảo luận với lý thuyết</a:t>
                      </a:r>
                    </a:p>
                  </a:txBody>
                  <a:tcPr marL="73152" marR="73152" marT="27432" marB="27432" anchor="ctr">
                    <a:solidFill>
                      <a:srgbClr val="F3F3F3"/>
                    </a:solidFill>
                  </a:tcPr>
                </a:tc>
                <a:tc>
                  <a:txBody>
                    <a:bodyPr wrap="square"/>
                    <a:lstStyle/>
                    <a:p>
                      <a:pPr algn="l"/>
                      <a:r>
                        <a:rPr sz="1200" b="0">
                          <a:solidFill>
                            <a:srgbClr val="262626"/>
                          </a:solidFill>
                          <a:latin typeface="Arial"/>
                        </a:rPr>
                        <a:t>Thảo luận trùng với kết quả</a:t>
                      </a:r>
                    </a:p>
                  </a:txBody>
                  <a:tcPr marL="73152" marR="73152" marT="27432" marB="27432" anchor="ctr">
                    <a:solidFill>
                      <a:srgbClr val="F3F3F3"/>
                    </a:solidFill>
                  </a:tcPr>
                </a:tc>
                <a:tc>
                  <a:txBody>
                    <a:bodyPr wrap="square"/>
                    <a:lstStyle/>
                    <a:p>
                      <a:pPr algn="l"/>
                      <a:r>
                        <a:rPr sz="1200" b="0">
                          <a:solidFill>
                            <a:srgbClr val="262626"/>
                          </a:solidFill>
                          <a:latin typeface="Arial"/>
                        </a:rPr>
                        <a:t>So từng giả thuyết với lý thuyết và nghiên cứu trước</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7. Không giải thích giả thuyết không được ủng hộ</a:t>
                      </a:r>
                    </a:p>
                  </a:txBody>
                  <a:tcPr marL="73152" marR="73152" marT="27432" marB="27432" anchor="ctr">
                    <a:solidFill>
                      <a:srgbClr val="FFFFFF"/>
                    </a:solidFill>
                  </a:tcPr>
                </a:tc>
                <a:tc>
                  <a:txBody>
                    <a:bodyPr wrap="square"/>
                    <a:lstStyle/>
                    <a:p>
                      <a:pPr algn="l"/>
                      <a:r>
                        <a:rPr sz="1200" b="0">
                          <a:solidFill>
                            <a:srgbClr val="262626"/>
                          </a:solidFill>
                          <a:latin typeface="Arial"/>
                        </a:rPr>
                        <a:t>Thảo luận thiếu chiều sâu</a:t>
                      </a:r>
                    </a:p>
                  </a:txBody>
                  <a:tcPr marL="73152" marR="73152" marT="27432" marB="27432" anchor="ctr">
                    <a:solidFill>
                      <a:srgbClr val="FFFFFF"/>
                    </a:solidFill>
                  </a:tcPr>
                </a:tc>
                <a:tc>
                  <a:txBody>
                    <a:bodyPr wrap="square"/>
                    <a:lstStyle/>
                    <a:p>
                      <a:pPr algn="l"/>
                      <a:r>
                        <a:rPr sz="1200" b="0">
                          <a:solidFill>
                            <a:srgbClr val="262626"/>
                          </a:solidFill>
                          <a:latin typeface="Arial"/>
                        </a:rPr>
                        <a:t>Xem năm hướng; chỉ viết hướng có bằng chứng</a:t>
                      </a:r>
                    </a:p>
                  </a:txBody>
                  <a:tcPr marL="73152" marR="73152" marT="27432" marB="27432" anchor="ctr">
                    <a:solidFill>
                      <a:srgbClr val="FFFFFF"/>
                    </a:solidFill>
                  </a:tcPr>
                </a:tc>
              </a:tr>
            </a:tbl>
          </a:graphicData>
        </a:graphic>
      </p:graphicFrame>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148840"/>
            <a:ext cx="109728" cy="21945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011680"/>
            <a:ext cx="9144000" cy="914400"/>
          </a:xfrm>
          <a:prstGeom prst="rect">
            <a:avLst/>
          </a:prstGeom>
          <a:noFill/>
        </p:spPr>
        <p:txBody>
          <a:bodyPr wrap="square" lIns="45720" rIns="45720" tIns="27432" bIns="27432" anchor="t">
            <a:spAutoFit/>
          </a:bodyPr>
          <a:lstStyle/>
          <a:p>
            <a:pPr algn="l"/>
            <a:r>
              <a:rPr sz="6000" b="1" i="0">
                <a:solidFill>
                  <a:srgbClr val="CC0000"/>
                </a:solidFill>
                <a:latin typeface="Arial"/>
              </a:rPr>
              <a:t>06</a:t>
            </a:r>
          </a:p>
        </p:txBody>
      </p:sp>
      <p:sp>
        <p:nvSpPr>
          <p:cNvPr id="5" name="TextBox 4"/>
          <p:cNvSpPr txBox="1"/>
          <p:nvPr/>
        </p:nvSpPr>
        <p:spPr>
          <a:xfrm>
            <a:off x="1051560" y="2926080"/>
            <a:ext cx="10058400" cy="914400"/>
          </a:xfrm>
          <a:prstGeom prst="rect">
            <a:avLst/>
          </a:prstGeom>
          <a:noFill/>
        </p:spPr>
        <p:txBody>
          <a:bodyPr wrap="square" lIns="45720" rIns="45720" tIns="27432" bIns="27432" anchor="t">
            <a:spAutoFit/>
          </a:bodyPr>
          <a:lstStyle/>
          <a:p>
            <a:pPr algn="l"/>
            <a:r>
              <a:rPr sz="3400" b="1" i="0">
                <a:solidFill>
                  <a:srgbClr val="FFFFFF"/>
                </a:solidFill>
                <a:latin typeface="Arial"/>
              </a:rPr>
              <a:t>Chương 5 và Kết luận</a:t>
            </a:r>
          </a:p>
        </p:txBody>
      </p:sp>
      <p:sp>
        <p:nvSpPr>
          <p:cNvPr id="6" name="TextBox 5"/>
          <p:cNvSpPr txBox="1"/>
          <p:nvPr/>
        </p:nvSpPr>
        <p:spPr>
          <a:xfrm>
            <a:off x="1051560" y="3794760"/>
            <a:ext cx="10058400" cy="822960"/>
          </a:xfrm>
          <a:prstGeom prst="rect">
            <a:avLst/>
          </a:prstGeom>
          <a:noFill/>
        </p:spPr>
        <p:txBody>
          <a:bodyPr wrap="square" lIns="45720" rIns="45720" tIns="27432" bIns="27432" anchor="t">
            <a:spAutoFit/>
          </a:bodyPr>
          <a:lstStyle/>
          <a:p>
            <a:pPr algn="l"/>
            <a:r>
              <a:rPr sz="1600" b="0" i="0">
                <a:solidFill>
                  <a:srgbClr val="D9D9D9"/>
                </a:solidFill>
                <a:latin typeface="Arial"/>
              </a:rPr>
              <a:t>Từ dữ liệu đó, ta học được gì và nên làm gì? Chương 5 chuyển con số thành quyết định</a:t>
            </a:r>
          </a:p>
        </p:txBody>
      </p:sp>
      <p:sp>
        <p:nvSpPr>
          <p:cNvPr id="7" name="TextBox 6"/>
          <p:cNvSpPr txBox="1"/>
          <p:nvPr/>
        </p:nvSpPr>
        <p:spPr>
          <a:xfrm>
            <a:off x="1051560" y="4709160"/>
            <a:ext cx="10058400" cy="822960"/>
          </a:xfrm>
          <a:prstGeom prst="rect">
            <a:avLst/>
          </a:prstGeom>
          <a:noFill/>
        </p:spPr>
        <p:txBody>
          <a:bodyPr wrap="square" lIns="45720" rIns="45720" tIns="27432" bIns="27432" anchor="t">
            <a:spAutoFit/>
          </a:bodyPr>
          <a:lstStyle/>
          <a:p>
            <a:pPr algn="l"/>
            <a:r>
              <a:rPr sz="1300" b="1" i="0">
                <a:solidFill>
                  <a:srgbClr val="F29B9B"/>
                </a:solidFill>
                <a:latin typeface="Arial"/>
              </a:rPr>
              <a:t>ĐỌC TRONG SÁCH: Phần 5 (mục A đến G) và Phần 6; Hình 5-1 đến 5-7 và 6-1; Bảng 5-1 đến 5-5</a:t>
            </a:r>
          </a:p>
        </p:txBody>
      </p:sp>
      <p:sp>
        <p:nvSpPr>
          <p:cNvPr id="8" name="TextBox 7"/>
          <p:cNvSpPr txBox="1"/>
          <p:nvPr/>
        </p:nvSpPr>
        <p:spPr>
          <a:xfrm>
            <a:off x="1051560" y="5943600"/>
            <a:ext cx="10058400" cy="365760"/>
          </a:xfrm>
          <a:prstGeom prst="rect">
            <a:avLst/>
          </a:prstGeom>
          <a:noFill/>
        </p:spPr>
        <p:txBody>
          <a:bodyPr wrap="square" lIns="45720" rIns="45720" tIns="27432" bIns="27432" anchor="t">
            <a:spAutoFit/>
          </a:bodyPr>
          <a:lstStyle/>
          <a:p>
            <a:pPr algn="l"/>
            <a:r>
              <a:rPr sz="1200" b="0" i="0">
                <a:solidFill>
                  <a:srgbClr val="9E9E9E"/>
                </a:solidFill>
                <a:latin typeface="Arial"/>
              </a:rPr>
              <a:t>Thời lượng ước tính: 24 phút | 11 slide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VÀ KẾT LUẬN | BẢN ĐỒ ĐỐI CHIẾU SÁCH</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Bản đồ đọc sách cho Chương 5 và Kết luận: không có con số mới, chỉ có câu trả lời và quyết định</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Mỗi con số trong Chương 5 và Kết luận phải tìm được ở Chương 4; không có bảng số mới.</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và Phần 6</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96</a:t>
            </a:r>
          </a:p>
        </p:txBody>
      </p:sp>
      <p:graphicFrame>
        <p:nvGraphicFramePr>
          <p:cNvPr id="12" name="Table 11"/>
          <p:cNvGraphicFramePr>
            <a:graphicFrameLocks noGrp="1"/>
          </p:cNvGraphicFramePr>
          <p:nvPr/>
        </p:nvGraphicFramePr>
        <p:xfrm>
          <a:off x="457200" y="1783080"/>
          <a:ext cx="11274551" cy="3611880"/>
        </p:xfrm>
        <a:graphic>
          <a:graphicData uri="http://schemas.openxmlformats.org/drawingml/2006/table">
            <a:tbl>
              <a:tblPr firstRow="1" bandRow="1">
                <a:tableStyleId>{5C22544A-7EE6-4342-B048-85BDC9FD1C3A}</a:tableStyleId>
              </a:tblPr>
              <a:tblGrid>
                <a:gridCol w="3083638"/>
                <a:gridCol w="3276365"/>
                <a:gridCol w="3083638"/>
                <a:gridCol w="1830910"/>
              </a:tblGrid>
              <a:tr h="411480">
                <a:tc>
                  <a:txBody>
                    <a:bodyPr wrap="square"/>
                    <a:lstStyle/>
                    <a:p>
                      <a:pPr algn="l"/>
                      <a:r>
                        <a:rPr sz="1200" b="1">
                          <a:solidFill>
                            <a:srgbClr val="FFFFFF"/>
                          </a:solidFill>
                          <a:latin typeface="Arial"/>
                        </a:rPr>
                        <a:t>Mục trong khóa luận</a:t>
                      </a:r>
                    </a:p>
                  </a:txBody>
                  <a:tcPr marL="73152" marR="73152" marT="27432" marB="27432" anchor="ctr">
                    <a:solidFill>
                      <a:srgbClr val="262626"/>
                    </a:solidFill>
                  </a:tcPr>
                </a:tc>
                <a:tc>
                  <a:txBody>
                    <a:bodyPr wrap="square"/>
                    <a:lstStyle/>
                    <a:p>
                      <a:pPr algn="l"/>
                      <a:r>
                        <a:rPr sz="1200" b="1">
                          <a:solidFill>
                            <a:srgbClr val="FFFFFF"/>
                          </a:solidFill>
                          <a:latin typeface="Arial"/>
                        </a:rPr>
                        <a:t>Đọc ở đâu trong sách</a:t>
                      </a:r>
                    </a:p>
                  </a:txBody>
                  <a:tcPr marL="73152" marR="73152" marT="27432" marB="27432" anchor="ctr">
                    <a:solidFill>
                      <a:srgbClr val="262626"/>
                    </a:solidFill>
                  </a:tcPr>
                </a:tc>
                <a:tc>
                  <a:txBody>
                    <a:bodyPr wrap="square"/>
                    <a:lstStyle/>
                    <a:p>
                      <a:pPr algn="l"/>
                      <a:r>
                        <a:rPr sz="1200" b="1">
                          <a:solidFill>
                            <a:srgbClr val="FFFFFF"/>
                          </a:solidFill>
                          <a:latin typeface="Arial"/>
                        </a:rPr>
                        <a:t>Hình, bảng, sheet</a:t>
                      </a:r>
                    </a:p>
                  </a:txBody>
                  <a:tcPr marL="73152" marR="73152" marT="27432" marB="27432" anchor="ctr">
                    <a:solidFill>
                      <a:srgbClr val="262626"/>
                    </a:solidFill>
                  </a:tcPr>
                </a:tc>
                <a:tc>
                  <a:txBody>
                    <a:bodyPr wrap="square"/>
                    <a:lstStyle/>
                    <a:p>
                      <a:pPr algn="l"/>
                      <a:r>
                        <a:rPr sz="1200" b="1">
                          <a:solidFill>
                            <a:srgbClr val="FFFFFF"/>
                          </a:solidFill>
                          <a:latin typeface="Arial"/>
                        </a:rPr>
                        <a:t>Thời gian gợi ý</a:t>
                      </a:r>
                    </a:p>
                  </a:txBody>
                  <a:tcPr marL="73152" marR="73152" marT="27432" marB="27432" anchor="ctr">
                    <a:solidFill>
                      <a:srgbClr val="262626"/>
                    </a:solidFill>
                  </a:tcPr>
                </a:tc>
              </a:tr>
              <a:tr h="457200">
                <a:tc>
                  <a:txBody>
                    <a:bodyPr wrap="square"/>
                    <a:lstStyle/>
                    <a:p>
                      <a:pPr algn="l"/>
                      <a:r>
                        <a:rPr sz="1200" b="0">
                          <a:solidFill>
                            <a:srgbClr val="262626"/>
                          </a:solidFill>
                          <a:latin typeface="Arial"/>
                        </a:rPr>
                        <a:t>5.1 Tóm tắt kết quả, trả lời câu hỏi</a:t>
                      </a:r>
                    </a:p>
                  </a:txBody>
                  <a:tcPr marL="73152" marR="73152" marT="27432" marB="27432" anchor="ctr">
                    <a:solidFill>
                      <a:srgbClr val="FFFFFF"/>
                    </a:solidFill>
                  </a:tcPr>
                </a:tc>
                <a:tc>
                  <a:txBody>
                    <a:bodyPr wrap="square"/>
                    <a:lstStyle/>
                    <a:p>
                      <a:pPr algn="l"/>
                      <a:r>
                        <a:rPr sz="1200" b="0">
                          <a:solidFill>
                            <a:srgbClr val="262626"/>
                          </a:solidFill>
                          <a:latin typeface="Arial"/>
                        </a:rPr>
                        <a:t>Phần 5, Mục 5.1.1 và 5.1.2</a:t>
                      </a:r>
                    </a:p>
                  </a:txBody>
                  <a:tcPr marL="73152" marR="73152" marT="27432" marB="27432" anchor="ctr">
                    <a:solidFill>
                      <a:srgbClr val="FFFFFF"/>
                    </a:solidFill>
                  </a:tcPr>
                </a:tc>
                <a:tc>
                  <a:txBody>
                    <a:bodyPr wrap="square"/>
                    <a:lstStyle/>
                    <a:p>
                      <a:pPr algn="l"/>
                      <a:r>
                        <a:rPr sz="1200" b="0">
                          <a:solidFill>
                            <a:srgbClr val="262626"/>
                          </a:solidFill>
                          <a:latin typeface="Arial"/>
                        </a:rPr>
                        <a:t>Hình 5-2</a:t>
                      </a:r>
                    </a:p>
                  </a:txBody>
                  <a:tcPr marL="73152" marR="73152" marT="27432" marB="27432" anchor="ctr">
                    <a:solidFill>
                      <a:srgbClr val="FFFFFF"/>
                    </a:solidFill>
                  </a:tcPr>
                </a:tc>
                <a:tc>
                  <a:txBody>
                    <a:bodyPr wrap="square"/>
                    <a:lstStyle/>
                    <a:p>
                      <a:pPr algn="l"/>
                      <a:r>
                        <a:rPr sz="1200" b="0">
                          <a:solidFill>
                            <a:srgbClr val="262626"/>
                          </a:solidFill>
                          <a:latin typeface="Arial"/>
                        </a:rPr>
                        <a:t>2 ngày</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5.2 Hàm ý cho đơn vị, bên liên quan</a:t>
                      </a:r>
                    </a:p>
                  </a:txBody>
                  <a:tcPr marL="73152" marR="73152" marT="27432" marB="27432" anchor="ctr">
                    <a:solidFill>
                      <a:srgbClr val="F3F3F3"/>
                    </a:solidFill>
                  </a:tcPr>
                </a:tc>
                <a:tc>
                  <a:txBody>
                    <a:bodyPr wrap="square"/>
                    <a:lstStyle/>
                    <a:p>
                      <a:pPr algn="l"/>
                      <a:r>
                        <a:rPr sz="1200" b="0">
                          <a:solidFill>
                            <a:srgbClr val="262626"/>
                          </a:solidFill>
                          <a:latin typeface="Arial"/>
                        </a:rPr>
                        <a:t>Mục 5.2.1 và 5.2.2</a:t>
                      </a:r>
                    </a:p>
                  </a:txBody>
                  <a:tcPr marL="73152" marR="73152" marT="27432" marB="27432" anchor="ctr">
                    <a:solidFill>
                      <a:srgbClr val="F3F3F3"/>
                    </a:solidFill>
                  </a:tcPr>
                </a:tc>
                <a:tc>
                  <a:txBody>
                    <a:bodyPr wrap="square"/>
                    <a:lstStyle/>
                    <a:p>
                      <a:pPr algn="l"/>
                      <a:r>
                        <a:rPr sz="1200" b="0">
                          <a:solidFill>
                            <a:srgbClr val="262626"/>
                          </a:solidFill>
                          <a:latin typeface="Arial"/>
                        </a:rPr>
                        <a:t>Hình 5-3 đến 5-6; Bảng 5-2; sheet 11</a:t>
                      </a:r>
                    </a:p>
                  </a:txBody>
                  <a:tcPr marL="73152" marR="73152" marT="27432" marB="27432" anchor="ctr">
                    <a:solidFill>
                      <a:srgbClr val="F3F3F3"/>
                    </a:solidFill>
                  </a:tcPr>
                </a:tc>
                <a:tc>
                  <a:txBody>
                    <a:bodyPr wrap="square"/>
                    <a:lstStyle/>
                    <a:p>
                      <a:pPr algn="l"/>
                      <a:r>
                        <a:rPr sz="1200" b="0">
                          <a:solidFill>
                            <a:srgbClr val="262626"/>
                          </a:solidFill>
                          <a:latin typeface="Arial"/>
                        </a:rPr>
                        <a:t>2,5 ngày</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5.3 Hạn chế, hướng tiếp theo</a:t>
                      </a:r>
                    </a:p>
                  </a:txBody>
                  <a:tcPr marL="73152" marR="73152" marT="27432" marB="27432" anchor="ctr">
                    <a:solidFill>
                      <a:srgbClr val="FFFFFF"/>
                    </a:solidFill>
                  </a:tcPr>
                </a:tc>
                <a:tc>
                  <a:txBody>
                    <a:bodyPr wrap="square"/>
                    <a:lstStyle/>
                    <a:p>
                      <a:pPr algn="l"/>
                      <a:r>
                        <a:rPr sz="1200" b="0">
                          <a:solidFill>
                            <a:srgbClr val="262626"/>
                          </a:solidFill>
                          <a:latin typeface="Arial"/>
                        </a:rPr>
                        <a:t>Mục 5.3.1 và 5.3.2</a:t>
                      </a:r>
                    </a:p>
                  </a:txBody>
                  <a:tcPr marL="73152" marR="73152" marT="27432" marB="27432" anchor="ctr">
                    <a:solidFill>
                      <a:srgbClr val="FFFFFF"/>
                    </a:solidFill>
                  </a:tcPr>
                </a:tc>
                <a:tc>
                  <a:txBody>
                    <a:bodyPr wrap="square"/>
                    <a:lstStyle/>
                    <a:p>
                      <a:pPr algn="l"/>
                      <a:r>
                        <a:rPr sz="1200" b="0">
                          <a:solidFill>
                            <a:srgbClr val="262626"/>
                          </a:solidFill>
                          <a:latin typeface="Arial"/>
                        </a:rPr>
                        <a:t>Hình 5-7; Bảng 5-3</a:t>
                      </a:r>
                    </a:p>
                  </a:txBody>
                  <a:tcPr marL="73152" marR="73152" marT="27432" marB="27432" anchor="ctr">
                    <a:solidFill>
                      <a:srgbClr val="FFFFFF"/>
                    </a:solidFill>
                  </a:tcPr>
                </a:tc>
                <a:tc>
                  <a:txBody>
                    <a:bodyPr wrap="square"/>
                    <a:lstStyle/>
                    <a:p>
                      <a:pPr algn="l"/>
                      <a:r>
                        <a:rPr sz="1200" b="0">
                          <a:solidFill>
                            <a:srgbClr val="262626"/>
                          </a:solidFill>
                          <a:latin typeface="Arial"/>
                        </a:rPr>
                        <a:t>1,5 ngày</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Tóm tắt khóa luận</a:t>
                      </a:r>
                    </a:p>
                  </a:txBody>
                  <a:tcPr marL="73152" marR="73152" marT="27432" marB="27432" anchor="ctr">
                    <a:solidFill>
                      <a:srgbClr val="F3F3F3"/>
                    </a:solidFill>
                  </a:tcPr>
                </a:tc>
                <a:tc>
                  <a:txBody>
                    <a:bodyPr wrap="square"/>
                    <a:lstStyle/>
                    <a:p>
                      <a:pPr algn="l"/>
                      <a:r>
                        <a:rPr sz="1200" b="0">
                          <a:solidFill>
                            <a:srgbClr val="262626"/>
                          </a:solidFill>
                          <a:latin typeface="Arial"/>
                        </a:rPr>
                        <a:t>Phần 5, Tóm tắt khóa luận</a:t>
                      </a:r>
                    </a:p>
                  </a:txBody>
                  <a:tcPr marL="73152" marR="73152" marT="27432" marB="27432" anchor="ctr">
                    <a:solidFill>
                      <a:srgbClr val="F3F3F3"/>
                    </a:solidFill>
                  </a:tcPr>
                </a:tc>
                <a:tc>
                  <a:txBody>
                    <a:bodyPr wrap="square"/>
                    <a:lstStyle/>
                    <a:p>
                      <a:pPr algn="l"/>
                      <a:r>
                        <a:rPr sz="1200" b="0">
                          <a:solidFill>
                            <a:srgbClr val="262626"/>
                          </a:solidFill>
                          <a:latin typeface="Arial"/>
                        </a:rPr>
                        <a:t>Bảng 5-4</a:t>
                      </a:r>
                    </a:p>
                  </a:txBody>
                  <a:tcPr marL="73152" marR="73152" marT="27432" marB="27432" anchor="ctr">
                    <a:solidFill>
                      <a:srgbClr val="F3F3F3"/>
                    </a:solidFill>
                  </a:tcPr>
                </a:tc>
                <a:tc>
                  <a:txBody>
                    <a:bodyPr wrap="square"/>
                    <a:lstStyle/>
                    <a:p>
                      <a:pPr algn="l"/>
                      <a:r>
                        <a:rPr sz="1200" b="0">
                          <a:solidFill>
                            <a:srgbClr val="262626"/>
                          </a:solidFill>
                          <a:latin typeface="Arial"/>
                        </a:rPr>
                        <a:t>2 giờ, viết sau cùng</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Phân biệt năm khái niệm</a:t>
                      </a:r>
                    </a:p>
                  </a:txBody>
                  <a:tcPr marL="73152" marR="73152" marT="27432" marB="27432" anchor="ctr">
                    <a:solidFill>
                      <a:srgbClr val="FFFFFF"/>
                    </a:solidFill>
                  </a:tcPr>
                </a:tc>
                <a:tc>
                  <a:txBody>
                    <a:bodyPr wrap="square"/>
                    <a:lstStyle/>
                    <a:p>
                      <a:pPr algn="l"/>
                      <a:r>
                        <a:rPr sz="1200" b="0">
                          <a:solidFill>
                            <a:srgbClr val="262626"/>
                          </a:solidFill>
                          <a:latin typeface="Arial"/>
                        </a:rPr>
                        <a:t>Phần 5, mục D</a:t>
                      </a:r>
                    </a:p>
                  </a:txBody>
                  <a:tcPr marL="73152" marR="73152" marT="27432" marB="27432" anchor="ctr">
                    <a:solidFill>
                      <a:srgbClr val="FFFFFF"/>
                    </a:solidFill>
                  </a:tcPr>
                </a:tc>
                <a:tc>
                  <a:txBody>
                    <a:bodyPr wrap="square"/>
                    <a:lstStyle/>
                    <a:p>
                      <a:pPr algn="l"/>
                      <a:r>
                        <a:rPr sz="1200" b="0">
                          <a:solidFill>
                            <a:srgbClr val="262626"/>
                          </a:solidFill>
                          <a:latin typeface="Arial"/>
                        </a:rPr>
                        <a:t>Bảng 5-1</a:t>
                      </a:r>
                    </a:p>
                  </a:txBody>
                  <a:tcPr marL="73152" marR="73152" marT="27432" marB="27432" anchor="ctr">
                    <a:solidFill>
                      <a:srgbClr val="FFFFFF"/>
                    </a:solidFill>
                  </a:tcPr>
                </a:tc>
                <a:tc>
                  <a:txBody>
                    <a:bodyPr wrap="square"/>
                    <a:lstStyle/>
                    <a:p>
                      <a:pPr algn="l"/>
                      <a:r>
                        <a:rPr sz="1200" b="0">
                          <a:solidFill>
                            <a:srgbClr val="262626"/>
                          </a:solidFill>
                          <a:latin typeface="Arial"/>
                        </a:rPr>
                        <a:t>30 phút đọc</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Kết luận chung</a:t>
                      </a:r>
                    </a:p>
                  </a:txBody>
                  <a:tcPr marL="73152" marR="73152" marT="27432" marB="27432" anchor="ctr">
                    <a:solidFill>
                      <a:srgbClr val="F3F3F3"/>
                    </a:solidFill>
                  </a:tcPr>
                </a:tc>
                <a:tc>
                  <a:txBody>
                    <a:bodyPr wrap="square"/>
                    <a:lstStyle/>
                    <a:p>
                      <a:pPr algn="l"/>
                      <a:r>
                        <a:rPr sz="1200" b="0">
                          <a:solidFill>
                            <a:srgbClr val="262626"/>
                          </a:solidFill>
                          <a:latin typeface="Arial"/>
                        </a:rPr>
                        <a:t>Phần 6</a:t>
                      </a:r>
                    </a:p>
                  </a:txBody>
                  <a:tcPr marL="73152" marR="73152" marT="27432" marB="27432" anchor="ctr">
                    <a:solidFill>
                      <a:srgbClr val="F3F3F3"/>
                    </a:solidFill>
                  </a:tcPr>
                </a:tc>
                <a:tc>
                  <a:txBody>
                    <a:bodyPr wrap="square"/>
                    <a:lstStyle/>
                    <a:p>
                      <a:pPr algn="l"/>
                      <a:r>
                        <a:rPr sz="1200" b="0">
                          <a:solidFill>
                            <a:srgbClr val="262626"/>
                          </a:solidFill>
                          <a:latin typeface="Arial"/>
                        </a:rPr>
                        <a:t>Hình 6-1</a:t>
                      </a:r>
                    </a:p>
                  </a:txBody>
                  <a:tcPr marL="73152" marR="73152" marT="27432" marB="27432" anchor="ctr">
                    <a:solidFill>
                      <a:srgbClr val="F3F3F3"/>
                    </a:solidFill>
                  </a:tcPr>
                </a:tc>
                <a:tc>
                  <a:txBody>
                    <a:bodyPr wrap="square"/>
                    <a:lstStyle/>
                    <a:p>
                      <a:pPr algn="l"/>
                      <a:r>
                        <a:rPr sz="1200" b="0">
                          <a:solidFill>
                            <a:srgbClr val="262626"/>
                          </a:solidFill>
                          <a:latin typeface="Arial"/>
                        </a:rPr>
                        <a:t>1 ngày</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Tự kiểm tra</a:t>
                      </a:r>
                    </a:p>
                  </a:txBody>
                  <a:tcPr marL="73152" marR="73152" marT="27432" marB="27432" anchor="ctr">
                    <a:solidFill>
                      <a:srgbClr val="FFFFFF"/>
                    </a:solidFill>
                  </a:tcPr>
                </a:tc>
                <a:tc>
                  <a:txBody>
                    <a:bodyPr wrap="square"/>
                    <a:lstStyle/>
                    <a:p>
                      <a:pPr algn="l"/>
                      <a:r>
                        <a:rPr sz="1200" b="0">
                          <a:solidFill>
                            <a:srgbClr val="262626"/>
                          </a:solidFill>
                          <a:latin typeface="Arial"/>
                        </a:rPr>
                        <a:t>Phần 5, mục F; checklist của Phần 6</a:t>
                      </a:r>
                    </a:p>
                  </a:txBody>
                  <a:tcPr marL="73152" marR="73152" marT="27432" marB="27432" anchor="ctr">
                    <a:solidFill>
                      <a:srgbClr val="FFFFFF"/>
                    </a:solidFill>
                  </a:tcPr>
                </a:tc>
                <a:tc>
                  <a:txBody>
                    <a:bodyPr wrap="square"/>
                    <a:lstStyle/>
                    <a:p>
                      <a:pPr algn="l"/>
                      <a:r>
                        <a:rPr sz="1200" b="0">
                          <a:solidFill>
                            <a:srgbClr val="262626"/>
                          </a:solidFill>
                          <a:latin typeface="Arial"/>
                        </a:rPr>
                        <a:t>Bảng 5-5</a:t>
                      </a:r>
                    </a:p>
                  </a:txBody>
                  <a:tcPr marL="73152" marR="73152" marT="27432" marB="27432" anchor="ctr">
                    <a:solidFill>
                      <a:srgbClr val="FFFFFF"/>
                    </a:solidFill>
                  </a:tcPr>
                </a:tc>
                <a:tc>
                  <a:txBody>
                    <a:bodyPr wrap="square"/>
                    <a:lstStyle/>
                    <a:p>
                      <a:pPr algn="l"/>
                      <a:r>
                        <a:rPr sz="1200" b="0">
                          <a:solidFill>
                            <a:srgbClr val="262626"/>
                          </a:solidFill>
                          <a:latin typeface="Arial"/>
                        </a:rPr>
                        <a:t>Sau khi viết</a:t>
                      </a:r>
                    </a:p>
                  </a:txBody>
                  <a:tcPr marL="73152" marR="73152" marT="27432" marB="27432" anchor="ctr">
                    <a:solidFill>
                      <a:srgbClr val="FFFFFF"/>
                    </a:solidFill>
                  </a:tcPr>
                </a:tc>
              </a:tr>
            </a:tbl>
          </a:graphicData>
        </a:graphic>
      </p:graphicFrame>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 CẤU TRÚC</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Chương 5 đi từ điều đã biết chắc, đến điều nên làm, đến điều còn chưa biết</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Hệ số β = 0,328 chỉ là con số; câu "Ngân hàng X nên ưu tiên củng cố niềm tin trước các biện pháp khác" là một quyết định có căn cứ.</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mục B và C, Hình 5-1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97</a:t>
            </a:r>
          </a:p>
        </p:txBody>
      </p:sp>
      <p:sp>
        <p:nvSpPr>
          <p:cNvPr id="11" name="Pentagon 10"/>
          <p:cNvSpPr/>
          <p:nvPr/>
        </p:nvSpPr>
        <p:spPr>
          <a:xfrm>
            <a:off x="457200" y="1783080"/>
            <a:ext cx="3867912" cy="731520"/>
          </a:xfrm>
          <a:prstGeom prst="homePlat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5.1 Kết luận</a:t>
            </a:r>
          </a:p>
        </p:txBody>
      </p:sp>
      <p:sp>
        <p:nvSpPr>
          <p:cNvPr id="12" name="TextBox 11"/>
          <p:cNvSpPr txBox="1"/>
          <p:nvPr/>
        </p:nvSpPr>
        <p:spPr>
          <a:xfrm>
            <a:off x="566928" y="2697480"/>
            <a:ext cx="3529584" cy="2880360"/>
          </a:xfrm>
          <a:prstGeom prst="rect">
            <a:avLst/>
          </a:prstGeom>
          <a:noFill/>
        </p:spPr>
        <p:txBody>
          <a:bodyPr wrap="square" lIns="45720" rIns="45720" tIns="27432" bIns="27432" anchor="t">
            <a:spAutoFit/>
          </a:bodyPr>
          <a:lstStyle/>
          <a:p>
            <a:pPr algn="l"/>
            <a:r>
              <a:rPr sz="1350" b="1" i="0">
                <a:solidFill>
                  <a:srgbClr val="58595B"/>
                </a:solidFill>
                <a:latin typeface="Arial"/>
              </a:rPr>
              <a:t>Điều đã biết chắc</a:t>
            </a:r>
          </a:p>
          <a:p>
            <a:pPr algn="l">
              <a:spcBef>
                <a:spcPts val="607"/>
              </a:spcBef>
            </a:pPr>
            <a:r>
              <a:rPr sz="1350" b="0" i="0">
                <a:solidFill>
                  <a:srgbClr val="58595B"/>
                </a:solidFill>
                <a:latin typeface="Arial"/>
              </a:rPr>
              <a:t>Tóm tắt ba đến năm phát hiện; trả lời từng câu hỏi nghiên cứu.</a:t>
            </a:r>
          </a:p>
        </p:txBody>
      </p:sp>
      <p:sp>
        <p:nvSpPr>
          <p:cNvPr id="13" name="Chevron 12"/>
          <p:cNvSpPr/>
          <p:nvPr/>
        </p:nvSpPr>
        <p:spPr>
          <a:xfrm>
            <a:off x="4215384" y="1783080"/>
            <a:ext cx="3867912" cy="73152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5.2 Hàm ý</a:t>
            </a:r>
          </a:p>
        </p:txBody>
      </p:sp>
      <p:sp>
        <p:nvSpPr>
          <p:cNvPr id="14" name="TextBox 13"/>
          <p:cNvSpPr txBox="1"/>
          <p:nvPr/>
        </p:nvSpPr>
        <p:spPr>
          <a:xfrm>
            <a:off x="4325112" y="2697480"/>
            <a:ext cx="3529584" cy="2880360"/>
          </a:xfrm>
          <a:prstGeom prst="rect">
            <a:avLst/>
          </a:prstGeom>
          <a:noFill/>
        </p:spPr>
        <p:txBody>
          <a:bodyPr wrap="square" lIns="45720" rIns="45720" tIns="27432" bIns="27432" anchor="t">
            <a:spAutoFit/>
          </a:bodyPr>
          <a:lstStyle/>
          <a:p>
            <a:pPr algn="l"/>
            <a:r>
              <a:rPr sz="1350" b="1" i="0">
                <a:solidFill>
                  <a:srgbClr val="58595B"/>
                </a:solidFill>
                <a:latin typeface="Arial"/>
              </a:rPr>
              <a:t>Điều nên làm</a:t>
            </a:r>
          </a:p>
          <a:p>
            <a:pPr algn="l">
              <a:spcBef>
                <a:spcPts val="607"/>
              </a:spcBef>
            </a:pPr>
            <a:r>
              <a:rPr sz="1350" b="0" i="0">
                <a:solidFill>
                  <a:srgbClr val="58595B"/>
                </a:solidFill>
                <a:latin typeface="Arial"/>
              </a:rPr>
              <a:t>Hàm ý cho đơn vị theo thứ tự ưu tiên; hàm ý cho các bên liên quan.</a:t>
            </a:r>
          </a:p>
        </p:txBody>
      </p:sp>
      <p:cxnSp>
        <p:nvCxnSpPr>
          <p:cNvPr id="15" name="Connector 14"/>
          <p:cNvCxnSpPr/>
          <p:nvPr/>
        </p:nvCxnSpPr>
        <p:spPr>
          <a:xfrm>
            <a:off x="4233672"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
        <p:nvSpPr>
          <p:cNvPr id="16" name="Chevron 15"/>
          <p:cNvSpPr/>
          <p:nvPr/>
        </p:nvSpPr>
        <p:spPr>
          <a:xfrm>
            <a:off x="7973568" y="1783080"/>
            <a:ext cx="3867912" cy="731520"/>
          </a:xfrm>
          <a:prstGeom prst="chevron">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50" b="1" i="0">
                <a:solidFill>
                  <a:srgbClr val="FFFFFF"/>
                </a:solidFill>
                <a:latin typeface="Arial"/>
              </a:rPr>
              <a:t>5.3 Hạn chế và hướng tiếp</a:t>
            </a:r>
          </a:p>
        </p:txBody>
      </p:sp>
      <p:sp>
        <p:nvSpPr>
          <p:cNvPr id="17" name="TextBox 16"/>
          <p:cNvSpPr txBox="1"/>
          <p:nvPr/>
        </p:nvSpPr>
        <p:spPr>
          <a:xfrm>
            <a:off x="8083296" y="2697480"/>
            <a:ext cx="3529584" cy="2880360"/>
          </a:xfrm>
          <a:prstGeom prst="rect">
            <a:avLst/>
          </a:prstGeom>
          <a:noFill/>
        </p:spPr>
        <p:txBody>
          <a:bodyPr wrap="square" lIns="45720" rIns="45720" tIns="27432" bIns="27432" anchor="t">
            <a:spAutoFit/>
          </a:bodyPr>
          <a:lstStyle/>
          <a:p>
            <a:pPr algn="l"/>
            <a:r>
              <a:rPr sz="1350" b="1" i="0">
                <a:solidFill>
                  <a:srgbClr val="58595B"/>
                </a:solidFill>
                <a:latin typeface="Arial"/>
              </a:rPr>
              <a:t>Điều chưa biết</a:t>
            </a:r>
          </a:p>
          <a:p>
            <a:pPr algn="l">
              <a:spcBef>
                <a:spcPts val="607"/>
              </a:spcBef>
            </a:pPr>
            <a:r>
              <a:rPr sz="1350" b="0" i="0">
                <a:solidFill>
                  <a:srgbClr val="58595B"/>
                </a:solidFill>
                <a:latin typeface="Arial"/>
              </a:rPr>
              <a:t>Hạn chế về mẫu, thiết kế, đo lường, mô hình; mỗi hạn chế một hướng nghiên cứu.</a:t>
            </a:r>
          </a:p>
        </p:txBody>
      </p:sp>
      <p:cxnSp>
        <p:nvCxnSpPr>
          <p:cNvPr id="18" name="Connector 17"/>
          <p:cNvCxnSpPr/>
          <p:nvPr/>
        </p:nvCxnSpPr>
        <p:spPr>
          <a:xfrm>
            <a:off x="7991856" y="2697480"/>
            <a:ext cx="0" cy="2834640"/>
          </a:xfrm>
          <a:prstGeom prst="line">
            <a:avLst/>
          </a:prstGeom>
          <a:ln w="12700">
            <a:solidFill>
              <a:srgbClr val="F3F3F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 TRẢ LỜI CÂU HỎI NGHIÊN CỨU</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câu hỏi ở Chương 1 được chép nguyên văn và trả lời thẳng ngay ở câu đầu tiên</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Đây là mục quan trọng nhất của Chương 5 vì nó khép vòng: Chương 1 hỏi, Chương 5 trả lời.</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Mục 5.1.1 và Mục 5.1.2, Hình 5-2; file 3.Chapter_4_and_Chapter_5_Practice_NH_X.xlsx (dữ liệu giả định)</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98</a:t>
            </a:r>
          </a:p>
        </p:txBody>
      </p:sp>
      <p:sp>
        <p:nvSpPr>
          <p:cNvPr id="12" name="Rectangle 11"/>
          <p:cNvSpPr/>
          <p:nvPr/>
        </p:nvSpPr>
        <p:spPr>
          <a:xfrm>
            <a:off x="402336" y="2355826"/>
            <a:ext cx="6693407" cy="269498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80_new.png"/>
          <p:cNvPicPr>
            <a:picLocks noChangeAspect="1"/>
          </p:cNvPicPr>
          <p:nvPr/>
        </p:nvPicPr>
        <p:blipFill>
          <a:blip r:embed="rId2"/>
          <a:stretch>
            <a:fillRect/>
          </a:stretch>
        </p:blipFill>
        <p:spPr>
          <a:xfrm>
            <a:off x="457200" y="2410690"/>
            <a:ext cx="6583679" cy="2585258"/>
          </a:xfrm>
          <a:prstGeom prst="rect">
            <a:avLst/>
          </a:prstGeom>
        </p:spPr>
      </p:pic>
      <p:sp>
        <p:nvSpPr>
          <p:cNvPr id="14" name="TextBox 13"/>
          <p:cNvSpPr txBox="1"/>
          <p:nvPr/>
        </p:nvSpPr>
        <p:spPr>
          <a:xfrm>
            <a:off x="7360920" y="1783080"/>
            <a:ext cx="4370831" cy="274320"/>
          </a:xfrm>
          <a:prstGeom prst="rect">
            <a:avLst/>
          </a:prstGeom>
          <a:noFill/>
        </p:spPr>
        <p:txBody>
          <a:bodyPr wrap="square" lIns="45720" rIns="45720" tIns="27432" bIns="27432" anchor="t">
            <a:spAutoFit/>
          </a:bodyPr>
          <a:lstStyle/>
          <a:p>
            <a:pPr algn="l"/>
            <a:r>
              <a:rPr sz="1000" b="1" i="0">
                <a:solidFill>
                  <a:srgbClr val="CC0000"/>
                </a:solidFill>
                <a:latin typeface="Arial"/>
              </a:rPr>
              <a:t>BA CÂU TRẢ LỜI</a:t>
            </a:r>
          </a:p>
        </p:txBody>
      </p:sp>
      <p:cxnSp>
        <p:nvCxnSpPr>
          <p:cNvPr id="15" name="Connector 14"/>
          <p:cNvCxnSpPr/>
          <p:nvPr/>
        </p:nvCxnSpPr>
        <p:spPr>
          <a:xfrm>
            <a:off x="7360920" y="2103120"/>
            <a:ext cx="43708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36092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772400" y="2194560"/>
            <a:ext cx="3959351" cy="1143000"/>
          </a:xfrm>
          <a:prstGeom prst="rect">
            <a:avLst/>
          </a:prstGeom>
          <a:noFill/>
        </p:spPr>
        <p:txBody>
          <a:bodyPr wrap="square" lIns="45720" rIns="45720" tIns="27432" bIns="27432" anchor="t">
            <a:spAutoFit/>
          </a:bodyPr>
          <a:lstStyle/>
          <a:p>
            <a:pPr algn="l"/>
            <a:r>
              <a:rPr sz="1350" b="1" i="0">
                <a:solidFill>
                  <a:srgbClr val="58595B"/>
                </a:solidFill>
                <a:latin typeface="Arial"/>
              </a:rPr>
              <a:t>Câu hỏi 1:</a:t>
            </a:r>
            <a:r>
              <a:rPr sz="1350" b="0" i="0">
                <a:solidFill>
                  <a:srgbClr val="58595B"/>
                </a:solidFill>
                <a:latin typeface="Arial"/>
              </a:rPr>
              <a:t> ba yếu tố có ảnh hưởng cùng chiều có ý nghĩa là sự hữu ích, niềm tin, ảnh hưởng xã hội; sự dễ sử dụng không có ảnh hưởng trực tiếp có ý nghĩa.</a:t>
            </a:r>
          </a:p>
        </p:txBody>
      </p:sp>
      <p:sp>
        <p:nvSpPr>
          <p:cNvPr id="18" name="Oval 17"/>
          <p:cNvSpPr/>
          <p:nvPr/>
        </p:nvSpPr>
        <p:spPr>
          <a:xfrm>
            <a:off x="7360920" y="3355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772400" y="3337560"/>
            <a:ext cx="3959351" cy="1143000"/>
          </a:xfrm>
          <a:prstGeom prst="rect">
            <a:avLst/>
          </a:prstGeom>
          <a:noFill/>
        </p:spPr>
        <p:txBody>
          <a:bodyPr wrap="square" lIns="45720" rIns="45720" tIns="27432" bIns="27432" anchor="t">
            <a:spAutoFit/>
          </a:bodyPr>
          <a:lstStyle/>
          <a:p>
            <a:pPr algn="l"/>
            <a:r>
              <a:rPr sz="1350" b="1" i="0">
                <a:solidFill>
                  <a:srgbClr val="58595B"/>
                </a:solidFill>
                <a:latin typeface="Arial"/>
              </a:rPr>
              <a:t>Câu hỏi 2:</a:t>
            </a:r>
            <a:r>
              <a:rPr sz="1350" b="0" i="0">
                <a:solidFill>
                  <a:srgbClr val="58595B"/>
                </a:solidFill>
                <a:latin typeface="Arial"/>
              </a:rPr>
              <a:t> sự hữu ích mạnh nhất (β = 0,394), rồi niềm tin (0,328), ảnh hưởng xã hội (0,227); mô hình giải thích 53,7%.</a:t>
            </a:r>
          </a:p>
        </p:txBody>
      </p:sp>
      <p:sp>
        <p:nvSpPr>
          <p:cNvPr id="20" name="Oval 19"/>
          <p:cNvSpPr/>
          <p:nvPr/>
        </p:nvSpPr>
        <p:spPr>
          <a:xfrm>
            <a:off x="7360920" y="4498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772400" y="4480560"/>
            <a:ext cx="3959351" cy="1143000"/>
          </a:xfrm>
          <a:prstGeom prst="rect">
            <a:avLst/>
          </a:prstGeom>
          <a:noFill/>
        </p:spPr>
        <p:txBody>
          <a:bodyPr wrap="square" lIns="45720" rIns="45720" tIns="27432" bIns="27432" anchor="t">
            <a:spAutoFit/>
          </a:bodyPr>
          <a:lstStyle/>
          <a:p>
            <a:pPr algn="l"/>
            <a:r>
              <a:rPr sz="1350" b="1" i="0">
                <a:solidFill>
                  <a:srgbClr val="58595B"/>
                </a:solidFill>
                <a:latin typeface="Arial"/>
              </a:rPr>
              <a:t>Câu hỏi 3:</a:t>
            </a:r>
            <a:r>
              <a:rPr sz="1350" b="0" i="0">
                <a:solidFill>
                  <a:srgbClr val="58595B"/>
                </a:solidFill>
                <a:latin typeface="Arial"/>
              </a:rPr>
              <a:t> ưu tiên củng cố niềm tin, duy trì lợi ích, tận dụng ảnh hưởng của người thân; chi tiết ở mục 5.2.</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 MA TRẬN TẦM QUAN TRỌNG VÀ MỨC THỰC HIỆN</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Niềm tin quan trọng nhưng bị đánh giá thấp, nên là ưu tiên số một của Ngân hàng X</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Ma trận là công cụ gợi ý thứ tự ưu tiên, không thay cho phán đoán của người viết.</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Mục 5.2.1, Bảng 5-2 và Hình 5-3; Martilla và James (1977); file 3.Chapter_4_and_Chapter_5_Practice_NH_X.xlsx (dữ liệu giả định), sheet 11_BieuDo</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99</a:t>
            </a:r>
          </a:p>
        </p:txBody>
      </p:sp>
      <p:sp>
        <p:nvSpPr>
          <p:cNvPr id="12" name="Rectangle 11"/>
          <p:cNvSpPr/>
          <p:nvPr/>
        </p:nvSpPr>
        <p:spPr>
          <a:xfrm>
            <a:off x="1325880" y="1874519"/>
            <a:ext cx="5486400" cy="338328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25880" y="1874519"/>
            <a:ext cx="2438400" cy="1481124"/>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764280" y="1874519"/>
            <a:ext cx="0" cy="3383281"/>
          </a:xfrm>
          <a:prstGeom prst="line">
            <a:avLst/>
          </a:prstGeom>
          <a:ln w="12700">
            <a:solidFill>
              <a:srgbClr val="9E9E9E"/>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25880" y="3355644"/>
            <a:ext cx="5486400" cy="0"/>
          </a:xfrm>
          <a:prstGeom prst="line">
            <a:avLst/>
          </a:prstGeom>
          <a:ln w="12700">
            <a:solidFill>
              <a:srgbClr val="9E9E9E"/>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399032" y="1920239"/>
            <a:ext cx="2651760" cy="274320"/>
          </a:xfrm>
          <a:prstGeom prst="rect">
            <a:avLst/>
          </a:prstGeom>
          <a:noFill/>
        </p:spPr>
        <p:txBody>
          <a:bodyPr wrap="square" lIns="45720" rIns="45720" tIns="27432" bIns="27432" anchor="t">
            <a:spAutoFit/>
          </a:bodyPr>
          <a:lstStyle/>
          <a:p>
            <a:pPr algn="l"/>
            <a:r>
              <a:rPr sz="950" b="1" i="0">
                <a:solidFill>
                  <a:srgbClr val="CC0000"/>
                </a:solidFill>
                <a:latin typeface="Arial"/>
              </a:rPr>
              <a:t>I. Tập trung cải thiện</a:t>
            </a:r>
          </a:p>
        </p:txBody>
      </p:sp>
      <p:sp>
        <p:nvSpPr>
          <p:cNvPr id="17" name="TextBox 16"/>
          <p:cNvSpPr txBox="1"/>
          <p:nvPr/>
        </p:nvSpPr>
        <p:spPr>
          <a:xfrm>
            <a:off x="3837432" y="1920239"/>
            <a:ext cx="2651760" cy="274320"/>
          </a:xfrm>
          <a:prstGeom prst="rect">
            <a:avLst/>
          </a:prstGeom>
          <a:noFill/>
        </p:spPr>
        <p:txBody>
          <a:bodyPr wrap="square" lIns="45720" rIns="45720" tIns="27432" bIns="27432" anchor="t">
            <a:spAutoFit/>
          </a:bodyPr>
          <a:lstStyle/>
          <a:p>
            <a:pPr algn="l"/>
            <a:r>
              <a:rPr sz="950" b="1" i="0">
                <a:solidFill>
                  <a:srgbClr val="9E9E9E"/>
                </a:solidFill>
                <a:latin typeface="Arial"/>
              </a:rPr>
              <a:t>II. Duy trì</a:t>
            </a:r>
          </a:p>
        </p:txBody>
      </p:sp>
      <p:sp>
        <p:nvSpPr>
          <p:cNvPr id="18" name="TextBox 17"/>
          <p:cNvSpPr txBox="1"/>
          <p:nvPr/>
        </p:nvSpPr>
        <p:spPr>
          <a:xfrm>
            <a:off x="1399032" y="4937760"/>
            <a:ext cx="2651760" cy="274320"/>
          </a:xfrm>
          <a:prstGeom prst="rect">
            <a:avLst/>
          </a:prstGeom>
          <a:noFill/>
        </p:spPr>
        <p:txBody>
          <a:bodyPr wrap="square" lIns="45720" rIns="45720" tIns="27432" bIns="27432" anchor="t">
            <a:spAutoFit/>
          </a:bodyPr>
          <a:lstStyle/>
          <a:p>
            <a:pPr algn="l"/>
            <a:r>
              <a:rPr sz="950" b="1" i="0">
                <a:solidFill>
                  <a:srgbClr val="9E9E9E"/>
                </a:solidFill>
                <a:latin typeface="Arial"/>
              </a:rPr>
              <a:t>III. Ưu tiên thấp</a:t>
            </a:r>
          </a:p>
        </p:txBody>
      </p:sp>
      <p:sp>
        <p:nvSpPr>
          <p:cNvPr id="19" name="TextBox 18"/>
          <p:cNvSpPr txBox="1"/>
          <p:nvPr/>
        </p:nvSpPr>
        <p:spPr>
          <a:xfrm>
            <a:off x="3837432" y="4937760"/>
            <a:ext cx="2651760" cy="274320"/>
          </a:xfrm>
          <a:prstGeom prst="rect">
            <a:avLst/>
          </a:prstGeom>
          <a:noFill/>
        </p:spPr>
        <p:txBody>
          <a:bodyPr wrap="square" lIns="45720" rIns="45720" tIns="27432" bIns="27432" anchor="t">
            <a:spAutoFit/>
          </a:bodyPr>
          <a:lstStyle/>
          <a:p>
            <a:pPr algn="l"/>
            <a:r>
              <a:rPr sz="950" b="1" i="0">
                <a:solidFill>
                  <a:srgbClr val="9E9E9E"/>
                </a:solidFill>
                <a:latin typeface="Arial"/>
              </a:rPr>
              <a:t>IV. Có thể đang đầu tư thừa</a:t>
            </a:r>
          </a:p>
        </p:txBody>
      </p:sp>
      <p:sp>
        <p:nvSpPr>
          <p:cNvPr id="20" name="Oval 19"/>
          <p:cNvSpPr/>
          <p:nvPr/>
        </p:nvSpPr>
        <p:spPr>
          <a:xfrm>
            <a:off x="2505456" y="2691180"/>
            <a:ext cx="201168" cy="20116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 y="2636316"/>
            <a:ext cx="2377440" cy="310896"/>
          </a:xfrm>
          <a:prstGeom prst="rect">
            <a:avLst/>
          </a:prstGeom>
          <a:noFill/>
        </p:spPr>
        <p:txBody>
          <a:bodyPr wrap="square" lIns="45720" rIns="45720" tIns="27432" bIns="27432" anchor="t">
            <a:spAutoFit/>
          </a:bodyPr>
          <a:lstStyle/>
          <a:p>
            <a:pPr algn="l"/>
            <a:r>
              <a:rPr sz="1100" b="1" i="0">
                <a:solidFill>
                  <a:srgbClr val="262626"/>
                </a:solidFill>
                <a:latin typeface="Arial"/>
              </a:rPr>
              <a:t>Niềm tin</a:t>
            </a:r>
            <a:r>
              <a:rPr sz="1100" b="0" i="0">
                <a:solidFill>
                  <a:srgbClr val="262626"/>
                </a:solidFill>
                <a:latin typeface="Arial"/>
              </a:rPr>
              <a:t> (3,41; 0,328)</a:t>
            </a:r>
          </a:p>
        </p:txBody>
      </p:sp>
      <p:sp>
        <p:nvSpPr>
          <p:cNvPr id="22" name="Oval 21"/>
          <p:cNvSpPr/>
          <p:nvPr/>
        </p:nvSpPr>
        <p:spPr>
          <a:xfrm>
            <a:off x="5370576" y="2194966"/>
            <a:ext cx="201168" cy="201168"/>
          </a:xfrm>
          <a:prstGeom prst="ellipse">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56560" y="2140102"/>
            <a:ext cx="2377440" cy="310896"/>
          </a:xfrm>
          <a:prstGeom prst="rect">
            <a:avLst/>
          </a:prstGeom>
          <a:noFill/>
        </p:spPr>
        <p:txBody>
          <a:bodyPr wrap="square" lIns="45720" rIns="45720" tIns="27432" bIns="27432" anchor="t">
            <a:spAutoFit/>
          </a:bodyPr>
          <a:lstStyle/>
          <a:p>
            <a:pPr algn="r"/>
            <a:r>
              <a:rPr sz="1100" b="1" i="0">
                <a:solidFill>
                  <a:srgbClr val="262626"/>
                </a:solidFill>
                <a:latin typeface="Arial"/>
              </a:rPr>
              <a:t>Sự hữu ích</a:t>
            </a:r>
            <a:r>
              <a:rPr sz="1100" b="0" i="0">
                <a:solidFill>
                  <a:srgbClr val="262626"/>
                </a:solidFill>
                <a:latin typeface="Arial"/>
              </a:rPr>
              <a:t> (3,88; 0,394)</a:t>
            </a:r>
          </a:p>
        </p:txBody>
      </p:sp>
      <p:sp>
        <p:nvSpPr>
          <p:cNvPr id="24" name="Oval 23"/>
          <p:cNvSpPr/>
          <p:nvPr/>
        </p:nvSpPr>
        <p:spPr>
          <a:xfrm>
            <a:off x="2200655" y="3450539"/>
            <a:ext cx="201168" cy="201168"/>
          </a:xfrm>
          <a:prstGeom prst="ellipse">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38399" y="3395675"/>
            <a:ext cx="2377440" cy="310896"/>
          </a:xfrm>
          <a:prstGeom prst="rect">
            <a:avLst/>
          </a:prstGeom>
          <a:noFill/>
        </p:spPr>
        <p:txBody>
          <a:bodyPr wrap="square" lIns="45720" rIns="45720" tIns="27432" bIns="27432" anchor="t">
            <a:spAutoFit/>
          </a:bodyPr>
          <a:lstStyle/>
          <a:p>
            <a:pPr algn="l"/>
            <a:r>
              <a:rPr sz="1100" b="1" i="0">
                <a:solidFill>
                  <a:srgbClr val="262626"/>
                </a:solidFill>
                <a:latin typeface="Arial"/>
              </a:rPr>
              <a:t>Ảnh hưởng xã hội</a:t>
            </a:r>
            <a:r>
              <a:rPr sz="1100" b="0" i="0">
                <a:solidFill>
                  <a:srgbClr val="262626"/>
                </a:solidFill>
                <a:latin typeface="Arial"/>
              </a:rPr>
              <a:t> (3,36; 0,227)</a:t>
            </a:r>
          </a:p>
        </p:txBody>
      </p:sp>
      <p:sp>
        <p:nvSpPr>
          <p:cNvPr id="26" name="Oval 25"/>
          <p:cNvSpPr/>
          <p:nvPr/>
        </p:nvSpPr>
        <p:spPr>
          <a:xfrm>
            <a:off x="4517136" y="4676038"/>
            <a:ext cx="201168" cy="201168"/>
          </a:xfrm>
          <a:prstGeom prst="ellipse">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03120" y="4621174"/>
            <a:ext cx="2377440" cy="310896"/>
          </a:xfrm>
          <a:prstGeom prst="rect">
            <a:avLst/>
          </a:prstGeom>
          <a:noFill/>
        </p:spPr>
        <p:txBody>
          <a:bodyPr wrap="square" lIns="45720" rIns="45720" tIns="27432" bIns="27432" anchor="t">
            <a:spAutoFit/>
          </a:bodyPr>
          <a:lstStyle/>
          <a:p>
            <a:pPr algn="r"/>
            <a:r>
              <a:rPr sz="1100" b="1" i="0">
                <a:solidFill>
                  <a:srgbClr val="262626"/>
                </a:solidFill>
                <a:latin typeface="Arial"/>
              </a:rPr>
              <a:t>Sự dễ sử dụng</a:t>
            </a:r>
            <a:r>
              <a:rPr sz="1100" b="0" i="0">
                <a:solidFill>
                  <a:srgbClr val="262626"/>
                </a:solidFill>
                <a:latin typeface="Arial"/>
              </a:rPr>
              <a:t> (3,74; 0,064)</a:t>
            </a:r>
          </a:p>
        </p:txBody>
      </p:sp>
      <p:sp>
        <p:nvSpPr>
          <p:cNvPr id="28" name="TextBox 27"/>
          <p:cNvSpPr txBox="1"/>
          <p:nvPr/>
        </p:nvSpPr>
        <p:spPr>
          <a:xfrm>
            <a:off x="1325880" y="5303520"/>
            <a:ext cx="5486400" cy="274320"/>
          </a:xfrm>
          <a:prstGeom prst="rect">
            <a:avLst/>
          </a:prstGeom>
          <a:noFill/>
        </p:spPr>
        <p:txBody>
          <a:bodyPr wrap="square" lIns="45720" rIns="45720" tIns="27432" bIns="27432" anchor="t">
            <a:spAutoFit/>
          </a:bodyPr>
          <a:lstStyle/>
          <a:p>
            <a:pPr algn="ctr"/>
            <a:r>
              <a:rPr sz="1050" b="0" i="0">
                <a:solidFill>
                  <a:srgbClr val="58595B"/>
                </a:solidFill>
                <a:latin typeface="Arial"/>
              </a:rPr>
              <a:t>Mức thực hiện (điểm trung bình; đường chia 3,60)</a:t>
            </a:r>
          </a:p>
        </p:txBody>
      </p:sp>
      <p:sp>
        <p:nvSpPr>
          <p:cNvPr id="29" name="TextBox 28"/>
          <p:cNvSpPr txBox="1"/>
          <p:nvPr/>
        </p:nvSpPr>
        <p:spPr>
          <a:xfrm>
            <a:off x="411480" y="1874519"/>
            <a:ext cx="822959" cy="3383280"/>
          </a:xfrm>
          <a:prstGeom prst="rect">
            <a:avLst/>
          </a:prstGeom>
          <a:noFill/>
        </p:spPr>
        <p:txBody>
          <a:bodyPr wrap="square" lIns="45720" rIns="45720" tIns="27432" bIns="27432" anchor="ctr">
            <a:spAutoFit/>
          </a:bodyPr>
          <a:lstStyle/>
          <a:p>
            <a:pPr algn="ctr"/>
            <a:r>
              <a:rPr sz="1050" b="0" i="0">
                <a:solidFill>
                  <a:srgbClr val="58595B"/>
                </a:solidFill>
                <a:latin typeface="Arial"/>
              </a:rPr>
              <a:t>Mức quan trọng (β; đường chia 0,253)</a:t>
            </a:r>
          </a:p>
        </p:txBody>
      </p:sp>
      <p:sp>
        <p:nvSpPr>
          <p:cNvPr id="30" name="TextBox 29"/>
          <p:cNvSpPr txBox="1"/>
          <p:nvPr/>
        </p:nvSpPr>
        <p:spPr>
          <a:xfrm>
            <a:off x="7178040" y="1783080"/>
            <a:ext cx="4553712"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ĐỌC MA TRẬN</a:t>
            </a:r>
          </a:p>
        </p:txBody>
      </p:sp>
      <p:cxnSp>
        <p:nvCxnSpPr>
          <p:cNvPr id="31" name="Connector 30"/>
          <p:cNvCxnSpPr/>
          <p:nvPr/>
        </p:nvCxnSpPr>
        <p:spPr>
          <a:xfrm>
            <a:off x="7178040" y="2103120"/>
            <a:ext cx="45537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17804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33" name="TextBox 32"/>
          <p:cNvSpPr txBox="1"/>
          <p:nvPr/>
        </p:nvSpPr>
        <p:spPr>
          <a:xfrm>
            <a:off x="7589519" y="219456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Ô I, niềm tin:</a:t>
            </a:r>
            <a:r>
              <a:rPr sz="1350" b="0" i="0">
                <a:solidFill>
                  <a:srgbClr val="58595B"/>
                </a:solidFill>
                <a:latin typeface="Arial"/>
              </a:rPr>
              <a:t> quan trọng nhưng điểm thấp; ưu tiên số một.</a:t>
            </a:r>
          </a:p>
        </p:txBody>
      </p:sp>
      <p:sp>
        <p:nvSpPr>
          <p:cNvPr id="34" name="Oval 33"/>
          <p:cNvSpPr/>
          <p:nvPr/>
        </p:nvSpPr>
        <p:spPr>
          <a:xfrm>
            <a:off x="717804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35" name="TextBox 34"/>
          <p:cNvSpPr txBox="1"/>
          <p:nvPr/>
        </p:nvSpPr>
        <p:spPr>
          <a:xfrm>
            <a:off x="7589519" y="305181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Ô II, sự hữu ích:</a:t>
            </a:r>
            <a:r>
              <a:rPr sz="1350" b="0" i="0">
                <a:solidFill>
                  <a:srgbClr val="58595B"/>
                </a:solidFill>
                <a:latin typeface="Arial"/>
              </a:rPr>
              <a:t> quan trọng và đang được đánh giá cao; duy trì.</a:t>
            </a:r>
          </a:p>
        </p:txBody>
      </p:sp>
      <p:sp>
        <p:nvSpPr>
          <p:cNvPr id="36" name="Oval 35"/>
          <p:cNvSpPr/>
          <p:nvPr/>
        </p:nvSpPr>
        <p:spPr>
          <a:xfrm>
            <a:off x="717804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37" name="TextBox 36"/>
          <p:cNvSpPr txBox="1"/>
          <p:nvPr/>
        </p:nvSpPr>
        <p:spPr>
          <a:xfrm>
            <a:off x="7589519" y="390906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Ô III, ảnh hưởng xã hội:</a:t>
            </a:r>
            <a:r>
              <a:rPr sz="1350" b="0" i="0">
                <a:solidFill>
                  <a:srgbClr val="58595B"/>
                </a:solidFill>
                <a:latin typeface="Arial"/>
              </a:rPr>
              <a:t> sát đường chia của trục quan trọng; tận dụng với chi phí thấp.</a:t>
            </a:r>
          </a:p>
        </p:txBody>
      </p:sp>
      <p:sp>
        <p:nvSpPr>
          <p:cNvPr id="38" name="Oval 37"/>
          <p:cNvSpPr/>
          <p:nvPr/>
        </p:nvSpPr>
        <p:spPr>
          <a:xfrm>
            <a:off x="717804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39" name="TextBox 38"/>
          <p:cNvSpPr txBox="1"/>
          <p:nvPr/>
        </p:nvSpPr>
        <p:spPr>
          <a:xfrm>
            <a:off x="7589519" y="476631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Ô IV, sự dễ sử dụng:</a:t>
            </a:r>
            <a:r>
              <a:rPr sz="1350" b="0" i="0">
                <a:solidFill>
                  <a:srgbClr val="58595B"/>
                </a:solidFill>
                <a:latin typeface="Arial"/>
              </a:rPr>
              <a:t> điểm khá cao nhưng không còn tác động trực tiếp; Bảng 5-2 gọi là "có thể đang đầu tư thừa".</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 GIỚI HẠN CỦA MA TRẬN</a:t>
            </a:r>
          </a:p>
        </p:txBody>
      </p:sp>
      <p:sp>
        <p:nvSpPr>
          <p:cNvPr id="3" name="Rounded Rectangle 2"/>
          <p:cNvSpPr/>
          <p:nvPr/>
        </p:nvSpPr>
        <p:spPr>
          <a:xfrm>
            <a:off x="10273284" y="219456"/>
            <a:ext cx="145846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TRƯỜNG TIỂU HỌC Y</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Ma trận xếp quy trình hành chính vào ưu tiên thấp nhưng phán đoán có căn cứ kéo nó lên</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Khi điều chỉnh thứ tự ưu tiên bằng phán đoán, phải nêu rõ căn cứ của sự điều chỉnh đó.</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Mục 5.2.1 và Hình 5-4; file 3.Chapter_4_and_Chapter_5_Practice_Truong_Y.xlsx (dữ liệu giả định), sheet 11_BieuDo và 12_CauHoiMo</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100</a:t>
            </a:r>
          </a:p>
        </p:txBody>
      </p:sp>
      <p:sp>
        <p:nvSpPr>
          <p:cNvPr id="12" name="Rectangle 11"/>
          <p:cNvSpPr/>
          <p:nvPr/>
        </p:nvSpPr>
        <p:spPr>
          <a:xfrm>
            <a:off x="1325880" y="1874519"/>
            <a:ext cx="5486400" cy="338328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25880" y="1874519"/>
            <a:ext cx="3044952" cy="1547850"/>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370832" y="1874519"/>
            <a:ext cx="0" cy="3383281"/>
          </a:xfrm>
          <a:prstGeom prst="line">
            <a:avLst/>
          </a:prstGeom>
          <a:ln w="12700">
            <a:solidFill>
              <a:srgbClr val="9E9E9E"/>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25880" y="3422370"/>
            <a:ext cx="5486400" cy="0"/>
          </a:xfrm>
          <a:prstGeom prst="line">
            <a:avLst/>
          </a:prstGeom>
          <a:ln w="12700">
            <a:solidFill>
              <a:srgbClr val="9E9E9E"/>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399032" y="1920239"/>
            <a:ext cx="2651760" cy="274320"/>
          </a:xfrm>
          <a:prstGeom prst="rect">
            <a:avLst/>
          </a:prstGeom>
          <a:noFill/>
        </p:spPr>
        <p:txBody>
          <a:bodyPr wrap="square" lIns="45720" rIns="45720" tIns="27432" bIns="27432" anchor="t">
            <a:spAutoFit/>
          </a:bodyPr>
          <a:lstStyle/>
          <a:p>
            <a:pPr algn="l"/>
            <a:r>
              <a:rPr sz="950" b="1" i="0">
                <a:solidFill>
                  <a:srgbClr val="CC0000"/>
                </a:solidFill>
                <a:latin typeface="Arial"/>
              </a:rPr>
              <a:t>I. Tập trung cải thiện</a:t>
            </a:r>
          </a:p>
        </p:txBody>
      </p:sp>
      <p:sp>
        <p:nvSpPr>
          <p:cNvPr id="17" name="TextBox 16"/>
          <p:cNvSpPr txBox="1"/>
          <p:nvPr/>
        </p:nvSpPr>
        <p:spPr>
          <a:xfrm>
            <a:off x="4443984" y="1920239"/>
            <a:ext cx="2651760" cy="274320"/>
          </a:xfrm>
          <a:prstGeom prst="rect">
            <a:avLst/>
          </a:prstGeom>
          <a:noFill/>
        </p:spPr>
        <p:txBody>
          <a:bodyPr wrap="square" lIns="45720" rIns="45720" tIns="27432" bIns="27432" anchor="t">
            <a:spAutoFit/>
          </a:bodyPr>
          <a:lstStyle/>
          <a:p>
            <a:pPr algn="l"/>
            <a:r>
              <a:rPr sz="950" b="1" i="0">
                <a:solidFill>
                  <a:srgbClr val="9E9E9E"/>
                </a:solidFill>
                <a:latin typeface="Arial"/>
              </a:rPr>
              <a:t>II. Duy trì</a:t>
            </a:r>
          </a:p>
        </p:txBody>
      </p:sp>
      <p:sp>
        <p:nvSpPr>
          <p:cNvPr id="18" name="TextBox 17"/>
          <p:cNvSpPr txBox="1"/>
          <p:nvPr/>
        </p:nvSpPr>
        <p:spPr>
          <a:xfrm>
            <a:off x="1399032" y="4937760"/>
            <a:ext cx="2651760" cy="274320"/>
          </a:xfrm>
          <a:prstGeom prst="rect">
            <a:avLst/>
          </a:prstGeom>
          <a:noFill/>
        </p:spPr>
        <p:txBody>
          <a:bodyPr wrap="square" lIns="45720" rIns="45720" tIns="27432" bIns="27432" anchor="t">
            <a:spAutoFit/>
          </a:bodyPr>
          <a:lstStyle/>
          <a:p>
            <a:pPr algn="l"/>
            <a:r>
              <a:rPr sz="950" b="1" i="0">
                <a:solidFill>
                  <a:srgbClr val="9E9E9E"/>
                </a:solidFill>
                <a:latin typeface="Arial"/>
              </a:rPr>
              <a:t>III. Ưu tiên thấp</a:t>
            </a:r>
          </a:p>
        </p:txBody>
      </p:sp>
      <p:sp>
        <p:nvSpPr>
          <p:cNvPr id="19" name="TextBox 18"/>
          <p:cNvSpPr txBox="1"/>
          <p:nvPr/>
        </p:nvSpPr>
        <p:spPr>
          <a:xfrm>
            <a:off x="4443984" y="4937760"/>
            <a:ext cx="2651760" cy="274320"/>
          </a:xfrm>
          <a:prstGeom prst="rect">
            <a:avLst/>
          </a:prstGeom>
          <a:noFill/>
        </p:spPr>
        <p:txBody>
          <a:bodyPr wrap="square" lIns="45720" rIns="45720" tIns="27432" bIns="27432" anchor="t">
            <a:spAutoFit/>
          </a:bodyPr>
          <a:lstStyle/>
          <a:p>
            <a:pPr algn="l"/>
            <a:r>
              <a:rPr sz="950" b="1" i="0">
                <a:solidFill>
                  <a:srgbClr val="9E9E9E"/>
                </a:solidFill>
                <a:latin typeface="Arial"/>
              </a:rPr>
              <a:t>IV. Có thể đang đầu tư thừa</a:t>
            </a:r>
          </a:p>
        </p:txBody>
      </p:sp>
      <p:sp>
        <p:nvSpPr>
          <p:cNvPr id="20" name="Oval 19"/>
          <p:cNvSpPr/>
          <p:nvPr/>
        </p:nvSpPr>
        <p:spPr>
          <a:xfrm>
            <a:off x="5707684" y="2349093"/>
            <a:ext cx="201168" cy="201168"/>
          </a:xfrm>
          <a:prstGeom prst="ellipse">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3668" y="2294229"/>
            <a:ext cx="2377440" cy="310896"/>
          </a:xfrm>
          <a:prstGeom prst="rect">
            <a:avLst/>
          </a:prstGeom>
          <a:noFill/>
        </p:spPr>
        <p:txBody>
          <a:bodyPr wrap="square" lIns="45720" rIns="45720" tIns="27432" bIns="27432" anchor="t">
            <a:spAutoFit/>
          </a:bodyPr>
          <a:lstStyle/>
          <a:p>
            <a:pPr algn="r"/>
            <a:r>
              <a:rPr sz="1100" b="1" i="0">
                <a:solidFill>
                  <a:srgbClr val="262626"/>
                </a:solidFill>
                <a:latin typeface="Arial"/>
              </a:rPr>
              <a:t>Thái độ nhân viên</a:t>
            </a:r>
            <a:r>
              <a:rPr sz="1100" b="0" i="0">
                <a:solidFill>
                  <a:srgbClr val="262626"/>
                </a:solidFill>
                <a:latin typeface="Arial"/>
              </a:rPr>
              <a:t> (4,117; 0,432)</a:t>
            </a:r>
          </a:p>
        </p:txBody>
      </p:sp>
      <p:sp>
        <p:nvSpPr>
          <p:cNvPr id="22" name="Oval 21"/>
          <p:cNvSpPr/>
          <p:nvPr/>
        </p:nvSpPr>
        <p:spPr>
          <a:xfrm>
            <a:off x="4917643" y="3034207"/>
            <a:ext cx="201168" cy="201168"/>
          </a:xfrm>
          <a:prstGeom prst="ellipse">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03627" y="2979343"/>
            <a:ext cx="2377440" cy="310896"/>
          </a:xfrm>
          <a:prstGeom prst="rect">
            <a:avLst/>
          </a:prstGeom>
          <a:noFill/>
        </p:spPr>
        <p:txBody>
          <a:bodyPr wrap="square" lIns="45720" rIns="45720" tIns="27432" bIns="27432" anchor="t">
            <a:spAutoFit/>
          </a:bodyPr>
          <a:lstStyle/>
          <a:p>
            <a:pPr algn="r"/>
            <a:r>
              <a:rPr sz="1100" b="1" i="0">
                <a:solidFill>
                  <a:srgbClr val="262626"/>
                </a:solidFill>
                <a:latin typeface="Arial"/>
              </a:rPr>
              <a:t>Cơ sở vật chất</a:t>
            </a:r>
            <a:r>
              <a:rPr sz="1100" b="0" i="0">
                <a:solidFill>
                  <a:srgbClr val="262626"/>
                </a:solidFill>
                <a:latin typeface="Arial"/>
              </a:rPr>
              <a:t> (3,973; 0,351)</a:t>
            </a:r>
          </a:p>
        </p:txBody>
      </p:sp>
      <p:sp>
        <p:nvSpPr>
          <p:cNvPr id="24" name="Oval 23"/>
          <p:cNvSpPr/>
          <p:nvPr/>
        </p:nvSpPr>
        <p:spPr>
          <a:xfrm>
            <a:off x="2185416" y="4573600"/>
            <a:ext cx="201168" cy="20116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23160" y="4518736"/>
            <a:ext cx="2377440" cy="310896"/>
          </a:xfrm>
          <a:prstGeom prst="rect">
            <a:avLst/>
          </a:prstGeom>
          <a:noFill/>
        </p:spPr>
        <p:txBody>
          <a:bodyPr wrap="square" lIns="45720" rIns="45720" tIns="27432" bIns="27432" anchor="t">
            <a:spAutoFit/>
          </a:bodyPr>
          <a:lstStyle/>
          <a:p>
            <a:pPr algn="l"/>
            <a:r>
              <a:rPr sz="1100" b="1" i="0">
                <a:solidFill>
                  <a:srgbClr val="262626"/>
                </a:solidFill>
                <a:latin typeface="Arial"/>
              </a:rPr>
              <a:t>Quy trình hành chính</a:t>
            </a:r>
            <a:r>
              <a:rPr sz="1100" b="0" i="0">
                <a:solidFill>
                  <a:srgbClr val="262626"/>
                </a:solidFill>
                <a:latin typeface="Arial"/>
              </a:rPr>
              <a:t> (3,475; 0,169)</a:t>
            </a:r>
          </a:p>
        </p:txBody>
      </p:sp>
      <p:sp>
        <p:nvSpPr>
          <p:cNvPr id="26" name="TextBox 25"/>
          <p:cNvSpPr txBox="1"/>
          <p:nvPr/>
        </p:nvSpPr>
        <p:spPr>
          <a:xfrm>
            <a:off x="1325880" y="5303520"/>
            <a:ext cx="5486400" cy="274320"/>
          </a:xfrm>
          <a:prstGeom prst="rect">
            <a:avLst/>
          </a:prstGeom>
          <a:noFill/>
        </p:spPr>
        <p:txBody>
          <a:bodyPr wrap="square" lIns="45720" rIns="45720" tIns="27432" bIns="27432" anchor="t">
            <a:spAutoFit/>
          </a:bodyPr>
          <a:lstStyle/>
          <a:p>
            <a:pPr algn="ctr"/>
            <a:r>
              <a:rPr sz="1050" b="0" i="0">
                <a:solidFill>
                  <a:srgbClr val="58595B"/>
                </a:solidFill>
                <a:latin typeface="Arial"/>
              </a:rPr>
              <a:t>Mức thực hiện (điểm trung bình; đường chia 3,86)</a:t>
            </a:r>
          </a:p>
        </p:txBody>
      </p:sp>
      <p:sp>
        <p:nvSpPr>
          <p:cNvPr id="27" name="TextBox 26"/>
          <p:cNvSpPr txBox="1"/>
          <p:nvPr/>
        </p:nvSpPr>
        <p:spPr>
          <a:xfrm>
            <a:off x="411480" y="1874519"/>
            <a:ext cx="822959" cy="3383280"/>
          </a:xfrm>
          <a:prstGeom prst="rect">
            <a:avLst/>
          </a:prstGeom>
          <a:noFill/>
        </p:spPr>
        <p:txBody>
          <a:bodyPr wrap="square" lIns="45720" rIns="45720" tIns="27432" bIns="27432" anchor="ctr">
            <a:spAutoFit/>
          </a:bodyPr>
          <a:lstStyle/>
          <a:p>
            <a:pPr algn="ctr"/>
            <a:r>
              <a:rPr sz="1050" b="0" i="0">
                <a:solidFill>
                  <a:srgbClr val="58595B"/>
                </a:solidFill>
                <a:latin typeface="Arial"/>
              </a:rPr>
              <a:t>Mức quan trọng (β; đường chia 0,317)</a:t>
            </a:r>
          </a:p>
        </p:txBody>
      </p:sp>
      <p:sp>
        <p:nvSpPr>
          <p:cNvPr id="28" name="TextBox 27"/>
          <p:cNvSpPr txBox="1"/>
          <p:nvPr/>
        </p:nvSpPr>
        <p:spPr>
          <a:xfrm>
            <a:off x="7178040" y="1783080"/>
            <a:ext cx="4553712"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ĐỌC MA TRẬN</a:t>
            </a:r>
          </a:p>
        </p:txBody>
      </p:sp>
      <p:cxnSp>
        <p:nvCxnSpPr>
          <p:cNvPr id="29" name="Connector 28"/>
          <p:cNvCxnSpPr/>
          <p:nvPr/>
        </p:nvCxnSpPr>
        <p:spPr>
          <a:xfrm>
            <a:off x="7178040" y="2103120"/>
            <a:ext cx="455371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717804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31" name="TextBox 30"/>
          <p:cNvSpPr txBox="1"/>
          <p:nvPr/>
        </p:nvSpPr>
        <p:spPr>
          <a:xfrm>
            <a:off x="7589519" y="219456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Ô II:</a:t>
            </a:r>
            <a:r>
              <a:rPr sz="1350" b="0" i="0">
                <a:solidFill>
                  <a:srgbClr val="58595B"/>
                </a:solidFill>
                <a:latin typeface="Arial"/>
              </a:rPr>
              <a:t> thái độ nhân viên và cơ sở vật chất; trường cần duy trì.</a:t>
            </a:r>
          </a:p>
        </p:txBody>
      </p:sp>
      <p:sp>
        <p:nvSpPr>
          <p:cNvPr id="32" name="Oval 31"/>
          <p:cNvSpPr/>
          <p:nvPr/>
        </p:nvSpPr>
        <p:spPr>
          <a:xfrm>
            <a:off x="717804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33" name="TextBox 32"/>
          <p:cNvSpPr txBox="1"/>
          <p:nvPr/>
        </p:nvSpPr>
        <p:spPr>
          <a:xfrm>
            <a:off x="7589519" y="305181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Ô III:</a:t>
            </a:r>
            <a:r>
              <a:rPr sz="1350" b="0" i="0">
                <a:solidFill>
                  <a:srgbClr val="58595B"/>
                </a:solidFill>
                <a:latin typeface="Arial"/>
              </a:rPr>
              <a:t> quy trình hành chính có tác động yếu nhất và điểm thấp nhất.</a:t>
            </a:r>
          </a:p>
        </p:txBody>
      </p:sp>
      <p:sp>
        <p:nvSpPr>
          <p:cNvPr id="34" name="Oval 33"/>
          <p:cNvSpPr/>
          <p:nvPr/>
        </p:nvSpPr>
        <p:spPr>
          <a:xfrm>
            <a:off x="717804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35" name="TextBox 34"/>
          <p:cNvSpPr txBox="1"/>
          <p:nvPr/>
        </p:nvSpPr>
        <p:spPr>
          <a:xfrm>
            <a:off x="7589519" y="390906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Phán đoán thêm:</a:t>
            </a:r>
            <a:r>
              <a:rPr sz="1350" b="0" i="0">
                <a:solidFill>
                  <a:srgbClr val="58595B"/>
                </a:solidFill>
                <a:latin typeface="Arial"/>
              </a:rPr>
              <a:t> 3,48 là điểm thấp nhất; H3 vẫn được ủng hộ; câu hỏi mở có 42,9% nêu thời gian chờ.</a:t>
            </a:r>
          </a:p>
        </p:txBody>
      </p:sp>
      <p:sp>
        <p:nvSpPr>
          <p:cNvPr id="36" name="Oval 35"/>
          <p:cNvSpPr/>
          <p:nvPr/>
        </p:nvSpPr>
        <p:spPr>
          <a:xfrm>
            <a:off x="717804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37" name="TextBox 36"/>
          <p:cNvSpPr txBox="1"/>
          <p:nvPr/>
        </p:nvSpPr>
        <p:spPr>
          <a:xfrm>
            <a:off x="7589519" y="4766310"/>
            <a:ext cx="4142232" cy="857250"/>
          </a:xfrm>
          <a:prstGeom prst="rect">
            <a:avLst/>
          </a:prstGeom>
          <a:noFill/>
        </p:spPr>
        <p:txBody>
          <a:bodyPr wrap="square" lIns="45720" rIns="45720" tIns="27432" bIns="27432" anchor="t">
            <a:spAutoFit/>
          </a:bodyPr>
          <a:lstStyle/>
          <a:p>
            <a:pPr algn="l"/>
            <a:r>
              <a:rPr sz="1350" b="1" i="0">
                <a:solidFill>
                  <a:srgbClr val="58595B"/>
                </a:solidFill>
                <a:latin typeface="Arial"/>
              </a:rPr>
              <a:t>Cải tiến chi phí thấp:</a:t>
            </a:r>
            <a:r>
              <a:rPr sz="1350" b="0" i="0">
                <a:solidFill>
                  <a:srgbClr val="58595B"/>
                </a:solidFill>
                <a:latin typeface="Arial"/>
              </a:rPr>
              <a:t> niêm yết danh mục giấy tờ cho từng thủ tục; hẹn ngày trả kết quả bằng phiếu hẹn.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 HÀM Ý QUẢN TRỊ</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Hàm ý đạt có năm phần: kết quả, hàm ý, hành động cụ thể, tác động mong đợi, điều kiện thực hiện</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Không đề xuất hàm ý cho yếu tố không có ý nghĩa thống kê như thể yếu tố đó có tác động; dùng "được kỳ vọng", không hứa chắc chắn.</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Mục 5.2.1 và Mục 5.2.2</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101</a:t>
            </a:r>
          </a:p>
        </p:txBody>
      </p:sp>
      <p:sp>
        <p:nvSpPr>
          <p:cNvPr id="12" name="Rectangle 11"/>
          <p:cNvSpPr/>
          <p:nvPr/>
        </p:nvSpPr>
        <p:spPr>
          <a:xfrm>
            <a:off x="457200" y="1783080"/>
            <a:ext cx="5486400" cy="365760"/>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CHƯA ĐẠT</a:t>
            </a:r>
          </a:p>
        </p:txBody>
      </p:sp>
      <p:sp>
        <p:nvSpPr>
          <p:cNvPr id="13" name="Rectangle 12"/>
          <p:cNvSpPr/>
          <p:nvPr/>
        </p:nvSpPr>
        <p:spPr>
          <a:xfrm>
            <a:off x="457200" y="2148840"/>
            <a:ext cx="5486400" cy="2103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240280"/>
            <a:ext cx="5212080" cy="1920240"/>
          </a:xfrm>
          <a:prstGeom prst="rect">
            <a:avLst/>
          </a:prstGeom>
          <a:noFill/>
        </p:spPr>
        <p:txBody>
          <a:bodyPr wrap="square" lIns="45720" rIns="45720" tIns="27432" bIns="27432" anchor="t">
            <a:spAutoFit/>
          </a:bodyPr>
          <a:lstStyle/>
          <a:p>
            <a:pPr algn="l"/>
            <a:r>
              <a:rPr sz="1150" b="0" i="1">
                <a:solidFill>
                  <a:srgbClr val="58595B"/>
                </a:solidFill>
                <a:latin typeface="Arial"/>
              </a:rPr>
              <a:t>"Ngân hàng X cần nâng cao chất lượng dịch vụ. Cần tăng cường truyền thông. Cần củng cố niềm tin. Cần làm ứng dụng dễ dùng hơn."</a:t>
            </a:r>
          </a:p>
        </p:txBody>
      </p:sp>
      <p:sp>
        <p:nvSpPr>
          <p:cNvPr id="15" name="Rectangle 14"/>
          <p:cNvSpPr/>
          <p:nvPr/>
        </p:nvSpPr>
        <p:spPr>
          <a:xfrm>
            <a:off x="6245352" y="1783080"/>
            <a:ext cx="5486400" cy="36576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00" b="1" i="0">
                <a:solidFill>
                  <a:srgbClr val="FFFFFF"/>
                </a:solidFill>
                <a:latin typeface="Arial"/>
              </a:rPr>
              <a:t>ĐẠT</a:t>
            </a:r>
          </a:p>
        </p:txBody>
      </p:sp>
      <p:sp>
        <p:nvSpPr>
          <p:cNvPr id="16" name="Rectangle 15"/>
          <p:cNvSpPr/>
          <p:nvPr/>
        </p:nvSpPr>
        <p:spPr>
          <a:xfrm>
            <a:off x="6245352" y="2148840"/>
            <a:ext cx="5486400" cy="2103120"/>
          </a:xfrm>
          <a:prstGeom prst="rect">
            <a:avLst/>
          </a:prstGeom>
          <a:solidFill>
            <a:srgbClr val="FFFFFF"/>
          </a:solidFill>
          <a:ln w="95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240280"/>
            <a:ext cx="5212080" cy="1920240"/>
          </a:xfrm>
          <a:prstGeom prst="rect">
            <a:avLst/>
          </a:prstGeom>
          <a:noFill/>
        </p:spPr>
        <p:txBody>
          <a:bodyPr wrap="square" lIns="45720" rIns="45720" tIns="27432" bIns="27432" anchor="t">
            <a:spAutoFit/>
          </a:bodyPr>
          <a:lstStyle/>
          <a:p>
            <a:pPr algn="l"/>
            <a:r>
              <a:rPr sz="1150" b="0" i="1">
                <a:solidFill>
                  <a:srgbClr val="262626"/>
                </a:solidFill>
                <a:latin typeface="Arial"/>
              </a:rPr>
              <a:t>"Niềm tin là yếu tố cần ưu tiên số một: niềm tin có tác động mạnh thứ hai (β = 0,328) nhưng có điểm đánh giá thấp (3,41). Ngân hàng X nên công khai trên ứng dụng các biện pháp bảo vệ tài khoản, gửi thông báo tức thì cho mọi giao dịch và duy trì đường dây hỗ trợ khi khách hàng nghi ngờ gian lận. Các biện pháp này được kỳ vọng giúp khách hàng yên tâm hơn. Việc thực hiện cần sự phối hợp giữa bộ phận công nghệ thông tin và bộ phận chăm sóc khách hàng."</a:t>
            </a:r>
          </a:p>
        </p:txBody>
      </p:sp>
      <p:sp>
        <p:nvSpPr>
          <p:cNvPr id="18" name="TextBox 17"/>
          <p:cNvSpPr txBox="1"/>
          <p:nvPr/>
        </p:nvSpPr>
        <p:spPr>
          <a:xfrm>
            <a:off x="457200" y="4434840"/>
            <a:ext cx="2743200" cy="274320"/>
          </a:xfrm>
          <a:prstGeom prst="rect">
            <a:avLst/>
          </a:prstGeom>
          <a:noFill/>
        </p:spPr>
        <p:txBody>
          <a:bodyPr wrap="square" lIns="45720" rIns="45720" tIns="27432" bIns="27432" anchor="t">
            <a:spAutoFit/>
          </a:bodyPr>
          <a:lstStyle/>
          <a:p>
            <a:pPr algn="l"/>
            <a:r>
              <a:rPr sz="1000" b="1" i="0">
                <a:solidFill>
                  <a:srgbClr val="CC0000"/>
                </a:solidFill>
                <a:latin typeface="Arial"/>
              </a:rPr>
              <a:t>VÌ SAO BẢN CHƯA ĐẠT BỊ TRỪ ĐIỂM</a:t>
            </a:r>
          </a:p>
        </p:txBody>
      </p:sp>
      <p:cxnSp>
        <p:nvCxnSpPr>
          <p:cNvPr id="19" name="Connector 18"/>
          <p:cNvCxnSpPr/>
          <p:nvPr/>
        </p:nvCxnSpPr>
        <p:spPr>
          <a:xfrm>
            <a:off x="457200"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Không gắn kết quả.</a:t>
            </a:r>
            <a:r>
              <a:rPr sz="1200" b="0" i="0">
                <a:solidFill>
                  <a:srgbClr val="58595B"/>
                </a:solidFill>
                <a:latin typeface="Arial"/>
              </a:rPr>
              <a:t> Viết được mà không cần làm nghiên cứu; không có hệ số, không có thứ tự ưu tiên.</a:t>
            </a:r>
          </a:p>
        </p:txBody>
      </p:sp>
      <p:cxnSp>
        <p:nvCxnSpPr>
          <p:cNvPr id="21" name="Connector 20"/>
          <p:cNvCxnSpPr/>
          <p:nvPr/>
        </p:nvCxnSpPr>
        <p:spPr>
          <a:xfrm>
            <a:off x="4306824"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06824"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Mâu thuẫn Chương 4.</a:t>
            </a:r>
            <a:r>
              <a:rPr sz="1200" b="0" i="0">
                <a:solidFill>
                  <a:srgbClr val="58595B"/>
                </a:solidFill>
                <a:latin typeface="Arial"/>
              </a:rPr>
              <a:t> Câu cuối đề xuất đầu tư cho sự dễ sử dụng dù H2 không được ủng hộ.</a:t>
            </a:r>
          </a:p>
        </p:txBody>
      </p:sp>
      <p:cxnSp>
        <p:nvCxnSpPr>
          <p:cNvPr id="23" name="Connector 22"/>
          <p:cNvCxnSpPr/>
          <p:nvPr/>
        </p:nvCxnSpPr>
        <p:spPr>
          <a:xfrm>
            <a:off x="8156448" y="4782312"/>
            <a:ext cx="3575304"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56448" y="4818888"/>
            <a:ext cx="3575304" cy="822960"/>
          </a:xfrm>
          <a:prstGeom prst="rect">
            <a:avLst/>
          </a:prstGeom>
          <a:noFill/>
        </p:spPr>
        <p:txBody>
          <a:bodyPr wrap="square" lIns="45720" rIns="45720" tIns="27432" bIns="27432" anchor="t">
            <a:spAutoFit/>
          </a:bodyPr>
          <a:lstStyle/>
          <a:p>
            <a:pPr algn="l"/>
            <a:r>
              <a:rPr sz="1200" b="1" i="0">
                <a:solidFill>
                  <a:srgbClr val="58595B"/>
                </a:solidFill>
                <a:latin typeface="Arial"/>
              </a:rPr>
              <a:t>Không có hành động.</a:t>
            </a:r>
            <a:r>
              <a:rPr sz="1200" b="0" i="0">
                <a:solidFill>
                  <a:srgbClr val="58595B"/>
                </a:solidFill>
                <a:latin typeface="Arial"/>
              </a:rPr>
              <a:t> Bốn câu mệnh lệnh ngắn, không nói làm gì, ai làm, kỳ vọng điều gì.</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 HẠN CHẾ VÀ HƯỚNG NGHIÊN CỨU TIẾP THEO</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hạn chế nêu rõ ảnh hưởng đến cách hiểu kết quả và sinh ra đúng một hướng nghiên cứu tiếp theo</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"Thời gian và kinh phí có hạn" là hoàn cảnh của người nghiên cứu, không phải hạn chế của thiết kế nghiên cứu; không dùng câu này.</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Mục 5.3.1 và Mục 5.3.2, Bảng 5-3 và Hình 5-7</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102</a:t>
            </a:r>
          </a:p>
        </p:txBody>
      </p:sp>
      <p:graphicFrame>
        <p:nvGraphicFramePr>
          <p:cNvPr id="12" name="Table 11"/>
          <p:cNvGraphicFramePr>
            <a:graphicFrameLocks noGrp="1"/>
          </p:cNvGraphicFramePr>
          <p:nvPr/>
        </p:nvGraphicFramePr>
        <p:xfrm>
          <a:off x="457200" y="1783080"/>
          <a:ext cx="11274552" cy="3044952"/>
        </p:xfrm>
        <a:graphic>
          <a:graphicData uri="http://schemas.openxmlformats.org/drawingml/2006/table">
            <a:tbl>
              <a:tblPr firstRow="1" bandRow="1">
                <a:tableStyleId>{5C22544A-7EE6-4342-B048-85BDC9FD1C3A}</a:tableStyleId>
              </a:tblPr>
              <a:tblGrid>
                <a:gridCol w="1252728"/>
                <a:gridCol w="5010912"/>
                <a:gridCol w="5010912"/>
              </a:tblGrid>
              <a:tr h="411480">
                <a:tc>
                  <a:txBody>
                    <a:bodyPr wrap="square"/>
                    <a:lstStyle/>
                    <a:p>
                      <a:pPr algn="l"/>
                      <a:r>
                        <a:rPr sz="1200" b="1">
                          <a:solidFill>
                            <a:srgbClr val="FFFFFF"/>
                          </a:solidFill>
                          <a:latin typeface="Arial"/>
                        </a:rPr>
                        <a:t>Nguồn</a:t>
                      </a:r>
                    </a:p>
                  </a:txBody>
                  <a:tcPr marL="73152" marR="73152" marT="27432" marB="27432" anchor="ctr">
                    <a:solidFill>
                      <a:srgbClr val="262626"/>
                    </a:solidFill>
                  </a:tcPr>
                </a:tc>
                <a:tc>
                  <a:txBody>
                    <a:bodyPr wrap="square"/>
                    <a:lstStyle/>
                    <a:p>
                      <a:pPr algn="l"/>
                      <a:r>
                        <a:rPr sz="1200" b="1">
                          <a:solidFill>
                            <a:srgbClr val="FFFFFF"/>
                          </a:solidFill>
                          <a:latin typeface="Arial"/>
                        </a:rPr>
                        <a:t>Hạn chế (là gì, vì sao, ảnh hưởng)</a:t>
                      </a:r>
                    </a:p>
                  </a:txBody>
                  <a:tcPr marL="73152" marR="73152" marT="27432" marB="27432" anchor="ctr">
                    <a:solidFill>
                      <a:srgbClr val="262626"/>
                    </a:solidFill>
                  </a:tcPr>
                </a:tc>
                <a:tc>
                  <a:txBody>
                    <a:bodyPr wrap="square"/>
                    <a:lstStyle/>
                    <a:p>
                      <a:pPr algn="l"/>
                      <a:r>
                        <a:rPr sz="1200" b="1">
                          <a:solidFill>
                            <a:srgbClr val="FFFFFF"/>
                          </a:solidFill>
                          <a:latin typeface="Arial"/>
                        </a:rPr>
                        <a:t>Hướng nghiên cứu tiếp theo</a:t>
                      </a:r>
                    </a:p>
                  </a:txBody>
                  <a:tcPr marL="73152" marR="73152" marT="27432" marB="27432" anchor="ctr">
                    <a:solidFill>
                      <a:srgbClr val="262626"/>
                    </a:solidFill>
                  </a:tcPr>
                </a:tc>
              </a:tr>
              <a:tr h="658368">
                <a:tc>
                  <a:txBody>
                    <a:bodyPr wrap="square"/>
                    <a:lstStyle/>
                    <a:p>
                      <a:pPr algn="l"/>
                      <a:r>
                        <a:rPr sz="1200" b="0">
                          <a:solidFill>
                            <a:srgbClr val="262626"/>
                          </a:solidFill>
                          <a:latin typeface="Arial"/>
                        </a:rPr>
                        <a:t>Mẫu</a:t>
                      </a:r>
                    </a:p>
                  </a:txBody>
                  <a:tcPr marL="73152" marR="73152" marT="27432" marB="27432" anchor="ctr">
                    <a:solidFill>
                      <a:srgbClr val="FFFFFF"/>
                    </a:solidFill>
                  </a:tcPr>
                </a:tc>
                <a:tc>
                  <a:txBody>
                    <a:bodyPr wrap="square"/>
                    <a:lstStyle/>
                    <a:p>
                      <a:pPr algn="l"/>
                      <a:r>
                        <a:rPr sz="1200" b="0">
                          <a:solidFill>
                            <a:srgbClr val="262626"/>
                          </a:solidFill>
                          <a:latin typeface="Arial"/>
                        </a:rPr>
                        <a:t>Mẫu thuận tiện 150 khách hàng; kết quả chỉ gợi ý xu hướng cho tổng thể</a:t>
                      </a:r>
                    </a:p>
                  </a:txBody>
                  <a:tcPr marL="73152" marR="73152" marT="27432" marB="27432" anchor="ctr">
                    <a:solidFill>
                      <a:srgbClr val="FFFFFF"/>
                    </a:solidFill>
                  </a:tcPr>
                </a:tc>
                <a:tc>
                  <a:txBody>
                    <a:bodyPr wrap="square"/>
                    <a:lstStyle/>
                    <a:p>
                      <a:pPr algn="l"/>
                      <a:r>
                        <a:rPr sz="1200" b="0">
                          <a:solidFill>
                            <a:srgbClr val="262626"/>
                          </a:solidFill>
                          <a:latin typeface="Arial"/>
                        </a:rPr>
                        <a:t>Mở rộng ra nhiều chi nhánh; chọn mẫu phân tầng nếu có danh sách khách hàng</a:t>
                      </a:r>
                    </a:p>
                  </a:txBody>
                  <a:tcPr marL="73152" marR="73152" marT="27432" marB="27432" anchor="ctr">
                    <a:solidFill>
                      <a:srgbClr val="FFFFFF"/>
                    </a:solidFill>
                  </a:tcPr>
                </a:tc>
              </a:tr>
              <a:tr h="658368">
                <a:tc>
                  <a:txBody>
                    <a:bodyPr wrap="square"/>
                    <a:lstStyle/>
                    <a:p>
                      <a:pPr algn="l"/>
                      <a:r>
                        <a:rPr sz="1200" b="0">
                          <a:solidFill>
                            <a:srgbClr val="262626"/>
                          </a:solidFill>
                          <a:latin typeface="Arial"/>
                        </a:rPr>
                        <a:t>Thiết kế</a:t>
                      </a:r>
                    </a:p>
                  </a:txBody>
                  <a:tcPr marL="73152" marR="73152" marT="27432" marB="27432" anchor="ctr">
                    <a:solidFill>
                      <a:srgbClr val="F3F3F3"/>
                    </a:solidFill>
                  </a:tcPr>
                </a:tc>
                <a:tc>
                  <a:txBody>
                    <a:bodyPr wrap="square"/>
                    <a:lstStyle/>
                    <a:p>
                      <a:pPr algn="l"/>
                      <a:r>
                        <a:rPr sz="1200" b="0">
                          <a:solidFill>
                            <a:srgbClr val="262626"/>
                          </a:solidFill>
                          <a:latin typeface="Arial"/>
                        </a:rPr>
                        <a:t>Khảo sát một thời điểm; chưa biết ý định thay đổi thế nào</a:t>
                      </a:r>
                    </a:p>
                  </a:txBody>
                  <a:tcPr marL="73152" marR="73152" marT="27432" marB="27432" anchor="ctr">
                    <a:solidFill>
                      <a:srgbClr val="F3F3F3"/>
                    </a:solidFill>
                  </a:tcPr>
                </a:tc>
                <a:tc>
                  <a:txBody>
                    <a:bodyPr wrap="square"/>
                    <a:lstStyle/>
                    <a:p>
                      <a:pPr algn="l"/>
                      <a:r>
                        <a:rPr sz="1200" b="0">
                          <a:solidFill>
                            <a:srgbClr val="262626"/>
                          </a:solidFill>
                          <a:latin typeface="Arial"/>
                        </a:rPr>
                        <a:t>Khảo sát lặp lại sau sáu tháng</a:t>
                      </a:r>
                    </a:p>
                  </a:txBody>
                  <a:tcPr marL="73152" marR="73152" marT="27432" marB="27432" anchor="ctr">
                    <a:solidFill>
                      <a:srgbClr val="F3F3F3"/>
                    </a:solidFill>
                  </a:tcPr>
                </a:tc>
              </a:tr>
              <a:tr h="658368">
                <a:tc>
                  <a:txBody>
                    <a:bodyPr wrap="square"/>
                    <a:lstStyle/>
                    <a:p>
                      <a:pPr algn="l"/>
                      <a:r>
                        <a:rPr sz="1200" b="0">
                          <a:solidFill>
                            <a:srgbClr val="262626"/>
                          </a:solidFill>
                          <a:latin typeface="Arial"/>
                        </a:rPr>
                        <a:t>Đo lường</a:t>
                      </a:r>
                    </a:p>
                  </a:txBody>
                  <a:tcPr marL="73152" marR="73152" marT="27432" marB="27432" anchor="ctr">
                    <a:solidFill>
                      <a:srgbClr val="FFFFFF"/>
                    </a:solidFill>
                  </a:tcPr>
                </a:tc>
                <a:tc>
                  <a:txBody>
                    <a:bodyPr wrap="square"/>
                    <a:lstStyle/>
                    <a:p>
                      <a:pPr algn="l"/>
                      <a:r>
                        <a:rPr sz="1200" b="0">
                          <a:solidFill>
                            <a:srgbClr val="262626"/>
                          </a:solidFill>
                          <a:latin typeface="Arial"/>
                        </a:rPr>
                        <a:t>Đo ý định, chưa đo hành vi sử dụng thật</a:t>
                      </a:r>
                    </a:p>
                  </a:txBody>
                  <a:tcPr marL="73152" marR="73152" marT="27432" marB="27432" anchor="ctr">
                    <a:solidFill>
                      <a:srgbClr val="FFFFFF"/>
                    </a:solidFill>
                  </a:tcPr>
                </a:tc>
                <a:tc>
                  <a:txBody>
                    <a:bodyPr wrap="square"/>
                    <a:lstStyle/>
                    <a:p>
                      <a:pPr algn="l"/>
                      <a:r>
                        <a:rPr sz="1200" b="0">
                          <a:solidFill>
                            <a:srgbClr val="262626"/>
                          </a:solidFill>
                          <a:latin typeface="Arial"/>
                        </a:rPr>
                        <a:t>Đối chiếu ý định với dữ liệu sử dụng ứng dụng thật sau ba tháng</a:t>
                      </a:r>
                    </a:p>
                  </a:txBody>
                  <a:tcPr marL="73152" marR="73152" marT="27432" marB="27432" anchor="ctr">
                    <a:solidFill>
                      <a:srgbClr val="FFFFFF"/>
                    </a:solidFill>
                  </a:tcPr>
                </a:tc>
              </a:tr>
              <a:tr h="658368">
                <a:tc>
                  <a:txBody>
                    <a:bodyPr wrap="square"/>
                    <a:lstStyle/>
                    <a:p>
                      <a:pPr algn="l"/>
                      <a:r>
                        <a:rPr sz="1200" b="0">
                          <a:solidFill>
                            <a:srgbClr val="262626"/>
                          </a:solidFill>
                          <a:latin typeface="Arial"/>
                        </a:rPr>
                        <a:t>Mô hình</a:t>
                      </a:r>
                    </a:p>
                  </a:txBody>
                  <a:tcPr marL="73152" marR="73152" marT="27432" marB="27432" anchor="ctr">
                    <a:solidFill>
                      <a:srgbClr val="F3F3F3"/>
                    </a:solidFill>
                  </a:tcPr>
                </a:tc>
                <a:tc>
                  <a:txBody>
                    <a:bodyPr wrap="square"/>
                    <a:lstStyle/>
                    <a:p>
                      <a:pPr algn="l"/>
                      <a:r>
                        <a:rPr sz="1200" b="0">
                          <a:solidFill>
                            <a:srgbClr val="262626"/>
                          </a:solidFill>
                          <a:latin typeface="Arial"/>
                        </a:rPr>
                        <a:t>Chỉ xét tác động trực tiếp; chưa xét quan hệ giữa SD và HI (sinh ra từ mục 4.5.3)</a:t>
                      </a:r>
                    </a:p>
                  </a:txBody>
                  <a:tcPr marL="73152" marR="73152" marT="27432" marB="27432" anchor="ctr">
                    <a:solidFill>
                      <a:srgbClr val="F3F3F3"/>
                    </a:solidFill>
                  </a:tcPr>
                </a:tc>
                <a:tc>
                  <a:txBody>
                    <a:bodyPr wrap="square"/>
                    <a:lstStyle/>
                    <a:p>
                      <a:pPr algn="l"/>
                      <a:r>
                        <a:rPr sz="1200" b="0">
                          <a:solidFill>
                            <a:srgbClr val="262626"/>
                          </a:solidFill>
                          <a:latin typeface="Arial"/>
                        </a:rPr>
                        <a:t>Kiểm định vai trò trung gian của sự hữu ích giữa sự dễ sử dụng và ý định</a:t>
                      </a:r>
                    </a:p>
                  </a:txBody>
                  <a:tcPr marL="73152" marR="73152" marT="27432" marB="27432" anchor="ctr">
                    <a:solidFill>
                      <a:srgbClr val="F3F3F3"/>
                    </a:solidFill>
                  </a:tcPr>
                </a:tc>
              </a:tr>
            </a:tbl>
          </a:graphicData>
        </a:graphic>
      </p:graphicFrame>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VÀ KẾT LUẬN | NĂM KHÁI NIỆM DỄ LẪN</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Kết luận, đóng góp, hàm ý, kiến nghị và hạn chế trả lời năm câu hỏi khác nhau</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Kết luận nói điều đã thấy; đóng góp nói điều thêm vào hiểu biết; hàm ý và kiến nghị nói điều nên làm; hạn chế nói điều chưa chắc.</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mục D, Bảng 5-1 và 5-4; mục "Tóm tắt khóa luận"</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103</a:t>
            </a:r>
          </a:p>
        </p:txBody>
      </p:sp>
      <p:graphicFrame>
        <p:nvGraphicFramePr>
          <p:cNvPr id="11" name="Table 10"/>
          <p:cNvGraphicFramePr>
            <a:graphicFrameLocks noGrp="1"/>
          </p:cNvGraphicFramePr>
          <p:nvPr/>
        </p:nvGraphicFramePr>
        <p:xfrm>
          <a:off x="457200" y="1783080"/>
          <a:ext cx="8229599" cy="3063240"/>
        </p:xfrm>
        <a:graphic>
          <a:graphicData uri="http://schemas.openxmlformats.org/drawingml/2006/table">
            <a:tbl>
              <a:tblPr firstRow="1" bandRow="1">
                <a:tableStyleId>{5C22544A-7EE6-4342-B048-85BDC9FD1C3A}</a:tableStyleId>
              </a:tblPr>
              <a:tblGrid>
                <a:gridCol w="1242203"/>
                <a:gridCol w="2639683"/>
                <a:gridCol w="4347713"/>
              </a:tblGrid>
              <a:tr h="411480">
                <a:tc>
                  <a:txBody>
                    <a:bodyPr wrap="square"/>
                    <a:lstStyle/>
                    <a:p>
                      <a:pPr algn="l"/>
                      <a:r>
                        <a:rPr sz="1200" b="1">
                          <a:solidFill>
                            <a:srgbClr val="FFFFFF"/>
                          </a:solidFill>
                          <a:latin typeface="Arial"/>
                        </a:rPr>
                        <a:t>Khái niệm</a:t>
                      </a:r>
                    </a:p>
                  </a:txBody>
                  <a:tcPr marL="73152" marR="73152" marT="27432" marB="27432" anchor="ctr">
                    <a:solidFill>
                      <a:srgbClr val="262626"/>
                    </a:solidFill>
                  </a:tcPr>
                </a:tc>
                <a:tc>
                  <a:txBody>
                    <a:bodyPr wrap="square"/>
                    <a:lstStyle/>
                    <a:p>
                      <a:pPr algn="l"/>
                      <a:r>
                        <a:rPr sz="1200" b="1">
                          <a:solidFill>
                            <a:srgbClr val="FFFFFF"/>
                          </a:solidFill>
                          <a:latin typeface="Arial"/>
                        </a:rPr>
                        <a:t>Trả lời câu hỏi</a:t>
                      </a:r>
                    </a:p>
                  </a:txBody>
                  <a:tcPr marL="73152" marR="73152" marT="27432" marB="27432" anchor="ctr">
                    <a:solidFill>
                      <a:srgbClr val="262626"/>
                    </a:solidFill>
                  </a:tcPr>
                </a:tc>
                <a:tc>
                  <a:txBody>
                    <a:bodyPr wrap="square"/>
                    <a:lstStyle/>
                    <a:p>
                      <a:pPr algn="l"/>
                      <a:r>
                        <a:rPr sz="1200" b="1">
                          <a:solidFill>
                            <a:srgbClr val="FFFFFF"/>
                          </a:solidFill>
                          <a:latin typeface="Arial"/>
                        </a:rPr>
                        <a:t>Ví dụ Ngân hàng X</a:t>
                      </a:r>
                    </a:p>
                  </a:txBody>
                  <a:tcPr marL="73152" marR="73152" marT="27432" marB="27432" anchor="ctr">
                    <a:solidFill>
                      <a:srgbClr val="262626"/>
                    </a:solidFill>
                  </a:tcPr>
                </a:tc>
              </a:tr>
              <a:tr h="530352">
                <a:tc>
                  <a:txBody>
                    <a:bodyPr wrap="square"/>
                    <a:lstStyle/>
                    <a:p>
                      <a:pPr algn="l"/>
                      <a:r>
                        <a:rPr sz="1200" b="0">
                          <a:solidFill>
                            <a:srgbClr val="262626"/>
                          </a:solidFill>
                          <a:latin typeface="Arial"/>
                        </a:rPr>
                        <a:t>Kết luận</a:t>
                      </a:r>
                    </a:p>
                  </a:txBody>
                  <a:tcPr marL="73152" marR="73152" marT="27432" marB="27432" anchor="ctr">
                    <a:solidFill>
                      <a:srgbClr val="FFFFFF"/>
                    </a:solidFill>
                  </a:tcPr>
                </a:tc>
                <a:tc>
                  <a:txBody>
                    <a:bodyPr wrap="square"/>
                    <a:lstStyle/>
                    <a:p>
                      <a:pPr algn="l"/>
                      <a:r>
                        <a:rPr sz="1200" b="0">
                          <a:solidFill>
                            <a:srgbClr val="262626"/>
                          </a:solidFill>
                          <a:latin typeface="Arial"/>
                        </a:rPr>
                        <a:t>Dữ liệu đã cho thấy điều gì?</a:t>
                      </a:r>
                    </a:p>
                  </a:txBody>
                  <a:tcPr marL="73152" marR="73152" marT="27432" marB="27432" anchor="ctr">
                    <a:solidFill>
                      <a:srgbClr val="FFFFFF"/>
                    </a:solidFill>
                  </a:tcPr>
                </a:tc>
                <a:tc>
                  <a:txBody>
                    <a:bodyPr wrap="square"/>
                    <a:lstStyle/>
                    <a:p>
                      <a:pPr algn="l"/>
                      <a:r>
                        <a:rPr sz="1200" b="0">
                          <a:solidFill>
                            <a:srgbClr val="262626"/>
                          </a:solidFill>
                          <a:latin typeface="Arial"/>
                        </a:rPr>
                        <a:t>Sự hữu ích, niềm tin, ảnh hưởng xã hội có tác động cùng chiều; mô hình giải thích 53,7%</a:t>
                      </a:r>
                    </a:p>
                  </a:txBody>
                  <a:tcPr marL="73152" marR="73152" marT="27432" marB="27432" anchor="ctr">
                    <a:solidFill>
                      <a:srgbClr val="FFFFFF"/>
                    </a:solidFill>
                  </a:tcPr>
                </a:tc>
              </a:tr>
              <a:tr h="530352">
                <a:tc>
                  <a:txBody>
                    <a:bodyPr wrap="square"/>
                    <a:lstStyle/>
                    <a:p>
                      <a:pPr algn="l"/>
                      <a:r>
                        <a:rPr sz="1200" b="0">
                          <a:solidFill>
                            <a:srgbClr val="262626"/>
                          </a:solidFill>
                          <a:latin typeface="Arial"/>
                        </a:rPr>
                        <a:t>Đóng góp</a:t>
                      </a:r>
                    </a:p>
                  </a:txBody>
                  <a:tcPr marL="73152" marR="73152" marT="27432" marB="27432" anchor="ctr">
                    <a:solidFill>
                      <a:srgbClr val="F3F3F3"/>
                    </a:solidFill>
                  </a:tcPr>
                </a:tc>
                <a:tc>
                  <a:txBody>
                    <a:bodyPr wrap="square"/>
                    <a:lstStyle/>
                    <a:p>
                      <a:pPr algn="l"/>
                      <a:r>
                        <a:rPr sz="1200" b="0">
                          <a:solidFill>
                            <a:srgbClr val="262626"/>
                          </a:solidFill>
                          <a:latin typeface="Arial"/>
                        </a:rPr>
                        <a:t>Kết quả thêm gì cho hiểu biết hiện có?</a:t>
                      </a:r>
                    </a:p>
                  </a:txBody>
                  <a:tcPr marL="73152" marR="73152" marT="27432" marB="27432" anchor="ctr">
                    <a:solidFill>
                      <a:srgbClr val="F3F3F3"/>
                    </a:solidFill>
                  </a:tcPr>
                </a:tc>
                <a:tc>
                  <a:txBody>
                    <a:bodyPr wrap="square"/>
                    <a:lstStyle/>
                    <a:p>
                      <a:pPr algn="l"/>
                      <a:r>
                        <a:rPr sz="1200" b="0">
                          <a:solidFill>
                            <a:srgbClr val="262626"/>
                          </a:solidFill>
                          <a:latin typeface="Arial"/>
                        </a:rPr>
                        <a:t>Bổ sung bằng chứng cho vai trò trung tâm của sự hữu ích trong TAM (β = 0,394)</a:t>
                      </a:r>
                    </a:p>
                  </a:txBody>
                  <a:tcPr marL="73152" marR="73152" marT="27432" marB="27432" anchor="ctr">
                    <a:solidFill>
                      <a:srgbClr val="F3F3F3"/>
                    </a:solidFill>
                  </a:tcPr>
                </a:tc>
              </a:tr>
              <a:tr h="530352">
                <a:tc>
                  <a:txBody>
                    <a:bodyPr wrap="square"/>
                    <a:lstStyle/>
                    <a:p>
                      <a:pPr algn="l"/>
                      <a:r>
                        <a:rPr sz="1200" b="0">
                          <a:solidFill>
                            <a:srgbClr val="262626"/>
                          </a:solidFill>
                          <a:latin typeface="Arial"/>
                        </a:rPr>
                        <a:t>Hàm ý</a:t>
                      </a:r>
                    </a:p>
                  </a:txBody>
                  <a:tcPr marL="73152" marR="73152" marT="27432" marB="27432" anchor="ctr">
                    <a:solidFill>
                      <a:srgbClr val="FFFFFF"/>
                    </a:solidFill>
                  </a:tcPr>
                </a:tc>
                <a:tc>
                  <a:txBody>
                    <a:bodyPr wrap="square"/>
                    <a:lstStyle/>
                    <a:p>
                      <a:pPr algn="l"/>
                      <a:r>
                        <a:rPr sz="1200" b="0">
                          <a:solidFill>
                            <a:srgbClr val="262626"/>
                          </a:solidFill>
                          <a:latin typeface="Arial"/>
                        </a:rPr>
                        <a:t>Ai nên làm gì, dựa trên kết quả nào?</a:t>
                      </a:r>
                    </a:p>
                  </a:txBody>
                  <a:tcPr marL="73152" marR="73152" marT="27432" marB="27432" anchor="ctr">
                    <a:solidFill>
                      <a:srgbClr val="FFFFFF"/>
                    </a:solidFill>
                  </a:tcPr>
                </a:tc>
                <a:tc>
                  <a:txBody>
                    <a:bodyPr wrap="square"/>
                    <a:lstStyle/>
                    <a:p>
                      <a:pPr algn="l"/>
                      <a:r>
                        <a:rPr sz="1200" b="0">
                          <a:solidFill>
                            <a:srgbClr val="262626"/>
                          </a:solidFill>
                          <a:latin typeface="Arial"/>
                        </a:rPr>
                        <a:t>Ưu tiên củng cố niềm tin vì β = 0,328 và điểm 3,41</a:t>
                      </a:r>
                    </a:p>
                  </a:txBody>
                  <a:tcPr marL="73152" marR="73152" marT="27432" marB="27432" anchor="ctr">
                    <a:solidFill>
                      <a:srgbClr val="FFFFFF"/>
                    </a:solidFill>
                  </a:tcPr>
                </a:tc>
              </a:tr>
              <a:tr h="530352">
                <a:tc>
                  <a:txBody>
                    <a:bodyPr wrap="square"/>
                    <a:lstStyle/>
                    <a:p>
                      <a:pPr algn="l"/>
                      <a:r>
                        <a:rPr sz="1200" b="0">
                          <a:solidFill>
                            <a:srgbClr val="262626"/>
                          </a:solidFill>
                          <a:latin typeface="Arial"/>
                        </a:rPr>
                        <a:t>Kiến nghị</a:t>
                      </a:r>
                    </a:p>
                  </a:txBody>
                  <a:tcPr marL="73152" marR="73152" marT="27432" marB="27432" anchor="ctr">
                    <a:solidFill>
                      <a:srgbClr val="F3F3F3"/>
                    </a:solidFill>
                  </a:tcPr>
                </a:tc>
                <a:tc>
                  <a:txBody>
                    <a:bodyPr wrap="square"/>
                    <a:lstStyle/>
                    <a:p>
                      <a:pPr algn="l"/>
                      <a:r>
                        <a:rPr sz="1200" b="0">
                          <a:solidFill>
                            <a:srgbClr val="262626"/>
                          </a:solidFill>
                          <a:latin typeface="Arial"/>
                        </a:rPr>
                        <a:t>Đề xuất hành động cụ thể</a:t>
                      </a:r>
                    </a:p>
                  </a:txBody>
                  <a:tcPr marL="73152" marR="73152" marT="27432" marB="27432" anchor="ctr">
                    <a:solidFill>
                      <a:srgbClr val="F3F3F3"/>
                    </a:solidFill>
                  </a:tcPr>
                </a:tc>
                <a:tc>
                  <a:txBody>
                    <a:bodyPr wrap="square"/>
                    <a:lstStyle/>
                    <a:p>
                      <a:pPr algn="l"/>
                      <a:r>
                        <a:rPr sz="1200" b="0">
                          <a:solidFill>
                            <a:srgbClr val="262626"/>
                          </a:solidFill>
                          <a:latin typeface="Arial"/>
                        </a:rPr>
                        <a:t>Thông báo tức thì mọi giao dịch; đường dây hỗ trợ</a:t>
                      </a:r>
                    </a:p>
                  </a:txBody>
                  <a:tcPr marL="73152" marR="73152" marT="27432" marB="27432" anchor="ctr">
                    <a:solidFill>
                      <a:srgbClr val="F3F3F3"/>
                    </a:solidFill>
                  </a:tcPr>
                </a:tc>
              </a:tr>
              <a:tr h="530352">
                <a:tc>
                  <a:txBody>
                    <a:bodyPr wrap="square"/>
                    <a:lstStyle/>
                    <a:p>
                      <a:pPr algn="l"/>
                      <a:r>
                        <a:rPr sz="1200" b="0">
                          <a:solidFill>
                            <a:srgbClr val="262626"/>
                          </a:solidFill>
                          <a:latin typeface="Arial"/>
                        </a:rPr>
                        <a:t>Hạn chế</a:t>
                      </a:r>
                    </a:p>
                  </a:txBody>
                  <a:tcPr marL="73152" marR="73152" marT="27432" marB="27432" anchor="ctr">
                    <a:solidFill>
                      <a:srgbClr val="FFFFFF"/>
                    </a:solidFill>
                  </a:tcPr>
                </a:tc>
                <a:tc>
                  <a:txBody>
                    <a:bodyPr wrap="square"/>
                    <a:lstStyle/>
                    <a:p>
                      <a:pPr algn="l"/>
                      <a:r>
                        <a:rPr sz="1200" b="0">
                          <a:solidFill>
                            <a:srgbClr val="262626"/>
                          </a:solidFill>
                          <a:latin typeface="Arial"/>
                        </a:rPr>
                        <a:t>Điều gì còn chưa chắc chắn?</a:t>
                      </a:r>
                    </a:p>
                  </a:txBody>
                  <a:tcPr marL="73152" marR="73152" marT="27432" marB="27432" anchor="ctr">
                    <a:solidFill>
                      <a:srgbClr val="FFFFFF"/>
                    </a:solidFill>
                  </a:tcPr>
                </a:tc>
                <a:tc>
                  <a:txBody>
                    <a:bodyPr wrap="square"/>
                    <a:lstStyle/>
                    <a:p>
                      <a:pPr algn="l"/>
                      <a:r>
                        <a:rPr sz="1200" b="0">
                          <a:solidFill>
                            <a:srgbClr val="262626"/>
                          </a:solidFill>
                          <a:latin typeface="Arial"/>
                        </a:rPr>
                        <a:t>Mẫu thuận tiện tại một ngân hàng; chỉ đo ý định</a:t>
                      </a:r>
                    </a:p>
                  </a:txBody>
                  <a:tcPr marL="73152" marR="73152" marT="27432" marB="27432" anchor="ctr">
                    <a:solidFill>
                      <a:srgbClr val="FFFFFF"/>
                    </a:solidFill>
                  </a:tcPr>
                </a:tc>
              </a:tr>
            </a:tbl>
          </a:graphicData>
        </a:graphic>
      </p:graphicFrame>
      <p:sp>
        <p:nvSpPr>
          <p:cNvPr id="12" name="TextBox 11"/>
          <p:cNvSpPr txBox="1"/>
          <p:nvPr/>
        </p:nvSpPr>
        <p:spPr>
          <a:xfrm>
            <a:off x="8961120" y="1783080"/>
            <a:ext cx="2770631" cy="274320"/>
          </a:xfrm>
          <a:prstGeom prst="rect">
            <a:avLst/>
          </a:prstGeom>
          <a:noFill/>
        </p:spPr>
        <p:txBody>
          <a:bodyPr wrap="square" lIns="45720" rIns="45720" tIns="27432" bIns="27432" anchor="t">
            <a:spAutoFit/>
          </a:bodyPr>
          <a:lstStyle/>
          <a:p>
            <a:pPr algn="l"/>
            <a:r>
              <a:rPr sz="1000" b="1" i="0">
                <a:solidFill>
                  <a:srgbClr val="CC0000"/>
                </a:solidFill>
                <a:latin typeface="Arial"/>
              </a:rPr>
              <a:t>MỘT LỖI CON SỐ</a:t>
            </a:r>
          </a:p>
        </p:txBody>
      </p:sp>
      <p:cxnSp>
        <p:nvCxnSpPr>
          <p:cNvPr id="13" name="Connector 12"/>
          <p:cNvCxnSpPr/>
          <p:nvPr/>
        </p:nvCxnSpPr>
        <p:spPr>
          <a:xfrm>
            <a:off x="8961120" y="2103120"/>
            <a:ext cx="27706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961120" y="2167128"/>
            <a:ext cx="2770631" cy="3383280"/>
          </a:xfrm>
          <a:prstGeom prst="rect">
            <a:avLst/>
          </a:prstGeom>
          <a:noFill/>
        </p:spPr>
        <p:txBody>
          <a:bodyPr wrap="square" lIns="45720" rIns="45720" tIns="27432" bIns="27432" anchor="t">
            <a:spAutoFit/>
          </a:bodyPr>
          <a:lstStyle/>
          <a:p>
            <a:pPr algn="l"/>
            <a:r>
              <a:rPr sz="1250" b="0" i="0">
                <a:solidFill>
                  <a:srgbClr val="58595B"/>
                </a:solidFill>
                <a:latin typeface="Arial"/>
              </a:rPr>
              <a:t>Lỗi hay gặp nhất khi viết tóm tắt: </a:t>
            </a:r>
            <a:r>
              <a:rPr sz="1250" b="1" i="0">
                <a:solidFill>
                  <a:srgbClr val="58595B"/>
                </a:solidFill>
                <a:latin typeface="Arial"/>
              </a:rPr>
              <a:t>"ba yếu tố giải thích 53,7%"</a:t>
            </a:r>
            <a:r>
              <a:rPr sz="1250" b="0" i="0">
                <a:solidFill>
                  <a:srgbClr val="58595B"/>
                </a:solidFill>
                <a:latin typeface="Arial"/>
              </a:rPr>
              <a:t>.</a:t>
            </a:r>
          </a:p>
          <a:p>
            <a:pPr algn="l">
              <a:spcBef>
                <a:spcPts val="562"/>
              </a:spcBef>
            </a:pPr>
          </a:p>
          <a:p>
            <a:pPr algn="l">
              <a:spcBef>
                <a:spcPts val="562"/>
              </a:spcBef>
            </a:pPr>
            <a:r>
              <a:rPr sz="1250" b="0" i="0">
                <a:solidFill>
                  <a:srgbClr val="58595B"/>
                </a:solidFill>
                <a:latin typeface="Arial"/>
              </a:rPr>
              <a:t>53,7% là R² của cả mô hình bốn yếu tố, gồm cả sự dễ sử dụng; R² không thuộc riêng các biến có ý nghĩa.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 TÓM TẮT KHÓA LUẬN</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Tóm tắt là cả khóa luận trong một đoạn sáu phần, có con số chủ chốt, viết sau cùng</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Tóm tắt là đoạn người đọc đọc đầu tiên, nhiều khi là đoạn duy nhất.</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mục "Tóm tắt khóa luận" và Bảng 5-4; Creswell và Creswell (2018, tr. 75 đến 76)</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104</a:t>
            </a:r>
          </a:p>
        </p:txBody>
      </p:sp>
      <p:graphicFrame>
        <p:nvGraphicFramePr>
          <p:cNvPr id="12" name="Table 11"/>
          <p:cNvGraphicFramePr>
            <a:graphicFrameLocks noGrp="1"/>
          </p:cNvGraphicFramePr>
          <p:nvPr/>
        </p:nvGraphicFramePr>
        <p:xfrm>
          <a:off x="457200" y="1783080"/>
          <a:ext cx="7498079" cy="3429000"/>
        </p:xfrm>
        <a:graphic>
          <a:graphicData uri="http://schemas.openxmlformats.org/drawingml/2006/table">
            <a:tbl>
              <a:tblPr firstRow="1" bandRow="1">
                <a:tableStyleId>{5C22544A-7EE6-4342-B048-85BDC9FD1C3A}</a:tableStyleId>
              </a:tblPr>
              <a:tblGrid>
                <a:gridCol w="2556163"/>
                <a:gridCol w="3408218"/>
                <a:gridCol w="1533698"/>
              </a:tblGrid>
              <a:tr h="411480">
                <a:tc>
                  <a:txBody>
                    <a:bodyPr wrap="square"/>
                    <a:lstStyle/>
                    <a:p>
                      <a:pPr algn="l"/>
                      <a:r>
                        <a:rPr sz="1200" b="1">
                          <a:solidFill>
                            <a:srgbClr val="FFFFFF"/>
                          </a:solidFill>
                          <a:latin typeface="Arial"/>
                        </a:rPr>
                        <a:t>Phần</a:t>
                      </a:r>
                    </a:p>
                  </a:txBody>
                  <a:tcPr marL="73152" marR="73152" marT="27432" marB="27432" anchor="ctr">
                    <a:solidFill>
                      <a:srgbClr val="262626"/>
                    </a:solidFill>
                  </a:tcPr>
                </a:tc>
                <a:tc>
                  <a:txBody>
                    <a:bodyPr wrap="square"/>
                    <a:lstStyle/>
                    <a:p>
                      <a:pPr algn="l"/>
                      <a:r>
                        <a:rPr sz="1200" b="1">
                          <a:solidFill>
                            <a:srgbClr val="FFFFFF"/>
                          </a:solidFill>
                          <a:latin typeface="Arial"/>
                        </a:rPr>
                        <a:t>Câu hỏi phần này trả lời</a:t>
                      </a:r>
                    </a:p>
                  </a:txBody>
                  <a:tcPr marL="73152" marR="73152" marT="27432" marB="27432" anchor="ctr">
                    <a:solidFill>
                      <a:srgbClr val="262626"/>
                    </a:solidFill>
                  </a:tcPr>
                </a:tc>
                <a:tc>
                  <a:txBody>
                    <a:bodyPr wrap="square"/>
                    <a:lstStyle/>
                    <a:p>
                      <a:pPr algn="l"/>
                      <a:r>
                        <a:rPr sz="1200" b="1">
                          <a:solidFill>
                            <a:srgbClr val="FFFFFF"/>
                          </a:solidFill>
                          <a:latin typeface="Arial"/>
                        </a:rPr>
                        <a:t>Lấy từ</a:t>
                      </a:r>
                    </a:p>
                  </a:txBody>
                  <a:tcPr marL="73152" marR="73152" marT="27432" marB="27432" anchor="ctr">
                    <a:solidFill>
                      <a:srgbClr val="262626"/>
                    </a:solidFill>
                  </a:tcPr>
                </a:tc>
              </a:tr>
              <a:tr h="502920">
                <a:tc>
                  <a:txBody>
                    <a:bodyPr wrap="square"/>
                    <a:lstStyle/>
                    <a:p>
                      <a:pPr algn="l"/>
                      <a:r>
                        <a:rPr sz="1200" b="0">
                          <a:solidFill>
                            <a:srgbClr val="262626"/>
                          </a:solidFill>
                          <a:latin typeface="Arial"/>
                        </a:rPr>
                        <a:t>1. Bối cảnh (1 câu)</a:t>
                      </a:r>
                    </a:p>
                  </a:txBody>
                  <a:tcPr marL="73152" marR="73152" marT="27432" marB="27432" anchor="ctr">
                    <a:solidFill>
                      <a:srgbClr val="FFFFFF"/>
                    </a:solidFill>
                  </a:tcPr>
                </a:tc>
                <a:tc>
                  <a:txBody>
                    <a:bodyPr wrap="square"/>
                    <a:lstStyle/>
                    <a:p>
                      <a:pPr algn="l"/>
                      <a:r>
                        <a:rPr sz="1200" b="0">
                          <a:solidFill>
                            <a:srgbClr val="262626"/>
                          </a:solidFill>
                          <a:latin typeface="Arial"/>
                        </a:rPr>
                        <a:t>Vấn đề là gì?</a:t>
                      </a:r>
                    </a:p>
                  </a:txBody>
                  <a:tcPr marL="73152" marR="73152" marT="27432" marB="27432" anchor="ctr">
                    <a:solidFill>
                      <a:srgbClr val="FFFFFF"/>
                    </a:solidFill>
                  </a:tcPr>
                </a:tc>
                <a:tc>
                  <a:txBody>
                    <a:bodyPr wrap="square"/>
                    <a:lstStyle/>
                    <a:p>
                      <a:pPr algn="l"/>
                      <a:r>
                        <a:rPr sz="1200" b="0">
                          <a:solidFill>
                            <a:srgbClr val="262626"/>
                          </a:solidFill>
                          <a:latin typeface="Arial"/>
                        </a:rPr>
                        <a:t>Chương 1</a:t>
                      </a:r>
                    </a:p>
                  </a:txBody>
                  <a:tcPr marL="73152" marR="73152" marT="27432" marB="27432" anchor="ctr">
                    <a:solidFill>
                      <a:srgbClr val="FFFFFF"/>
                    </a:solidFill>
                  </a:tcPr>
                </a:tc>
              </a:tr>
              <a:tr h="502920">
                <a:tc>
                  <a:txBody>
                    <a:bodyPr wrap="square"/>
                    <a:lstStyle/>
                    <a:p>
                      <a:pPr algn="l"/>
                      <a:r>
                        <a:rPr sz="1200" b="0">
                          <a:solidFill>
                            <a:srgbClr val="262626"/>
                          </a:solidFill>
                          <a:latin typeface="Arial"/>
                        </a:rPr>
                        <a:t>2. Mục tiêu (1 câu)</a:t>
                      </a:r>
                    </a:p>
                  </a:txBody>
                  <a:tcPr marL="73152" marR="73152" marT="27432" marB="27432" anchor="ctr">
                    <a:solidFill>
                      <a:srgbClr val="F3F3F3"/>
                    </a:solidFill>
                  </a:tcPr>
                </a:tc>
                <a:tc>
                  <a:txBody>
                    <a:bodyPr wrap="square"/>
                    <a:lstStyle/>
                    <a:p>
                      <a:pPr algn="l"/>
                      <a:r>
                        <a:rPr sz="1200" b="0">
                          <a:solidFill>
                            <a:srgbClr val="262626"/>
                          </a:solidFill>
                          <a:latin typeface="Arial"/>
                        </a:rPr>
                        <a:t>Nghiên cứu muốn biết điều gì?</a:t>
                      </a:r>
                    </a:p>
                  </a:txBody>
                  <a:tcPr marL="73152" marR="73152" marT="27432" marB="27432" anchor="ctr">
                    <a:solidFill>
                      <a:srgbClr val="F3F3F3"/>
                    </a:solidFill>
                  </a:tcPr>
                </a:tc>
                <a:tc>
                  <a:txBody>
                    <a:bodyPr wrap="square"/>
                    <a:lstStyle/>
                    <a:p>
                      <a:pPr algn="l"/>
                      <a:r>
                        <a:rPr sz="1200" b="0">
                          <a:solidFill>
                            <a:srgbClr val="262626"/>
                          </a:solidFill>
                          <a:latin typeface="Arial"/>
                        </a:rPr>
                        <a:t>Chương 1</a:t>
                      </a:r>
                    </a:p>
                  </a:txBody>
                  <a:tcPr marL="73152" marR="73152" marT="27432" marB="27432" anchor="ctr">
                    <a:solidFill>
                      <a:srgbClr val="F3F3F3"/>
                    </a:solidFill>
                  </a:tcPr>
                </a:tc>
              </a:tr>
              <a:tr h="502920">
                <a:tc>
                  <a:txBody>
                    <a:bodyPr wrap="square"/>
                    <a:lstStyle/>
                    <a:p>
                      <a:pPr algn="l"/>
                      <a:r>
                        <a:rPr sz="1200" b="0">
                          <a:solidFill>
                            <a:srgbClr val="262626"/>
                          </a:solidFill>
                          <a:latin typeface="Arial"/>
                        </a:rPr>
                        <a:t>3. Phương pháp (1 đến 2 câu)</a:t>
                      </a:r>
                    </a:p>
                  </a:txBody>
                  <a:tcPr marL="73152" marR="73152" marT="27432" marB="27432" anchor="ctr">
                    <a:solidFill>
                      <a:srgbClr val="FFFFFF"/>
                    </a:solidFill>
                  </a:tcPr>
                </a:tc>
                <a:tc>
                  <a:txBody>
                    <a:bodyPr wrap="square"/>
                    <a:lstStyle/>
                    <a:p>
                      <a:pPr algn="l"/>
                      <a:r>
                        <a:rPr sz="1200" b="0">
                          <a:solidFill>
                            <a:srgbClr val="262626"/>
                          </a:solidFill>
                          <a:latin typeface="Arial"/>
                        </a:rPr>
                        <a:t>Lý thuyết nền, mẫu, cách phân tích?</a:t>
                      </a:r>
                    </a:p>
                  </a:txBody>
                  <a:tcPr marL="73152" marR="73152" marT="27432" marB="27432" anchor="ctr">
                    <a:solidFill>
                      <a:srgbClr val="FFFFFF"/>
                    </a:solidFill>
                  </a:tcPr>
                </a:tc>
                <a:tc>
                  <a:txBody>
                    <a:bodyPr wrap="square"/>
                    <a:lstStyle/>
                    <a:p>
                      <a:pPr algn="l"/>
                      <a:r>
                        <a:rPr sz="1200" b="0">
                          <a:solidFill>
                            <a:srgbClr val="262626"/>
                          </a:solidFill>
                          <a:latin typeface="Arial"/>
                        </a:rPr>
                        <a:t>Chương 2 và 3</a:t>
                      </a:r>
                    </a:p>
                  </a:txBody>
                  <a:tcPr marL="73152" marR="73152" marT="27432" marB="27432" anchor="ctr">
                    <a:solidFill>
                      <a:srgbClr val="FFFFFF"/>
                    </a:solidFill>
                  </a:tcPr>
                </a:tc>
              </a:tr>
              <a:tr h="502920">
                <a:tc>
                  <a:txBody>
                    <a:bodyPr wrap="square"/>
                    <a:lstStyle/>
                    <a:p>
                      <a:pPr algn="l"/>
                      <a:r>
                        <a:rPr sz="1200" b="0">
                          <a:solidFill>
                            <a:srgbClr val="262626"/>
                          </a:solidFill>
                          <a:latin typeface="Arial"/>
                        </a:rPr>
                        <a:t>4. Kết quả chính (2 đến 3 câu)</a:t>
                      </a:r>
                    </a:p>
                  </a:txBody>
                  <a:tcPr marL="73152" marR="73152" marT="27432" marB="27432" anchor="ctr">
                    <a:solidFill>
                      <a:srgbClr val="F3F3F3"/>
                    </a:solidFill>
                  </a:tcPr>
                </a:tc>
                <a:tc>
                  <a:txBody>
                    <a:bodyPr wrap="square"/>
                    <a:lstStyle/>
                    <a:p>
                      <a:pPr algn="l"/>
                      <a:r>
                        <a:rPr sz="1200" b="0">
                          <a:solidFill>
                            <a:srgbClr val="262626"/>
                          </a:solidFill>
                          <a:latin typeface="Arial"/>
                        </a:rPr>
                        <a:t>Dữ liệu nói gì? Con số chủ chốt?</a:t>
                      </a:r>
                    </a:p>
                  </a:txBody>
                  <a:tcPr marL="73152" marR="73152" marT="27432" marB="27432" anchor="ctr">
                    <a:solidFill>
                      <a:srgbClr val="F3F3F3"/>
                    </a:solidFill>
                  </a:tcPr>
                </a:tc>
                <a:tc>
                  <a:txBody>
                    <a:bodyPr wrap="square"/>
                    <a:lstStyle/>
                    <a:p>
                      <a:pPr algn="l"/>
                      <a:r>
                        <a:rPr sz="1200" b="0">
                          <a:solidFill>
                            <a:srgbClr val="262626"/>
                          </a:solidFill>
                          <a:latin typeface="Arial"/>
                        </a:rPr>
                        <a:t>Chương 4</a:t>
                      </a:r>
                    </a:p>
                  </a:txBody>
                  <a:tcPr marL="73152" marR="73152" marT="27432" marB="27432" anchor="ctr">
                    <a:solidFill>
                      <a:srgbClr val="F3F3F3"/>
                    </a:solidFill>
                  </a:tcPr>
                </a:tc>
              </a:tr>
              <a:tr h="502920">
                <a:tc>
                  <a:txBody>
                    <a:bodyPr wrap="square"/>
                    <a:lstStyle/>
                    <a:p>
                      <a:pPr algn="l"/>
                      <a:r>
                        <a:rPr sz="1200" b="0">
                          <a:solidFill>
                            <a:srgbClr val="262626"/>
                          </a:solidFill>
                          <a:latin typeface="Arial"/>
                        </a:rPr>
                        <a:t>5. Hàm ý (1 câu)</a:t>
                      </a:r>
                    </a:p>
                  </a:txBody>
                  <a:tcPr marL="73152" marR="73152" marT="27432" marB="27432" anchor="ctr">
                    <a:solidFill>
                      <a:srgbClr val="FFFFFF"/>
                    </a:solidFill>
                  </a:tcPr>
                </a:tc>
                <a:tc>
                  <a:txBody>
                    <a:bodyPr wrap="square"/>
                    <a:lstStyle/>
                    <a:p>
                      <a:pPr algn="l"/>
                      <a:r>
                        <a:rPr sz="1200" b="0">
                          <a:solidFill>
                            <a:srgbClr val="262626"/>
                          </a:solidFill>
                          <a:latin typeface="Arial"/>
                        </a:rPr>
                        <a:t>Đơn vị nên làm gì?</a:t>
                      </a:r>
                    </a:p>
                  </a:txBody>
                  <a:tcPr marL="73152" marR="73152" marT="27432" marB="27432" anchor="ctr">
                    <a:solidFill>
                      <a:srgbClr val="FFFFFF"/>
                    </a:solidFill>
                  </a:tcPr>
                </a:tc>
                <a:tc>
                  <a:txBody>
                    <a:bodyPr wrap="square"/>
                    <a:lstStyle/>
                    <a:p>
                      <a:pPr algn="l"/>
                      <a:r>
                        <a:rPr sz="1200" b="0">
                          <a:solidFill>
                            <a:srgbClr val="262626"/>
                          </a:solidFill>
                          <a:latin typeface="Arial"/>
                        </a:rPr>
                        <a:t>Chương 5</a:t>
                      </a:r>
                    </a:p>
                  </a:txBody>
                  <a:tcPr marL="73152" marR="73152" marT="27432" marB="27432" anchor="ctr">
                    <a:solidFill>
                      <a:srgbClr val="FFFFFF"/>
                    </a:solidFill>
                  </a:tcPr>
                </a:tc>
              </a:tr>
              <a:tr h="502920">
                <a:tc>
                  <a:txBody>
                    <a:bodyPr wrap="square"/>
                    <a:lstStyle/>
                    <a:p>
                      <a:pPr algn="l"/>
                      <a:r>
                        <a:rPr sz="1200" b="0">
                          <a:solidFill>
                            <a:srgbClr val="262626"/>
                          </a:solidFill>
                          <a:latin typeface="Arial"/>
                        </a:rPr>
                        <a:t>6. Giới hạn (1 câu)</a:t>
                      </a:r>
                    </a:p>
                  </a:txBody>
                  <a:tcPr marL="73152" marR="73152" marT="27432" marB="27432" anchor="ctr">
                    <a:solidFill>
                      <a:srgbClr val="F3F3F3"/>
                    </a:solidFill>
                  </a:tcPr>
                </a:tc>
                <a:tc>
                  <a:txBody>
                    <a:bodyPr wrap="square"/>
                    <a:lstStyle/>
                    <a:p>
                      <a:pPr algn="l"/>
                      <a:r>
                        <a:rPr sz="1200" b="0">
                          <a:solidFill>
                            <a:srgbClr val="262626"/>
                          </a:solidFill>
                          <a:latin typeface="Arial"/>
                        </a:rPr>
                        <a:t>Kết quả đúng trong phạm vi nào?</a:t>
                      </a:r>
                    </a:p>
                  </a:txBody>
                  <a:tcPr marL="73152" marR="73152" marT="27432" marB="27432" anchor="ctr">
                    <a:solidFill>
                      <a:srgbClr val="F3F3F3"/>
                    </a:solidFill>
                  </a:tcPr>
                </a:tc>
                <a:tc>
                  <a:txBody>
                    <a:bodyPr wrap="square"/>
                    <a:lstStyle/>
                    <a:p>
                      <a:pPr algn="l"/>
                      <a:r>
                        <a:rPr sz="1200" b="0">
                          <a:solidFill>
                            <a:srgbClr val="262626"/>
                          </a:solidFill>
                          <a:latin typeface="Arial"/>
                        </a:rPr>
                        <a:t>Chương 5</a:t>
                      </a:r>
                    </a:p>
                  </a:txBody>
                  <a:tcPr marL="73152" marR="73152" marT="27432" marB="27432" anchor="ctr">
                    <a:solidFill>
                      <a:srgbClr val="F3F3F3"/>
                    </a:solidFill>
                  </a:tcPr>
                </a:tc>
              </a:tr>
            </a:tbl>
          </a:graphicData>
        </a:graphic>
      </p:graphicFrame>
      <p:sp>
        <p:nvSpPr>
          <p:cNvPr id="13" name="TextBox 12"/>
          <p:cNvSpPr txBox="1"/>
          <p:nvPr/>
        </p:nvSpPr>
        <p:spPr>
          <a:xfrm>
            <a:off x="8229600" y="1783080"/>
            <a:ext cx="3502152" cy="274320"/>
          </a:xfrm>
          <a:prstGeom prst="rect">
            <a:avLst/>
          </a:prstGeom>
          <a:noFill/>
        </p:spPr>
        <p:txBody>
          <a:bodyPr wrap="square" lIns="45720" rIns="45720" tIns="27432" bIns="27432" anchor="t">
            <a:spAutoFit/>
          </a:bodyPr>
          <a:lstStyle/>
          <a:p>
            <a:pPr algn="l"/>
            <a:r>
              <a:rPr sz="1000" b="1" i="0">
                <a:solidFill>
                  <a:srgbClr val="CC0000"/>
                </a:solidFill>
                <a:latin typeface="Arial"/>
              </a:rPr>
              <a:t>THẾ NÀO LÀ ĐỦ</a:t>
            </a:r>
          </a:p>
        </p:txBody>
      </p:sp>
      <p:cxnSp>
        <p:nvCxnSpPr>
          <p:cNvPr id="14" name="Connector 13"/>
          <p:cNvCxnSpPr/>
          <p:nvPr/>
        </p:nvCxnSpPr>
        <p:spPr>
          <a:xfrm>
            <a:off x="8229600" y="2103120"/>
            <a:ext cx="35021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0" y="2167128"/>
            <a:ext cx="3502152" cy="3383280"/>
          </a:xfrm>
          <a:prstGeom prst="rect">
            <a:avLst/>
          </a:prstGeom>
          <a:noFill/>
        </p:spPr>
        <p:txBody>
          <a:bodyPr wrap="square" lIns="45720" rIns="45720" tIns="27432" bIns="27432" anchor="t">
            <a:spAutoFit/>
          </a:bodyPr>
          <a:lstStyle/>
          <a:p>
            <a:pPr algn="l"/>
            <a:r>
              <a:rPr sz="1250" b="1" i="0">
                <a:solidFill>
                  <a:srgbClr val="58595B"/>
                </a:solidFill>
                <a:latin typeface="Arial"/>
              </a:rPr>
              <a:t>150 đến 250 từ</a:t>
            </a:r>
            <a:r>
              <a:rPr sz="1250" b="0" i="0">
                <a:solidFill>
                  <a:srgbClr val="58595B"/>
                </a:solidFill>
                <a:latin typeface="Arial"/>
              </a:rPr>
              <a:t> là mức gợi ý; nhiều trường quy định không trích dẫn, không bảng, không chữ viết tắt chưa giải thích.</a:t>
            </a:r>
          </a:p>
          <a:p>
            <a:pPr algn="l">
              <a:spcBef>
                <a:spcPts val="562"/>
              </a:spcBef>
            </a:pPr>
          </a:p>
          <a:p>
            <a:pPr algn="l">
              <a:spcBef>
                <a:spcPts val="562"/>
              </a:spcBef>
            </a:pPr>
            <a:r>
              <a:rPr sz="1250" b="1" i="0">
                <a:solidFill>
                  <a:srgbClr val="58595B"/>
                </a:solidFill>
                <a:latin typeface="Arial"/>
              </a:rPr>
              <a:t>Đủ khi:</a:t>
            </a:r>
            <a:r>
              <a:rPr sz="1250" b="0" i="0">
                <a:solidFill>
                  <a:srgbClr val="58595B"/>
                </a:solidFill>
                <a:latin typeface="Arial"/>
              </a:rPr>
              <a:t> đủ sáu phần; ít nhất hai con số chủ chốt khớp Chương 4.</a:t>
            </a:r>
          </a:p>
          <a:p>
            <a:pPr algn="l">
              <a:spcBef>
                <a:spcPts val="562"/>
              </a:spcBef>
            </a:pPr>
          </a:p>
          <a:p>
            <a:pPr algn="l">
              <a:spcBef>
                <a:spcPts val="562"/>
              </a:spcBef>
            </a:pPr>
            <a:r>
              <a:rPr sz="1250" b="1" i="0">
                <a:solidFill>
                  <a:srgbClr val="58595B"/>
                </a:solidFill>
                <a:latin typeface="Arial"/>
              </a:rPr>
              <a:t>Lỗi thứ hai:</a:t>
            </a:r>
            <a:r>
              <a:rPr sz="1250" b="0" i="0">
                <a:solidFill>
                  <a:srgbClr val="58595B"/>
                </a:solidFill>
                <a:latin typeface="Arial"/>
              </a:rPr>
              <a:t> viết tóm tắt trước rồi không sửa, làm con số lệch với Chương 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KẾT LUẬN | KẾT LUẬN CHUNG</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Kết luận chung khép vòng trong năm đoạn ngắn: vấn đề, cách làm, phát hiện, đóng góp, hạn chế</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Viết kết luận chung từ bảng tổng hợp giả thuyết (Bảng 4-9), không viết từ trí nhớ.</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6 và Hình 6-1</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105</a:t>
            </a:r>
          </a:p>
        </p:txBody>
      </p:sp>
      <p:sp>
        <p:nvSpPr>
          <p:cNvPr id="12" name="Rectangle 11"/>
          <p:cNvSpPr/>
          <p:nvPr/>
        </p:nvSpPr>
        <p:spPr>
          <a:xfrm>
            <a:off x="402336" y="2093976"/>
            <a:ext cx="6144768" cy="321868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86_new.png"/>
          <p:cNvPicPr>
            <a:picLocks noChangeAspect="1"/>
          </p:cNvPicPr>
          <p:nvPr/>
        </p:nvPicPr>
        <p:blipFill>
          <a:blip r:embed="rId2"/>
          <a:stretch>
            <a:fillRect/>
          </a:stretch>
        </p:blipFill>
        <p:spPr>
          <a:xfrm>
            <a:off x="457200" y="2148840"/>
            <a:ext cx="6035040" cy="3108960"/>
          </a:xfrm>
          <a:prstGeom prst="rect">
            <a:avLst/>
          </a:prstGeom>
        </p:spPr>
      </p:pic>
      <p:sp>
        <p:nvSpPr>
          <p:cNvPr id="14" name="TextBox 13"/>
          <p:cNvSpPr txBox="1"/>
          <p:nvPr/>
        </p:nvSpPr>
        <p:spPr>
          <a:xfrm>
            <a:off x="6812279" y="1783080"/>
            <a:ext cx="4919472" cy="274320"/>
          </a:xfrm>
          <a:prstGeom prst="rect">
            <a:avLst/>
          </a:prstGeom>
          <a:noFill/>
        </p:spPr>
        <p:txBody>
          <a:bodyPr wrap="square" lIns="45720" rIns="45720" tIns="27432" bIns="27432" anchor="t">
            <a:spAutoFit/>
          </a:bodyPr>
          <a:lstStyle/>
          <a:p>
            <a:pPr algn="l"/>
            <a:r>
              <a:rPr sz="1000" b="1" i="0">
                <a:solidFill>
                  <a:srgbClr val="CC0000"/>
                </a:solidFill>
                <a:latin typeface="Arial"/>
              </a:rPr>
              <a:t>NĂM ĐOẠN, 1 ĐẾN 2 TRANG</a:t>
            </a:r>
          </a:p>
        </p:txBody>
      </p:sp>
      <p:cxnSp>
        <p:nvCxnSpPr>
          <p:cNvPr id="15" name="Connector 14"/>
          <p:cNvCxnSpPr/>
          <p:nvPr/>
        </p:nvCxnSpPr>
        <p:spPr>
          <a:xfrm>
            <a:off x="6812279" y="2103120"/>
            <a:ext cx="4919473"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812279"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7" name="TextBox 16"/>
          <p:cNvSpPr txBox="1"/>
          <p:nvPr/>
        </p:nvSpPr>
        <p:spPr>
          <a:xfrm>
            <a:off x="7223759" y="219456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Đoạn 1 và 2:</a:t>
            </a:r>
            <a:r>
              <a:rPr sz="1350" b="0" i="0">
                <a:solidFill>
                  <a:srgbClr val="58595B"/>
                </a:solidFill>
                <a:latin typeface="Arial"/>
              </a:rPr>
              <a:t> nhắc lại vấn đề và mục tiêu; tóm tắt cách làm (lý thuyết, công cụ, mẫu, phân tích).</a:t>
            </a:r>
          </a:p>
        </p:txBody>
      </p:sp>
      <p:sp>
        <p:nvSpPr>
          <p:cNvPr id="18" name="Oval 17"/>
          <p:cNvSpPr/>
          <p:nvPr/>
        </p:nvSpPr>
        <p:spPr>
          <a:xfrm>
            <a:off x="6812279"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9" name="TextBox 18"/>
          <p:cNvSpPr txBox="1"/>
          <p:nvPr/>
        </p:nvSpPr>
        <p:spPr>
          <a:xfrm>
            <a:off x="7223759" y="305181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Đoạn 3:</a:t>
            </a:r>
            <a:r>
              <a:rPr sz="1350" b="0" i="0">
                <a:solidFill>
                  <a:srgbClr val="58595B"/>
                </a:solidFill>
                <a:latin typeface="Arial"/>
              </a:rPr>
              <a:t> ba đến năm phát hiện có con số chủ chốt, trả lời lần lượt các câu hỏi nghiên cứu.</a:t>
            </a:r>
          </a:p>
        </p:txBody>
      </p:sp>
      <p:sp>
        <p:nvSpPr>
          <p:cNvPr id="20" name="Oval 19"/>
          <p:cNvSpPr/>
          <p:nvPr/>
        </p:nvSpPr>
        <p:spPr>
          <a:xfrm>
            <a:off x="6812279"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7223759" y="390906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Đoạn 4:</a:t>
            </a:r>
            <a:r>
              <a:rPr sz="1350" b="0" i="0">
                <a:solidFill>
                  <a:srgbClr val="58595B"/>
                </a:solidFill>
                <a:latin typeface="Arial"/>
              </a:rPr>
              <a:t> đóng góp, dùng "bổ sung bằng chứng" thay cho "phát hiện mới".</a:t>
            </a:r>
          </a:p>
        </p:txBody>
      </p:sp>
      <p:sp>
        <p:nvSpPr>
          <p:cNvPr id="22" name="Oval 21"/>
          <p:cNvSpPr/>
          <p:nvPr/>
        </p:nvSpPr>
        <p:spPr>
          <a:xfrm>
            <a:off x="6812279"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3" name="TextBox 22"/>
          <p:cNvSpPr txBox="1"/>
          <p:nvPr/>
        </p:nvSpPr>
        <p:spPr>
          <a:xfrm>
            <a:off x="7223759" y="4766310"/>
            <a:ext cx="4507992" cy="857250"/>
          </a:xfrm>
          <a:prstGeom prst="rect">
            <a:avLst/>
          </a:prstGeom>
          <a:noFill/>
        </p:spPr>
        <p:txBody>
          <a:bodyPr wrap="square" lIns="45720" rIns="45720" tIns="27432" bIns="27432" anchor="t">
            <a:spAutoFit/>
          </a:bodyPr>
          <a:lstStyle/>
          <a:p>
            <a:pPr algn="l"/>
            <a:r>
              <a:rPr sz="1350" b="1" i="0">
                <a:solidFill>
                  <a:srgbClr val="58595B"/>
                </a:solidFill>
                <a:latin typeface="Arial"/>
              </a:rPr>
              <a:t>Đoạn 5:</a:t>
            </a:r>
            <a:r>
              <a:rPr sz="1350" b="0" i="0">
                <a:solidFill>
                  <a:srgbClr val="58595B"/>
                </a:solidFill>
                <a:latin typeface="Arial"/>
              </a:rPr>
              <a:t> hạn chế và hướng nghiên cứu tiếp theo. Không có bảng.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CHƯƠNG 5 | LỖI THƯỜNG GẶP</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Năm lỗi của Chương 5 đều có cùng gốc: Chương 5 không thêm được gì so với Chương 4</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Sự nhất quán quan trọng hơn độ phức tạp: kết luận khớp câu hỏi, hàm ý chỉ dựa trên kết quả có ý nghĩa thống kê.</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5, mục F, Bảng 5-5 và khung POINT cuối phần</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106</a:t>
            </a:r>
          </a:p>
        </p:txBody>
      </p:sp>
      <p:graphicFrame>
        <p:nvGraphicFramePr>
          <p:cNvPr id="12" name="Table 11"/>
          <p:cNvGraphicFramePr>
            <a:graphicFrameLocks noGrp="1"/>
          </p:cNvGraphicFramePr>
          <p:nvPr/>
        </p:nvGraphicFramePr>
        <p:xfrm>
          <a:off x="457200" y="1783080"/>
          <a:ext cx="11274550" cy="3154680"/>
        </p:xfrm>
        <a:graphic>
          <a:graphicData uri="http://schemas.openxmlformats.org/drawingml/2006/table">
            <a:tbl>
              <a:tblPr firstRow="1" bandRow="1">
                <a:tableStyleId>{5C22544A-7EE6-4342-B048-85BDC9FD1C3A}</a:tableStyleId>
              </a:tblPr>
              <a:tblGrid>
                <a:gridCol w="4071365"/>
                <a:gridCol w="3131820"/>
                <a:gridCol w="4071365"/>
              </a:tblGrid>
              <a:tr h="411480">
                <a:tc>
                  <a:txBody>
                    <a:bodyPr wrap="square"/>
                    <a:lstStyle/>
                    <a:p>
                      <a:pPr algn="l"/>
                      <a:r>
                        <a:rPr sz="1200" b="1">
                          <a:solidFill>
                            <a:srgbClr val="FFFFFF"/>
                          </a:solidFill>
                          <a:latin typeface="Arial"/>
                        </a:rPr>
                        <a:t>Lỗi</a:t>
                      </a:r>
                    </a:p>
                  </a:txBody>
                  <a:tcPr marL="73152" marR="73152" marT="27432" marB="27432" anchor="ctr">
                    <a:solidFill>
                      <a:srgbClr val="262626"/>
                    </a:solidFill>
                  </a:tcPr>
                </a:tc>
                <a:tc>
                  <a:txBody>
                    <a:bodyPr wrap="square"/>
                    <a:lstStyle/>
                    <a:p>
                      <a:pPr algn="l"/>
                      <a:r>
                        <a:rPr sz="1200" b="1">
                          <a:solidFill>
                            <a:srgbClr val="FFFFFF"/>
                          </a:solidFill>
                          <a:latin typeface="Arial"/>
                        </a:rPr>
                        <a:t>Hậu quả</a:t>
                      </a:r>
                    </a:p>
                  </a:txBody>
                  <a:tcPr marL="73152" marR="73152" marT="27432" marB="27432" anchor="ctr">
                    <a:solidFill>
                      <a:srgbClr val="262626"/>
                    </a:solidFill>
                  </a:tcPr>
                </a:tc>
                <a:tc>
                  <a:txBody>
                    <a:bodyPr wrap="square"/>
                    <a:lstStyle/>
                    <a:p>
                      <a:pPr algn="l"/>
                      <a:r>
                        <a:rPr sz="1200" b="1">
                          <a:solidFill>
                            <a:srgbClr val="FFFFFF"/>
                          </a:solidFill>
                          <a:latin typeface="Arial"/>
                        </a:rPr>
                        <a:t>Cách khắc phục (mục)</a:t>
                      </a:r>
                    </a:p>
                  </a:txBody>
                  <a:tcPr marL="73152" marR="73152" marT="27432" marB="27432" anchor="ctr">
                    <a:solidFill>
                      <a:srgbClr val="262626"/>
                    </a:solidFill>
                  </a:tcPr>
                </a:tc>
              </a:tr>
              <a:tr h="548640">
                <a:tc>
                  <a:txBody>
                    <a:bodyPr wrap="square"/>
                    <a:lstStyle/>
                    <a:p>
                      <a:pPr algn="l"/>
                      <a:r>
                        <a:rPr sz="1200" b="0">
                          <a:solidFill>
                            <a:srgbClr val="262626"/>
                          </a:solidFill>
                          <a:latin typeface="Arial"/>
                        </a:rPr>
                        <a:t>1. Tóm tắt lặp lại Chương 4</a:t>
                      </a:r>
                    </a:p>
                  </a:txBody>
                  <a:tcPr marL="73152" marR="73152" marT="27432" marB="27432" anchor="ctr">
                    <a:solidFill>
                      <a:srgbClr val="FFFFFF"/>
                    </a:solidFill>
                  </a:tcPr>
                </a:tc>
                <a:tc>
                  <a:txBody>
                    <a:bodyPr wrap="square"/>
                    <a:lstStyle/>
                    <a:p>
                      <a:pPr algn="l"/>
                      <a:r>
                        <a:rPr sz="1200" b="0">
                          <a:solidFill>
                            <a:srgbClr val="262626"/>
                          </a:solidFill>
                          <a:latin typeface="Arial"/>
                        </a:rPr>
                        <a:t>Không có giá trị gia tăng</a:t>
                      </a:r>
                    </a:p>
                  </a:txBody>
                  <a:tcPr marL="73152" marR="73152" marT="27432" marB="27432" anchor="ctr">
                    <a:solidFill>
                      <a:srgbClr val="FFFFFF"/>
                    </a:solidFill>
                  </a:tcPr>
                </a:tc>
                <a:tc>
                  <a:txBody>
                    <a:bodyPr wrap="square"/>
                    <a:lstStyle/>
                    <a:p>
                      <a:pPr algn="l"/>
                      <a:r>
                        <a:rPr sz="1200" b="0">
                          <a:solidFill>
                            <a:srgbClr val="262626"/>
                          </a:solidFill>
                          <a:latin typeface="Arial"/>
                        </a:rPr>
                        <a:t>Ba đến năm phát hiện chính bằng lời (5.1.1)</a:t>
                      </a:r>
                    </a:p>
                  </a:txBody>
                  <a:tcPr marL="73152" marR="73152" marT="27432" marB="27432" anchor="ctr">
                    <a:solidFill>
                      <a:srgbClr val="FFFFFF"/>
                    </a:solidFill>
                  </a:tcPr>
                </a:tc>
              </a:tr>
              <a:tr h="548640">
                <a:tc>
                  <a:txBody>
                    <a:bodyPr wrap="square"/>
                    <a:lstStyle/>
                    <a:p>
                      <a:pPr algn="l"/>
                      <a:r>
                        <a:rPr sz="1200" b="0">
                          <a:solidFill>
                            <a:srgbClr val="262626"/>
                          </a:solidFill>
                          <a:latin typeface="Arial"/>
                        </a:rPr>
                        <a:t>2. Không trả lời câu hỏi nghiên cứu</a:t>
                      </a:r>
                    </a:p>
                  </a:txBody>
                  <a:tcPr marL="73152" marR="73152" marT="27432" marB="27432" anchor="ctr">
                    <a:solidFill>
                      <a:srgbClr val="F3F3F3"/>
                    </a:solidFill>
                  </a:tcPr>
                </a:tc>
                <a:tc>
                  <a:txBody>
                    <a:bodyPr wrap="square"/>
                    <a:lstStyle/>
                    <a:p>
                      <a:pPr algn="l"/>
                      <a:r>
                        <a:rPr sz="1200" b="0">
                          <a:solidFill>
                            <a:srgbClr val="262626"/>
                          </a:solidFill>
                          <a:latin typeface="Arial"/>
                        </a:rPr>
                        <a:t>Không hoàn thành mục tiêu ở Chương 1</a:t>
                      </a:r>
                    </a:p>
                  </a:txBody>
                  <a:tcPr marL="73152" marR="73152" marT="27432" marB="27432" anchor="ctr">
                    <a:solidFill>
                      <a:srgbClr val="F3F3F3"/>
                    </a:solidFill>
                  </a:tcPr>
                </a:tc>
                <a:tc>
                  <a:txBody>
                    <a:bodyPr wrap="square"/>
                    <a:lstStyle/>
                    <a:p>
                      <a:pPr algn="l"/>
                      <a:r>
                        <a:rPr sz="1200" b="0">
                          <a:solidFill>
                            <a:srgbClr val="262626"/>
                          </a:solidFill>
                          <a:latin typeface="Arial"/>
                        </a:rPr>
                        <a:t>Trả lời lần lượt từng câu (5.1.2)</a:t>
                      </a:r>
                    </a:p>
                  </a:txBody>
                  <a:tcPr marL="73152" marR="73152" marT="27432" marB="27432" anchor="ctr">
                    <a:solidFill>
                      <a:srgbClr val="F3F3F3"/>
                    </a:solidFill>
                  </a:tcPr>
                </a:tc>
              </a:tr>
              <a:tr h="548640">
                <a:tc>
                  <a:txBody>
                    <a:bodyPr wrap="square"/>
                    <a:lstStyle/>
                    <a:p>
                      <a:pPr algn="l"/>
                      <a:r>
                        <a:rPr sz="1200" b="0">
                          <a:solidFill>
                            <a:srgbClr val="262626"/>
                          </a:solidFill>
                          <a:latin typeface="Arial"/>
                        </a:rPr>
                        <a:t>3. Hàm ý chung chung, không gắn kết quả</a:t>
                      </a:r>
                    </a:p>
                  </a:txBody>
                  <a:tcPr marL="73152" marR="73152" marT="27432" marB="27432" anchor="ctr">
                    <a:solidFill>
                      <a:srgbClr val="FFFFFF"/>
                    </a:solidFill>
                  </a:tcPr>
                </a:tc>
                <a:tc>
                  <a:txBody>
                    <a:bodyPr wrap="square"/>
                    <a:lstStyle/>
                    <a:p>
                      <a:pPr algn="l"/>
                      <a:r>
                        <a:rPr sz="1200" b="0">
                          <a:solidFill>
                            <a:srgbClr val="262626"/>
                          </a:solidFill>
                          <a:latin typeface="Arial"/>
                        </a:rPr>
                        <a:t>Không có giá trị thực tiễn</a:t>
                      </a:r>
                    </a:p>
                  </a:txBody>
                  <a:tcPr marL="73152" marR="73152" marT="27432" marB="27432" anchor="ctr">
                    <a:solidFill>
                      <a:srgbClr val="FFFFFF"/>
                    </a:solidFill>
                  </a:tcPr>
                </a:tc>
                <a:tc>
                  <a:txBody>
                    <a:bodyPr wrap="square"/>
                    <a:lstStyle/>
                    <a:p>
                      <a:pPr algn="l"/>
                      <a:r>
                        <a:rPr sz="1200" b="0">
                          <a:solidFill>
                            <a:srgbClr val="262626"/>
                          </a:solidFill>
                          <a:latin typeface="Arial"/>
                        </a:rPr>
                        <a:t>Mỗi hàm ý gắn một kết quả, có thứ tự (5.2.1)</a:t>
                      </a:r>
                    </a:p>
                  </a:txBody>
                  <a:tcPr marL="73152" marR="73152" marT="27432" marB="27432" anchor="ctr">
                    <a:solidFill>
                      <a:srgbClr val="FFFFFF"/>
                    </a:solidFill>
                  </a:tcPr>
                </a:tc>
              </a:tr>
              <a:tr h="548640">
                <a:tc>
                  <a:txBody>
                    <a:bodyPr wrap="square"/>
                    <a:lstStyle/>
                    <a:p>
                      <a:pPr algn="l"/>
                      <a:r>
                        <a:rPr sz="1200" b="0">
                          <a:solidFill>
                            <a:srgbClr val="262626"/>
                          </a:solidFill>
                          <a:latin typeface="Arial"/>
                        </a:rPr>
                        <a:t>4. Không nêu hạn chế hoặc không có hệ quả</a:t>
                      </a:r>
                    </a:p>
                  </a:txBody>
                  <a:tcPr marL="73152" marR="73152" marT="27432" marB="27432" anchor="ctr">
                    <a:solidFill>
                      <a:srgbClr val="F3F3F3"/>
                    </a:solidFill>
                  </a:tcPr>
                </a:tc>
                <a:tc>
                  <a:txBody>
                    <a:bodyPr wrap="square"/>
                    <a:lstStyle/>
                    <a:p>
                      <a:pPr algn="l"/>
                      <a:r>
                        <a:rPr sz="1200" b="0">
                          <a:solidFill>
                            <a:srgbClr val="262626"/>
                          </a:solidFill>
                          <a:latin typeface="Arial"/>
                        </a:rPr>
                        <a:t>Thiếu trung thực học thuật</a:t>
                      </a:r>
                    </a:p>
                  </a:txBody>
                  <a:tcPr marL="73152" marR="73152" marT="27432" marB="27432" anchor="ctr">
                    <a:solidFill>
                      <a:srgbClr val="F3F3F3"/>
                    </a:solidFill>
                  </a:tcPr>
                </a:tc>
                <a:tc>
                  <a:txBody>
                    <a:bodyPr wrap="square"/>
                    <a:lstStyle/>
                    <a:p>
                      <a:pPr algn="l"/>
                      <a:r>
                        <a:rPr sz="1200" b="0">
                          <a:solidFill>
                            <a:srgbClr val="262626"/>
                          </a:solidFill>
                          <a:latin typeface="Arial"/>
                        </a:rPr>
                        <a:t>Hai đến bốn hạn chế, mỗi cái kèm hệ quả (5.3.1)</a:t>
                      </a:r>
                    </a:p>
                  </a:txBody>
                  <a:tcPr marL="73152" marR="73152" marT="27432" marB="27432" anchor="ctr">
                    <a:solidFill>
                      <a:srgbClr val="F3F3F3"/>
                    </a:solidFill>
                  </a:tcPr>
                </a:tc>
              </a:tr>
              <a:tr h="548640">
                <a:tc>
                  <a:txBody>
                    <a:bodyPr wrap="square"/>
                    <a:lstStyle/>
                    <a:p>
                      <a:pPr algn="l"/>
                      <a:r>
                        <a:rPr sz="1200" b="0">
                          <a:solidFill>
                            <a:srgbClr val="262626"/>
                          </a:solidFill>
                          <a:latin typeface="Arial"/>
                        </a:rPr>
                        <a:t>5. Hướng tiếp theo không gắn hạn chế; từ phóng đại</a:t>
                      </a:r>
                    </a:p>
                  </a:txBody>
                  <a:tcPr marL="73152" marR="73152" marT="27432" marB="27432" anchor="ctr">
                    <a:solidFill>
                      <a:srgbClr val="FFFFFF"/>
                    </a:solidFill>
                  </a:tcPr>
                </a:tc>
                <a:tc>
                  <a:txBody>
                    <a:bodyPr wrap="square"/>
                    <a:lstStyle/>
                    <a:p>
                      <a:pPr algn="l"/>
                      <a:r>
                        <a:rPr sz="1200" b="0">
                          <a:solidFill>
                            <a:srgbClr val="262626"/>
                          </a:solidFill>
                          <a:latin typeface="Arial"/>
                        </a:rPr>
                        <a:t>Thiếu logic; mất khách quan</a:t>
                      </a:r>
                    </a:p>
                  </a:txBody>
                  <a:tcPr marL="73152" marR="73152" marT="27432" marB="27432" anchor="ctr">
                    <a:solidFill>
                      <a:srgbClr val="FFFFFF"/>
                    </a:solidFill>
                  </a:tcPr>
                </a:tc>
                <a:tc>
                  <a:txBody>
                    <a:bodyPr wrap="square"/>
                    <a:lstStyle/>
                    <a:p>
                      <a:pPr algn="l"/>
                      <a:r>
                        <a:rPr sz="1200" b="0">
                          <a:solidFill>
                            <a:srgbClr val="262626"/>
                          </a:solidFill>
                          <a:latin typeface="Arial"/>
                        </a:rPr>
                        <a:t>Mỗi hướng từ một hạn chế; từ trung tính (5.3.2)</a:t>
                      </a:r>
                    </a:p>
                  </a:txBody>
                  <a:tcPr marL="73152" marR="73152" marT="27432" marB="27432" anchor="ctr">
                    <a:solidFill>
                      <a:srgbClr val="FFFFFF"/>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148840"/>
            <a:ext cx="109728" cy="21945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011680"/>
            <a:ext cx="9144000" cy="914400"/>
          </a:xfrm>
          <a:prstGeom prst="rect">
            <a:avLst/>
          </a:prstGeom>
          <a:noFill/>
        </p:spPr>
        <p:txBody>
          <a:bodyPr wrap="square" lIns="45720" rIns="45720" tIns="27432" bIns="27432" anchor="t">
            <a:spAutoFit/>
          </a:bodyPr>
          <a:lstStyle/>
          <a:p>
            <a:pPr algn="l"/>
            <a:r>
              <a:rPr sz="6000" b="1" i="0">
                <a:solidFill>
                  <a:srgbClr val="CC0000"/>
                </a:solidFill>
                <a:latin typeface="Arial"/>
              </a:rPr>
              <a:t>07</a:t>
            </a:r>
          </a:p>
        </p:txBody>
      </p:sp>
      <p:sp>
        <p:nvSpPr>
          <p:cNvPr id="5" name="TextBox 4"/>
          <p:cNvSpPr txBox="1"/>
          <p:nvPr/>
        </p:nvSpPr>
        <p:spPr>
          <a:xfrm>
            <a:off x="1051560" y="2926080"/>
            <a:ext cx="10058400" cy="914400"/>
          </a:xfrm>
          <a:prstGeom prst="rect">
            <a:avLst/>
          </a:prstGeom>
          <a:noFill/>
        </p:spPr>
        <p:txBody>
          <a:bodyPr wrap="square" lIns="45720" rIns="45720" tIns="27432" bIns="27432" anchor="t">
            <a:spAutoFit/>
          </a:bodyPr>
          <a:lstStyle/>
          <a:p>
            <a:pPr algn="l"/>
            <a:r>
              <a:rPr sz="3400" b="1" i="0">
                <a:solidFill>
                  <a:srgbClr val="FFFFFF"/>
                </a:solidFill>
                <a:latin typeface="Arial"/>
              </a:rPr>
              <a:t>Hoàn thiện, nộp và bảo vệ</a:t>
            </a:r>
          </a:p>
        </p:txBody>
      </p:sp>
      <p:sp>
        <p:nvSpPr>
          <p:cNvPr id="6" name="TextBox 5"/>
          <p:cNvSpPr txBox="1"/>
          <p:nvPr/>
        </p:nvSpPr>
        <p:spPr>
          <a:xfrm>
            <a:off x="1051560" y="3794760"/>
            <a:ext cx="10058400" cy="822960"/>
          </a:xfrm>
          <a:prstGeom prst="rect">
            <a:avLst/>
          </a:prstGeom>
          <a:noFill/>
        </p:spPr>
        <p:txBody>
          <a:bodyPr wrap="square" lIns="45720" rIns="45720" tIns="27432" bIns="27432" anchor="t">
            <a:spAutoFit/>
          </a:bodyPr>
          <a:lstStyle/>
          <a:p>
            <a:pPr algn="l"/>
            <a:r>
              <a:rPr sz="1600" b="0" i="0">
                <a:solidFill>
                  <a:srgbClr val="D9D9D9"/>
                </a:solidFill>
                <a:latin typeface="Arial"/>
              </a:rPr>
              <a:t>Các phần kết thúc không tạo ra kết quả mới nhưng quyết định kết quả được đọc, được kiểm tra và được tin như thế nào</a:t>
            </a:r>
          </a:p>
        </p:txBody>
      </p:sp>
      <p:sp>
        <p:nvSpPr>
          <p:cNvPr id="7" name="TextBox 6"/>
          <p:cNvSpPr txBox="1"/>
          <p:nvPr/>
        </p:nvSpPr>
        <p:spPr>
          <a:xfrm>
            <a:off x="1051560" y="4709160"/>
            <a:ext cx="10058400" cy="822960"/>
          </a:xfrm>
          <a:prstGeom prst="rect">
            <a:avLst/>
          </a:prstGeom>
          <a:noFill/>
        </p:spPr>
        <p:txBody>
          <a:bodyPr wrap="square" lIns="45720" rIns="45720" tIns="27432" bIns="27432" anchor="t">
            <a:spAutoFit/>
          </a:bodyPr>
          <a:lstStyle/>
          <a:p>
            <a:pPr algn="l"/>
            <a:r>
              <a:rPr sz="1300" b="1" i="0">
                <a:solidFill>
                  <a:srgbClr val="F29B9B"/>
                </a:solidFill>
                <a:latin typeface="Arial"/>
              </a:rPr>
              <a:t>ĐỌC TRONG SÁCH: Phần 7 đến Phần 10; Hình 8-1, 10-1 và 10-2; Bảng 7-1 đến 7-4, 8-1, 8-2, 9-1 đến 9-4, 10-1 và 10-2</a:t>
            </a:r>
          </a:p>
        </p:txBody>
      </p:sp>
      <p:sp>
        <p:nvSpPr>
          <p:cNvPr id="8" name="TextBox 7"/>
          <p:cNvSpPr txBox="1"/>
          <p:nvPr/>
        </p:nvSpPr>
        <p:spPr>
          <a:xfrm>
            <a:off x="1051560" y="5943600"/>
            <a:ext cx="10058400" cy="365760"/>
          </a:xfrm>
          <a:prstGeom prst="rect">
            <a:avLst/>
          </a:prstGeom>
          <a:noFill/>
        </p:spPr>
        <p:txBody>
          <a:bodyPr wrap="square" lIns="45720" rIns="45720" tIns="27432" bIns="27432" anchor="t">
            <a:spAutoFit/>
          </a:bodyPr>
          <a:lstStyle/>
          <a:p>
            <a:pPr algn="l"/>
            <a:r>
              <a:rPr sz="1200" b="0" i="0">
                <a:solidFill>
                  <a:srgbClr val="9E9E9E"/>
                </a:solidFill>
                <a:latin typeface="Arial"/>
              </a:rPr>
              <a:t>Thời lượng ước tính: 28 phút | 12 slide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HOÀN THIỆN, NỘP VÀ BẢO VỆ | BẢN ĐỒ ĐỐI CHIẾU SÁCH</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Bản đồ đọc sách cho phần hoàn thiện: Phần 7 đến Phần 10 của sách không tạo kết quả mới nhưng quyết định kết quả có được tin</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Đặt hạn nộp cho bản thân sớm hơn hạn thật ít nhất ba ngày để có thời gian kiểm tra và sửa.</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7 đến Phần 10</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108</a:t>
            </a:r>
          </a:p>
        </p:txBody>
      </p:sp>
      <p:graphicFrame>
        <p:nvGraphicFramePr>
          <p:cNvPr id="12" name="Table 11"/>
          <p:cNvGraphicFramePr>
            <a:graphicFrameLocks noGrp="1"/>
          </p:cNvGraphicFramePr>
          <p:nvPr/>
        </p:nvGraphicFramePr>
        <p:xfrm>
          <a:off x="457200" y="1783080"/>
          <a:ext cx="11274551" cy="3611880"/>
        </p:xfrm>
        <a:graphic>
          <a:graphicData uri="http://schemas.openxmlformats.org/drawingml/2006/table">
            <a:tbl>
              <a:tblPr firstRow="1" bandRow="1">
                <a:tableStyleId>{5C22544A-7EE6-4342-B048-85BDC9FD1C3A}</a:tableStyleId>
              </a:tblPr>
              <a:tblGrid>
                <a:gridCol w="3083638"/>
                <a:gridCol w="3276365"/>
                <a:gridCol w="3083638"/>
                <a:gridCol w="1830910"/>
              </a:tblGrid>
              <a:tr h="411480">
                <a:tc>
                  <a:txBody>
                    <a:bodyPr wrap="square"/>
                    <a:lstStyle/>
                    <a:p>
                      <a:pPr algn="l"/>
                      <a:r>
                        <a:rPr sz="1200" b="1">
                          <a:solidFill>
                            <a:srgbClr val="FFFFFF"/>
                          </a:solidFill>
                          <a:latin typeface="Arial"/>
                        </a:rPr>
                        <a:t>Mục trong khóa luận</a:t>
                      </a:r>
                    </a:p>
                  </a:txBody>
                  <a:tcPr marL="73152" marR="73152" marT="27432" marB="27432" anchor="ctr">
                    <a:solidFill>
                      <a:srgbClr val="262626"/>
                    </a:solidFill>
                  </a:tcPr>
                </a:tc>
                <a:tc>
                  <a:txBody>
                    <a:bodyPr wrap="square"/>
                    <a:lstStyle/>
                    <a:p>
                      <a:pPr algn="l"/>
                      <a:r>
                        <a:rPr sz="1200" b="1">
                          <a:solidFill>
                            <a:srgbClr val="FFFFFF"/>
                          </a:solidFill>
                          <a:latin typeface="Arial"/>
                        </a:rPr>
                        <a:t>Đọc ở đâu trong sách</a:t>
                      </a:r>
                    </a:p>
                  </a:txBody>
                  <a:tcPr marL="73152" marR="73152" marT="27432" marB="27432" anchor="ctr">
                    <a:solidFill>
                      <a:srgbClr val="262626"/>
                    </a:solidFill>
                  </a:tcPr>
                </a:tc>
                <a:tc>
                  <a:txBody>
                    <a:bodyPr wrap="square"/>
                    <a:lstStyle/>
                    <a:p>
                      <a:pPr algn="l"/>
                      <a:r>
                        <a:rPr sz="1200" b="1">
                          <a:solidFill>
                            <a:srgbClr val="FFFFFF"/>
                          </a:solidFill>
                          <a:latin typeface="Arial"/>
                        </a:rPr>
                        <a:t>Hình, bảng, sheet</a:t>
                      </a:r>
                    </a:p>
                  </a:txBody>
                  <a:tcPr marL="73152" marR="73152" marT="27432" marB="27432" anchor="ctr">
                    <a:solidFill>
                      <a:srgbClr val="262626"/>
                    </a:solidFill>
                  </a:tcPr>
                </a:tc>
                <a:tc>
                  <a:txBody>
                    <a:bodyPr wrap="square"/>
                    <a:lstStyle/>
                    <a:p>
                      <a:pPr algn="l"/>
                      <a:r>
                        <a:rPr sz="1200" b="1">
                          <a:solidFill>
                            <a:srgbClr val="FFFFFF"/>
                          </a:solidFill>
                          <a:latin typeface="Arial"/>
                        </a:rPr>
                        <a:t>Thời gian gợi ý</a:t>
                      </a:r>
                    </a:p>
                  </a:txBody>
                  <a:tcPr marL="73152" marR="73152" marT="27432" marB="27432" anchor="ctr">
                    <a:solidFill>
                      <a:srgbClr val="262626"/>
                    </a:solidFill>
                  </a:tcPr>
                </a:tc>
              </a:tr>
              <a:tr h="457200">
                <a:tc>
                  <a:txBody>
                    <a:bodyPr wrap="square"/>
                    <a:lstStyle/>
                    <a:p>
                      <a:pPr algn="l"/>
                      <a:r>
                        <a:rPr sz="1200" b="0">
                          <a:solidFill>
                            <a:srgbClr val="262626"/>
                          </a:solidFill>
                          <a:latin typeface="Arial"/>
                        </a:rPr>
                        <a:t>Tài liệu tham khảo</a:t>
                      </a:r>
                    </a:p>
                  </a:txBody>
                  <a:tcPr marL="73152" marR="73152" marT="27432" marB="27432" anchor="ctr">
                    <a:solidFill>
                      <a:srgbClr val="FFFFFF"/>
                    </a:solidFill>
                  </a:tcPr>
                </a:tc>
                <a:tc>
                  <a:txBody>
                    <a:bodyPr wrap="square"/>
                    <a:lstStyle/>
                    <a:p>
                      <a:pPr algn="l"/>
                      <a:r>
                        <a:rPr sz="1200" b="0">
                          <a:solidFill>
                            <a:srgbClr val="262626"/>
                          </a:solidFill>
                          <a:latin typeface="Arial"/>
                        </a:rPr>
                        <a:t>Phần 7, mục B và C</a:t>
                      </a:r>
                    </a:p>
                  </a:txBody>
                  <a:tcPr marL="73152" marR="73152" marT="27432" marB="27432" anchor="ctr">
                    <a:solidFill>
                      <a:srgbClr val="FFFFFF"/>
                    </a:solidFill>
                  </a:tcPr>
                </a:tc>
                <a:tc>
                  <a:txBody>
                    <a:bodyPr wrap="square"/>
                    <a:lstStyle/>
                    <a:p>
                      <a:pPr algn="l"/>
                      <a:r>
                        <a:rPr sz="1200" b="0">
                          <a:solidFill>
                            <a:srgbClr val="262626"/>
                          </a:solidFill>
                          <a:latin typeface="Arial"/>
                        </a:rPr>
                        <a:t>Bảng 7-1 đến 7-3</a:t>
                      </a:r>
                    </a:p>
                  </a:txBody>
                  <a:tcPr marL="73152" marR="73152" marT="27432" marB="27432" anchor="ctr">
                    <a:solidFill>
                      <a:srgbClr val="FFFFFF"/>
                    </a:solidFill>
                  </a:tcPr>
                </a:tc>
                <a:tc>
                  <a:txBody>
                    <a:bodyPr wrap="square"/>
                    <a:lstStyle/>
                    <a:p>
                      <a:pPr algn="l"/>
                      <a:r>
                        <a:rPr sz="1200" b="0">
                          <a:solidFill>
                            <a:srgbClr val="262626"/>
                          </a:solidFill>
                          <a:latin typeface="Arial"/>
                        </a:rPr>
                        <a:t>1 ngày</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Phụ lục</a:t>
                      </a:r>
                    </a:p>
                  </a:txBody>
                  <a:tcPr marL="73152" marR="73152" marT="27432" marB="27432" anchor="ctr">
                    <a:solidFill>
                      <a:srgbClr val="F3F3F3"/>
                    </a:solidFill>
                  </a:tcPr>
                </a:tc>
                <a:tc>
                  <a:txBody>
                    <a:bodyPr wrap="square"/>
                    <a:lstStyle/>
                    <a:p>
                      <a:pPr algn="l"/>
                      <a:r>
                        <a:rPr sz="1200" b="0">
                          <a:solidFill>
                            <a:srgbClr val="262626"/>
                          </a:solidFill>
                          <a:latin typeface="Arial"/>
                        </a:rPr>
                        <a:t>Phần 7, mục D</a:t>
                      </a:r>
                    </a:p>
                  </a:txBody>
                  <a:tcPr marL="73152" marR="73152" marT="27432" marB="27432" anchor="ctr">
                    <a:solidFill>
                      <a:srgbClr val="F3F3F3"/>
                    </a:solidFill>
                  </a:tcPr>
                </a:tc>
                <a:tc>
                  <a:txBody>
                    <a:bodyPr wrap="square"/>
                    <a:lstStyle/>
                    <a:p>
                      <a:pPr algn="l"/>
                      <a:r>
                        <a:rPr sz="1200" b="0">
                          <a:solidFill>
                            <a:srgbClr val="262626"/>
                          </a:solidFill>
                          <a:latin typeface="Arial"/>
                        </a:rPr>
                        <a:t>Bảng 7-4</a:t>
                      </a:r>
                    </a:p>
                  </a:txBody>
                  <a:tcPr marL="73152" marR="73152" marT="27432" marB="27432" anchor="ctr">
                    <a:solidFill>
                      <a:srgbClr val="F3F3F3"/>
                    </a:solidFill>
                  </a:tcPr>
                </a:tc>
                <a:tc>
                  <a:txBody>
                    <a:bodyPr wrap="square"/>
                    <a:lstStyle/>
                    <a:p>
                      <a:pPr algn="l"/>
                      <a:r>
                        <a:rPr sz="1200" b="0">
                          <a:solidFill>
                            <a:srgbClr val="262626"/>
                          </a:solidFill>
                          <a:latin typeface="Arial"/>
                        </a:rPr>
                        <a:t>Nửa ngày đến 1 ngày</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Phần đầu, định dạng, đánh số</a:t>
                      </a:r>
                    </a:p>
                  </a:txBody>
                  <a:tcPr marL="73152" marR="73152" marT="27432" marB="27432" anchor="ctr">
                    <a:solidFill>
                      <a:srgbClr val="FFFFFF"/>
                    </a:solidFill>
                  </a:tcPr>
                </a:tc>
                <a:tc>
                  <a:txBody>
                    <a:bodyPr wrap="square"/>
                    <a:lstStyle/>
                    <a:p>
                      <a:pPr algn="l"/>
                      <a:r>
                        <a:rPr sz="1200" b="0">
                          <a:solidFill>
                            <a:srgbClr val="262626"/>
                          </a:solidFill>
                          <a:latin typeface="Arial"/>
                        </a:rPr>
                        <a:t>Phần 8, mục A, B và C</a:t>
                      </a:r>
                    </a:p>
                  </a:txBody>
                  <a:tcPr marL="73152" marR="73152" marT="27432" marB="27432" anchor="ctr">
                    <a:solidFill>
                      <a:srgbClr val="FFFFFF"/>
                    </a:solidFill>
                  </a:tcPr>
                </a:tc>
                <a:tc>
                  <a:txBody>
                    <a:bodyPr wrap="square"/>
                    <a:lstStyle/>
                    <a:p>
                      <a:pPr algn="l"/>
                      <a:r>
                        <a:rPr sz="1200" b="0">
                          <a:solidFill>
                            <a:srgbClr val="262626"/>
                          </a:solidFill>
                          <a:latin typeface="Arial"/>
                        </a:rPr>
                        <a:t>Hình 8-1; Bảng 8-1 và 8-2</a:t>
                      </a:r>
                    </a:p>
                  </a:txBody>
                  <a:tcPr marL="73152" marR="73152" marT="27432" marB="27432" anchor="ctr">
                    <a:solidFill>
                      <a:srgbClr val="FFFFFF"/>
                    </a:solidFill>
                  </a:tcPr>
                </a:tc>
                <a:tc>
                  <a:txBody>
                    <a:bodyPr wrap="square"/>
                    <a:lstStyle/>
                    <a:p>
                      <a:pPr algn="l"/>
                      <a:r>
                        <a:rPr sz="1200" b="0">
                          <a:solidFill>
                            <a:srgbClr val="262626"/>
                          </a:solidFill>
                          <a:latin typeface="Arial"/>
                        </a:rPr>
                        <a:t>1 ngày và 3 giờ</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Kiểm tra liên kết, trùng lặp, định dạng</a:t>
                      </a:r>
                    </a:p>
                  </a:txBody>
                  <a:tcPr marL="73152" marR="73152" marT="27432" marB="27432" anchor="ctr">
                    <a:solidFill>
                      <a:srgbClr val="F3F3F3"/>
                    </a:solidFill>
                  </a:tcPr>
                </a:tc>
                <a:tc>
                  <a:txBody>
                    <a:bodyPr wrap="square"/>
                    <a:lstStyle/>
                    <a:p>
                      <a:pPr algn="l"/>
                      <a:r>
                        <a:rPr sz="1200" b="0">
                          <a:solidFill>
                            <a:srgbClr val="262626"/>
                          </a:solidFill>
                          <a:latin typeface="Arial"/>
                        </a:rPr>
                        <a:t>Phần 9, mục A, B và C</a:t>
                      </a:r>
                    </a:p>
                  </a:txBody>
                  <a:tcPr marL="73152" marR="73152" marT="27432" marB="27432" anchor="ctr">
                    <a:solidFill>
                      <a:srgbClr val="F3F3F3"/>
                    </a:solidFill>
                  </a:tcPr>
                </a:tc>
                <a:tc>
                  <a:txBody>
                    <a:bodyPr wrap="square"/>
                    <a:lstStyle/>
                    <a:p>
                      <a:pPr algn="l"/>
                      <a:r>
                        <a:rPr sz="1200" b="0">
                          <a:solidFill>
                            <a:srgbClr val="262626"/>
                          </a:solidFill>
                          <a:latin typeface="Arial"/>
                        </a:rPr>
                        <a:t>Bảng 9-1</a:t>
                      </a:r>
                    </a:p>
                  </a:txBody>
                  <a:tcPr marL="73152" marR="73152" marT="27432" marB="27432" anchor="ctr">
                    <a:solidFill>
                      <a:srgbClr val="F3F3F3"/>
                    </a:solidFill>
                  </a:tcPr>
                </a:tc>
                <a:tc>
                  <a:txBody>
                    <a:bodyPr wrap="square"/>
                    <a:lstStyle/>
                    <a:p>
                      <a:pPr algn="l"/>
                      <a:r>
                        <a:rPr sz="1200" b="0">
                          <a:solidFill>
                            <a:srgbClr val="262626"/>
                          </a:solidFill>
                          <a:latin typeface="Arial"/>
                        </a:rPr>
                        <a:t>1 đến 2 ngày</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Lỗi nghiêm trọng, sửa bài</a:t>
                      </a:r>
                    </a:p>
                  </a:txBody>
                  <a:tcPr marL="73152" marR="73152" marT="27432" marB="27432" anchor="ctr">
                    <a:solidFill>
                      <a:srgbClr val="FFFFFF"/>
                    </a:solidFill>
                  </a:tcPr>
                </a:tc>
                <a:tc>
                  <a:txBody>
                    <a:bodyPr wrap="square"/>
                    <a:lstStyle/>
                    <a:p>
                      <a:pPr algn="l"/>
                      <a:r>
                        <a:rPr sz="1200" b="0">
                          <a:solidFill>
                            <a:srgbClr val="262626"/>
                          </a:solidFill>
                          <a:latin typeface="Arial"/>
                        </a:rPr>
                        <a:t>Phần 9, mục D và E</a:t>
                      </a:r>
                    </a:p>
                  </a:txBody>
                  <a:tcPr marL="73152" marR="73152" marT="27432" marB="27432" anchor="ctr">
                    <a:solidFill>
                      <a:srgbClr val="FFFFFF"/>
                    </a:solidFill>
                  </a:tcPr>
                </a:tc>
                <a:tc>
                  <a:txBody>
                    <a:bodyPr wrap="square"/>
                    <a:lstStyle/>
                    <a:p>
                      <a:pPr algn="l"/>
                      <a:r>
                        <a:rPr sz="1200" b="0">
                          <a:solidFill>
                            <a:srgbClr val="262626"/>
                          </a:solidFill>
                          <a:latin typeface="Arial"/>
                        </a:rPr>
                        <a:t>Bảng 9-2 đến 9-4</a:t>
                      </a:r>
                    </a:p>
                  </a:txBody>
                  <a:tcPr marL="73152" marR="73152" marT="27432" marB="27432" anchor="ctr">
                    <a:solidFill>
                      <a:srgbClr val="FFFFFF"/>
                    </a:solidFill>
                  </a:tcPr>
                </a:tc>
                <a:tc>
                  <a:txBody>
                    <a:bodyPr wrap="square"/>
                    <a:lstStyle/>
                    <a:p>
                      <a:pPr algn="l"/>
                      <a:r>
                        <a:rPr sz="1200" b="0">
                          <a:solidFill>
                            <a:srgbClr val="262626"/>
                          </a:solidFill>
                          <a:latin typeface="Arial"/>
                        </a:rPr>
                        <a:t>Trước khi nộp</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Slide bảo vệ</a:t>
                      </a:r>
                    </a:p>
                  </a:txBody>
                  <a:tcPr marL="73152" marR="73152" marT="27432" marB="27432" anchor="ctr">
                    <a:solidFill>
                      <a:srgbClr val="F3F3F3"/>
                    </a:solidFill>
                  </a:tcPr>
                </a:tc>
                <a:tc>
                  <a:txBody>
                    <a:bodyPr wrap="square"/>
                    <a:lstStyle/>
                    <a:p>
                      <a:pPr algn="l"/>
                      <a:r>
                        <a:rPr sz="1200" b="0">
                          <a:solidFill>
                            <a:srgbClr val="262626"/>
                          </a:solidFill>
                          <a:latin typeface="Arial"/>
                        </a:rPr>
                        <a:t>Phần 10, mục A</a:t>
                      </a:r>
                    </a:p>
                  </a:txBody>
                  <a:tcPr marL="73152" marR="73152" marT="27432" marB="27432" anchor="ctr">
                    <a:solidFill>
                      <a:srgbClr val="F3F3F3"/>
                    </a:solidFill>
                  </a:tcPr>
                </a:tc>
                <a:tc>
                  <a:txBody>
                    <a:bodyPr wrap="square"/>
                    <a:lstStyle/>
                    <a:p>
                      <a:pPr algn="l"/>
                      <a:r>
                        <a:rPr sz="1200" b="0">
                          <a:solidFill>
                            <a:srgbClr val="262626"/>
                          </a:solidFill>
                          <a:latin typeface="Arial"/>
                        </a:rPr>
                        <a:t>Hình 10-1; Bảng 10-1</a:t>
                      </a:r>
                    </a:p>
                  </a:txBody>
                  <a:tcPr marL="73152" marR="73152" marT="27432" marB="27432" anchor="ctr">
                    <a:solidFill>
                      <a:srgbClr val="F3F3F3"/>
                    </a:solidFill>
                  </a:tcPr>
                </a:tc>
                <a:tc>
                  <a:txBody>
                    <a:bodyPr wrap="square"/>
                    <a:lstStyle/>
                    <a:p>
                      <a:pPr algn="l"/>
                      <a:r>
                        <a:rPr sz="1200" b="0">
                          <a:solidFill>
                            <a:srgbClr val="262626"/>
                          </a:solidFill>
                          <a:latin typeface="Arial"/>
                        </a:rPr>
                        <a:t>2 ngày, gồm tập nói</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Trả lời, chất vấn</a:t>
                      </a:r>
                    </a:p>
                  </a:txBody>
                  <a:tcPr marL="73152" marR="73152" marT="27432" marB="27432" anchor="ctr">
                    <a:solidFill>
                      <a:srgbClr val="FFFFFF"/>
                    </a:solidFill>
                  </a:tcPr>
                </a:tc>
                <a:tc>
                  <a:txBody>
                    <a:bodyPr wrap="square"/>
                    <a:lstStyle/>
                    <a:p>
                      <a:pPr algn="l"/>
                      <a:r>
                        <a:rPr sz="1200" b="0">
                          <a:solidFill>
                            <a:srgbClr val="262626"/>
                          </a:solidFill>
                          <a:latin typeface="Arial"/>
                        </a:rPr>
                        <a:t>Phần 10, mục B và C</a:t>
                      </a:r>
                    </a:p>
                  </a:txBody>
                  <a:tcPr marL="73152" marR="73152" marT="27432" marB="27432" anchor="ctr">
                    <a:solidFill>
                      <a:srgbClr val="FFFFFF"/>
                    </a:solidFill>
                  </a:tcPr>
                </a:tc>
                <a:tc>
                  <a:txBody>
                    <a:bodyPr wrap="square"/>
                    <a:lstStyle/>
                    <a:p>
                      <a:pPr algn="l"/>
                      <a:r>
                        <a:rPr sz="1200" b="0">
                          <a:solidFill>
                            <a:srgbClr val="262626"/>
                          </a:solidFill>
                          <a:latin typeface="Arial"/>
                        </a:rPr>
                        <a:t>Hình 10-2; Bảng 10-2</a:t>
                      </a:r>
                    </a:p>
                  </a:txBody>
                  <a:tcPr marL="73152" marR="73152" marT="27432" marB="27432" anchor="ctr">
                    <a:solidFill>
                      <a:srgbClr val="FFFFFF"/>
                    </a:solidFill>
                  </a:tcPr>
                </a:tc>
                <a:tc>
                  <a:txBody>
                    <a:bodyPr wrap="square"/>
                    <a:lstStyle/>
                    <a:p>
                      <a:pPr algn="l"/>
                      <a:r>
                        <a:rPr sz="1200" b="0">
                          <a:solidFill>
                            <a:srgbClr val="262626"/>
                          </a:solidFill>
                          <a:latin typeface="Arial"/>
                        </a:rPr>
                        <a:t>1,5 ngày</a:t>
                      </a:r>
                    </a:p>
                  </a:txBody>
                  <a:tcPr marL="73152" marR="73152" marT="27432" marB="27432" anchor="ctr">
                    <a:solidFill>
                      <a:srgbClr val="FFFFFF"/>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HOÀN THIỆN | TÀI LIỆU THAM KHẢO, PHỤ LỤC, TRÌNH BÀY</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Trích dẫn và danh mục đi thành cặp; trình bày thống nhất đến từ Styles, không từ chỉnh tay</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Phụ lục chứa danh sách 150 khách hàng có họ tên và số điện thoại là vi phạm cam kết bảo mật đã nêu trong bảng hỏi.</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7; Phần 8; Hình 8-1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109</a:t>
            </a:r>
          </a:p>
        </p:txBody>
      </p:sp>
      <p:sp>
        <p:nvSpPr>
          <p:cNvPr id="11" name="Rectangle 10"/>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Tài liệu tham khảo</a:t>
            </a:r>
          </a:p>
        </p:txBody>
      </p:sp>
      <p:sp>
        <p:nvSpPr>
          <p:cNvPr id="14" name="TextBox 13"/>
          <p:cNvSpPr txBox="1"/>
          <p:nvPr/>
        </p:nvSpPr>
        <p:spPr>
          <a:xfrm>
            <a:off x="457200" y="2560320"/>
            <a:ext cx="3575304" cy="3017520"/>
          </a:xfrm>
          <a:prstGeom prst="rect">
            <a:avLst/>
          </a:prstGeom>
          <a:noFill/>
        </p:spPr>
        <p:txBody>
          <a:bodyPr wrap="square" lIns="45720" rIns="45720" tIns="27432" bIns="27432" anchor="t">
            <a:spAutoFit/>
          </a:bodyPr>
          <a:lstStyle/>
          <a:p>
            <a:pPr algn="l"/>
            <a:r>
              <a:rPr sz="1300" b="0" i="0">
                <a:solidFill>
                  <a:srgbClr val="58595B"/>
                </a:solidFill>
                <a:latin typeface="Arial"/>
              </a:rPr>
              <a:t>Mỗi trích dẫn trong bài có một mục trong danh mục và ngược lại.</a:t>
            </a:r>
          </a:p>
          <a:p>
            <a:pPr algn="l">
              <a:spcBef>
                <a:spcPts val="585"/>
              </a:spcBef>
            </a:pPr>
          </a:p>
          <a:p>
            <a:pPr algn="l">
              <a:spcBef>
                <a:spcPts val="585"/>
              </a:spcBef>
            </a:pPr>
            <a:r>
              <a:rPr sz="1300" b="0" i="0">
                <a:solidFill>
                  <a:srgbClr val="58595B"/>
                </a:solidFill>
                <a:latin typeface="Arial"/>
              </a:rPr>
              <a:t>Bài báo ghi </a:t>
            </a:r>
            <a:r>
              <a:rPr sz="1300" b="1" i="0">
                <a:solidFill>
                  <a:srgbClr val="58595B"/>
                </a:solidFill>
                <a:latin typeface="Arial"/>
              </a:rPr>
              <a:t>tập trước, số sau:</a:t>
            </a:r>
            <a:r>
              <a:rPr sz="1300" b="0" i="0">
                <a:solidFill>
                  <a:srgbClr val="58595B"/>
                </a:solidFill>
                <a:latin typeface="Arial"/>
              </a:rPr>
              <a:t> 13(3).</a:t>
            </a:r>
          </a:p>
          <a:p>
            <a:pPr algn="l">
              <a:spcBef>
                <a:spcPts val="585"/>
              </a:spcBef>
            </a:pPr>
          </a:p>
          <a:p>
            <a:pPr algn="l">
              <a:spcBef>
                <a:spcPts val="585"/>
              </a:spcBef>
            </a:pPr>
            <a:r>
              <a:rPr sz="1300" b="0" i="0">
                <a:solidFill>
                  <a:srgbClr val="58595B"/>
                </a:solidFill>
                <a:latin typeface="Arial"/>
              </a:rPr>
              <a:t>Nhiều trường yêu cầu tách tài liệu tiếng Việt xếp trước.</a:t>
            </a:r>
          </a:p>
        </p:txBody>
      </p:sp>
      <p:sp>
        <p:nvSpPr>
          <p:cNvPr id="15" name="Rectangle 14"/>
          <p:cNvSpPr/>
          <p:nvPr/>
        </p:nvSpPr>
        <p:spPr>
          <a:xfrm>
            <a:off x="4306824"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Phụ lục</a:t>
            </a:r>
          </a:p>
        </p:txBody>
      </p:sp>
      <p:sp>
        <p:nvSpPr>
          <p:cNvPr id="18" name="TextBox 17"/>
          <p:cNvSpPr txBox="1"/>
          <p:nvPr/>
        </p:nvSpPr>
        <p:spPr>
          <a:xfrm>
            <a:off x="4306824" y="2560320"/>
            <a:ext cx="3575304" cy="3017520"/>
          </a:xfrm>
          <a:prstGeom prst="rect">
            <a:avLst/>
          </a:prstGeom>
          <a:noFill/>
        </p:spPr>
        <p:txBody>
          <a:bodyPr wrap="square" lIns="45720" rIns="45720" tIns="27432" bIns="27432" anchor="t">
            <a:spAutoFit/>
          </a:bodyPr>
          <a:lstStyle/>
          <a:p>
            <a:pPr algn="l"/>
            <a:r>
              <a:rPr sz="1300" b="0" i="0">
                <a:solidFill>
                  <a:srgbClr val="58595B"/>
                </a:solidFill>
                <a:latin typeface="Arial"/>
              </a:rPr>
              <a:t>Đánh số theo thứ tự được nhắc lần đầu trong bài.</a:t>
            </a:r>
          </a:p>
          <a:p>
            <a:pPr algn="l">
              <a:spcBef>
                <a:spcPts val="585"/>
              </a:spcBef>
            </a:pPr>
          </a:p>
          <a:p>
            <a:pPr algn="l">
              <a:spcBef>
                <a:spcPts val="585"/>
              </a:spcBef>
            </a:pPr>
            <a:r>
              <a:rPr sz="1300" b="0" i="0">
                <a:solidFill>
                  <a:srgbClr val="58595B"/>
                </a:solidFill>
                <a:latin typeface="Arial"/>
              </a:rPr>
              <a:t>Dán bảng Word, không dán ảnh chụp Excel.</a:t>
            </a:r>
          </a:p>
          <a:p>
            <a:pPr algn="l">
              <a:spcBef>
                <a:spcPts val="585"/>
              </a:spcBef>
            </a:pPr>
          </a:p>
          <a:p>
            <a:pPr algn="l">
              <a:spcBef>
                <a:spcPts val="585"/>
              </a:spcBef>
            </a:pPr>
            <a:r>
              <a:rPr sz="1300" b="1" i="0">
                <a:solidFill>
                  <a:srgbClr val="58595B"/>
                </a:solidFill>
                <a:latin typeface="Arial"/>
              </a:rPr>
              <a:t>Không có thông tin nhận diện</a:t>
            </a:r>
            <a:r>
              <a:rPr sz="1300" b="0" i="0">
                <a:solidFill>
                  <a:srgbClr val="58595B"/>
                </a:solidFill>
                <a:latin typeface="Arial"/>
              </a:rPr>
              <a:t> người tham gia: không họ tên, số điện thoại.</a:t>
            </a:r>
          </a:p>
        </p:txBody>
      </p:sp>
      <p:sp>
        <p:nvSpPr>
          <p:cNvPr id="19" name="Rectangle 18"/>
          <p:cNvSpPr/>
          <p:nvPr/>
        </p:nvSpPr>
        <p:spPr>
          <a:xfrm>
            <a:off x="8156448"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Trình bày</a:t>
            </a:r>
          </a:p>
        </p:txBody>
      </p:sp>
      <p:sp>
        <p:nvSpPr>
          <p:cNvPr id="22" name="TextBox 21"/>
          <p:cNvSpPr txBox="1"/>
          <p:nvPr/>
        </p:nvSpPr>
        <p:spPr>
          <a:xfrm>
            <a:off x="8156448" y="2560320"/>
            <a:ext cx="3575304" cy="3017520"/>
          </a:xfrm>
          <a:prstGeom prst="rect">
            <a:avLst/>
          </a:prstGeom>
          <a:noFill/>
        </p:spPr>
        <p:txBody>
          <a:bodyPr wrap="square" lIns="45720" rIns="45720" tIns="27432" bIns="27432" anchor="t">
            <a:spAutoFit/>
          </a:bodyPr>
          <a:lstStyle/>
          <a:p>
            <a:pPr algn="l"/>
            <a:r>
              <a:rPr sz="1300" b="0" i="0">
                <a:solidFill>
                  <a:srgbClr val="58595B"/>
                </a:solidFill>
                <a:latin typeface="Arial"/>
              </a:rPr>
              <a:t>Cài Style Normal và Heading 1, 2, 3 một lần; dán văn bản không kèm định dạng.</a:t>
            </a:r>
          </a:p>
          <a:p>
            <a:pPr algn="l">
              <a:spcBef>
                <a:spcPts val="585"/>
              </a:spcBef>
            </a:pPr>
          </a:p>
          <a:p>
            <a:pPr algn="l">
              <a:spcBef>
                <a:spcPts val="585"/>
              </a:spcBef>
            </a:pPr>
            <a:r>
              <a:rPr sz="1300" b="0" i="0">
                <a:solidFill>
                  <a:srgbClr val="58595B"/>
                </a:solidFill>
                <a:latin typeface="Arial"/>
              </a:rPr>
              <a:t>Tên bảng bằng Insert Caption; nhắc bảng bằng Cross-reference.</a:t>
            </a:r>
          </a:p>
          <a:p>
            <a:pPr algn="l">
              <a:spcBef>
                <a:spcPts val="585"/>
              </a:spcBef>
            </a:pPr>
          </a:p>
          <a:p>
            <a:pPr algn="l">
              <a:spcBef>
                <a:spcPts val="585"/>
              </a:spcBef>
            </a:pPr>
            <a:r>
              <a:rPr sz="1300" b="0" i="0">
                <a:solidFill>
                  <a:srgbClr val="58595B"/>
                </a:solidFill>
                <a:latin typeface="Arial"/>
              </a:rPr>
              <a:t>Ctrl + A, F9 rồi </a:t>
            </a:r>
            <a:r>
              <a:rPr sz="1300" b="1" i="0">
                <a:solidFill>
                  <a:srgbClr val="58595B"/>
                </a:solidFill>
                <a:latin typeface="Arial"/>
              </a:rPr>
              <a:t>kiểm tra trên PDF</a:t>
            </a:r>
            <a:r>
              <a:rPr sz="1300" b="0" i="0">
                <a:solidFill>
                  <a:srgbClr val="58595B"/>
                </a:solidFill>
                <a:latin typeface="Arial"/>
              </a:rPr>
              <a: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HOÀN THIỆN | TÀI LIỆU THAM KHẢO THEO APA 7</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Mỗi loại nguồn có một khuôn mẫu APA 7; danh mục và trích dẫn trong bài phải khớp hai chiều</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Ví dụ đạt: Davis, F. D. (1989). Perceived usefulness, ... MIS Quarterly, 13(3), 319-340. https://doi.org/10.2307/249008</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7, Bảng 7-1 đến 7-3; Purdue OWL; University of Auckland</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110</a:t>
            </a:r>
          </a:p>
        </p:txBody>
      </p:sp>
      <p:graphicFrame>
        <p:nvGraphicFramePr>
          <p:cNvPr id="12" name="Table 11"/>
          <p:cNvGraphicFramePr>
            <a:graphicFrameLocks noGrp="1"/>
          </p:cNvGraphicFramePr>
          <p:nvPr/>
        </p:nvGraphicFramePr>
        <p:xfrm>
          <a:off x="457200" y="1783080"/>
          <a:ext cx="11274551" cy="3483864"/>
        </p:xfrm>
        <a:graphic>
          <a:graphicData uri="http://schemas.openxmlformats.org/drawingml/2006/table">
            <a:tbl>
              <a:tblPr firstRow="1" bandRow="1">
                <a:tableStyleId>{5C22544A-7EE6-4342-B048-85BDC9FD1C3A}</a:tableStyleId>
              </a:tblPr>
              <a:tblGrid>
                <a:gridCol w="2739610"/>
                <a:gridCol w="8534941"/>
              </a:tblGrid>
              <a:tr h="411480">
                <a:tc>
                  <a:txBody>
                    <a:bodyPr wrap="square"/>
                    <a:lstStyle/>
                    <a:p>
                      <a:pPr algn="l"/>
                      <a:r>
                        <a:rPr sz="1200" b="1">
                          <a:solidFill>
                            <a:srgbClr val="FFFFFF"/>
                          </a:solidFill>
                          <a:latin typeface="Arial"/>
                        </a:rPr>
                        <a:t>Loại nguồn</a:t>
                      </a:r>
                    </a:p>
                  </a:txBody>
                  <a:tcPr marL="73152" marR="73152" marT="27432" marB="27432" anchor="ctr">
                    <a:solidFill>
                      <a:srgbClr val="262626"/>
                    </a:solidFill>
                  </a:tcPr>
                </a:tc>
                <a:tc>
                  <a:txBody>
                    <a:bodyPr wrap="square"/>
                    <a:lstStyle/>
                    <a:p>
                      <a:pPr algn="l"/>
                      <a:r>
                        <a:rPr sz="1200" b="1">
                          <a:solidFill>
                            <a:srgbClr val="FFFFFF"/>
                          </a:solidFill>
                          <a:latin typeface="Arial"/>
                        </a:rPr>
                        <a:t>Khuôn mẫu</a:t>
                      </a:r>
                    </a:p>
                  </a:txBody>
                  <a:tcPr marL="73152" marR="73152" marT="27432" marB="27432" anchor="ctr">
                    <a:solidFill>
                      <a:srgbClr val="262626"/>
                    </a:solidFill>
                  </a:tcPr>
                </a:tc>
              </a:tr>
              <a:tr h="512064">
                <a:tc>
                  <a:txBody>
                    <a:bodyPr wrap="square"/>
                    <a:lstStyle/>
                    <a:p>
                      <a:pPr algn="l"/>
                      <a:r>
                        <a:rPr sz="1200" b="0">
                          <a:solidFill>
                            <a:srgbClr val="262626"/>
                          </a:solidFill>
                          <a:latin typeface="Arial"/>
                        </a:rPr>
                        <a:t>Bài báo khoa học</a:t>
                      </a:r>
                    </a:p>
                  </a:txBody>
                  <a:tcPr marL="73152" marR="73152" marT="27432" marB="27432" anchor="ctr">
                    <a:solidFill>
                      <a:srgbClr val="FFFFFF"/>
                    </a:solidFill>
                  </a:tcPr>
                </a:tc>
                <a:tc>
                  <a:txBody>
                    <a:bodyPr wrap="square"/>
                    <a:lstStyle/>
                    <a:p>
                      <a:pPr algn="l"/>
                      <a:r>
                        <a:rPr sz="1200" b="0">
                          <a:solidFill>
                            <a:srgbClr val="262626"/>
                          </a:solidFill>
                          <a:latin typeface="Arial"/>
                        </a:rPr>
                        <a:t>Họ, Chữ đầu tên. (Năm). Tên bài. Tên tạp chí, tập(số), trang đầu-trang cuối. https://doi.org/...</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Sách</a:t>
                      </a:r>
                    </a:p>
                  </a:txBody>
                  <a:tcPr marL="73152" marR="73152" marT="27432" marB="27432" anchor="ctr">
                    <a:solidFill>
                      <a:srgbClr val="F3F3F3"/>
                    </a:solidFill>
                  </a:tcPr>
                </a:tc>
                <a:tc>
                  <a:txBody>
                    <a:bodyPr wrap="square"/>
                    <a:lstStyle/>
                    <a:p>
                      <a:pPr algn="l"/>
                      <a:r>
                        <a:rPr sz="1200" b="0">
                          <a:solidFill>
                            <a:srgbClr val="262626"/>
                          </a:solidFill>
                          <a:latin typeface="Arial"/>
                        </a:rPr>
                        <a:t>Họ, Chữ đầu tên. (Năm). Tên sách (lần xuất bản). Nhà xuất bản.</a:t>
                      </a:r>
                    </a:p>
                  </a:txBody>
                  <a:tcPr marL="73152" marR="73152" marT="27432" marB="27432" anchor="ctr">
                    <a:solidFill>
                      <a:srgbClr val="F3F3F3"/>
                    </a:solidFill>
                  </a:tcPr>
                </a:tc>
              </a:tr>
              <a:tr h="512064">
                <a:tc>
                  <a:txBody>
                    <a:bodyPr wrap="square"/>
                    <a:lstStyle/>
                    <a:p>
                      <a:pPr algn="l"/>
                      <a:r>
                        <a:rPr sz="1200" b="0">
                          <a:solidFill>
                            <a:srgbClr val="262626"/>
                          </a:solidFill>
                          <a:latin typeface="Arial"/>
                        </a:rPr>
                        <a:t>Luận văn, luận án chưa công bố</a:t>
                      </a:r>
                    </a:p>
                  </a:txBody>
                  <a:tcPr marL="73152" marR="73152" marT="27432" marB="27432" anchor="ctr">
                    <a:solidFill>
                      <a:srgbClr val="FFFFFF"/>
                    </a:solidFill>
                  </a:tcPr>
                </a:tc>
                <a:tc>
                  <a:txBody>
                    <a:bodyPr wrap="square"/>
                    <a:lstStyle/>
                    <a:p>
                      <a:pPr algn="l"/>
                      <a:r>
                        <a:rPr sz="1200" b="0">
                          <a:solidFill>
                            <a:srgbClr val="262626"/>
                          </a:solidFill>
                          <a:latin typeface="Arial"/>
                        </a:rPr>
                        <a:t>Họ tên. (Năm). Tên luận văn [Luận văn thạc sĩ chưa công bố]. Tên trường.</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Báo cáo của tổ chức</a:t>
                      </a:r>
                    </a:p>
                  </a:txBody>
                  <a:tcPr marL="73152" marR="73152" marT="27432" marB="27432" anchor="ctr">
                    <a:solidFill>
                      <a:srgbClr val="F3F3F3"/>
                    </a:solidFill>
                  </a:tcPr>
                </a:tc>
                <a:tc>
                  <a:txBody>
                    <a:bodyPr wrap="square"/>
                    <a:lstStyle/>
                    <a:p>
                      <a:pPr algn="l"/>
                      <a:r>
                        <a:rPr sz="1200" b="0">
                          <a:solidFill>
                            <a:srgbClr val="262626"/>
                          </a:solidFill>
                          <a:latin typeface="Arial"/>
                        </a:rPr>
                        <a:t>Tên tổ chức. (Năm). Tên báo cáo. URL (nếu có)</a:t>
                      </a:r>
                    </a:p>
                  </a:txBody>
                  <a:tcPr marL="73152" marR="73152" marT="27432" marB="27432" anchor="ctr">
                    <a:solidFill>
                      <a:srgbClr val="F3F3F3"/>
                    </a:solidFill>
                  </a:tcPr>
                </a:tc>
              </a:tr>
              <a:tr h="512064">
                <a:tc>
                  <a:txBody>
                    <a:bodyPr wrap="square"/>
                    <a:lstStyle/>
                    <a:p>
                      <a:pPr algn="l"/>
                      <a:r>
                        <a:rPr sz="1200" b="0">
                          <a:solidFill>
                            <a:srgbClr val="262626"/>
                          </a:solidFill>
                          <a:latin typeface="Arial"/>
                        </a:rPr>
                        <a:t>Trang web</a:t>
                      </a:r>
                    </a:p>
                  </a:txBody>
                  <a:tcPr marL="73152" marR="73152" marT="27432" marB="27432" anchor="ctr">
                    <a:solidFill>
                      <a:srgbClr val="FFFFFF"/>
                    </a:solidFill>
                  </a:tcPr>
                </a:tc>
                <a:tc>
                  <a:txBody>
                    <a:bodyPr wrap="square"/>
                    <a:lstStyle/>
                    <a:p>
                      <a:pPr algn="l"/>
                      <a:r>
                        <a:rPr sz="1200" b="0">
                          <a:solidFill>
                            <a:srgbClr val="262626"/>
                          </a:solidFill>
                          <a:latin typeface="Arial"/>
                        </a:rPr>
                        <a:t>Tác giả hoặc tổ chức. (Năm, ngày tháng). Tên trang. Tên website. URL</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Không đọc được bài gốc</a:t>
                      </a:r>
                    </a:p>
                  </a:txBody>
                  <a:tcPr marL="73152" marR="73152" marT="27432" marB="27432" anchor="ctr">
                    <a:solidFill>
                      <a:srgbClr val="F3F3F3"/>
                    </a:solidFill>
                  </a:tcPr>
                </a:tc>
                <a:tc>
                  <a:txBody>
                    <a:bodyPr wrap="square"/>
                    <a:lstStyle/>
                    <a:p>
                      <a:pPr algn="l"/>
                      <a:r>
                        <a:rPr sz="1200" b="0">
                          <a:solidFill>
                            <a:srgbClr val="262626"/>
                          </a:solidFill>
                          <a:latin typeface="Arial"/>
                        </a:rPr>
                        <a:t>Trong bài: (Davis, 1989, được trích dẫn trong [Tác giả, năm]); danh mục chỉ ghi nguồn đã đọc</a:t>
                      </a:r>
                    </a:p>
                  </a:txBody>
                  <a:tcPr marL="73152" marR="73152" marT="27432" marB="27432" anchor="ctr">
                    <a:solidFill>
                      <a:srgbClr val="F3F3F3"/>
                    </a:solidFill>
                  </a:tcPr>
                </a:tc>
              </a:tr>
            </a:tbl>
          </a:graphicData>
        </a:graphic>
      </p:graphicFrame>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HOÀN THIỆN | PHẦN ĐẦU VÀ ĐỊNH DẠNG</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Phần đầu theo mẫu của trường; định dạng cài một lần bằng Styles; mọi số liệu định dạng phải đối chiếu quy định của trường</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Lời cam đoan không phải thủ tục hình thức: bịa, sửa, giấu kết quả là vi phạm đạo đức nghiên cứu.</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8, mục A, B và C, Bảng 8-1 và 8-2; Creswell và Creswell (2018, tr. 153)</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111</a:t>
            </a:r>
          </a:p>
        </p:txBody>
      </p:sp>
      <p:graphicFrame>
        <p:nvGraphicFramePr>
          <p:cNvPr id="12" name="Table 11"/>
          <p:cNvGraphicFramePr>
            <a:graphicFrameLocks noGrp="1"/>
          </p:cNvGraphicFramePr>
          <p:nvPr/>
        </p:nvGraphicFramePr>
        <p:xfrm>
          <a:off x="457200" y="1783080"/>
          <a:ext cx="7680958" cy="2971800"/>
        </p:xfrm>
        <a:graphic>
          <a:graphicData uri="http://schemas.openxmlformats.org/drawingml/2006/table">
            <a:tbl>
              <a:tblPr firstRow="1" bandRow="1">
                <a:tableStyleId>{5C22544A-7EE6-4342-B048-85BDC9FD1C3A}</a:tableStyleId>
              </a:tblPr>
              <a:tblGrid>
                <a:gridCol w="1669773"/>
                <a:gridCol w="3172570"/>
                <a:gridCol w="2838615"/>
              </a:tblGrid>
              <a:tr h="411480">
                <a:tc>
                  <a:txBody>
                    <a:bodyPr wrap="square"/>
                    <a:lstStyle/>
                    <a:p>
                      <a:pPr algn="l"/>
                      <a:r>
                        <a:rPr sz="1200" b="1">
                          <a:solidFill>
                            <a:srgbClr val="FFFFFF"/>
                          </a:solidFill>
                          <a:latin typeface="Arial"/>
                        </a:rPr>
                        <a:t>Thông số</a:t>
                      </a:r>
                    </a:p>
                  </a:txBody>
                  <a:tcPr marL="73152" marR="73152" marT="27432" marB="27432" anchor="ctr">
                    <a:solidFill>
                      <a:srgbClr val="262626"/>
                    </a:solidFill>
                  </a:tcPr>
                </a:tc>
                <a:tc>
                  <a:txBody>
                    <a:bodyPr wrap="square"/>
                    <a:lstStyle/>
                    <a:p>
                      <a:pPr algn="l"/>
                      <a:r>
                        <a:rPr sz="1200" b="1">
                          <a:solidFill>
                            <a:srgbClr val="FFFFFF"/>
                          </a:solidFill>
                          <a:latin typeface="Arial"/>
                        </a:rPr>
                        <a:t>Giá trị thường gặp</a:t>
                      </a:r>
                    </a:p>
                  </a:txBody>
                  <a:tcPr marL="73152" marR="73152" marT="27432" marB="27432" anchor="ctr">
                    <a:solidFill>
                      <a:srgbClr val="262626"/>
                    </a:solidFill>
                  </a:tcPr>
                </a:tc>
                <a:tc>
                  <a:txBody>
                    <a:bodyPr wrap="square"/>
                    <a:lstStyle/>
                    <a:p>
                      <a:pPr algn="l"/>
                      <a:r>
                        <a:rPr sz="1200" b="1">
                          <a:solidFill>
                            <a:srgbClr val="FFFFFF"/>
                          </a:solidFill>
                          <a:latin typeface="Arial"/>
                        </a:rPr>
                        <a:t>Cách cài trong Word</a:t>
                      </a:r>
                    </a:p>
                  </a:txBody>
                  <a:tcPr marL="73152" marR="73152" marT="27432" marB="27432" anchor="ctr">
                    <a:solidFill>
                      <a:srgbClr val="262626"/>
                    </a:solidFill>
                  </a:tcPr>
                </a:tc>
              </a:tr>
              <a:tr h="512064">
                <a:tc>
                  <a:txBody>
                    <a:bodyPr wrap="square"/>
                    <a:lstStyle/>
                    <a:p>
                      <a:pPr algn="l"/>
                      <a:r>
                        <a:rPr sz="1200" b="0">
                          <a:solidFill>
                            <a:srgbClr val="262626"/>
                          </a:solidFill>
                          <a:latin typeface="Arial"/>
                        </a:rPr>
                        <a:t>Font, cỡ chữ</a:t>
                      </a:r>
                    </a:p>
                  </a:txBody>
                  <a:tcPr marL="73152" marR="73152" marT="27432" marB="27432" anchor="ctr">
                    <a:solidFill>
                      <a:srgbClr val="FFFFFF"/>
                    </a:solidFill>
                  </a:tcPr>
                </a:tc>
                <a:tc>
                  <a:txBody>
                    <a:bodyPr wrap="square"/>
                    <a:lstStyle/>
                    <a:p>
                      <a:pPr algn="l"/>
                      <a:r>
                        <a:rPr sz="1200" b="0">
                          <a:solidFill>
                            <a:srgbClr val="262626"/>
                          </a:solidFill>
                          <a:latin typeface="Arial"/>
                        </a:rPr>
                        <a:t>Times New Roman 13 (có trường dùng 12 hoặc 14)</a:t>
                      </a:r>
                    </a:p>
                  </a:txBody>
                  <a:tcPr marL="73152" marR="73152" marT="27432" marB="27432" anchor="ctr">
                    <a:solidFill>
                      <a:srgbClr val="FFFFFF"/>
                    </a:solidFill>
                  </a:tcPr>
                </a:tc>
                <a:tc>
                  <a:txBody>
                    <a:bodyPr wrap="square"/>
                    <a:lstStyle/>
                    <a:p>
                      <a:pPr algn="l"/>
                      <a:r>
                        <a:rPr sz="1200" b="0">
                          <a:solidFill>
                            <a:srgbClr val="262626"/>
                          </a:solidFill>
                          <a:latin typeface="Arial"/>
                        </a:rPr>
                        <a:t>Styles &gt; chuột phải Normal &gt; Modify</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Giãn dòng</a:t>
                      </a:r>
                    </a:p>
                  </a:txBody>
                  <a:tcPr marL="73152" marR="73152" marT="27432" marB="27432" anchor="ctr">
                    <a:solidFill>
                      <a:srgbClr val="F3F3F3"/>
                    </a:solidFill>
                  </a:tcPr>
                </a:tc>
                <a:tc>
                  <a:txBody>
                    <a:bodyPr wrap="square"/>
                    <a:lstStyle/>
                    <a:p>
                      <a:pPr algn="l"/>
                      <a:r>
                        <a:rPr sz="1200" b="0">
                          <a:solidFill>
                            <a:srgbClr val="262626"/>
                          </a:solidFill>
                          <a:latin typeface="Arial"/>
                        </a:rPr>
                        <a:t>1,5 dòng; căn đều hai bên</a:t>
                      </a:r>
                    </a:p>
                  </a:txBody>
                  <a:tcPr marL="73152" marR="73152" marT="27432" marB="27432" anchor="ctr">
                    <a:solidFill>
                      <a:srgbClr val="F3F3F3"/>
                    </a:solidFill>
                  </a:tcPr>
                </a:tc>
                <a:tc>
                  <a:txBody>
                    <a:bodyPr wrap="square"/>
                    <a:lstStyle/>
                    <a:p>
                      <a:pPr algn="l"/>
                      <a:r>
                        <a:rPr sz="1200" b="0">
                          <a:solidFill>
                            <a:srgbClr val="262626"/>
                          </a:solidFill>
                          <a:latin typeface="Arial"/>
                        </a:rPr>
                        <a:t>Modify &gt; Format &gt; Paragraph</a:t>
                      </a:r>
                    </a:p>
                  </a:txBody>
                  <a:tcPr marL="73152" marR="73152" marT="27432" marB="27432" anchor="ctr">
                    <a:solidFill>
                      <a:srgbClr val="F3F3F3"/>
                    </a:solidFill>
                  </a:tcPr>
                </a:tc>
              </a:tr>
              <a:tr h="512064">
                <a:tc>
                  <a:txBody>
                    <a:bodyPr wrap="square"/>
                    <a:lstStyle/>
                    <a:p>
                      <a:pPr algn="l"/>
                      <a:r>
                        <a:rPr sz="1200" b="0">
                          <a:solidFill>
                            <a:srgbClr val="262626"/>
                          </a:solidFill>
                          <a:latin typeface="Arial"/>
                        </a:rPr>
                        <a:t>Lề trang</a:t>
                      </a:r>
                    </a:p>
                  </a:txBody>
                  <a:tcPr marL="73152" marR="73152" marT="27432" marB="27432" anchor="ctr">
                    <a:solidFill>
                      <a:srgbClr val="FFFFFF"/>
                    </a:solidFill>
                  </a:tcPr>
                </a:tc>
                <a:tc>
                  <a:txBody>
                    <a:bodyPr wrap="square"/>
                    <a:lstStyle/>
                    <a:p>
                      <a:pPr algn="l"/>
                      <a:r>
                        <a:rPr sz="1200" b="0">
                          <a:solidFill>
                            <a:srgbClr val="262626"/>
                          </a:solidFill>
                          <a:latin typeface="Arial"/>
                        </a:rPr>
                        <a:t>Trái 3 cm; phải, trên, dưới 2 cm</a:t>
                      </a:r>
                    </a:p>
                  </a:txBody>
                  <a:tcPr marL="73152" marR="73152" marT="27432" marB="27432" anchor="ctr">
                    <a:solidFill>
                      <a:srgbClr val="FFFFFF"/>
                    </a:solidFill>
                  </a:tcPr>
                </a:tc>
                <a:tc>
                  <a:txBody>
                    <a:bodyPr wrap="square"/>
                    <a:lstStyle/>
                    <a:p>
                      <a:pPr algn="l"/>
                      <a:r>
                        <a:rPr sz="1200" b="0">
                          <a:solidFill>
                            <a:srgbClr val="262626"/>
                          </a:solidFill>
                          <a:latin typeface="Arial"/>
                        </a:rPr>
                        <a:t>Layout &gt; Margins &gt; Custom Margins</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Tên chương, mục</a:t>
                      </a:r>
                    </a:p>
                  </a:txBody>
                  <a:tcPr marL="73152" marR="73152" marT="27432" marB="27432" anchor="ctr">
                    <a:solidFill>
                      <a:srgbClr val="F3F3F3"/>
                    </a:solidFill>
                  </a:tcPr>
                </a:tc>
                <a:tc>
                  <a:txBody>
                    <a:bodyPr wrap="square"/>
                    <a:lstStyle/>
                    <a:p>
                      <a:pPr algn="l"/>
                      <a:r>
                        <a:rPr sz="1200" b="0">
                          <a:solidFill>
                            <a:srgbClr val="262626"/>
                          </a:solidFill>
                          <a:latin typeface="Arial"/>
                        </a:rPr>
                        <a:t>In đậm, lớn hơn đoạn văn</a:t>
                      </a:r>
                    </a:p>
                  </a:txBody>
                  <a:tcPr marL="73152" marR="73152" marT="27432" marB="27432" anchor="ctr">
                    <a:solidFill>
                      <a:srgbClr val="F3F3F3"/>
                    </a:solidFill>
                  </a:tcPr>
                </a:tc>
                <a:tc>
                  <a:txBody>
                    <a:bodyPr wrap="square"/>
                    <a:lstStyle/>
                    <a:p>
                      <a:pPr algn="l"/>
                      <a:r>
                        <a:rPr sz="1200" b="0">
                          <a:solidFill>
                            <a:srgbClr val="262626"/>
                          </a:solidFill>
                          <a:latin typeface="Arial"/>
                        </a:rPr>
                        <a:t>Heading 1, 2, 3 để mục lục tự nhận</a:t>
                      </a:r>
                    </a:p>
                  </a:txBody>
                  <a:tcPr marL="73152" marR="73152" marT="27432" marB="27432" anchor="ctr">
                    <a:solidFill>
                      <a:srgbClr val="F3F3F3"/>
                    </a:solidFill>
                  </a:tcPr>
                </a:tc>
              </a:tr>
              <a:tr h="512064">
                <a:tc>
                  <a:txBody>
                    <a:bodyPr wrap="square"/>
                    <a:lstStyle/>
                    <a:p>
                      <a:pPr algn="l"/>
                      <a:r>
                        <a:rPr sz="1200" b="0">
                          <a:solidFill>
                            <a:srgbClr val="262626"/>
                          </a:solidFill>
                          <a:latin typeface="Arial"/>
                        </a:rPr>
                        <a:t>Số trang</a:t>
                      </a:r>
                    </a:p>
                  </a:txBody>
                  <a:tcPr marL="73152" marR="73152" marT="27432" marB="27432" anchor="ctr">
                    <a:solidFill>
                      <a:srgbClr val="FFFFFF"/>
                    </a:solidFill>
                  </a:tcPr>
                </a:tc>
                <a:tc>
                  <a:txBody>
                    <a:bodyPr wrap="square"/>
                    <a:lstStyle/>
                    <a:p>
                      <a:pPr algn="l"/>
                      <a:r>
                        <a:rPr sz="1200" b="0">
                          <a:solidFill>
                            <a:srgbClr val="262626"/>
                          </a:solidFill>
                          <a:latin typeface="Arial"/>
                        </a:rPr>
                        <a:t>Giữa hoặc góc phải cuối trang</a:t>
                      </a:r>
                    </a:p>
                  </a:txBody>
                  <a:tcPr marL="73152" marR="73152" marT="27432" marB="27432" anchor="ctr">
                    <a:solidFill>
                      <a:srgbClr val="FFFFFF"/>
                    </a:solidFill>
                  </a:tcPr>
                </a:tc>
                <a:tc>
                  <a:txBody>
                    <a:bodyPr wrap="square"/>
                    <a:lstStyle/>
                    <a:p>
                      <a:pPr algn="l"/>
                      <a:r>
                        <a:rPr sz="1200" b="0">
                          <a:solidFill>
                            <a:srgbClr val="262626"/>
                          </a:solidFill>
                          <a:latin typeface="Arial"/>
                        </a:rPr>
                        <a:t>Insert &gt; Page Number; tách phần đầu bằng Next Page</a:t>
                      </a:r>
                    </a:p>
                  </a:txBody>
                  <a:tcPr marL="73152" marR="73152" marT="27432" marB="27432" anchor="ctr">
                    <a:solidFill>
                      <a:srgbClr val="FFFFFF"/>
                    </a:solidFill>
                  </a:tcPr>
                </a:tc>
              </a:tr>
            </a:tbl>
          </a:graphicData>
        </a:graphic>
      </p:graphicFrame>
      <p:sp>
        <p:nvSpPr>
          <p:cNvPr id="13" name="TextBox 12"/>
          <p:cNvSpPr txBox="1"/>
          <p:nvPr/>
        </p:nvSpPr>
        <p:spPr>
          <a:xfrm>
            <a:off x="8412480" y="1783080"/>
            <a:ext cx="3319271" cy="274320"/>
          </a:xfrm>
          <a:prstGeom prst="rect">
            <a:avLst/>
          </a:prstGeom>
          <a:noFill/>
        </p:spPr>
        <p:txBody>
          <a:bodyPr wrap="square" lIns="45720" rIns="45720" tIns="27432" bIns="27432" anchor="t">
            <a:spAutoFit/>
          </a:bodyPr>
          <a:lstStyle/>
          <a:p>
            <a:pPr algn="l"/>
            <a:r>
              <a:rPr sz="1000" b="1" i="0">
                <a:solidFill>
                  <a:srgbClr val="CC0000"/>
                </a:solidFill>
                <a:latin typeface="Arial"/>
              </a:rPr>
              <a:t>PHẦN ĐẦU (BẢNG 52)</a:t>
            </a:r>
          </a:p>
        </p:txBody>
      </p:sp>
      <p:cxnSp>
        <p:nvCxnSpPr>
          <p:cNvPr id="14" name="Connector 13"/>
          <p:cNvCxnSpPr/>
          <p:nvPr/>
        </p:nvCxnSpPr>
        <p:spPr>
          <a:xfrm>
            <a:off x="8412480" y="2103120"/>
            <a:ext cx="331927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412480" y="2167128"/>
            <a:ext cx="3319271" cy="3383280"/>
          </a:xfrm>
          <a:prstGeom prst="rect">
            <a:avLst/>
          </a:prstGeom>
          <a:noFill/>
        </p:spPr>
        <p:txBody>
          <a:bodyPr wrap="square" lIns="45720" rIns="45720" tIns="27432" bIns="27432" anchor="t">
            <a:spAutoFit/>
          </a:bodyPr>
          <a:lstStyle/>
          <a:p>
            <a:pPr algn="l"/>
            <a:r>
              <a:rPr sz="1250" b="1" i="0">
                <a:solidFill>
                  <a:srgbClr val="58595B"/>
                </a:solidFill>
                <a:latin typeface="Arial"/>
              </a:rPr>
              <a:t>Lời cam đoan</a:t>
            </a:r>
            <a:r>
              <a:rPr sz="1250" b="0" i="0">
                <a:solidFill>
                  <a:srgbClr val="58595B"/>
                </a:solidFill>
                <a:latin typeface="Arial"/>
              </a:rPr>
              <a:t> nêu đủ ba cam kết: tự thực hiện; số liệu trung thực; trích dẫn đủ nguồn. Có chữ ký.</a:t>
            </a:r>
          </a:p>
          <a:p>
            <a:pPr algn="l">
              <a:spcBef>
                <a:spcPts val="562"/>
              </a:spcBef>
            </a:pPr>
          </a:p>
          <a:p>
            <a:pPr algn="l">
              <a:spcBef>
                <a:spcPts val="562"/>
              </a:spcBef>
            </a:pPr>
            <a:r>
              <a:rPr sz="1250" b="1" i="0">
                <a:solidFill>
                  <a:srgbClr val="58595B"/>
                </a:solidFill>
                <a:latin typeface="Arial"/>
              </a:rPr>
              <a:t>Lời cảm ơn</a:t>
            </a:r>
            <a:r>
              <a:rPr sz="1250" b="0" i="0">
                <a:solidFill>
                  <a:srgbClr val="58595B"/>
                </a:solidFill>
                <a:latin typeface="Arial"/>
              </a:rPr>
              <a:t> khoảng nửa trang.</a:t>
            </a:r>
          </a:p>
          <a:p>
            <a:pPr algn="l">
              <a:spcBef>
                <a:spcPts val="562"/>
              </a:spcBef>
            </a:pPr>
          </a:p>
          <a:p>
            <a:pPr algn="l">
              <a:spcBef>
                <a:spcPts val="562"/>
              </a:spcBef>
            </a:pPr>
            <a:r>
              <a:rPr sz="1250" b="1" i="0">
                <a:solidFill>
                  <a:srgbClr val="58595B"/>
                </a:solidFill>
                <a:latin typeface="Arial"/>
              </a:rPr>
              <a:t>Mục lục, danh mục bảng, hình</a:t>
            </a:r>
            <a:r>
              <a:rPr sz="1250" b="0" i="0">
                <a:solidFill>
                  <a:srgbClr val="58595B"/>
                </a:solidFill>
                <a:latin typeface="Arial"/>
              </a:rPr>
              <a:t> tạo tự động; cập nhật lần cuối trước khi xuất PDF.</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KIỂM TRA TRƯỚC KHI NỘP</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Tỷ lệ trùng lặp là con số cần đọc và giải thích; nó không tự chứng minh có hay không có đạo văn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Câu "15%, dưới ngưỡng 20% nên khóa luận không đạo văn" sai: một đoạn ngắn chép không ghi nguồn vẫn là vi phạm.</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9, Bảng 9-1 đến 9-4; Turnitin (n.d.); Creswell và Creswell (2018, tr. 153)</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112</a:t>
            </a:r>
          </a:p>
        </p:txBody>
      </p:sp>
      <p:sp>
        <p:nvSpPr>
          <p:cNvPr id="11" name="Rectangle 10"/>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Kiểm tra theo cặp điểm nối</a:t>
            </a:r>
          </a:p>
        </p:txBody>
      </p:sp>
      <p:sp>
        <p:nvSpPr>
          <p:cNvPr id="14" name="TextBox 13"/>
          <p:cNvSpPr txBox="1"/>
          <p:nvPr/>
        </p:nvSpPr>
        <p:spPr>
          <a:xfrm>
            <a:off x="457200" y="2560320"/>
            <a:ext cx="3575304" cy="3017520"/>
          </a:xfrm>
          <a:prstGeom prst="rect">
            <a:avLst/>
          </a:prstGeom>
          <a:noFill/>
        </p:spPr>
        <p:txBody>
          <a:bodyPr wrap="square" lIns="45720" rIns="45720" tIns="27432" bIns="27432" anchor="t">
            <a:spAutoFit/>
          </a:bodyPr>
          <a:lstStyle/>
          <a:p>
            <a:pPr algn="l"/>
            <a:r>
              <a:rPr sz="1250" b="0" i="0">
                <a:solidFill>
                  <a:srgbClr val="58595B"/>
                </a:solidFill>
                <a:latin typeface="Arial"/>
              </a:rPr>
              <a:t>Đọc lướt dễ bỏ sót vì người viết quen văn bản của mình.</a:t>
            </a:r>
          </a:p>
          <a:p>
            <a:pPr algn="l">
              <a:spcBef>
                <a:spcPts val="562"/>
              </a:spcBef>
            </a:pPr>
          </a:p>
          <a:p>
            <a:pPr algn="l">
              <a:spcBef>
                <a:spcPts val="562"/>
              </a:spcBef>
            </a:pPr>
            <a:r>
              <a:rPr sz="1250" b="0" i="0">
                <a:solidFill>
                  <a:srgbClr val="58595B"/>
                </a:solidFill>
                <a:latin typeface="Arial"/>
              </a:rPr>
              <a:t>Đối chiếu sáu cặp điểm nối; dò từng con số với file Excel bằng Find.</a:t>
            </a:r>
          </a:p>
          <a:p>
            <a:pPr algn="l">
              <a:spcBef>
                <a:spcPts val="562"/>
              </a:spcBef>
            </a:pPr>
          </a:p>
          <a:p>
            <a:pPr algn="l">
              <a:spcBef>
                <a:spcPts val="562"/>
              </a:spcBef>
            </a:pPr>
            <a:r>
              <a:rPr sz="1250" b="0" i="0">
                <a:solidFill>
                  <a:srgbClr val="58595B"/>
                </a:solidFill>
                <a:latin typeface="Arial"/>
              </a:rPr>
              <a:t>Đặt hạn nộp cho bản thân sớm hơn hạn thật ít nhất ba ngày.</a:t>
            </a:r>
          </a:p>
        </p:txBody>
      </p:sp>
      <p:sp>
        <p:nvSpPr>
          <p:cNvPr id="15" name="Rectangle 14"/>
          <p:cNvSpPr/>
          <p:nvPr/>
        </p:nvSpPr>
        <p:spPr>
          <a:xfrm>
            <a:off x="4306824" y="1783080"/>
            <a:ext cx="3575304"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Kiểm tra trùng lặp</a:t>
            </a:r>
          </a:p>
        </p:txBody>
      </p:sp>
      <p:sp>
        <p:nvSpPr>
          <p:cNvPr id="18" name="TextBox 17"/>
          <p:cNvSpPr txBox="1"/>
          <p:nvPr/>
        </p:nvSpPr>
        <p:spPr>
          <a:xfrm>
            <a:off x="4306824" y="2560320"/>
            <a:ext cx="3575304" cy="3017520"/>
          </a:xfrm>
          <a:prstGeom prst="rect">
            <a:avLst/>
          </a:prstGeom>
          <a:noFill/>
        </p:spPr>
        <p:txBody>
          <a:bodyPr wrap="square" lIns="45720" rIns="45720" tIns="27432" bIns="27432" anchor="t">
            <a:spAutoFit/>
          </a:bodyPr>
          <a:lstStyle/>
          <a:p>
            <a:pPr algn="l"/>
            <a:r>
              <a:rPr sz="1250" b="0" i="0">
                <a:solidFill>
                  <a:srgbClr val="58595B"/>
                </a:solidFill>
                <a:latin typeface="Arial"/>
              </a:rPr>
              <a:t>Turnitin nêu rõ phần mềm không kiểm tra đạo văn; mỗi trường tự quy định ngưỡng.</a:t>
            </a:r>
          </a:p>
          <a:p>
            <a:pPr algn="l">
              <a:spcBef>
                <a:spcPts val="562"/>
              </a:spcBef>
            </a:pPr>
          </a:p>
          <a:p>
            <a:pPr algn="l">
              <a:spcBef>
                <a:spcPts val="562"/>
              </a:spcBef>
            </a:pPr>
            <a:r>
              <a:rPr sz="1250" b="0" i="0">
                <a:solidFill>
                  <a:srgbClr val="58595B"/>
                </a:solidFill>
                <a:latin typeface="Arial"/>
              </a:rPr>
              <a:t>Đọc từng đoạn được đánh dấu; đoạn thiếu nguồn thì viết lại và giữ trích dẫn.</a:t>
            </a:r>
          </a:p>
          <a:p>
            <a:pPr algn="l">
              <a:spcBef>
                <a:spcPts val="562"/>
              </a:spcBef>
            </a:pPr>
          </a:p>
          <a:p>
            <a:pPr algn="l">
              <a:spcBef>
                <a:spcPts val="562"/>
              </a:spcBef>
            </a:pPr>
            <a:r>
              <a:rPr sz="1250" b="1" i="0">
                <a:solidFill>
                  <a:srgbClr val="58595B"/>
                </a:solidFill>
                <a:latin typeface="Arial"/>
              </a:rPr>
              <a:t>Không dùng công cụ viết lại câu tự động</a:t>
            </a:r>
            <a:r>
              <a:rPr sz="1250" b="0" i="0">
                <a:solidFill>
                  <a:srgbClr val="58595B"/>
                </a:solidFill>
                <a:latin typeface="Arial"/>
              </a:rPr>
              <a:t> hay thay chữ bằng ký tự lạ.</a:t>
            </a:r>
          </a:p>
        </p:txBody>
      </p:sp>
      <p:sp>
        <p:nvSpPr>
          <p:cNvPr id="19" name="Rectangle 18"/>
          <p:cNvSpPr/>
          <p:nvPr/>
        </p:nvSpPr>
        <p:spPr>
          <a:xfrm>
            <a:off x="8156448"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Lỗi nghiêm trọng</a:t>
            </a:r>
          </a:p>
        </p:txBody>
      </p:sp>
      <p:sp>
        <p:nvSpPr>
          <p:cNvPr id="22" name="TextBox 21"/>
          <p:cNvSpPr txBox="1"/>
          <p:nvPr/>
        </p:nvSpPr>
        <p:spPr>
          <a:xfrm>
            <a:off x="8156448" y="2560320"/>
            <a:ext cx="3575304" cy="3017520"/>
          </a:xfrm>
          <a:prstGeom prst="rect">
            <a:avLst/>
          </a:prstGeom>
          <a:noFill/>
        </p:spPr>
        <p:txBody>
          <a:bodyPr wrap="square" lIns="45720" rIns="45720" tIns="27432" bIns="27432" anchor="t">
            <a:spAutoFit/>
          </a:bodyPr>
          <a:lstStyle/>
          <a:p>
            <a:pPr algn="l"/>
            <a:r>
              <a:rPr sz="1250" b="0" i="0">
                <a:solidFill>
                  <a:srgbClr val="58595B"/>
                </a:solidFill>
                <a:latin typeface="Arial"/>
              </a:rPr>
              <a:t>Bịa hoặc sửa dữ liệu, giấu kết quả không ủng hộ: vi phạm đạo đức nghiên cứu, khác bản chất các lỗi khác.</a:t>
            </a:r>
          </a:p>
          <a:p>
            <a:pPr algn="l">
              <a:spcBef>
                <a:spcPts val="562"/>
              </a:spcBef>
            </a:pPr>
          </a:p>
          <a:p>
            <a:pPr algn="l">
              <a:spcBef>
                <a:spcPts val="562"/>
              </a:spcBef>
            </a:pPr>
            <a:r>
              <a:rPr sz="1250" b="0" i="0">
                <a:solidFill>
                  <a:srgbClr val="58595B"/>
                </a:solidFill>
                <a:latin typeface="Arial"/>
              </a:rPr>
              <a:t>Sửa góp ý theo thứ tự: nội dung, rồi kỹ thuật, rồi hình thức.</a:t>
            </a:r>
          </a:p>
          <a:p>
            <a:pPr algn="l">
              <a:spcBef>
                <a:spcPts val="562"/>
              </a:spcBef>
            </a:pPr>
          </a:p>
          <a:p>
            <a:pPr algn="l">
              <a:spcBef>
                <a:spcPts val="562"/>
              </a:spcBef>
            </a:pPr>
            <a:r>
              <a:rPr sz="1250" b="0" i="0">
                <a:solidFill>
                  <a:srgbClr val="58595B"/>
                </a:solidFill>
                <a:latin typeface="Arial"/>
              </a:rPr>
              <a:t>Không đồng ý với góp ý thì ghi lý do, không bỏ qua.</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KIỂM TRA TRƯỚC KHI NỘP | SÁU CẶP ĐIỂM NỐI</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Kiểm tra theo sáu cặp điểm nối, vì lỗi mâu thuẫn nằm ở chỗ nối giữa các chương chứ không nằm trong từng chương</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In Bảng 9-1, kiểm tra từng cặp và đánh dấu; với cặp con số, mở file Excel và dò từng số bằng chức năng Find.</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9, mục A và Bảng 9-1</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113</a:t>
            </a:r>
          </a:p>
        </p:txBody>
      </p:sp>
      <p:graphicFrame>
        <p:nvGraphicFramePr>
          <p:cNvPr id="11" name="Table 10"/>
          <p:cNvGraphicFramePr>
            <a:graphicFrameLocks noGrp="1"/>
          </p:cNvGraphicFramePr>
          <p:nvPr/>
        </p:nvGraphicFramePr>
        <p:xfrm>
          <a:off x="457200" y="1783080"/>
          <a:ext cx="11274551" cy="3483864"/>
        </p:xfrm>
        <a:graphic>
          <a:graphicData uri="http://schemas.openxmlformats.org/drawingml/2006/table">
            <a:tbl>
              <a:tblPr firstRow="1" bandRow="1">
                <a:tableStyleId>{5C22544A-7EE6-4342-B048-85BDC9FD1C3A}</a:tableStyleId>
              </a:tblPr>
              <a:tblGrid>
                <a:gridCol w="5689960"/>
                <a:gridCol w="5584591"/>
              </a:tblGrid>
              <a:tr h="411480">
                <a:tc>
                  <a:txBody>
                    <a:bodyPr wrap="square"/>
                    <a:lstStyle/>
                    <a:p>
                      <a:pPr algn="l"/>
                      <a:r>
                        <a:rPr sz="1200" b="1">
                          <a:solidFill>
                            <a:srgbClr val="FFFFFF"/>
                          </a:solidFill>
                          <a:latin typeface="Arial"/>
                        </a:rPr>
                        <a:t>Điểm nối</a:t>
                      </a:r>
                    </a:p>
                  </a:txBody>
                  <a:tcPr marL="73152" marR="73152" marT="27432" marB="27432" anchor="ctr">
                    <a:solidFill>
                      <a:srgbClr val="262626"/>
                    </a:solidFill>
                  </a:tcPr>
                </a:tc>
                <a:tc>
                  <a:txBody>
                    <a:bodyPr wrap="square"/>
                    <a:lstStyle/>
                    <a:p>
                      <a:pPr algn="l"/>
                      <a:r>
                        <a:rPr sz="1200" b="1">
                          <a:solidFill>
                            <a:srgbClr val="FFFFFF"/>
                          </a:solidFill>
                          <a:latin typeface="Arial"/>
                        </a:rPr>
                        <a:t>Câu hỏi kiểm tra</a:t>
                      </a:r>
                    </a:p>
                  </a:txBody>
                  <a:tcPr marL="73152" marR="73152" marT="27432" marB="27432" anchor="ctr">
                    <a:solidFill>
                      <a:srgbClr val="262626"/>
                    </a:solidFill>
                  </a:tcPr>
                </a:tc>
              </a:tr>
              <a:tr h="512064">
                <a:tc>
                  <a:txBody>
                    <a:bodyPr wrap="square"/>
                    <a:lstStyle/>
                    <a:p>
                      <a:pPr algn="l"/>
                      <a:r>
                        <a:rPr sz="1200" b="0">
                          <a:solidFill>
                            <a:srgbClr val="262626"/>
                          </a:solidFill>
                          <a:latin typeface="Arial"/>
                        </a:rPr>
                        <a:t>Câu hỏi nghiên cứu (Chương 1) và mục 5.1 (Chương 5)</a:t>
                      </a:r>
                    </a:p>
                  </a:txBody>
                  <a:tcPr marL="73152" marR="73152" marT="27432" marB="27432" anchor="ctr">
                    <a:solidFill>
                      <a:srgbClr val="FFFFFF"/>
                    </a:solidFill>
                  </a:tcPr>
                </a:tc>
                <a:tc>
                  <a:txBody>
                    <a:bodyPr wrap="square"/>
                    <a:lstStyle/>
                    <a:p>
                      <a:pPr algn="l"/>
                      <a:r>
                        <a:rPr sz="1200" b="0">
                          <a:solidFill>
                            <a:srgbClr val="262626"/>
                          </a:solidFill>
                          <a:latin typeface="Arial"/>
                        </a:rPr>
                        <a:t>Mỗi câu hỏi có đúng một câu trả lời không?</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Giả thuyết (Chương 2) và bảng tổng hợp giả thuyết (Chương 4)</a:t>
                      </a:r>
                    </a:p>
                  </a:txBody>
                  <a:tcPr marL="73152" marR="73152" marT="27432" marB="27432" anchor="ctr">
                    <a:solidFill>
                      <a:srgbClr val="F3F3F3"/>
                    </a:solidFill>
                  </a:tcPr>
                </a:tc>
                <a:tc>
                  <a:txBody>
                    <a:bodyPr wrap="square"/>
                    <a:lstStyle/>
                    <a:p>
                      <a:pPr algn="l"/>
                      <a:r>
                        <a:rPr sz="1200" b="0">
                          <a:solidFill>
                            <a:srgbClr val="262626"/>
                          </a:solidFill>
                          <a:latin typeface="Arial"/>
                        </a:rPr>
                        <a:t>Nội dung giả thuyết có giống từng chữ không?</a:t>
                      </a:r>
                    </a:p>
                  </a:txBody>
                  <a:tcPr marL="73152" marR="73152" marT="27432" marB="27432" anchor="ctr">
                    <a:solidFill>
                      <a:srgbClr val="F3F3F3"/>
                    </a:solidFill>
                  </a:tcPr>
                </a:tc>
              </a:tr>
              <a:tr h="512064">
                <a:tc>
                  <a:txBody>
                    <a:bodyPr wrap="square"/>
                    <a:lstStyle/>
                    <a:p>
                      <a:pPr algn="l"/>
                      <a:r>
                        <a:rPr sz="1200" b="0">
                          <a:solidFill>
                            <a:srgbClr val="262626"/>
                          </a:solidFill>
                          <a:latin typeface="Arial"/>
                        </a:rPr>
                        <a:t>Kế hoạch phân tích (Chương 3) và kết quả (Chương 4)</a:t>
                      </a:r>
                    </a:p>
                  </a:txBody>
                  <a:tcPr marL="73152" marR="73152" marT="27432" marB="27432" anchor="ctr">
                    <a:solidFill>
                      <a:srgbClr val="FFFFFF"/>
                    </a:solidFill>
                  </a:tcPr>
                </a:tc>
                <a:tc>
                  <a:txBody>
                    <a:bodyPr wrap="square"/>
                    <a:lstStyle/>
                    <a:p>
                      <a:pPr algn="l"/>
                      <a:r>
                        <a:rPr sz="1200" b="0">
                          <a:solidFill>
                            <a:srgbClr val="262626"/>
                          </a:solidFill>
                          <a:latin typeface="Arial"/>
                        </a:rPr>
                        <a:t>Mọi bước đã nêu ở Chương 3 đều có kết quả ở Chương 4 không?</a:t>
                      </a:r>
                    </a:p>
                  </a:txBody>
                  <a:tcPr marL="73152" marR="73152" marT="27432" marB="27432" anchor="ctr">
                    <a:solidFill>
                      <a:srgbClr val="FFFFFF"/>
                    </a:solidFill>
                  </a:tcPr>
                </a:tc>
              </a:tr>
              <a:tr h="512064">
                <a:tc>
                  <a:txBody>
                    <a:bodyPr wrap="square"/>
                    <a:lstStyle/>
                    <a:p>
                      <a:pPr algn="l"/>
                      <a:r>
                        <a:rPr sz="1200" b="0">
                          <a:solidFill>
                            <a:srgbClr val="262626"/>
                          </a:solidFill>
                          <a:latin typeface="Arial"/>
                        </a:rPr>
                        <a:t>Con số trong bài và file Excel</a:t>
                      </a:r>
                    </a:p>
                  </a:txBody>
                  <a:tcPr marL="73152" marR="73152" marT="27432" marB="27432" anchor="ctr">
                    <a:solidFill>
                      <a:srgbClr val="FBEAEA"/>
                    </a:solidFill>
                  </a:tcPr>
                </a:tc>
                <a:tc>
                  <a:txBody>
                    <a:bodyPr wrap="square"/>
                    <a:lstStyle/>
                    <a:p>
                      <a:pPr algn="l"/>
                      <a:r>
                        <a:rPr sz="1200" b="0">
                          <a:solidFill>
                            <a:srgbClr val="262626"/>
                          </a:solidFill>
                          <a:latin typeface="Arial"/>
                        </a:rPr>
                        <a:t>Mọi B, β, P-value, R², phần trăm có khớp không?</a:t>
                      </a:r>
                    </a:p>
                  </a:txBody>
                  <a:tcPr marL="73152" marR="73152" marT="27432" marB="27432" anchor="ctr">
                    <a:solidFill>
                      <a:srgbClr val="FBEAEA"/>
                    </a:solidFill>
                  </a:tcPr>
                </a:tc>
              </a:tr>
              <a:tr h="512064">
                <a:tc>
                  <a:txBody>
                    <a:bodyPr wrap="square"/>
                    <a:lstStyle/>
                    <a:p>
                      <a:pPr algn="l"/>
                      <a:r>
                        <a:rPr sz="1200" b="0">
                          <a:solidFill>
                            <a:srgbClr val="262626"/>
                          </a:solidFill>
                          <a:latin typeface="Arial"/>
                        </a:rPr>
                        <a:t>Tóm tắt, kết luận chung và Chương 4</a:t>
                      </a:r>
                    </a:p>
                  </a:txBody>
                  <a:tcPr marL="73152" marR="73152" marT="27432" marB="27432" anchor="ctr">
                    <a:solidFill>
                      <a:srgbClr val="FBEAEA"/>
                    </a:solidFill>
                  </a:tcPr>
                </a:tc>
                <a:tc>
                  <a:txBody>
                    <a:bodyPr wrap="square"/>
                    <a:lstStyle/>
                    <a:p>
                      <a:pPr algn="l"/>
                      <a:r>
                        <a:rPr sz="1200" b="0">
                          <a:solidFill>
                            <a:srgbClr val="262626"/>
                          </a:solidFill>
                          <a:latin typeface="Arial"/>
                        </a:rPr>
                        <a:t>Các con số chủ chốt có giống nhau không?</a:t>
                      </a:r>
                    </a:p>
                  </a:txBody>
                  <a:tcPr marL="73152" marR="73152" marT="27432" marB="27432" anchor="ctr">
                    <a:solidFill>
                      <a:srgbClr val="FBEAEA"/>
                    </a:solidFill>
                  </a:tcPr>
                </a:tc>
              </a:tr>
              <a:tr h="512064">
                <a:tc>
                  <a:txBody>
                    <a:bodyPr wrap="square"/>
                    <a:lstStyle/>
                    <a:p>
                      <a:pPr algn="l"/>
                      <a:r>
                        <a:rPr sz="1200" b="0">
                          <a:solidFill>
                            <a:srgbClr val="262626"/>
                          </a:solidFill>
                          <a:latin typeface="Arial"/>
                        </a:rPr>
                        <a:t>Trích dẫn trong bài và danh mục tài liệu tham khảo</a:t>
                      </a:r>
                    </a:p>
                  </a:txBody>
                  <a:tcPr marL="73152" marR="73152" marT="27432" marB="27432" anchor="ctr">
                    <a:solidFill>
                      <a:srgbClr val="F3F3F3"/>
                    </a:solidFill>
                  </a:tcPr>
                </a:tc>
                <a:tc>
                  <a:txBody>
                    <a:bodyPr wrap="square"/>
                    <a:lstStyle/>
                    <a:p>
                      <a:pPr algn="l"/>
                      <a:r>
                        <a:rPr sz="1200" b="0">
                          <a:solidFill>
                            <a:srgbClr val="262626"/>
                          </a:solidFill>
                          <a:latin typeface="Arial"/>
                        </a:rPr>
                        <a:t>Hai chiều có khớp không?</a:t>
                      </a:r>
                    </a:p>
                  </a:txBody>
                  <a:tcPr marL="73152" marR="73152" marT="27432" marB="27432" anchor="ctr">
                    <a:solidFill>
                      <a:srgbClr val="F3F3F3"/>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KIỂM TRA TRƯỚC KHI NỘP | LỖI NGHIÊM TRỌNG</a:t>
            </a:r>
          </a:p>
        </p:txBody>
      </p:sp>
      <p:sp>
        <p:nvSpPr>
          <p:cNvPr id="3" name="Rounded Rectangle 2"/>
          <p:cNvSpPr/>
          <p:nvPr/>
        </p:nvSpPr>
        <p:spPr>
          <a:xfrm>
            <a:off x="11050524" y="219456"/>
            <a:ext cx="681228"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TRA CỨU</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Các lỗi nghiêm trọng có thể làm khóa luận không đạt dù phần khác làm tốt; hai lỗi đầu là vi phạm đạo đức</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Một giả thuyết không được ủng hộ không phải là thất bại; sửa dữ liệu để nó được ủng hộ mới là thất bại.</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9, mục D và E, Bảng 9-2 đến 9-4</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114</a:t>
            </a:r>
          </a:p>
        </p:txBody>
      </p:sp>
      <p:graphicFrame>
        <p:nvGraphicFramePr>
          <p:cNvPr id="12" name="Table 11"/>
          <p:cNvGraphicFramePr>
            <a:graphicFrameLocks noGrp="1"/>
          </p:cNvGraphicFramePr>
          <p:nvPr/>
        </p:nvGraphicFramePr>
        <p:xfrm>
          <a:off x="457200" y="1783080"/>
          <a:ext cx="11274551" cy="3611880"/>
        </p:xfrm>
        <a:graphic>
          <a:graphicData uri="http://schemas.openxmlformats.org/drawingml/2006/table">
            <a:tbl>
              <a:tblPr firstRow="1" bandRow="1">
                <a:tableStyleId>{5C22544A-7EE6-4342-B048-85BDC9FD1C3A}</a:tableStyleId>
              </a:tblPr>
              <a:tblGrid>
                <a:gridCol w="6111439"/>
                <a:gridCol w="5163112"/>
              </a:tblGrid>
              <a:tr h="411480">
                <a:tc>
                  <a:txBody>
                    <a:bodyPr wrap="square"/>
                    <a:lstStyle/>
                    <a:p>
                      <a:pPr algn="l"/>
                      <a:r>
                        <a:rPr sz="1200" b="1">
                          <a:solidFill>
                            <a:srgbClr val="FFFFFF"/>
                          </a:solidFill>
                          <a:latin typeface="Arial"/>
                        </a:rPr>
                        <a:t>Lỗi nghiêm trọng (Bảng 9-2 và 9-3)</a:t>
                      </a:r>
                    </a:p>
                  </a:txBody>
                  <a:tcPr marL="73152" marR="73152" marT="27432" marB="27432" anchor="ctr">
                    <a:solidFill>
                      <a:srgbClr val="262626"/>
                    </a:solidFill>
                  </a:tcPr>
                </a:tc>
                <a:tc>
                  <a:txBody>
                    <a:bodyPr wrap="square"/>
                    <a:lstStyle/>
                    <a:p>
                      <a:pPr algn="l"/>
                      <a:r>
                        <a:rPr sz="1200" b="1">
                          <a:solidFill>
                            <a:srgbClr val="FFFFFF"/>
                          </a:solidFill>
                          <a:latin typeface="Arial"/>
                        </a:rPr>
                        <a:t>Hậu quả có thể xảy ra</a:t>
                      </a:r>
                    </a:p>
                  </a:txBody>
                  <a:tcPr marL="73152" marR="73152" marT="27432" marB="27432" anchor="ctr">
                    <a:solidFill>
                      <a:srgbClr val="262626"/>
                    </a:solidFill>
                  </a:tcPr>
                </a:tc>
              </a:tr>
              <a:tr h="457200">
                <a:tc>
                  <a:txBody>
                    <a:bodyPr wrap="square"/>
                    <a:lstStyle/>
                    <a:p>
                      <a:pPr algn="l"/>
                      <a:r>
                        <a:rPr sz="1200" b="0">
                          <a:solidFill>
                            <a:srgbClr val="262626"/>
                          </a:solidFill>
                          <a:latin typeface="Arial"/>
                        </a:rPr>
                        <a:t>Sửa, thêm hoặc bịa số liệu để giả thuyết được ủng hộ</a:t>
                      </a:r>
                    </a:p>
                  </a:txBody>
                  <a:tcPr marL="73152" marR="73152" marT="27432" marB="27432" anchor="ctr">
                    <a:solidFill>
                      <a:srgbClr val="FBEAEA"/>
                    </a:solidFill>
                  </a:tcPr>
                </a:tc>
                <a:tc>
                  <a:txBody>
                    <a:bodyPr wrap="square"/>
                    <a:lstStyle/>
                    <a:p>
                      <a:pPr algn="l"/>
                      <a:r>
                        <a:rPr sz="1200" b="0">
                          <a:solidFill>
                            <a:srgbClr val="262626"/>
                          </a:solidFill>
                          <a:latin typeface="Arial"/>
                        </a:rPr>
                        <a:t>Vi phạm liêm chính học thuật; có thể bị hủy kết quả</a:t>
                      </a:r>
                    </a:p>
                  </a:txBody>
                  <a:tcPr marL="73152" marR="73152" marT="27432" marB="27432" anchor="ctr">
                    <a:solidFill>
                      <a:srgbClr val="FBEAEA"/>
                    </a:solidFill>
                  </a:tcPr>
                </a:tc>
              </a:tr>
              <a:tr h="457200">
                <a:tc>
                  <a:txBody>
                    <a:bodyPr wrap="square"/>
                    <a:lstStyle/>
                    <a:p>
                      <a:pPr algn="l"/>
                      <a:r>
                        <a:rPr sz="1200" b="0">
                          <a:solidFill>
                            <a:srgbClr val="262626"/>
                          </a:solidFill>
                          <a:latin typeface="Arial"/>
                        </a:rPr>
                        <a:t>Sao chép tài liệu, kết quả, thảo luận không trích dẫn</a:t>
                      </a:r>
                    </a:p>
                  </a:txBody>
                  <a:tcPr marL="73152" marR="73152" marT="27432" marB="27432" anchor="ctr">
                    <a:solidFill>
                      <a:srgbClr val="FBEAEA"/>
                    </a:solidFill>
                  </a:tcPr>
                </a:tc>
                <a:tc>
                  <a:txBody>
                    <a:bodyPr wrap="square"/>
                    <a:lstStyle/>
                    <a:p>
                      <a:pPr algn="l"/>
                      <a:r>
                        <a:rPr sz="1200" b="0">
                          <a:solidFill>
                            <a:srgbClr val="262626"/>
                          </a:solidFill>
                          <a:latin typeface="Arial"/>
                        </a:rPr>
                        <a:t>Đạo văn; có thể bị đánh giá không đạt</a:t>
                      </a:r>
                    </a:p>
                  </a:txBody>
                  <a:tcPr marL="73152" marR="73152" marT="27432" marB="27432" anchor="ctr">
                    <a:solidFill>
                      <a:srgbClr val="FBEAEA"/>
                    </a:solidFill>
                  </a:tcPr>
                </a:tc>
              </a:tr>
              <a:tr h="457200">
                <a:tc>
                  <a:txBody>
                    <a:bodyPr wrap="square"/>
                    <a:lstStyle/>
                    <a:p>
                      <a:pPr algn="l"/>
                      <a:r>
                        <a:rPr sz="1200" b="0">
                          <a:solidFill>
                            <a:srgbClr val="262626"/>
                          </a:solidFill>
                          <a:latin typeface="Arial"/>
                        </a:rPr>
                        <a:t>Con số trong bài không khớp file dữ liệu</a:t>
                      </a:r>
                    </a:p>
                  </a:txBody>
                  <a:tcPr marL="73152" marR="73152" marT="27432" marB="27432" anchor="ctr">
                    <a:solidFill>
                      <a:srgbClr val="FFFFFF"/>
                    </a:solidFill>
                  </a:tcPr>
                </a:tc>
                <a:tc>
                  <a:txBody>
                    <a:bodyPr wrap="square"/>
                    <a:lstStyle/>
                    <a:p>
                      <a:pPr algn="l"/>
                      <a:r>
                        <a:rPr sz="1200" b="0">
                          <a:solidFill>
                            <a:srgbClr val="262626"/>
                          </a:solidFill>
                          <a:latin typeface="Arial"/>
                        </a:rPr>
                        <a:t>Hội đồng nghi ngờ tính trung thực</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Kết luận "ủng hộ" khi ngược dấu hoặc P-value lớn hơn 0,05</a:t>
                      </a:r>
                    </a:p>
                  </a:txBody>
                  <a:tcPr marL="73152" marR="73152" marT="27432" marB="27432" anchor="ctr">
                    <a:solidFill>
                      <a:srgbClr val="F3F3F3"/>
                    </a:solidFill>
                  </a:tcPr>
                </a:tc>
                <a:tc>
                  <a:txBody>
                    <a:bodyPr wrap="square"/>
                    <a:lstStyle/>
                    <a:p>
                      <a:pPr algn="l"/>
                      <a:r>
                        <a:rPr sz="1200" b="0">
                          <a:solidFill>
                            <a:srgbClr val="262626"/>
                          </a:solidFill>
                          <a:latin typeface="Arial"/>
                        </a:rPr>
                        <a:t>Sai toàn bộ thảo luận và hàm ý phía sau</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Giả thuyết ở Chương 4 khác Chương 2</a:t>
                      </a:r>
                    </a:p>
                  </a:txBody>
                  <a:tcPr marL="73152" marR="73152" marT="27432" marB="27432" anchor="ctr">
                    <a:solidFill>
                      <a:srgbClr val="FFFFFF"/>
                    </a:solidFill>
                  </a:tcPr>
                </a:tc>
                <a:tc>
                  <a:txBody>
                    <a:bodyPr wrap="square"/>
                    <a:lstStyle/>
                    <a:p>
                      <a:pPr algn="l"/>
                      <a:r>
                        <a:rPr sz="1200" b="0">
                          <a:solidFill>
                            <a:srgbClr val="262626"/>
                          </a:solidFill>
                          <a:latin typeface="Arial"/>
                        </a:rPr>
                        <a:t>Khóa luận mất tính nhất quán</a:t>
                      </a:r>
                    </a:p>
                  </a:txBody>
                  <a:tcPr marL="73152" marR="73152" marT="27432" marB="27432" anchor="ctr">
                    <a:solidFill>
                      <a:srgbClr val="FFFFFF"/>
                    </a:solidFill>
                  </a:tcPr>
                </a:tc>
              </a:tr>
              <a:tr h="457200">
                <a:tc>
                  <a:txBody>
                    <a:bodyPr wrap="square"/>
                    <a:lstStyle/>
                    <a:p>
                      <a:pPr algn="l"/>
                      <a:r>
                        <a:rPr sz="1200" b="0">
                          <a:solidFill>
                            <a:srgbClr val="262626"/>
                          </a:solidFill>
                          <a:latin typeface="Arial"/>
                        </a:rPr>
                        <a:t>Không có đạo đức nghiên cứu: không xin đồng ý, lộ thông tin cá nhân</a:t>
                      </a:r>
                    </a:p>
                  </a:txBody>
                  <a:tcPr marL="73152" marR="73152" marT="27432" marB="27432" anchor="ctr">
                    <a:solidFill>
                      <a:srgbClr val="F3F3F3"/>
                    </a:solidFill>
                  </a:tcPr>
                </a:tc>
                <a:tc>
                  <a:txBody>
                    <a:bodyPr wrap="square"/>
                    <a:lstStyle/>
                    <a:p>
                      <a:pPr algn="l"/>
                      <a:r>
                        <a:rPr sz="1200" b="0">
                          <a:solidFill>
                            <a:srgbClr val="262626"/>
                          </a:solidFill>
                          <a:latin typeface="Arial"/>
                        </a:rPr>
                        <a:t>Vi phạm quy định; ảnh hưởng người tham gia</a:t>
                      </a:r>
                    </a:p>
                  </a:txBody>
                  <a:tcPr marL="73152" marR="73152" marT="27432" marB="27432" anchor="ctr">
                    <a:solidFill>
                      <a:srgbClr val="F3F3F3"/>
                    </a:solidFill>
                  </a:tcPr>
                </a:tc>
              </a:tr>
              <a:tr h="457200">
                <a:tc>
                  <a:txBody>
                    <a:bodyPr wrap="square"/>
                    <a:lstStyle/>
                    <a:p>
                      <a:pPr algn="l"/>
                      <a:r>
                        <a:rPr sz="1200" b="0">
                          <a:solidFill>
                            <a:srgbClr val="262626"/>
                          </a:solidFill>
                          <a:latin typeface="Arial"/>
                        </a:rPr>
                        <a:t>Dùng "chứng minh", "khẳng định chắc chắn" cho mẫu thuận tiện</a:t>
                      </a:r>
                    </a:p>
                  </a:txBody>
                  <a:tcPr marL="73152" marR="73152" marT="27432" marB="27432" anchor="ctr">
                    <a:solidFill>
                      <a:srgbClr val="FFFFFF"/>
                    </a:solidFill>
                  </a:tcPr>
                </a:tc>
                <a:tc>
                  <a:txBody>
                    <a:bodyPr wrap="square"/>
                    <a:lstStyle/>
                    <a:p>
                      <a:pPr algn="l"/>
                      <a:r>
                        <a:rPr sz="1200" b="0">
                          <a:solidFill>
                            <a:srgbClr val="262626"/>
                          </a:solidFill>
                          <a:latin typeface="Arial"/>
                        </a:rPr>
                        <a:t>Hội đồng đặt câu hỏi về hiểu biết phương pháp</a:t>
                      </a:r>
                    </a:p>
                  </a:txBody>
                  <a:tcPr marL="73152" marR="73152" marT="27432" marB="27432" anchor="ctr">
                    <a:solidFill>
                      <a:srgbClr val="FFFFFF"/>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BẢO VỆ | SLIDE THUYẾT TRÌNH</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Tiêu đề slide là một câu kết luận, thân slide là bằng chứng: người nghe hiểu tốt hơn và nhớ lâu hơn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Ví dụ: "Sự hữu ích tác động mạnh nhất; sự dễ sử dụng không có ý nghĩa thống kê" kèm biểu đồ β, cột SD để trắng.</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10, mục A, Hình 10-1 và Bảng 10-1; Garner và Alley (2013)</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115</a:t>
            </a:r>
          </a:p>
        </p:txBody>
      </p:sp>
      <p:sp>
        <p:nvSpPr>
          <p:cNvPr id="11" name="Rectangle 10"/>
          <p:cNvSpPr/>
          <p:nvPr/>
        </p:nvSpPr>
        <p:spPr>
          <a:xfrm>
            <a:off x="402335" y="1897010"/>
            <a:ext cx="6876288" cy="361261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88_new.png"/>
          <p:cNvPicPr>
            <a:picLocks noChangeAspect="1"/>
          </p:cNvPicPr>
          <p:nvPr/>
        </p:nvPicPr>
        <p:blipFill>
          <a:blip r:embed="rId2"/>
          <a:stretch>
            <a:fillRect/>
          </a:stretch>
        </p:blipFill>
        <p:spPr>
          <a:xfrm>
            <a:off x="457199" y="1951874"/>
            <a:ext cx="6766560" cy="3502890"/>
          </a:xfrm>
          <a:prstGeom prst="rect">
            <a:avLst/>
          </a:prstGeom>
        </p:spPr>
      </p:pic>
      <p:sp>
        <p:nvSpPr>
          <p:cNvPr id="13" name="TextBox 12"/>
          <p:cNvSpPr txBox="1"/>
          <p:nvPr/>
        </p:nvSpPr>
        <p:spPr>
          <a:xfrm>
            <a:off x="7543800" y="1783080"/>
            <a:ext cx="4187952" cy="274320"/>
          </a:xfrm>
          <a:prstGeom prst="rect">
            <a:avLst/>
          </a:prstGeom>
          <a:noFill/>
        </p:spPr>
        <p:txBody>
          <a:bodyPr wrap="square" lIns="45720" rIns="45720" tIns="27432" bIns="27432" anchor="t">
            <a:spAutoFit/>
          </a:bodyPr>
          <a:lstStyle/>
          <a:p>
            <a:pPr algn="l"/>
            <a:r>
              <a:rPr sz="1000" b="1" i="0">
                <a:solidFill>
                  <a:srgbClr val="CC0000"/>
                </a:solidFill>
                <a:latin typeface="Arial"/>
              </a:rPr>
              <a:t>CÁCH LÀM SLIDE BẢO VỆ</a:t>
            </a:r>
          </a:p>
        </p:txBody>
      </p:sp>
      <p:cxnSp>
        <p:nvCxnSpPr>
          <p:cNvPr id="14" name="Connector 13"/>
          <p:cNvCxnSpPr/>
          <p:nvPr/>
        </p:nvCxnSpPr>
        <p:spPr>
          <a:xfrm>
            <a:off x="7543800" y="2103120"/>
            <a:ext cx="41879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54380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7955279" y="2194560"/>
            <a:ext cx="3776472" cy="857250"/>
          </a:xfrm>
          <a:prstGeom prst="rect">
            <a:avLst/>
          </a:prstGeom>
          <a:noFill/>
        </p:spPr>
        <p:txBody>
          <a:bodyPr wrap="square" lIns="45720" rIns="45720" tIns="27432" bIns="27432" anchor="t">
            <a:spAutoFit/>
          </a:bodyPr>
          <a:lstStyle/>
          <a:p>
            <a:pPr algn="l"/>
            <a:r>
              <a:rPr sz="1350" b="1" i="0">
                <a:solidFill>
                  <a:srgbClr val="58595B"/>
                </a:solidFill>
                <a:latin typeface="Arial"/>
              </a:rPr>
              <a:t>Viết 12 câu thông điệp</a:t>
            </a:r>
            <a:r>
              <a:rPr sz="1350" b="0" i="0">
                <a:solidFill>
                  <a:srgbClr val="58595B"/>
                </a:solidFill>
                <a:latin typeface="Arial"/>
              </a:rPr>
              <a:t> trước khi mở PowerPoint; mỗi câu làm tiêu đề một slide.</a:t>
            </a:r>
          </a:p>
        </p:txBody>
      </p:sp>
      <p:sp>
        <p:nvSpPr>
          <p:cNvPr id="17" name="Oval 16"/>
          <p:cNvSpPr/>
          <p:nvPr/>
        </p:nvSpPr>
        <p:spPr>
          <a:xfrm>
            <a:off x="754380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7955279" y="3051810"/>
            <a:ext cx="3776472" cy="857250"/>
          </a:xfrm>
          <a:prstGeom prst="rect">
            <a:avLst/>
          </a:prstGeom>
          <a:noFill/>
        </p:spPr>
        <p:txBody>
          <a:bodyPr wrap="square" lIns="45720" rIns="45720" tIns="27432" bIns="27432" anchor="t">
            <a:spAutoFit/>
          </a:bodyPr>
          <a:lstStyle/>
          <a:p>
            <a:pPr algn="l"/>
            <a:r>
              <a:rPr sz="1350" b="1" i="0">
                <a:solidFill>
                  <a:srgbClr val="58595B"/>
                </a:solidFill>
                <a:latin typeface="Arial"/>
              </a:rPr>
              <a:t>Thân slide</a:t>
            </a:r>
            <a:r>
              <a:rPr sz="1350" b="0" i="0">
                <a:solidFill>
                  <a:srgbClr val="58595B"/>
                </a:solidFill>
                <a:latin typeface="Arial"/>
              </a:rPr>
              <a:t> là hình, biểu đồ hoặc một bảng nhỏ; chữ không nhỏ hơn cỡ 20.</a:t>
            </a:r>
          </a:p>
        </p:txBody>
      </p:sp>
      <p:sp>
        <p:nvSpPr>
          <p:cNvPr id="19" name="Oval 18"/>
          <p:cNvSpPr/>
          <p:nvPr/>
        </p:nvSpPr>
        <p:spPr>
          <a:xfrm>
            <a:off x="754380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7955279" y="3909060"/>
            <a:ext cx="3776472" cy="857250"/>
          </a:xfrm>
          <a:prstGeom prst="rect">
            <a:avLst/>
          </a:prstGeom>
          <a:noFill/>
        </p:spPr>
        <p:txBody>
          <a:bodyPr wrap="square" lIns="45720" rIns="45720" tIns="27432" bIns="27432" anchor="t">
            <a:spAutoFit/>
          </a:bodyPr>
          <a:lstStyle/>
          <a:p>
            <a:pPr algn="l"/>
            <a:r>
              <a:rPr sz="1350" b="1" i="0">
                <a:solidFill>
                  <a:srgbClr val="58595B"/>
                </a:solidFill>
                <a:latin typeface="Arial"/>
              </a:rPr>
              <a:t>Nền sáng, chữ tối, ít màu;</a:t>
            </a:r>
            <a:r>
              <a:rPr sz="1350" b="0" i="0">
                <a:solidFill>
                  <a:srgbClr val="58595B"/>
                </a:solidFill>
                <a:latin typeface="Arial"/>
              </a:rPr>
              <a:t> biểu đồ vẫn đọc được khi in đen trắng.</a:t>
            </a:r>
          </a:p>
        </p:txBody>
      </p:sp>
      <p:sp>
        <p:nvSpPr>
          <p:cNvPr id="21" name="Oval 20"/>
          <p:cNvSpPr/>
          <p:nvPr/>
        </p:nvSpPr>
        <p:spPr>
          <a:xfrm>
            <a:off x="754380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7955279" y="4766310"/>
            <a:ext cx="3776472" cy="857250"/>
          </a:xfrm>
          <a:prstGeom prst="rect">
            <a:avLst/>
          </a:prstGeom>
          <a:noFill/>
        </p:spPr>
        <p:txBody>
          <a:bodyPr wrap="square" lIns="45720" rIns="45720" tIns="27432" bIns="27432" anchor="t">
            <a:spAutoFit/>
          </a:bodyPr>
          <a:lstStyle/>
          <a:p>
            <a:pPr algn="l"/>
            <a:r>
              <a:rPr sz="1350" b="1" i="0">
                <a:solidFill>
                  <a:srgbClr val="58595B"/>
                </a:solidFill>
                <a:latin typeface="Arial"/>
              </a:rPr>
              <a:t>Slide dự phòng</a:t>
            </a:r>
            <a:r>
              <a:rPr sz="1350" b="0" i="0">
                <a:solidFill>
                  <a:srgbClr val="58595B"/>
                </a:solidFill>
                <a:latin typeface="Arial"/>
              </a:rPr>
              <a:t> sau slide cuối: bảng hồi quy đầy đủ, VIF, phần dư. Tập nói có bấm giờ ít nhất ba lần.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BẢO VỆ | DÀN Ý 12 PHÚT</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Mười hai phút, mười hai slide: phần lớn thời gian dành cho kết quả, thảo luận và hàm ý</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Năm phút cho kết quả, thảo luận và hàm ý: Hội đồng đã đọc lý thuyết trong khóa luận, họ muốn nghe các em hiểu kết quả.</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10, mục A và Bảng 10-1</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116</a:t>
            </a:r>
          </a:p>
        </p:txBody>
      </p:sp>
      <p:graphicFrame>
        <p:nvGraphicFramePr>
          <p:cNvPr id="12" name="Table 11"/>
          <p:cNvGraphicFramePr>
            <a:graphicFrameLocks noGrp="1"/>
          </p:cNvGraphicFramePr>
          <p:nvPr/>
        </p:nvGraphicFramePr>
        <p:xfrm>
          <a:off x="457200" y="1783080"/>
          <a:ext cx="8412479" cy="3739896"/>
        </p:xfrm>
        <a:graphic>
          <a:graphicData uri="http://schemas.openxmlformats.org/drawingml/2006/table">
            <a:tbl>
              <a:tblPr firstRow="1" bandRow="1">
                <a:tableStyleId>{5C22544A-7EE6-4342-B048-85BDC9FD1C3A}</a:tableStyleId>
              </a:tblPr>
              <a:tblGrid>
                <a:gridCol w="1009497"/>
                <a:gridCol w="6225235"/>
                <a:gridCol w="1177747"/>
              </a:tblGrid>
              <a:tr h="411480">
                <a:tc>
                  <a:txBody>
                    <a:bodyPr wrap="square"/>
                    <a:lstStyle/>
                    <a:p>
                      <a:pPr algn="l"/>
                      <a:r>
                        <a:rPr sz="1200" b="1">
                          <a:solidFill>
                            <a:srgbClr val="FFFFFF"/>
                          </a:solidFill>
                          <a:latin typeface="Arial"/>
                        </a:rPr>
                        <a:t>Slide</a:t>
                      </a:r>
                    </a:p>
                  </a:txBody>
                  <a:tcPr marL="73152" marR="73152" marT="27432" marB="27432" anchor="ctr">
                    <a:solidFill>
                      <a:srgbClr val="262626"/>
                    </a:solidFill>
                  </a:tcPr>
                </a:tc>
                <a:tc>
                  <a:txBody>
                    <a:bodyPr wrap="square"/>
                    <a:lstStyle/>
                    <a:p>
                      <a:pPr algn="l"/>
                      <a:r>
                        <a:rPr sz="1200" b="1">
                          <a:solidFill>
                            <a:srgbClr val="FFFFFF"/>
                          </a:solidFill>
                          <a:latin typeface="Arial"/>
                        </a:rPr>
                        <a:t>Nội dung và thông điệp chính</a:t>
                      </a:r>
                    </a:p>
                  </a:txBody>
                  <a:tcPr marL="73152" marR="73152" marT="27432" marB="27432" anchor="ctr">
                    <a:solidFill>
                      <a:srgbClr val="262626"/>
                    </a:solidFill>
                  </a:tcPr>
                </a:tc>
                <a:tc>
                  <a:txBody>
                    <a:bodyPr wrap="square"/>
                    <a:lstStyle/>
                    <a:p>
                      <a:pPr algn="l"/>
                      <a:r>
                        <a:rPr sz="1200" b="1">
                          <a:solidFill>
                            <a:srgbClr val="FFFFFF"/>
                          </a:solidFill>
                          <a:latin typeface="Arial"/>
                        </a:rPr>
                        <a:t>Thời gian</a:t>
                      </a:r>
                    </a:p>
                  </a:txBody>
                  <a:tcPr marL="73152" marR="73152" marT="27432" marB="27432" anchor="ctr">
                    <a:solidFill>
                      <a:srgbClr val="262626"/>
                    </a:solidFill>
                  </a:tcPr>
                </a:tc>
              </a:tr>
              <a:tr h="475488">
                <a:tc>
                  <a:txBody>
                    <a:bodyPr wrap="square"/>
                    <a:lstStyle/>
                    <a:p>
                      <a:pPr algn="l"/>
                      <a:r>
                        <a:rPr sz="1200" b="0">
                          <a:solidFill>
                            <a:srgbClr val="262626"/>
                          </a:solidFill>
                          <a:latin typeface="Arial"/>
                        </a:rPr>
                        <a:t>1</a:t>
                      </a:r>
                    </a:p>
                  </a:txBody>
                  <a:tcPr marL="73152" marR="73152" marT="27432" marB="27432" anchor="ctr">
                    <a:solidFill>
                      <a:srgbClr val="FFFFFF"/>
                    </a:solidFill>
                  </a:tcPr>
                </a:tc>
                <a:tc>
                  <a:txBody>
                    <a:bodyPr wrap="square"/>
                    <a:lstStyle/>
                    <a:p>
                      <a:pPr algn="l"/>
                      <a:r>
                        <a:rPr sz="1200" b="0">
                          <a:solidFill>
                            <a:srgbClr val="262626"/>
                          </a:solidFill>
                          <a:latin typeface="Arial"/>
                        </a:rPr>
                        <a:t>Tên đề tài, sinh viên, GVHD</a:t>
                      </a:r>
                    </a:p>
                  </a:txBody>
                  <a:tcPr marL="73152" marR="73152" marT="27432" marB="27432" anchor="ctr">
                    <a:solidFill>
                      <a:srgbClr val="FFFFFF"/>
                    </a:solidFill>
                  </a:tcPr>
                </a:tc>
                <a:tc>
                  <a:txBody>
                    <a:bodyPr wrap="square"/>
                    <a:lstStyle/>
                    <a:p>
                      <a:pPr algn="l"/>
                      <a:r>
                        <a:rPr sz="1200" b="0">
                          <a:solidFill>
                            <a:srgbClr val="262626"/>
                          </a:solidFill>
                          <a:latin typeface="Arial"/>
                        </a:rPr>
                        <a:t>0,5 phút</a:t>
                      </a:r>
                    </a:p>
                  </a:txBody>
                  <a:tcPr marL="73152" marR="73152" marT="27432" marB="27432" anchor="ctr">
                    <a:solidFill>
                      <a:srgbClr val="FFFFFF"/>
                    </a:solidFill>
                  </a:tcPr>
                </a:tc>
              </a:tr>
              <a:tr h="475488">
                <a:tc>
                  <a:txBody>
                    <a:bodyPr wrap="square"/>
                    <a:lstStyle/>
                    <a:p>
                      <a:pPr algn="l"/>
                      <a:r>
                        <a:rPr sz="1200" b="0">
                          <a:solidFill>
                            <a:srgbClr val="262626"/>
                          </a:solidFill>
                          <a:latin typeface="Arial"/>
                        </a:rPr>
                        <a:t>2 và 3</a:t>
                      </a:r>
                    </a:p>
                  </a:txBody>
                  <a:tcPr marL="73152" marR="73152" marT="27432" marB="27432" anchor="ctr">
                    <a:solidFill>
                      <a:srgbClr val="F3F3F3"/>
                    </a:solidFill>
                  </a:tcPr>
                </a:tc>
                <a:tc>
                  <a:txBody>
                    <a:bodyPr wrap="square"/>
                    <a:lstStyle/>
                    <a:p>
                      <a:pPr algn="l"/>
                      <a:r>
                        <a:rPr sz="1200" b="0">
                          <a:solidFill>
                            <a:srgbClr val="262626"/>
                          </a:solidFill>
                          <a:latin typeface="Arial"/>
                        </a:rPr>
                        <a:t>Vấn đề có số liệu có nguồn; mục tiêu và ba câu hỏi nghiên cứu</a:t>
                      </a:r>
                    </a:p>
                  </a:txBody>
                  <a:tcPr marL="73152" marR="73152" marT="27432" marB="27432" anchor="ctr">
                    <a:solidFill>
                      <a:srgbClr val="F3F3F3"/>
                    </a:solidFill>
                  </a:tcPr>
                </a:tc>
                <a:tc>
                  <a:txBody>
                    <a:bodyPr wrap="square"/>
                    <a:lstStyle/>
                    <a:p>
                      <a:pPr algn="l"/>
                      <a:r>
                        <a:rPr sz="1200" b="0">
                          <a:solidFill>
                            <a:srgbClr val="262626"/>
                          </a:solidFill>
                          <a:latin typeface="Arial"/>
                        </a:rPr>
                        <a:t>2 phút</a:t>
                      </a:r>
                    </a:p>
                  </a:txBody>
                  <a:tcPr marL="73152" marR="73152" marT="27432" marB="27432" anchor="ctr">
                    <a:solidFill>
                      <a:srgbClr val="F3F3F3"/>
                    </a:solidFill>
                  </a:tcPr>
                </a:tc>
              </a:tr>
              <a:tr h="475488">
                <a:tc>
                  <a:txBody>
                    <a:bodyPr wrap="square"/>
                    <a:lstStyle/>
                    <a:p>
                      <a:pPr algn="l"/>
                      <a:r>
                        <a:rPr sz="1200" b="0">
                          <a:solidFill>
                            <a:srgbClr val="262626"/>
                          </a:solidFill>
                          <a:latin typeface="Arial"/>
                        </a:rPr>
                        <a:t>4 và 5</a:t>
                      </a:r>
                    </a:p>
                  </a:txBody>
                  <a:tcPr marL="73152" marR="73152" marT="27432" marB="27432" anchor="ctr">
                    <a:solidFill>
                      <a:srgbClr val="FFFFFF"/>
                    </a:solidFill>
                  </a:tcPr>
                </a:tc>
                <a:tc>
                  <a:txBody>
                    <a:bodyPr wrap="square"/>
                    <a:lstStyle/>
                    <a:p>
                      <a:pPr algn="l"/>
                      <a:r>
                        <a:rPr sz="1200" b="0">
                          <a:solidFill>
                            <a:srgbClr val="262626"/>
                          </a:solidFill>
                          <a:latin typeface="Arial"/>
                        </a:rPr>
                        <a:t>Mô hình và bốn giả thuyết; bảng hỏi 19 câu, 150 khách hàng, hồi quy đa biến</a:t>
                      </a:r>
                    </a:p>
                  </a:txBody>
                  <a:tcPr marL="73152" marR="73152" marT="27432" marB="27432" anchor="ctr">
                    <a:solidFill>
                      <a:srgbClr val="FFFFFF"/>
                    </a:solidFill>
                  </a:tcPr>
                </a:tc>
                <a:tc>
                  <a:txBody>
                    <a:bodyPr wrap="square"/>
                    <a:lstStyle/>
                    <a:p>
                      <a:pPr algn="l"/>
                      <a:r>
                        <a:rPr sz="1200" b="0">
                          <a:solidFill>
                            <a:srgbClr val="262626"/>
                          </a:solidFill>
                          <a:latin typeface="Arial"/>
                        </a:rPr>
                        <a:t>2 phút</a:t>
                      </a:r>
                    </a:p>
                  </a:txBody>
                  <a:tcPr marL="73152" marR="73152" marT="27432" marB="27432" anchor="ctr">
                    <a:solidFill>
                      <a:srgbClr val="FFFFFF"/>
                    </a:solidFill>
                  </a:tcPr>
                </a:tc>
              </a:tr>
              <a:tr h="475488">
                <a:tc>
                  <a:txBody>
                    <a:bodyPr wrap="square"/>
                    <a:lstStyle/>
                    <a:p>
                      <a:pPr algn="l"/>
                      <a:r>
                        <a:rPr sz="1200" b="0">
                          <a:solidFill>
                            <a:srgbClr val="262626"/>
                          </a:solidFill>
                          <a:latin typeface="Arial"/>
                        </a:rPr>
                        <a:t>6</a:t>
                      </a:r>
                    </a:p>
                  </a:txBody>
                  <a:tcPr marL="73152" marR="73152" marT="27432" marB="27432" anchor="ctr">
                    <a:solidFill>
                      <a:srgbClr val="F3F3F3"/>
                    </a:solidFill>
                  </a:tcPr>
                </a:tc>
                <a:tc>
                  <a:txBody>
                    <a:bodyPr wrap="square"/>
                    <a:lstStyle/>
                    <a:p>
                      <a:pPr algn="l"/>
                      <a:r>
                        <a:rPr sz="1200" b="0">
                          <a:solidFill>
                            <a:srgbClr val="262626"/>
                          </a:solidFill>
                          <a:latin typeface="Arial"/>
                        </a:rPr>
                        <a:t>Thang đo đạt độ tin cậy (Alpha từ 0,776 đến 0,803)</a:t>
                      </a:r>
                    </a:p>
                  </a:txBody>
                  <a:tcPr marL="73152" marR="73152" marT="27432" marB="27432" anchor="ctr">
                    <a:solidFill>
                      <a:srgbClr val="F3F3F3"/>
                    </a:solidFill>
                  </a:tcPr>
                </a:tc>
                <a:tc>
                  <a:txBody>
                    <a:bodyPr wrap="square"/>
                    <a:lstStyle/>
                    <a:p>
                      <a:pPr algn="l"/>
                      <a:r>
                        <a:rPr sz="1200" b="0">
                          <a:solidFill>
                            <a:srgbClr val="262626"/>
                          </a:solidFill>
                          <a:latin typeface="Arial"/>
                        </a:rPr>
                        <a:t>1 phút</a:t>
                      </a:r>
                    </a:p>
                  </a:txBody>
                  <a:tcPr marL="73152" marR="73152" marT="27432" marB="27432" anchor="ctr">
                    <a:solidFill>
                      <a:srgbClr val="F3F3F3"/>
                    </a:solidFill>
                  </a:tcPr>
                </a:tc>
              </a:tr>
              <a:tr h="475488">
                <a:tc>
                  <a:txBody>
                    <a:bodyPr wrap="square"/>
                    <a:lstStyle/>
                    <a:p>
                      <a:pPr algn="l"/>
                      <a:r>
                        <a:rPr sz="1200" b="0">
                          <a:solidFill>
                            <a:srgbClr val="262626"/>
                          </a:solidFill>
                          <a:latin typeface="Arial"/>
                        </a:rPr>
                        <a:t>7 và 8</a:t>
                      </a:r>
                    </a:p>
                  </a:txBody>
                  <a:tcPr marL="73152" marR="73152" marT="27432" marB="27432" anchor="ctr">
                    <a:solidFill>
                      <a:srgbClr val="FBEAEA"/>
                    </a:solidFill>
                  </a:tcPr>
                </a:tc>
                <a:tc>
                  <a:txBody>
                    <a:bodyPr wrap="square"/>
                    <a:lstStyle/>
                    <a:p>
                      <a:pPr algn="l"/>
                      <a:r>
                        <a:rPr sz="1200" b="0">
                          <a:solidFill>
                            <a:srgbClr val="262626"/>
                          </a:solidFill>
                          <a:latin typeface="Arial"/>
                        </a:rPr>
                        <a:t>Kết quả hồi quy và kiểm định giả thuyết</a:t>
                      </a:r>
                    </a:p>
                  </a:txBody>
                  <a:tcPr marL="73152" marR="73152" marT="27432" marB="27432" anchor="ctr">
                    <a:solidFill>
                      <a:srgbClr val="FBEAEA"/>
                    </a:solidFill>
                  </a:tcPr>
                </a:tc>
                <a:tc>
                  <a:txBody>
                    <a:bodyPr wrap="square"/>
                    <a:lstStyle/>
                    <a:p>
                      <a:pPr algn="l"/>
                      <a:r>
                        <a:rPr sz="1200" b="0">
                          <a:solidFill>
                            <a:srgbClr val="262626"/>
                          </a:solidFill>
                          <a:latin typeface="Arial"/>
                        </a:rPr>
                        <a:t>2,5 phút</a:t>
                      </a:r>
                    </a:p>
                  </a:txBody>
                  <a:tcPr marL="73152" marR="73152" marT="27432" marB="27432" anchor="ctr">
                    <a:solidFill>
                      <a:srgbClr val="FBEAEA"/>
                    </a:solidFill>
                  </a:tcPr>
                </a:tc>
              </a:tr>
              <a:tr h="475488">
                <a:tc>
                  <a:txBody>
                    <a:bodyPr wrap="square"/>
                    <a:lstStyle/>
                    <a:p>
                      <a:pPr algn="l"/>
                      <a:r>
                        <a:rPr sz="1200" b="0">
                          <a:solidFill>
                            <a:srgbClr val="262626"/>
                          </a:solidFill>
                          <a:latin typeface="Arial"/>
                        </a:rPr>
                        <a:t>9 và 10</a:t>
                      </a:r>
                    </a:p>
                  </a:txBody>
                  <a:tcPr marL="73152" marR="73152" marT="27432" marB="27432" anchor="ctr">
                    <a:solidFill>
                      <a:srgbClr val="FBEAEA"/>
                    </a:solidFill>
                  </a:tcPr>
                </a:tc>
                <a:tc>
                  <a:txBody>
                    <a:bodyPr wrap="square"/>
                    <a:lstStyle/>
                    <a:p>
                      <a:pPr algn="l"/>
                      <a:r>
                        <a:rPr sz="1200" b="0">
                          <a:solidFill>
                            <a:srgbClr val="262626"/>
                          </a:solidFill>
                          <a:latin typeface="Arial"/>
                        </a:rPr>
                        <a:t>Vì sao H2 không được ủng hộ; ma trận ưu tiên, niềm tin là số một</a:t>
                      </a:r>
                    </a:p>
                  </a:txBody>
                  <a:tcPr marL="73152" marR="73152" marT="27432" marB="27432" anchor="ctr">
                    <a:solidFill>
                      <a:srgbClr val="FBEAEA"/>
                    </a:solidFill>
                  </a:tcPr>
                </a:tc>
                <a:tc>
                  <a:txBody>
                    <a:bodyPr wrap="square"/>
                    <a:lstStyle/>
                    <a:p>
                      <a:pPr algn="l"/>
                      <a:r>
                        <a:rPr sz="1200" b="0">
                          <a:solidFill>
                            <a:srgbClr val="262626"/>
                          </a:solidFill>
                          <a:latin typeface="Arial"/>
                        </a:rPr>
                        <a:t>2,5 phút</a:t>
                      </a:r>
                    </a:p>
                  </a:txBody>
                  <a:tcPr marL="73152" marR="73152" marT="27432" marB="27432" anchor="ctr">
                    <a:solidFill>
                      <a:srgbClr val="FBEAEA"/>
                    </a:solidFill>
                  </a:tcPr>
                </a:tc>
              </a:tr>
              <a:tr h="475488">
                <a:tc>
                  <a:txBody>
                    <a:bodyPr wrap="square"/>
                    <a:lstStyle/>
                    <a:p>
                      <a:pPr algn="l"/>
                      <a:r>
                        <a:rPr sz="1200" b="0">
                          <a:solidFill>
                            <a:srgbClr val="262626"/>
                          </a:solidFill>
                          <a:latin typeface="Arial"/>
                        </a:rPr>
                        <a:t>11 và 12</a:t>
                      </a:r>
                    </a:p>
                  </a:txBody>
                  <a:tcPr marL="73152" marR="73152" marT="27432" marB="27432" anchor="ctr">
                    <a:solidFill>
                      <a:srgbClr val="FFFFFF"/>
                    </a:solidFill>
                  </a:tcPr>
                </a:tc>
                <a:tc>
                  <a:txBody>
                    <a:bodyPr wrap="square"/>
                    <a:lstStyle/>
                    <a:p>
                      <a:pPr algn="l"/>
                      <a:r>
                        <a:rPr sz="1200" b="0">
                          <a:solidFill>
                            <a:srgbClr val="262626"/>
                          </a:solidFill>
                          <a:latin typeface="Arial"/>
                        </a:rPr>
                        <a:t>Hạn chế và hướng nghiên cứu; trả lời ba câu hỏi nghiên cứu</a:t>
                      </a:r>
                    </a:p>
                  </a:txBody>
                  <a:tcPr marL="73152" marR="73152" marT="27432" marB="27432" anchor="ctr">
                    <a:solidFill>
                      <a:srgbClr val="FFFFFF"/>
                    </a:solidFill>
                  </a:tcPr>
                </a:tc>
                <a:tc>
                  <a:txBody>
                    <a:bodyPr wrap="square"/>
                    <a:lstStyle/>
                    <a:p>
                      <a:pPr algn="l"/>
                      <a:r>
                        <a:rPr sz="1200" b="0">
                          <a:solidFill>
                            <a:srgbClr val="262626"/>
                          </a:solidFill>
                          <a:latin typeface="Arial"/>
                        </a:rPr>
                        <a:t>1,5 phút</a:t>
                      </a:r>
                    </a:p>
                  </a:txBody>
                  <a:tcPr marL="73152" marR="73152" marT="27432" marB="27432" anchor="ctr">
                    <a:solidFill>
                      <a:srgbClr val="FFFFFF"/>
                    </a:solidFill>
                  </a:tcPr>
                </a:tc>
              </a:tr>
            </a:tbl>
          </a:graphicData>
        </a:graphic>
      </p:graphicFrame>
      <p:sp>
        <p:nvSpPr>
          <p:cNvPr id="13" name="TextBox 12"/>
          <p:cNvSpPr txBox="1"/>
          <p:nvPr/>
        </p:nvSpPr>
        <p:spPr>
          <a:xfrm>
            <a:off x="9144000" y="1783080"/>
            <a:ext cx="2587752" cy="274320"/>
          </a:xfrm>
          <a:prstGeom prst="rect">
            <a:avLst/>
          </a:prstGeom>
          <a:noFill/>
        </p:spPr>
        <p:txBody>
          <a:bodyPr wrap="square" lIns="45720" rIns="45720" tIns="27432" bIns="27432" anchor="t">
            <a:spAutoFit/>
          </a:bodyPr>
          <a:lstStyle/>
          <a:p>
            <a:pPr algn="l"/>
            <a:r>
              <a:rPr sz="1000" b="1" i="0">
                <a:solidFill>
                  <a:srgbClr val="CC0000"/>
                </a:solidFill>
                <a:latin typeface="Arial"/>
              </a:rPr>
              <a:t>GHI CHÚ</a:t>
            </a:r>
          </a:p>
        </p:txBody>
      </p:sp>
      <p:cxnSp>
        <p:nvCxnSpPr>
          <p:cNvPr id="14" name="Connector 13"/>
          <p:cNvCxnSpPr/>
          <p:nvPr/>
        </p:nvCxnSpPr>
        <p:spPr>
          <a:xfrm>
            <a:off x="9144000" y="2103120"/>
            <a:ext cx="25877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0" y="2167128"/>
            <a:ext cx="2587752" cy="3383280"/>
          </a:xfrm>
          <a:prstGeom prst="rect">
            <a:avLst/>
          </a:prstGeom>
          <a:noFill/>
        </p:spPr>
        <p:txBody>
          <a:bodyPr wrap="square" lIns="45720" rIns="45720" tIns="27432" bIns="27432" anchor="t">
            <a:spAutoFit/>
          </a:bodyPr>
          <a:lstStyle/>
          <a:p>
            <a:pPr algn="l"/>
            <a:r>
              <a:rPr sz="1250" b="0" i="0">
                <a:solidFill>
                  <a:srgbClr val="58595B"/>
                </a:solidFill>
                <a:latin typeface="Arial"/>
              </a:rPr>
              <a:t>Thời lượng thật theo quy định của Hội đồng.</a:t>
            </a:r>
          </a:p>
          <a:p>
            <a:pPr algn="l">
              <a:spcBef>
                <a:spcPts val="562"/>
              </a:spcBef>
            </a:pPr>
          </a:p>
          <a:p>
            <a:pPr algn="l">
              <a:spcBef>
                <a:spcPts val="562"/>
              </a:spcBef>
            </a:pPr>
            <a:r>
              <a:rPr sz="1250" b="0" i="0">
                <a:solidFill>
                  <a:srgbClr val="58595B"/>
                </a:solidFill>
                <a:latin typeface="Arial"/>
              </a:rPr>
              <a:t>Thêm </a:t>
            </a:r>
            <a:r>
              <a:rPr sz="1250" b="1" i="0">
                <a:solidFill>
                  <a:srgbClr val="58595B"/>
                </a:solidFill>
                <a:latin typeface="Arial"/>
              </a:rPr>
              <a:t>slide dự phòng</a:t>
            </a:r>
            <a:r>
              <a:rPr sz="1250" b="0" i="0">
                <a:solidFill>
                  <a:srgbClr val="58595B"/>
                </a:solidFill>
                <a:latin typeface="Arial"/>
              </a:rPr>
              <a:t> (bảng hồi quy đầy đủ, VIF, phần dư) sau slide cuối.</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BẢO VỆ | TRẢ LỜI HỘI ĐỒNG</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Trả lời bằng bốn bước và phân biệt ba loại chất vấn: lựa chọn phương pháp, lỗi thật, điều chưa biết</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Hội đồng không đánh giá các em biết hết mọi thứ mà đánh giá các em giải thích được các quyết định của chính mình bằng căn cứ trong khóa luận.</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10, mục B và C, Hình 10-2; Cortazzi và Jin (2021, tr. 6 đến 15)</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117</a:t>
            </a:r>
          </a:p>
        </p:txBody>
      </p:sp>
      <p:sp>
        <p:nvSpPr>
          <p:cNvPr id="11" name="Rectangle 10"/>
          <p:cNvSpPr/>
          <p:nvPr/>
        </p:nvSpPr>
        <p:spPr>
          <a:xfrm>
            <a:off x="402336" y="2989903"/>
            <a:ext cx="5779008" cy="142683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89_new.png"/>
          <p:cNvPicPr>
            <a:picLocks noChangeAspect="1"/>
          </p:cNvPicPr>
          <p:nvPr/>
        </p:nvPicPr>
        <p:blipFill>
          <a:blip r:embed="rId2"/>
          <a:stretch>
            <a:fillRect/>
          </a:stretch>
        </p:blipFill>
        <p:spPr>
          <a:xfrm>
            <a:off x="457200" y="3044767"/>
            <a:ext cx="5669280" cy="1317105"/>
          </a:xfrm>
          <a:prstGeom prst="rect">
            <a:avLst/>
          </a:prstGeom>
        </p:spPr>
      </p:pic>
      <p:sp>
        <p:nvSpPr>
          <p:cNvPr id="13" name="TextBox 12"/>
          <p:cNvSpPr txBox="1"/>
          <p:nvPr/>
        </p:nvSpPr>
        <p:spPr>
          <a:xfrm>
            <a:off x="6446520" y="1783080"/>
            <a:ext cx="5285232" cy="274320"/>
          </a:xfrm>
          <a:prstGeom prst="rect">
            <a:avLst/>
          </a:prstGeom>
          <a:noFill/>
        </p:spPr>
        <p:txBody>
          <a:bodyPr wrap="square" lIns="45720" rIns="45720" tIns="27432" bIns="27432" anchor="t">
            <a:spAutoFit/>
          </a:bodyPr>
          <a:lstStyle/>
          <a:p>
            <a:pPr algn="l"/>
            <a:r>
              <a:rPr sz="1000" b="1" i="0">
                <a:solidFill>
                  <a:srgbClr val="CC0000"/>
                </a:solidFill>
                <a:latin typeface="Arial"/>
              </a:rPr>
              <a:t>BA LOẠI CHẤT VẤN</a:t>
            </a:r>
          </a:p>
        </p:txBody>
      </p:sp>
      <p:cxnSp>
        <p:nvCxnSpPr>
          <p:cNvPr id="14" name="Connector 13"/>
          <p:cNvCxnSpPr/>
          <p:nvPr/>
        </p:nvCxnSpPr>
        <p:spPr>
          <a:xfrm>
            <a:off x="6446520" y="2103120"/>
            <a:ext cx="528523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446520" y="22128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6" name="TextBox 15"/>
          <p:cNvSpPr txBox="1"/>
          <p:nvPr/>
        </p:nvSpPr>
        <p:spPr>
          <a:xfrm>
            <a:off x="6858000" y="2194560"/>
            <a:ext cx="4873752" cy="857250"/>
          </a:xfrm>
          <a:prstGeom prst="rect">
            <a:avLst/>
          </a:prstGeom>
          <a:noFill/>
        </p:spPr>
        <p:txBody>
          <a:bodyPr wrap="square" lIns="45720" rIns="45720" tIns="27432" bIns="27432" anchor="t">
            <a:spAutoFit/>
          </a:bodyPr>
          <a:lstStyle/>
          <a:p>
            <a:pPr algn="l"/>
            <a:r>
              <a:rPr sz="1350" b="1" i="0">
                <a:solidFill>
                  <a:srgbClr val="58595B"/>
                </a:solidFill>
                <a:latin typeface="Arial"/>
              </a:rPr>
              <a:t>Lựa chọn phương pháp</a:t>
            </a:r>
            <a:r>
              <a:rPr sz="1350" b="0" i="0">
                <a:solidFill>
                  <a:srgbClr val="58595B"/>
                </a:solidFill>
                <a:latin typeface="Arial"/>
              </a:rPr>
              <a:t> ("vì sao không dùng SEM?"): nêu lý do gắn với câu hỏi nghiên cứu, nêu điểm mạnh của cách khác, nối với hướng nghiên cứu.</a:t>
            </a:r>
          </a:p>
        </p:txBody>
      </p:sp>
      <p:sp>
        <p:nvSpPr>
          <p:cNvPr id="17" name="Oval 16"/>
          <p:cNvSpPr/>
          <p:nvPr/>
        </p:nvSpPr>
        <p:spPr>
          <a:xfrm>
            <a:off x="6446520" y="30700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8" name="TextBox 17"/>
          <p:cNvSpPr txBox="1"/>
          <p:nvPr/>
        </p:nvSpPr>
        <p:spPr>
          <a:xfrm>
            <a:off x="6858000" y="3051810"/>
            <a:ext cx="4873752" cy="857250"/>
          </a:xfrm>
          <a:prstGeom prst="rect">
            <a:avLst/>
          </a:prstGeom>
          <a:noFill/>
        </p:spPr>
        <p:txBody>
          <a:bodyPr wrap="square" lIns="45720" rIns="45720" tIns="27432" bIns="27432" anchor="t">
            <a:spAutoFit/>
          </a:bodyPr>
          <a:lstStyle/>
          <a:p>
            <a:pPr algn="l"/>
            <a:r>
              <a:rPr sz="1350" b="1" i="0">
                <a:solidFill>
                  <a:srgbClr val="58595B"/>
                </a:solidFill>
                <a:latin typeface="Arial"/>
              </a:rPr>
              <a:t>Lỗi thật:</a:t>
            </a:r>
            <a:r>
              <a:rPr sz="1350" b="0" i="0">
                <a:solidFill>
                  <a:srgbClr val="58595B"/>
                </a:solidFill>
                <a:latin typeface="Arial"/>
              </a:rPr>
              <a:t> thừa nhận ngắn gọn, cảm ơn, ghi vào bảng góp ý để sửa sau buổi bảo vệ.</a:t>
            </a:r>
          </a:p>
        </p:txBody>
      </p:sp>
      <p:sp>
        <p:nvSpPr>
          <p:cNvPr id="19" name="Oval 18"/>
          <p:cNvSpPr/>
          <p:nvPr/>
        </p:nvSpPr>
        <p:spPr>
          <a:xfrm>
            <a:off x="6446520" y="392734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0" name="TextBox 19"/>
          <p:cNvSpPr txBox="1"/>
          <p:nvPr/>
        </p:nvSpPr>
        <p:spPr>
          <a:xfrm>
            <a:off x="6858000" y="3909060"/>
            <a:ext cx="4873752" cy="857250"/>
          </a:xfrm>
          <a:prstGeom prst="rect">
            <a:avLst/>
          </a:prstGeom>
          <a:noFill/>
        </p:spPr>
        <p:txBody>
          <a:bodyPr wrap="square" lIns="45720" rIns="45720" tIns="27432" bIns="27432" anchor="t">
            <a:spAutoFit/>
          </a:bodyPr>
          <a:lstStyle/>
          <a:p>
            <a:pPr algn="l"/>
            <a:r>
              <a:rPr sz="1350" b="1" i="0">
                <a:solidFill>
                  <a:srgbClr val="58595B"/>
                </a:solidFill>
                <a:latin typeface="Arial"/>
              </a:rPr>
              <a:t>Điều chưa biết:</a:t>
            </a:r>
            <a:r>
              <a:rPr sz="1350" b="0" i="0">
                <a:solidFill>
                  <a:srgbClr val="58595B"/>
                </a:solidFill>
                <a:latin typeface="Arial"/>
              </a:rPr>
              <a:t> nói rõ chưa tìm hiểu nội dung đó, không đoán.</a:t>
            </a:r>
          </a:p>
        </p:txBody>
      </p:sp>
      <p:sp>
        <p:nvSpPr>
          <p:cNvPr id="21" name="Oval 20"/>
          <p:cNvSpPr/>
          <p:nvPr/>
        </p:nvSpPr>
        <p:spPr>
          <a:xfrm>
            <a:off x="6446520" y="4784598"/>
            <a:ext cx="310896" cy="310896"/>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4</a:t>
            </a:r>
          </a:p>
        </p:txBody>
      </p:sp>
      <p:sp>
        <p:nvSpPr>
          <p:cNvPr id="22" name="TextBox 21"/>
          <p:cNvSpPr txBox="1"/>
          <p:nvPr/>
        </p:nvSpPr>
        <p:spPr>
          <a:xfrm>
            <a:off x="6858000" y="4766310"/>
            <a:ext cx="4873752" cy="857250"/>
          </a:xfrm>
          <a:prstGeom prst="rect">
            <a:avLst/>
          </a:prstGeom>
          <a:noFill/>
        </p:spPr>
        <p:txBody>
          <a:bodyPr wrap="square" lIns="45720" rIns="45720" tIns="27432" bIns="27432" anchor="t">
            <a:spAutoFit/>
          </a:bodyPr>
          <a:lstStyle/>
          <a:p>
            <a:pPr algn="l"/>
            <a:r>
              <a:rPr sz="1350" b="1" i="0">
                <a:solidFill>
                  <a:srgbClr val="58595B"/>
                </a:solidFill>
                <a:latin typeface="Arial"/>
              </a:rPr>
              <a:t>Không bao giờ:</a:t>
            </a:r>
            <a:r>
              <a:rPr sz="1350" b="0" i="0">
                <a:solidFill>
                  <a:srgbClr val="58595B"/>
                </a:solidFill>
                <a:latin typeface="Arial"/>
              </a:rPr>
              <a:t> tranh cãi, đổ lỗi cho GVHD, người trả lời hay phần mềm; tự phủ nhận khóa luận.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BẢO VỆ | CÂU HỎI CỦA HỘI ĐỒNG</a:t>
            </a:r>
          </a:p>
        </p:txBody>
      </p:sp>
      <p:sp>
        <p:nvSpPr>
          <p:cNvPr id="3" name="Rounded Rectangle 2"/>
          <p:cNvSpPr/>
          <p:nvPr/>
        </p:nvSpPr>
        <p:spPr>
          <a:xfrm>
            <a:off x="10739628" y="219456"/>
            <a:ext cx="992124" cy="310896"/>
          </a:xfrm>
          <a:prstGeom prst="roundRect">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1" i="0">
                <a:solidFill>
                  <a:srgbClr val="CC0000"/>
                </a:solidFill>
                <a:latin typeface="Arial"/>
              </a:rPr>
              <a:t>NGÂN HÀNG X</a:t>
            </a:r>
          </a:p>
        </p:txBody>
      </p:sp>
      <p:sp>
        <p:nvSpPr>
          <p:cNvPr id="4" name="TextBox 3"/>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Phần lớn câu hỏi của Hội đồng rơi vào năm nhóm và căn cứ trả lời nằm sẵn ở một chương cụ thể</a:t>
            </a:r>
          </a:p>
        </p:txBody>
      </p:sp>
      <p:cxnSp>
        <p:nvCxnSpPr>
          <p:cNvPr id="5" name="Connector 4"/>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Lập ít nhất 10 câu hỏi dự kiến theo năm nhóm, mỗi câu có câu trả lời bốn bước và số trang căn cứ trong khóa luận.</a:t>
            </a:r>
          </a:p>
        </p:txBody>
      </p:sp>
      <p:sp>
        <p:nvSpPr>
          <p:cNvPr id="10" name="TextBox 9"/>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Phần 10, mục B và Bảng 10-2; Cortazzi và Jin (2021, tr. 11 đến 15)</a:t>
            </a:r>
          </a:p>
        </p:txBody>
      </p:sp>
      <p:sp>
        <p:nvSpPr>
          <p:cNvPr id="11" name="TextBox 10"/>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118</a:t>
            </a:r>
          </a:p>
        </p:txBody>
      </p:sp>
      <p:graphicFrame>
        <p:nvGraphicFramePr>
          <p:cNvPr id="12" name="Table 11"/>
          <p:cNvGraphicFramePr>
            <a:graphicFrameLocks noGrp="1"/>
          </p:cNvGraphicFramePr>
          <p:nvPr/>
        </p:nvGraphicFramePr>
        <p:xfrm>
          <a:off x="457200" y="1783080"/>
          <a:ext cx="11274550" cy="3246120"/>
        </p:xfrm>
        <a:graphic>
          <a:graphicData uri="http://schemas.openxmlformats.org/drawingml/2006/table">
            <a:tbl>
              <a:tblPr firstRow="1" bandRow="1">
                <a:tableStyleId>{5C22544A-7EE6-4342-B048-85BDC9FD1C3A}</a:tableStyleId>
              </a:tblPr>
              <a:tblGrid>
                <a:gridCol w="2423501"/>
                <a:gridCol w="4847003"/>
                <a:gridCol w="4004046"/>
              </a:tblGrid>
              <a:tr h="411480">
                <a:tc>
                  <a:txBody>
                    <a:bodyPr wrap="square"/>
                    <a:lstStyle/>
                    <a:p>
                      <a:pPr algn="l"/>
                      <a:r>
                        <a:rPr sz="1200" b="1">
                          <a:solidFill>
                            <a:srgbClr val="FFFFFF"/>
                          </a:solidFill>
                          <a:latin typeface="Arial"/>
                        </a:rPr>
                        <a:t>Nhóm câu hỏi</a:t>
                      </a:r>
                    </a:p>
                  </a:txBody>
                  <a:tcPr marL="73152" marR="73152" marT="27432" marB="27432" anchor="ctr">
                    <a:solidFill>
                      <a:srgbClr val="262626"/>
                    </a:solidFill>
                  </a:tcPr>
                </a:tc>
                <a:tc>
                  <a:txBody>
                    <a:bodyPr wrap="square"/>
                    <a:lstStyle/>
                    <a:p>
                      <a:pPr algn="l"/>
                      <a:r>
                        <a:rPr sz="1200" b="1">
                          <a:solidFill>
                            <a:srgbClr val="FFFFFF"/>
                          </a:solidFill>
                          <a:latin typeface="Arial"/>
                        </a:rPr>
                        <a:t>Ví dụ câu hỏi</a:t>
                      </a:r>
                    </a:p>
                  </a:txBody>
                  <a:tcPr marL="73152" marR="73152" marT="27432" marB="27432" anchor="ctr">
                    <a:solidFill>
                      <a:srgbClr val="262626"/>
                    </a:solidFill>
                  </a:tcPr>
                </a:tc>
                <a:tc>
                  <a:txBody>
                    <a:bodyPr wrap="square"/>
                    <a:lstStyle/>
                    <a:p>
                      <a:pPr algn="l"/>
                      <a:r>
                        <a:rPr sz="1200" b="1">
                          <a:solidFill>
                            <a:srgbClr val="FFFFFF"/>
                          </a:solidFill>
                          <a:latin typeface="Arial"/>
                        </a:rPr>
                        <a:t>Căn cứ nằm ở</a:t>
                      </a:r>
                    </a:p>
                  </a:txBody>
                  <a:tcPr marL="73152" marR="73152" marT="27432" marB="27432" anchor="ctr">
                    <a:solidFill>
                      <a:srgbClr val="262626"/>
                    </a:solidFill>
                  </a:tcPr>
                </a:tc>
              </a:tr>
              <a:tr h="566928">
                <a:tc>
                  <a:txBody>
                    <a:bodyPr wrap="square"/>
                    <a:lstStyle/>
                    <a:p>
                      <a:pPr algn="l"/>
                      <a:r>
                        <a:rPr sz="1200" b="0">
                          <a:solidFill>
                            <a:srgbClr val="262626"/>
                          </a:solidFill>
                          <a:latin typeface="Arial"/>
                        </a:rPr>
                        <a:t>Đề tài và ý nghĩa</a:t>
                      </a:r>
                    </a:p>
                  </a:txBody>
                  <a:tcPr marL="73152" marR="73152" marT="27432" marB="27432" anchor="ctr">
                    <a:solidFill>
                      <a:srgbClr val="FFFFFF"/>
                    </a:solidFill>
                  </a:tcPr>
                </a:tc>
                <a:tc>
                  <a:txBody>
                    <a:bodyPr wrap="square"/>
                    <a:lstStyle/>
                    <a:p>
                      <a:pPr algn="l"/>
                      <a:r>
                        <a:rPr sz="1200" b="0">
                          <a:solidFill>
                            <a:srgbClr val="262626"/>
                          </a:solidFill>
                          <a:latin typeface="Arial"/>
                        </a:rPr>
                        <a:t>Vì sao chọn đề tài này? Vấn đề thực tế là gì?</a:t>
                      </a:r>
                    </a:p>
                  </a:txBody>
                  <a:tcPr marL="73152" marR="73152" marT="27432" marB="27432" anchor="ctr">
                    <a:solidFill>
                      <a:srgbClr val="FFFFFF"/>
                    </a:solidFill>
                  </a:tcPr>
                </a:tc>
                <a:tc>
                  <a:txBody>
                    <a:bodyPr wrap="square"/>
                    <a:lstStyle/>
                    <a:p>
                      <a:pPr algn="l"/>
                      <a:r>
                        <a:rPr sz="1200" b="0">
                          <a:solidFill>
                            <a:srgbClr val="262626"/>
                          </a:solidFill>
                          <a:latin typeface="Arial"/>
                        </a:rPr>
                        <a:t>Chương 1: lý do chọn đề tài, số liệu có nguồn</a:t>
                      </a:r>
                    </a:p>
                  </a:txBody>
                  <a:tcPr marL="73152" marR="73152" marT="27432" marB="27432" anchor="ctr">
                    <a:solidFill>
                      <a:srgbClr val="FFFFFF"/>
                    </a:solidFill>
                  </a:tcPr>
                </a:tc>
              </a:tr>
              <a:tr h="566928">
                <a:tc>
                  <a:txBody>
                    <a:bodyPr wrap="square"/>
                    <a:lstStyle/>
                    <a:p>
                      <a:pPr algn="l"/>
                      <a:r>
                        <a:rPr sz="1200" b="0">
                          <a:solidFill>
                            <a:srgbClr val="262626"/>
                          </a:solidFill>
                          <a:latin typeface="Arial"/>
                        </a:rPr>
                        <a:t>Lý thuyết và mô hình</a:t>
                      </a:r>
                    </a:p>
                  </a:txBody>
                  <a:tcPr marL="73152" marR="73152" marT="27432" marB="27432" anchor="ctr">
                    <a:solidFill>
                      <a:srgbClr val="F3F3F3"/>
                    </a:solidFill>
                  </a:tcPr>
                </a:tc>
                <a:tc>
                  <a:txBody>
                    <a:bodyPr wrap="square"/>
                    <a:lstStyle/>
                    <a:p>
                      <a:pPr algn="l"/>
                      <a:r>
                        <a:rPr sz="1200" b="0">
                          <a:solidFill>
                            <a:srgbClr val="262626"/>
                          </a:solidFill>
                          <a:latin typeface="Arial"/>
                        </a:rPr>
                        <a:t>Vì sao chọn bốn yếu tố này? Vì sao không có chi phí?</a:t>
                      </a:r>
                    </a:p>
                  </a:txBody>
                  <a:tcPr marL="73152" marR="73152" marT="27432" marB="27432" anchor="ctr">
                    <a:solidFill>
                      <a:srgbClr val="F3F3F3"/>
                    </a:solidFill>
                  </a:tcPr>
                </a:tc>
                <a:tc>
                  <a:txBody>
                    <a:bodyPr wrap="square"/>
                    <a:lstStyle/>
                    <a:p>
                      <a:pPr algn="l"/>
                      <a:r>
                        <a:rPr sz="1200" b="0">
                          <a:solidFill>
                            <a:srgbClr val="262626"/>
                          </a:solidFill>
                          <a:latin typeface="Arial"/>
                        </a:rPr>
                        <a:t>Chương 2: bảng giả thuyết, khoảng trống</a:t>
                      </a:r>
                    </a:p>
                  </a:txBody>
                  <a:tcPr marL="73152" marR="73152" marT="27432" marB="27432" anchor="ctr">
                    <a:solidFill>
                      <a:srgbClr val="F3F3F3"/>
                    </a:solidFill>
                  </a:tcPr>
                </a:tc>
              </a:tr>
              <a:tr h="566928">
                <a:tc>
                  <a:txBody>
                    <a:bodyPr wrap="square"/>
                    <a:lstStyle/>
                    <a:p>
                      <a:pPr algn="l"/>
                      <a:r>
                        <a:rPr sz="1200" b="0">
                          <a:solidFill>
                            <a:srgbClr val="262626"/>
                          </a:solidFill>
                          <a:latin typeface="Arial"/>
                        </a:rPr>
                        <a:t>Phương pháp</a:t>
                      </a:r>
                    </a:p>
                  </a:txBody>
                  <a:tcPr marL="73152" marR="73152" marT="27432" marB="27432" anchor="ctr">
                    <a:solidFill>
                      <a:srgbClr val="FFFFFF"/>
                    </a:solidFill>
                  </a:tcPr>
                </a:tc>
                <a:tc>
                  <a:txBody>
                    <a:bodyPr wrap="square"/>
                    <a:lstStyle/>
                    <a:p>
                      <a:pPr algn="l"/>
                      <a:r>
                        <a:rPr sz="1200" b="0">
                          <a:solidFill>
                            <a:srgbClr val="262626"/>
                          </a:solidFill>
                          <a:latin typeface="Arial"/>
                        </a:rPr>
                        <a:t>Vì sao mẫu thuận tiện? Vì sao 150 người? Vì sao Excel?</a:t>
                      </a:r>
                    </a:p>
                  </a:txBody>
                  <a:tcPr marL="73152" marR="73152" marT="27432" marB="27432" anchor="ctr">
                    <a:solidFill>
                      <a:srgbClr val="FFFFFF"/>
                    </a:solidFill>
                  </a:tcPr>
                </a:tc>
                <a:tc>
                  <a:txBody>
                    <a:bodyPr wrap="square"/>
                    <a:lstStyle/>
                    <a:p>
                      <a:pPr algn="l"/>
                      <a:r>
                        <a:rPr sz="1200" b="0">
                          <a:solidFill>
                            <a:srgbClr val="262626"/>
                          </a:solidFill>
                          <a:latin typeface="Arial"/>
                        </a:rPr>
                        <a:t>Chương 3: chọn mẫu, cỡ mẫu, công cụ</a:t>
                      </a:r>
                    </a:p>
                  </a:txBody>
                  <a:tcPr marL="73152" marR="73152" marT="27432" marB="27432" anchor="ctr">
                    <a:solidFill>
                      <a:srgbClr val="FFFFFF"/>
                    </a:solidFill>
                  </a:tcPr>
                </a:tc>
              </a:tr>
              <a:tr h="566928">
                <a:tc>
                  <a:txBody>
                    <a:bodyPr wrap="square"/>
                    <a:lstStyle/>
                    <a:p>
                      <a:pPr algn="l"/>
                      <a:r>
                        <a:rPr sz="1200" b="0">
                          <a:solidFill>
                            <a:srgbClr val="262626"/>
                          </a:solidFill>
                          <a:latin typeface="Arial"/>
                        </a:rPr>
                        <a:t>Kết quả</a:t>
                      </a:r>
                    </a:p>
                  </a:txBody>
                  <a:tcPr marL="73152" marR="73152" marT="27432" marB="27432" anchor="ctr">
                    <a:solidFill>
                      <a:srgbClr val="F3F3F3"/>
                    </a:solidFill>
                  </a:tcPr>
                </a:tc>
                <a:tc>
                  <a:txBody>
                    <a:bodyPr wrap="square"/>
                    <a:lstStyle/>
                    <a:p>
                      <a:pPr algn="l"/>
                      <a:r>
                        <a:rPr sz="1200" b="0">
                          <a:solidFill>
                            <a:srgbClr val="262626"/>
                          </a:solidFill>
                          <a:latin typeface="Arial"/>
                        </a:rPr>
                        <a:t>Vì sao H2 không được ủng hộ? B và β khác nhau thế nào?</a:t>
                      </a:r>
                    </a:p>
                  </a:txBody>
                  <a:tcPr marL="73152" marR="73152" marT="27432" marB="27432" anchor="ctr">
                    <a:solidFill>
                      <a:srgbClr val="F3F3F3"/>
                    </a:solidFill>
                  </a:tcPr>
                </a:tc>
                <a:tc>
                  <a:txBody>
                    <a:bodyPr wrap="square"/>
                    <a:lstStyle/>
                    <a:p>
                      <a:pPr algn="l"/>
                      <a:r>
                        <a:rPr sz="1200" b="0">
                          <a:solidFill>
                            <a:srgbClr val="262626"/>
                          </a:solidFill>
                          <a:latin typeface="Arial"/>
                        </a:rPr>
                        <a:t>Chương 4: mục 4.4, mục 4.5.3</a:t>
                      </a:r>
                    </a:p>
                  </a:txBody>
                  <a:tcPr marL="73152" marR="73152" marT="27432" marB="27432" anchor="ctr">
                    <a:solidFill>
                      <a:srgbClr val="F3F3F3"/>
                    </a:solidFill>
                  </a:tcPr>
                </a:tc>
              </a:tr>
              <a:tr h="566928">
                <a:tc>
                  <a:txBody>
                    <a:bodyPr wrap="square"/>
                    <a:lstStyle/>
                    <a:p>
                      <a:pPr algn="l"/>
                      <a:r>
                        <a:rPr sz="1200" b="0">
                          <a:solidFill>
                            <a:srgbClr val="262626"/>
                          </a:solidFill>
                          <a:latin typeface="Arial"/>
                        </a:rPr>
                        <a:t>Đóng góp và áp dụng</a:t>
                      </a:r>
                    </a:p>
                  </a:txBody>
                  <a:tcPr marL="73152" marR="73152" marT="27432" marB="27432" anchor="ctr">
                    <a:solidFill>
                      <a:srgbClr val="FFFFFF"/>
                    </a:solidFill>
                  </a:tcPr>
                </a:tc>
                <a:tc>
                  <a:txBody>
                    <a:bodyPr wrap="square"/>
                    <a:lstStyle/>
                    <a:p>
                      <a:pPr algn="l"/>
                      <a:r>
                        <a:rPr sz="1200" b="0">
                          <a:solidFill>
                            <a:srgbClr val="262626"/>
                          </a:solidFill>
                          <a:latin typeface="Arial"/>
                        </a:rPr>
                        <a:t>Ngân hàng X nên làm gì trước? Dùng cho ngân hàng khác được không?</a:t>
                      </a:r>
                    </a:p>
                  </a:txBody>
                  <a:tcPr marL="73152" marR="73152" marT="27432" marB="27432" anchor="ctr">
                    <a:solidFill>
                      <a:srgbClr val="FFFFFF"/>
                    </a:solidFill>
                  </a:tcPr>
                </a:tc>
                <a:tc>
                  <a:txBody>
                    <a:bodyPr wrap="square"/>
                    <a:lstStyle/>
                    <a:p>
                      <a:pPr algn="l"/>
                      <a:r>
                        <a:rPr sz="1200" b="0">
                          <a:solidFill>
                            <a:srgbClr val="262626"/>
                          </a:solidFill>
                          <a:latin typeface="Arial"/>
                        </a:rPr>
                        <a:t>Chương 5: ma trận ưu tiên, hạn chế</a:t>
                      </a:r>
                    </a:p>
                  </a:txBody>
                  <a:tcPr marL="73152" marR="73152" marT="27432" marB="27432" anchor="ctr">
                    <a:solidFill>
                      <a:srgbClr val="FFFFFF"/>
                    </a:solidFill>
                  </a:tcPr>
                </a:tc>
              </a:tr>
            </a:tbl>
          </a:graphicData>
        </a:graphic>
      </p:graphicFrame>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7772400" cy="274320"/>
          </a:xfrm>
          <a:prstGeom prst="rect">
            <a:avLst/>
          </a:prstGeom>
          <a:noFill/>
        </p:spPr>
        <p:txBody>
          <a:bodyPr wrap="square" lIns="45720" rIns="45720" tIns="27432" bIns="27432" anchor="t">
            <a:spAutoFit/>
          </a:bodyPr>
          <a:lstStyle/>
          <a:p>
            <a:pPr algn="l"/>
            <a:r>
              <a:rPr sz="1000" b="1" i="0">
                <a:solidFill>
                  <a:srgbClr val="9E9E9E"/>
                </a:solidFill>
                <a:latin typeface="Arial"/>
              </a:rPr>
              <a:t>TỔNG KẾT BUỔI HỌC</a:t>
            </a:r>
          </a:p>
        </p:txBody>
      </p:sp>
      <p:sp>
        <p:nvSpPr>
          <p:cNvPr id="3" name="TextBox 2"/>
          <p:cNvSpPr txBox="1"/>
          <p:nvPr/>
        </p:nvSpPr>
        <p:spPr>
          <a:xfrm>
            <a:off x="457200" y="566928"/>
            <a:ext cx="11247120" cy="914400"/>
          </a:xfrm>
          <a:prstGeom prst="rect">
            <a:avLst/>
          </a:prstGeom>
          <a:noFill/>
        </p:spPr>
        <p:txBody>
          <a:bodyPr wrap="square" lIns="45720" rIns="45720" tIns="27432" bIns="27432" anchor="ctr">
            <a:spAutoFit/>
          </a:bodyPr>
          <a:lstStyle/>
          <a:p>
            <a:pPr algn="l"/>
            <a:r>
              <a:rPr sz="2400" b="1" i="0">
                <a:solidFill>
                  <a:srgbClr val="262626"/>
                </a:solidFill>
                <a:latin typeface="Arial"/>
              </a:rPr>
              <a:t>Khóa luận đạt là khóa luận khép vòng: câu hỏi ở trang đầu được trả lời ở trang cuối bằng dữ liệu đáng tin</a:t>
            </a:r>
          </a:p>
        </p:txBody>
      </p:sp>
      <p:cxnSp>
        <p:nvCxnSpPr>
          <p:cNvPr id="4" name="Connector 3"/>
          <p:cNvCxnSpPr/>
          <p:nvPr/>
        </p:nvCxnSpPr>
        <p:spPr>
          <a:xfrm>
            <a:off x="457200" y="1554480"/>
            <a:ext cx="11274552"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1554480"/>
            <a:ext cx="1097280" cy="0"/>
          </a:xfrm>
          <a:prstGeom prst="line">
            <a:avLst/>
          </a:prstGeom>
          <a:ln w="38100">
            <a:solidFill>
              <a:srgbClr val="CC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5760720"/>
            <a:ext cx="11274552" cy="56692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760720"/>
            <a:ext cx="73152"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760720"/>
            <a:ext cx="10972800" cy="566928"/>
          </a:xfrm>
          <a:prstGeom prst="rect">
            <a:avLst/>
          </a:prstGeom>
          <a:noFill/>
        </p:spPr>
        <p:txBody>
          <a:bodyPr wrap="square" lIns="45720" rIns="45720" tIns="27432" bIns="27432" anchor="ctr">
            <a:spAutoFit/>
          </a:bodyPr>
          <a:lstStyle/>
          <a:p>
            <a:pPr algn="l"/>
            <a:r>
              <a:rPr sz="1350" b="1" i="0">
                <a:solidFill>
                  <a:srgbClr val="262626"/>
                </a:solidFill>
                <a:latin typeface="Arial"/>
              </a:rPr>
              <a:t>Sự nhất quán quan trọng hơn độ phức tạp: kết luận khớp câu hỏi, hàm ý chỉ dựa trên kết quả có ý nghĩa thống kê.</a:t>
            </a:r>
          </a:p>
        </p:txBody>
      </p:sp>
      <p:sp>
        <p:nvSpPr>
          <p:cNvPr id="9" name="TextBox 8"/>
          <p:cNvSpPr txBox="1"/>
          <p:nvPr/>
        </p:nvSpPr>
        <p:spPr>
          <a:xfrm>
            <a:off x="457200" y="6419088"/>
            <a:ext cx="10241280" cy="274320"/>
          </a:xfrm>
          <a:prstGeom prst="rect">
            <a:avLst/>
          </a:prstGeom>
          <a:noFill/>
        </p:spPr>
        <p:txBody>
          <a:bodyPr wrap="square" lIns="45720" rIns="45720" tIns="27432" bIns="27432" anchor="t">
            <a:spAutoFit/>
          </a:bodyPr>
          <a:lstStyle/>
          <a:p>
            <a:pPr algn="l"/>
            <a:r>
              <a:rPr sz="900" b="0" i="0">
                <a:solidFill>
                  <a:srgbClr val="9E9E9E"/>
                </a:solidFill>
                <a:latin typeface="Arial"/>
              </a:rPr>
              <a:t>Nguồn: Hướng dẫn Chuyên đề và Khóa luận tốt nghiệp, Lời kết và khung POINT cuối Phần 5</a:t>
            </a:r>
          </a:p>
        </p:txBody>
      </p:sp>
      <p:sp>
        <p:nvSpPr>
          <p:cNvPr id="10" name="TextBox 9"/>
          <p:cNvSpPr txBox="1"/>
          <p:nvPr/>
        </p:nvSpPr>
        <p:spPr>
          <a:xfrm>
            <a:off x="11155680" y="6419088"/>
            <a:ext cx="576072" cy="274320"/>
          </a:xfrm>
          <a:prstGeom prst="rect">
            <a:avLst/>
          </a:prstGeom>
          <a:noFill/>
        </p:spPr>
        <p:txBody>
          <a:bodyPr wrap="square" lIns="45720" rIns="45720" tIns="27432" bIns="27432" anchor="t">
            <a:spAutoFit/>
          </a:bodyPr>
          <a:lstStyle/>
          <a:p>
            <a:pPr algn="r"/>
            <a:r>
              <a:rPr sz="900" b="0" i="0">
                <a:solidFill>
                  <a:srgbClr val="9E9E9E"/>
                </a:solidFill>
                <a:latin typeface="Arial"/>
              </a:rPr>
              <a:t>119</a:t>
            </a:r>
          </a:p>
        </p:txBody>
      </p:sp>
      <p:sp>
        <p:nvSpPr>
          <p:cNvPr id="11" name="Rectangle 10"/>
          <p:cNvSpPr/>
          <p:nvPr/>
        </p:nvSpPr>
        <p:spPr>
          <a:xfrm>
            <a:off x="457200"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1</a:t>
            </a:r>
          </a:p>
        </p:txBody>
      </p:sp>
      <p:sp>
        <p:nvSpPr>
          <p:cNvPr id="13" name="TextBox 12"/>
          <p:cNvSpPr txBox="1"/>
          <p:nvPr/>
        </p:nvSpPr>
        <p:spPr>
          <a:xfrm>
            <a:off x="960120"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Hỏi đúng</a:t>
            </a:r>
          </a:p>
        </p:txBody>
      </p:sp>
      <p:sp>
        <p:nvSpPr>
          <p:cNvPr id="14" name="TextBox 13"/>
          <p:cNvSpPr txBox="1"/>
          <p:nvPr/>
        </p:nvSpPr>
        <p:spPr>
          <a:xfrm>
            <a:off x="457200" y="2560320"/>
            <a:ext cx="3575304" cy="3017520"/>
          </a:xfrm>
          <a:prstGeom prst="rect">
            <a:avLst/>
          </a:prstGeom>
          <a:noFill/>
        </p:spPr>
        <p:txBody>
          <a:bodyPr wrap="square" lIns="45720" rIns="45720" tIns="27432" bIns="27432" anchor="t">
            <a:spAutoFit/>
          </a:bodyPr>
          <a:lstStyle/>
          <a:p>
            <a:pPr algn="l"/>
            <a:r>
              <a:rPr sz="1400" b="0" i="0">
                <a:solidFill>
                  <a:srgbClr val="58595B"/>
                </a:solidFill>
                <a:latin typeface="Arial"/>
              </a:rPr>
              <a:t>Phần mở đầu và Chương 1: vấn đề có số liệu, mục tiêu có động từ hành động, câu hỏi ghép cặp một với một.</a:t>
            </a:r>
          </a:p>
        </p:txBody>
      </p:sp>
      <p:sp>
        <p:nvSpPr>
          <p:cNvPr id="15" name="Rectangle 14"/>
          <p:cNvSpPr/>
          <p:nvPr/>
        </p:nvSpPr>
        <p:spPr>
          <a:xfrm>
            <a:off x="4306824" y="1783080"/>
            <a:ext cx="3575304" cy="457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6824"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2</a:t>
            </a:r>
          </a:p>
        </p:txBody>
      </p:sp>
      <p:sp>
        <p:nvSpPr>
          <p:cNvPr id="17" name="TextBox 16"/>
          <p:cNvSpPr txBox="1"/>
          <p:nvPr/>
        </p:nvSpPr>
        <p:spPr>
          <a:xfrm>
            <a:off x="4809744"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Dự đoán có căn cứ</a:t>
            </a:r>
          </a:p>
        </p:txBody>
      </p:sp>
      <p:sp>
        <p:nvSpPr>
          <p:cNvPr id="18" name="TextBox 17"/>
          <p:cNvSpPr txBox="1"/>
          <p:nvPr/>
        </p:nvSpPr>
        <p:spPr>
          <a:xfrm>
            <a:off x="4306824" y="2560320"/>
            <a:ext cx="3575304" cy="3017520"/>
          </a:xfrm>
          <a:prstGeom prst="rect">
            <a:avLst/>
          </a:prstGeom>
          <a:noFill/>
        </p:spPr>
        <p:txBody>
          <a:bodyPr wrap="square" lIns="45720" rIns="45720" tIns="27432" bIns="27432" anchor="t">
            <a:spAutoFit/>
          </a:bodyPr>
          <a:lstStyle/>
          <a:p>
            <a:pPr algn="l"/>
            <a:r>
              <a:rPr sz="1400" b="0" i="0">
                <a:solidFill>
                  <a:srgbClr val="58595B"/>
                </a:solidFill>
                <a:latin typeface="Arial"/>
              </a:rPr>
              <a:t>Chương 2 và Chương 3: mỗi biến có lý thuyết gốc, mỗi mũi tên một giả thuyết có chiều, mỗi lựa chọn có câu "vì sao".</a:t>
            </a:r>
          </a:p>
        </p:txBody>
      </p:sp>
      <p:sp>
        <p:nvSpPr>
          <p:cNvPr id="19" name="Rectangle 18"/>
          <p:cNvSpPr/>
          <p:nvPr/>
        </p:nvSpPr>
        <p:spPr>
          <a:xfrm>
            <a:off x="8156448" y="1783080"/>
            <a:ext cx="3575304"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6448" y="1984248"/>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3</a:t>
            </a:r>
          </a:p>
        </p:txBody>
      </p:sp>
      <p:sp>
        <p:nvSpPr>
          <p:cNvPr id="21" name="TextBox 20"/>
          <p:cNvSpPr txBox="1"/>
          <p:nvPr/>
        </p:nvSpPr>
        <p:spPr>
          <a:xfrm>
            <a:off x="8659368" y="1938528"/>
            <a:ext cx="3072384" cy="502920"/>
          </a:xfrm>
          <a:prstGeom prst="rect">
            <a:avLst/>
          </a:prstGeom>
          <a:noFill/>
        </p:spPr>
        <p:txBody>
          <a:bodyPr wrap="square" lIns="45720" rIns="45720" tIns="27432" bIns="27432" anchor="ctr">
            <a:spAutoFit/>
          </a:bodyPr>
          <a:lstStyle/>
          <a:p>
            <a:pPr algn="l"/>
            <a:r>
              <a:rPr sz="1500" b="1" i="0">
                <a:solidFill>
                  <a:srgbClr val="262626"/>
                </a:solidFill>
                <a:latin typeface="Arial"/>
              </a:rPr>
              <a:t>Trả lời trung thực</a:t>
            </a:r>
          </a:p>
        </p:txBody>
      </p:sp>
      <p:sp>
        <p:nvSpPr>
          <p:cNvPr id="22" name="TextBox 21"/>
          <p:cNvSpPr txBox="1"/>
          <p:nvPr/>
        </p:nvSpPr>
        <p:spPr>
          <a:xfrm>
            <a:off x="8156448" y="2560320"/>
            <a:ext cx="3575304" cy="3017520"/>
          </a:xfrm>
          <a:prstGeom prst="rect">
            <a:avLst/>
          </a:prstGeom>
          <a:noFill/>
        </p:spPr>
        <p:txBody>
          <a:bodyPr wrap="square" lIns="45720" rIns="45720" tIns="27432" bIns="27432" anchor="t">
            <a:spAutoFit/>
          </a:bodyPr>
          <a:lstStyle/>
          <a:p>
            <a:pPr algn="l"/>
            <a:r>
              <a:rPr sz="1400" b="0" i="0">
                <a:solidFill>
                  <a:srgbClr val="58595B"/>
                </a:solidFill>
                <a:latin typeface="Arial"/>
              </a:rPr>
              <a:t>Chương 4 và Chương 5: diễn giải bốn bước, kết luận bằng dấu và P-value, giải thích kết quả bất ngờ, hàm ý có thứ tự.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