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51"/>
    <p:restoredTop sz="94610"/>
  </p:normalViewPr>
  <p:slideViewPr>
    <p:cSldViewPr snapToGrid="0" snapToObjects="1">
      <p:cViewPr varScale="1">
        <p:scale>
          <a:sx n="130" d="100"/>
          <a:sy n="130" d="100"/>
        </p:scale>
        <p:origin x="192" y="2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notesMaster" Target="notesMasters/notesMaster1.xml"/><Relationship Id="rId101" Type="http://schemas.openxmlformats.org/officeDocument/2006/relationships/presProps" Target="presProps.xml"/><Relationship Id="rId102" Type="http://schemas.openxmlformats.org/officeDocument/2006/relationships/viewProps" Target="viewProps.xml"/><Relationship Id="rId103" Type="http://schemas.openxmlformats.org/officeDocument/2006/relationships/theme" Target="theme/theme1.xml"/><Relationship Id="rId10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199410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 Id="rId3"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3" name="Text 1"/>
          <p:cNvSpPr txBox="1"/>
          <p:nvPr/>
        </p:nvSpPr>
        <p:spPr>
          <a:xfrm>
            <a:off x="528284" y="324467"/>
            <a:ext cx="10515600" cy="2635044"/>
          </a:xfrm>
          <a:prstGeom prst="rect">
            <a:avLst/>
          </a:prstGeom>
          <a:noFill/>
          <a:ln/>
        </p:spPr>
        <p:txBody>
          <a:bodyPr wrap="square" lIns="0" tIns="0" rIns="0" bIns="0" rtlCol="0" anchor="ctr"/>
          <a:lstStyle/>
          <a:p>
            <a:pPr marL="0" indent="0">
              <a:buNone/>
            </a:pPr>
            <a:r>
              <a:rPr lang="vi-VN" sz="4800" b="1" dirty="0">
                <a:solidFill>
                  <a:srgbClr val="002060"/>
                </a:solidFill>
                <a:latin typeface="Times New Roman" pitchFamily="34" charset="0"/>
                <a:ea typeface="Times New Roman" pitchFamily="34" charset="-122"/>
                <a:cs typeface="Times New Roman" pitchFamily="34" charset="-120"/>
              </a:rPr>
              <a:t>HƯỚNG DẪN THỰC HIỆN</a:t>
            </a:r>
          </a:p>
          <a:p>
            <a:pPr marL="0" indent="0">
              <a:buNone/>
            </a:pPr>
            <a:r>
              <a:rPr lang="vi-VN" sz="4800" b="1" dirty="0">
                <a:solidFill>
                  <a:srgbClr val="002060"/>
                </a:solidFill>
                <a:latin typeface="Times New Roman" pitchFamily="34" charset="0"/>
                <a:ea typeface="Times New Roman" pitchFamily="34" charset="-122"/>
                <a:cs typeface="Times New Roman" pitchFamily="34" charset="-120"/>
              </a:rPr>
              <a:t>CHUYÊN ĐỀ / KHÓA LUẬN TỐT NGHIỆP</a:t>
            </a:r>
          </a:p>
        </p:txBody>
      </p:sp>
      <p:sp>
        <p:nvSpPr>
          <p:cNvPr id="4" name="Text 2"/>
          <p:cNvSpPr txBox="1"/>
          <p:nvPr/>
        </p:nvSpPr>
        <p:spPr>
          <a:xfrm>
            <a:off x="502920" y="3636460"/>
            <a:ext cx="10241280" cy="502920"/>
          </a:xfrm>
          <a:prstGeom prst="rect">
            <a:avLst/>
          </a:prstGeom>
          <a:noFill/>
          <a:ln/>
        </p:spPr>
        <p:txBody>
          <a:bodyPr wrap="square" lIns="0" tIns="0" rIns="0" bIns="0" rtlCol="0" anchor="ctr"/>
          <a:lstStyle/>
          <a:p>
            <a:pPr marL="0" indent="0">
              <a:buNone/>
            </a:pPr>
            <a:r>
              <a:rPr lang="en-US" sz="2200" dirty="0">
                <a:solidFill>
                  <a:srgbClr val="1A1A1A"/>
                </a:solidFill>
                <a:latin typeface="Times New Roman" pitchFamily="34" charset="0"/>
                <a:ea typeface="Times New Roman" pitchFamily="34" charset="-122"/>
                <a:cs typeface="Times New Roman" pitchFamily="34" charset="-120"/>
              </a:rPr>
              <a:t>Bức tranh tổng quan về chuyên đề tốt nghiệp và khóa luận tốt nghiệp</a:t>
            </a:r>
            <a:endParaRPr lang="en-US" sz="2200" dirty="0"/>
          </a:p>
        </p:txBody>
      </p:sp>
      <p:sp>
        <p:nvSpPr>
          <p:cNvPr id="5" name="Text 3"/>
          <p:cNvSpPr txBox="1"/>
          <p:nvPr/>
        </p:nvSpPr>
        <p:spPr>
          <a:xfrm>
            <a:off x="502920" y="4227380"/>
            <a:ext cx="9875520" cy="777240"/>
          </a:xfrm>
          <a:prstGeom prst="rect">
            <a:avLst/>
          </a:prstGeom>
          <a:noFill/>
          <a:ln/>
        </p:spPr>
        <p:txBody>
          <a:bodyPr wrap="square" lIns="0" tIns="0" rIns="0" bIns="0" rtlCol="0" anchor="ctr"/>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Tài liệu này giúp sinh viên chưa có nền tảng nghiên cứu khoa học nhìn thấy toàn bộ hành trình từ lúc xác định đề tài đến lúc nộp bản hoàn chỉnh, trước khi đi vào từng kỹ năng chi tiết.</a:t>
            </a:r>
            <a:endParaRPr lang="en-US" sz="2000" dirty="0"/>
          </a:p>
        </p:txBody>
      </p:sp>
      <p:sp>
        <p:nvSpPr>
          <p:cNvPr id="6" name="Shape 4"/>
          <p:cNvSpPr/>
          <p:nvPr/>
        </p:nvSpPr>
        <p:spPr>
          <a:xfrm>
            <a:off x="502920" y="5282380"/>
            <a:ext cx="2625014" cy="123444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649224" y="5392108"/>
            <a:ext cx="2332406" cy="10149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Phạm vi
</a:t>
            </a:r>
            <a:r>
              <a:rPr lang="en-US" sz="1800" dirty="0">
                <a:solidFill>
                  <a:srgbClr val="1A1A1A"/>
                </a:solidFill>
                <a:latin typeface="Times New Roman" pitchFamily="34" charset="0"/>
                <a:ea typeface="Times New Roman" pitchFamily="34" charset="-122"/>
                <a:cs typeface="Times New Roman" pitchFamily="34" charset="-120"/>
              </a:rPr>
              <a:t>Tổng quan định hướng</a:t>
            </a:r>
            <a:endParaRPr lang="en-US" sz="1900" dirty="0"/>
          </a:p>
        </p:txBody>
      </p:sp>
      <p:sp>
        <p:nvSpPr>
          <p:cNvPr id="8" name="Shape 6"/>
          <p:cNvSpPr/>
          <p:nvPr/>
        </p:nvSpPr>
        <p:spPr>
          <a:xfrm>
            <a:off x="3356534" y="5282380"/>
            <a:ext cx="2625014" cy="1234440"/>
          </a:xfrm>
          <a:prstGeom prst="rect">
            <a:avLst/>
          </a:prstGeom>
          <a:solidFill>
            <a:srgbClr val="FFFFFF"/>
          </a:solidFill>
          <a:ln w="19050">
            <a:solidFill>
              <a:srgbClr val="12253F"/>
            </a:solidFill>
            <a:prstDash val="solid"/>
          </a:ln>
        </p:spPr>
        <p:txBody>
          <a:bodyPr/>
          <a:lstStyle/>
          <a:p>
            <a:endParaRPr lang="en-US"/>
          </a:p>
        </p:txBody>
      </p:sp>
      <p:sp>
        <p:nvSpPr>
          <p:cNvPr id="9" name="Text 7"/>
          <p:cNvSpPr txBox="1"/>
          <p:nvPr/>
        </p:nvSpPr>
        <p:spPr>
          <a:xfrm>
            <a:off x="3502838" y="5392108"/>
            <a:ext cx="2332406" cy="10149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Đối tượng
</a:t>
            </a:r>
            <a:r>
              <a:rPr lang="en-US" sz="1800" dirty="0">
                <a:solidFill>
                  <a:srgbClr val="1A1A1A"/>
                </a:solidFill>
                <a:latin typeface="Times New Roman" pitchFamily="34" charset="0"/>
                <a:ea typeface="Times New Roman" pitchFamily="34" charset="-122"/>
                <a:cs typeface="Times New Roman" pitchFamily="34" charset="-120"/>
              </a:rPr>
              <a:t>Sinh viên lần đầu học PPNCKH</a:t>
            </a:r>
            <a:endParaRPr lang="en-US" sz="1900" dirty="0"/>
          </a:p>
        </p:txBody>
      </p:sp>
      <p:sp>
        <p:nvSpPr>
          <p:cNvPr id="10" name="Shape 8"/>
          <p:cNvSpPr/>
          <p:nvPr/>
        </p:nvSpPr>
        <p:spPr>
          <a:xfrm>
            <a:off x="6210148" y="5282380"/>
            <a:ext cx="2625014" cy="1234440"/>
          </a:xfrm>
          <a:prstGeom prst="rect">
            <a:avLst/>
          </a:prstGeom>
          <a:solidFill>
            <a:srgbClr val="FFFFFF"/>
          </a:solidFill>
          <a:ln w="19050">
            <a:solidFill>
              <a:srgbClr val="12253F"/>
            </a:solidFill>
            <a:prstDash val="solid"/>
          </a:ln>
        </p:spPr>
        <p:txBody>
          <a:bodyPr/>
          <a:lstStyle/>
          <a:p>
            <a:endParaRPr lang="en-US"/>
          </a:p>
        </p:txBody>
      </p:sp>
      <p:sp>
        <p:nvSpPr>
          <p:cNvPr id="11" name="Text 9"/>
          <p:cNvSpPr txBox="1"/>
          <p:nvPr/>
        </p:nvSpPr>
        <p:spPr>
          <a:xfrm>
            <a:off x="6356452" y="5392108"/>
            <a:ext cx="2332406" cy="10149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Thời lượng
</a:t>
            </a:r>
            <a:r>
              <a:rPr lang="en-US" sz="1800" dirty="0">
                <a:solidFill>
                  <a:srgbClr val="1A1A1A"/>
                </a:solidFill>
                <a:latin typeface="Times New Roman" pitchFamily="34" charset="0"/>
                <a:ea typeface="Times New Roman" pitchFamily="34" charset="-122"/>
                <a:cs typeface="Times New Roman" pitchFamily="34" charset="-120"/>
              </a:rPr>
              <a:t>Kế hoạch nén 8 tuần</a:t>
            </a:r>
            <a:endParaRPr lang="en-US" sz="1900" dirty="0"/>
          </a:p>
        </p:txBody>
      </p:sp>
      <p:sp>
        <p:nvSpPr>
          <p:cNvPr id="12" name="Shape 10"/>
          <p:cNvSpPr/>
          <p:nvPr/>
        </p:nvSpPr>
        <p:spPr>
          <a:xfrm>
            <a:off x="9063761" y="5282380"/>
            <a:ext cx="2625014" cy="1234440"/>
          </a:xfrm>
          <a:prstGeom prst="rect">
            <a:avLst/>
          </a:prstGeom>
          <a:solidFill>
            <a:srgbClr val="FFFFFF"/>
          </a:solidFill>
          <a:ln w="19050">
            <a:solidFill>
              <a:srgbClr val="12253F"/>
            </a:solidFill>
            <a:prstDash val="solid"/>
          </a:ln>
        </p:spPr>
        <p:txBody>
          <a:bodyPr/>
          <a:lstStyle/>
          <a:p>
            <a:endParaRPr lang="en-US"/>
          </a:p>
        </p:txBody>
      </p:sp>
      <p:sp>
        <p:nvSpPr>
          <p:cNvPr id="13" name="Text 11"/>
          <p:cNvSpPr txBox="1"/>
          <p:nvPr/>
        </p:nvSpPr>
        <p:spPr>
          <a:xfrm>
            <a:off x="9210065" y="5392108"/>
            <a:ext cx="2332406" cy="10149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Bước tiếp theo
</a:t>
            </a:r>
            <a:r>
              <a:rPr lang="en-US" sz="1800" dirty="0">
                <a:solidFill>
                  <a:srgbClr val="1A1A1A"/>
                </a:solidFill>
                <a:latin typeface="Times New Roman" pitchFamily="34" charset="0"/>
                <a:ea typeface="Times New Roman" pitchFamily="34" charset="-122"/>
                <a:cs typeface="Times New Roman" pitchFamily="34" charset="-120"/>
              </a:rPr>
              <a:t>Core Slide 2 và tài liệu Word</a:t>
            </a:r>
            <a:endParaRPr lang="en-US" sz="1900" dirty="0"/>
          </a:p>
        </p:txBody>
      </p:sp>
      <p:sp>
        <p:nvSpPr>
          <p:cNvPr id="14" name="Text 2">
            <a:extLst>
              <a:ext uri="{FF2B5EF4-FFF2-40B4-BE49-F238E27FC236}">
                <a16:creationId xmlns:a16="http://schemas.microsoft.com/office/drawing/2014/main" id="{6EAE89AF-C6CA-EE8D-BD45-ABB198C5E04B}"/>
              </a:ext>
            </a:extLst>
          </p:cNvPr>
          <p:cNvSpPr txBox="1"/>
          <p:nvPr/>
        </p:nvSpPr>
        <p:spPr>
          <a:xfrm>
            <a:off x="498006" y="3041612"/>
            <a:ext cx="10241280" cy="502920"/>
          </a:xfrm>
          <a:prstGeom prst="rect">
            <a:avLst/>
          </a:prstGeom>
          <a:noFill/>
          <a:ln/>
        </p:spPr>
        <p:txBody>
          <a:bodyPr wrap="square" lIns="0" tIns="0" rIns="0" bIns="0" rtlCol="0" anchor="ctr"/>
          <a:lstStyle/>
          <a:p>
            <a:pPr marL="0" indent="0">
              <a:buNone/>
            </a:pPr>
            <a:r>
              <a:rPr lang="en-US" sz="2200" b="1" dirty="0">
                <a:solidFill>
                  <a:srgbClr val="002060"/>
                </a:solidFill>
                <a:latin typeface="Times New Roman" pitchFamily="34" charset="0"/>
                <a:ea typeface="Times New Roman" pitchFamily="34" charset="-122"/>
                <a:cs typeface="Times New Roman" pitchFamily="34" charset="-120"/>
              </a:rPr>
              <a:t>NCS. LÊ ĐÌNH THẮNG</a:t>
            </a:r>
            <a:endParaRPr lang="en-US" sz="2200" b="1" dirty="0">
              <a:solidFill>
                <a:srgbClr val="00206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200" b="1" dirty="0">
                <a:solidFill>
                  <a:srgbClr val="000000"/>
                </a:solidFill>
                <a:latin typeface="Times New Roman" pitchFamily="34" charset="0"/>
                <a:ea typeface="Times New Roman" pitchFamily="34" charset="-122"/>
                <a:cs typeface="Times New Roman" pitchFamily="34" charset="-120"/>
              </a:rPr>
              <a:t>Bản đồ hành trình: sáu chặng từ vấn đề đến bản nộp</a:t>
            </a:r>
            <a:endParaRPr lang="en-US" sz="22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234440"/>
            <a:ext cx="11155680" cy="822960"/>
          </a:xfrm>
          <a:prstGeom prst="rect">
            <a:avLst/>
          </a:prstGeom>
          <a:noFill/>
          <a:ln/>
        </p:spPr>
        <p:txBody>
          <a:bodyPr wrap="square" lIns="0" tIns="0" rIns="0" bIns="0" rtlCol="0" anchor="t"/>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Mỗi chặng đều kết thúc bằng một sản phẩm cụ thể. Sinh viên chỉ nên bước sang chặng kế tiếp khi chặng hiện tại đã có đủ sản phẩm yêu cầu.</a:t>
            </a:r>
            <a:endParaRPr lang="en-US" sz="1400" dirty="0"/>
          </a:p>
        </p:txBody>
      </p:sp>
      <p:sp>
        <p:nvSpPr>
          <p:cNvPr id="5" name="Shape 3"/>
          <p:cNvSpPr/>
          <p:nvPr/>
        </p:nvSpPr>
        <p:spPr>
          <a:xfrm>
            <a:off x="502920" y="1783080"/>
            <a:ext cx="1666189" cy="777240"/>
          </a:xfrm>
          <a:prstGeom prst="roundRect">
            <a:avLst>
              <a:gd name="adj" fmla="val 8235"/>
            </a:avLst>
          </a:prstGeom>
          <a:solidFill>
            <a:srgbClr val="12253F"/>
          </a:solidFill>
          <a:ln w="19050">
            <a:solidFill>
              <a:srgbClr val="12253F"/>
            </a:solidFill>
            <a:prstDash val="solid"/>
          </a:ln>
        </p:spPr>
        <p:txBody>
          <a:bodyPr/>
          <a:lstStyle/>
          <a:p>
            <a:endParaRPr lang="en-US"/>
          </a:p>
        </p:txBody>
      </p:sp>
      <p:sp>
        <p:nvSpPr>
          <p:cNvPr id="6" name="Text 4"/>
          <p:cNvSpPr txBox="1"/>
          <p:nvPr/>
        </p:nvSpPr>
        <p:spPr>
          <a:xfrm>
            <a:off x="557784" y="1783080"/>
            <a:ext cx="1556461"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1. Vấn đề và đề tài</a:t>
            </a:r>
            <a:endParaRPr lang="en-US" sz="1100" dirty="0"/>
          </a:p>
        </p:txBody>
      </p:sp>
      <p:sp>
        <p:nvSpPr>
          <p:cNvPr id="7" name="Shape 5"/>
          <p:cNvSpPr/>
          <p:nvPr/>
        </p:nvSpPr>
        <p:spPr>
          <a:xfrm>
            <a:off x="2214281" y="2016252"/>
            <a:ext cx="147401" cy="310896"/>
          </a:xfrm>
          <a:prstGeom prst="chevron">
            <a:avLst/>
          </a:prstGeom>
          <a:solidFill>
            <a:srgbClr val="1F5C82"/>
          </a:solidFill>
          <a:ln/>
        </p:spPr>
        <p:txBody>
          <a:bodyPr/>
          <a:lstStyle/>
          <a:p>
            <a:endParaRPr lang="en-US"/>
          </a:p>
        </p:txBody>
      </p:sp>
      <p:sp>
        <p:nvSpPr>
          <p:cNvPr id="8" name="Shape 6"/>
          <p:cNvSpPr/>
          <p:nvPr/>
        </p:nvSpPr>
        <p:spPr>
          <a:xfrm>
            <a:off x="2406853" y="1783080"/>
            <a:ext cx="1666189" cy="777240"/>
          </a:xfrm>
          <a:prstGeom prst="roundRect">
            <a:avLst>
              <a:gd name="adj" fmla="val 8235"/>
            </a:avLst>
          </a:prstGeom>
          <a:solidFill>
            <a:srgbClr val="12253F"/>
          </a:solidFill>
          <a:ln w="19050">
            <a:solidFill>
              <a:srgbClr val="12253F"/>
            </a:solidFill>
            <a:prstDash val="solid"/>
          </a:ln>
        </p:spPr>
        <p:txBody>
          <a:bodyPr/>
          <a:lstStyle/>
          <a:p>
            <a:endParaRPr lang="en-US"/>
          </a:p>
        </p:txBody>
      </p:sp>
      <p:sp>
        <p:nvSpPr>
          <p:cNvPr id="9" name="Text 7"/>
          <p:cNvSpPr txBox="1"/>
          <p:nvPr/>
        </p:nvSpPr>
        <p:spPr>
          <a:xfrm>
            <a:off x="2461717" y="1783080"/>
            <a:ext cx="1556461"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2. Research proposal</a:t>
            </a:r>
            <a:endParaRPr lang="en-US" sz="1100" dirty="0"/>
          </a:p>
        </p:txBody>
      </p:sp>
      <p:sp>
        <p:nvSpPr>
          <p:cNvPr id="10" name="Shape 8"/>
          <p:cNvSpPr/>
          <p:nvPr/>
        </p:nvSpPr>
        <p:spPr>
          <a:xfrm>
            <a:off x="4118214" y="2016252"/>
            <a:ext cx="147401" cy="310896"/>
          </a:xfrm>
          <a:prstGeom prst="chevron">
            <a:avLst/>
          </a:prstGeom>
          <a:solidFill>
            <a:srgbClr val="1F5C82"/>
          </a:solidFill>
          <a:ln/>
        </p:spPr>
        <p:txBody>
          <a:bodyPr/>
          <a:lstStyle/>
          <a:p>
            <a:endParaRPr lang="en-US"/>
          </a:p>
        </p:txBody>
      </p:sp>
      <p:sp>
        <p:nvSpPr>
          <p:cNvPr id="11" name="Shape 9"/>
          <p:cNvSpPr/>
          <p:nvPr/>
        </p:nvSpPr>
        <p:spPr>
          <a:xfrm>
            <a:off x="4310786" y="1783080"/>
            <a:ext cx="1666189" cy="777240"/>
          </a:xfrm>
          <a:prstGeom prst="roundRect">
            <a:avLst>
              <a:gd name="adj" fmla="val 8235"/>
            </a:avLst>
          </a:prstGeom>
          <a:solidFill>
            <a:srgbClr val="12253F"/>
          </a:solidFill>
          <a:ln w="19050">
            <a:solidFill>
              <a:srgbClr val="12253F"/>
            </a:solidFill>
            <a:prstDash val="solid"/>
          </a:ln>
        </p:spPr>
        <p:txBody>
          <a:bodyPr/>
          <a:lstStyle/>
          <a:p>
            <a:endParaRPr lang="en-US"/>
          </a:p>
        </p:txBody>
      </p:sp>
      <p:sp>
        <p:nvSpPr>
          <p:cNvPr id="12" name="Text 10"/>
          <p:cNvSpPr txBox="1"/>
          <p:nvPr/>
        </p:nvSpPr>
        <p:spPr>
          <a:xfrm>
            <a:off x="4365650" y="1783080"/>
            <a:ext cx="1556461"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3. Đề cương được duyệt</a:t>
            </a:r>
            <a:endParaRPr lang="en-US" sz="1100" dirty="0"/>
          </a:p>
        </p:txBody>
      </p:sp>
      <p:sp>
        <p:nvSpPr>
          <p:cNvPr id="13" name="Shape 11"/>
          <p:cNvSpPr/>
          <p:nvPr/>
        </p:nvSpPr>
        <p:spPr>
          <a:xfrm>
            <a:off x="6022147" y="2016252"/>
            <a:ext cx="147401" cy="310896"/>
          </a:xfrm>
          <a:prstGeom prst="chevron">
            <a:avLst/>
          </a:prstGeom>
          <a:solidFill>
            <a:srgbClr val="1F5C82"/>
          </a:solidFill>
          <a:ln/>
        </p:spPr>
        <p:txBody>
          <a:bodyPr/>
          <a:lstStyle/>
          <a:p>
            <a:endParaRPr lang="en-US"/>
          </a:p>
        </p:txBody>
      </p:sp>
      <p:sp>
        <p:nvSpPr>
          <p:cNvPr id="14" name="Shape 12"/>
          <p:cNvSpPr/>
          <p:nvPr/>
        </p:nvSpPr>
        <p:spPr>
          <a:xfrm>
            <a:off x="6214720" y="1783080"/>
            <a:ext cx="1666189" cy="777240"/>
          </a:xfrm>
          <a:prstGeom prst="roundRect">
            <a:avLst>
              <a:gd name="adj" fmla="val 8235"/>
            </a:avLst>
          </a:prstGeom>
          <a:solidFill>
            <a:srgbClr val="FFFFFF"/>
          </a:solidFill>
          <a:ln w="19050">
            <a:solidFill>
              <a:srgbClr val="12253F"/>
            </a:solidFill>
            <a:prstDash val="solid"/>
          </a:ln>
        </p:spPr>
        <p:txBody>
          <a:bodyPr/>
          <a:lstStyle/>
          <a:p>
            <a:endParaRPr lang="en-US"/>
          </a:p>
        </p:txBody>
      </p:sp>
      <p:sp>
        <p:nvSpPr>
          <p:cNvPr id="15" name="Text 13"/>
          <p:cNvSpPr txBox="1"/>
          <p:nvPr/>
        </p:nvSpPr>
        <p:spPr>
          <a:xfrm>
            <a:off x="6269584" y="1783080"/>
            <a:ext cx="1556461"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Times New Roman" pitchFamily="34" charset="0"/>
                <a:ea typeface="Times New Roman" pitchFamily="34" charset="-122"/>
                <a:cs typeface="Times New Roman" pitchFamily="34" charset="-120"/>
              </a:rPr>
              <a:t>4. Năm chương nội dung</a:t>
            </a:r>
            <a:endParaRPr lang="en-US" sz="1100" dirty="0"/>
          </a:p>
        </p:txBody>
      </p:sp>
      <p:sp>
        <p:nvSpPr>
          <p:cNvPr id="16" name="Shape 14"/>
          <p:cNvSpPr/>
          <p:nvPr/>
        </p:nvSpPr>
        <p:spPr>
          <a:xfrm>
            <a:off x="7926080" y="2016252"/>
            <a:ext cx="147401" cy="310896"/>
          </a:xfrm>
          <a:prstGeom prst="chevron">
            <a:avLst/>
          </a:prstGeom>
          <a:solidFill>
            <a:srgbClr val="1F5C82"/>
          </a:solidFill>
          <a:ln/>
        </p:spPr>
        <p:txBody>
          <a:bodyPr/>
          <a:lstStyle/>
          <a:p>
            <a:endParaRPr lang="en-US"/>
          </a:p>
        </p:txBody>
      </p:sp>
      <p:sp>
        <p:nvSpPr>
          <p:cNvPr id="17" name="Shape 15"/>
          <p:cNvSpPr/>
          <p:nvPr/>
        </p:nvSpPr>
        <p:spPr>
          <a:xfrm>
            <a:off x="8118653" y="1783080"/>
            <a:ext cx="1666189" cy="777240"/>
          </a:xfrm>
          <a:prstGeom prst="roundRect">
            <a:avLst>
              <a:gd name="adj" fmla="val 8235"/>
            </a:avLst>
          </a:prstGeom>
          <a:solidFill>
            <a:srgbClr val="FFFFFF"/>
          </a:solidFill>
          <a:ln w="19050">
            <a:solidFill>
              <a:srgbClr val="12253F"/>
            </a:solidFill>
            <a:prstDash val="solid"/>
          </a:ln>
        </p:spPr>
        <p:txBody>
          <a:bodyPr/>
          <a:lstStyle/>
          <a:p>
            <a:endParaRPr lang="en-US"/>
          </a:p>
        </p:txBody>
      </p:sp>
      <p:sp>
        <p:nvSpPr>
          <p:cNvPr id="18" name="Text 16"/>
          <p:cNvSpPr txBox="1"/>
          <p:nvPr/>
        </p:nvSpPr>
        <p:spPr>
          <a:xfrm>
            <a:off x="8173517" y="1783080"/>
            <a:ext cx="1556461" cy="777240"/>
          </a:xfrm>
          <a:prstGeom prst="rect">
            <a:avLst/>
          </a:prstGeom>
          <a:noFill/>
          <a:ln/>
        </p:spPr>
        <p:txBody>
          <a:bodyPr wrap="square" lIns="0" tIns="0" rIns="0" bIns="0" rtlCol="0" anchor="ctr"/>
          <a:lstStyle/>
          <a:p>
            <a:pPr marL="0" indent="0" algn="ctr">
              <a:buNone/>
            </a:pPr>
            <a:r>
              <a:rPr lang="en-US" sz="1100" b="1" dirty="0">
                <a:solidFill>
                  <a:srgbClr val="000000"/>
                </a:solidFill>
                <a:latin typeface="Times New Roman" pitchFamily="34" charset="0"/>
                <a:ea typeface="Times New Roman" pitchFamily="34" charset="-122"/>
                <a:cs typeface="Times New Roman" pitchFamily="34" charset="-120"/>
              </a:rPr>
              <a:t>5. Dữ liệu và kết quả</a:t>
            </a:r>
            <a:endParaRPr lang="en-US" sz="1100" dirty="0"/>
          </a:p>
        </p:txBody>
      </p:sp>
      <p:sp>
        <p:nvSpPr>
          <p:cNvPr id="19" name="Shape 17"/>
          <p:cNvSpPr/>
          <p:nvPr/>
        </p:nvSpPr>
        <p:spPr>
          <a:xfrm>
            <a:off x="9830013" y="2016252"/>
            <a:ext cx="147401" cy="310896"/>
          </a:xfrm>
          <a:prstGeom prst="chevron">
            <a:avLst/>
          </a:prstGeom>
          <a:solidFill>
            <a:srgbClr val="1F5C82"/>
          </a:solidFill>
          <a:ln/>
        </p:spPr>
        <p:txBody>
          <a:bodyPr/>
          <a:lstStyle/>
          <a:p>
            <a:endParaRPr lang="en-US"/>
          </a:p>
        </p:txBody>
      </p:sp>
      <p:sp>
        <p:nvSpPr>
          <p:cNvPr id="20" name="Shape 18"/>
          <p:cNvSpPr/>
          <p:nvPr/>
        </p:nvSpPr>
        <p:spPr>
          <a:xfrm>
            <a:off x="10022586" y="1783080"/>
            <a:ext cx="1666189" cy="777240"/>
          </a:xfrm>
          <a:prstGeom prst="roundRect">
            <a:avLst>
              <a:gd name="adj" fmla="val 8235"/>
            </a:avLst>
          </a:prstGeom>
          <a:solidFill>
            <a:srgbClr val="12253F"/>
          </a:solidFill>
          <a:ln w="19050">
            <a:solidFill>
              <a:srgbClr val="12253F"/>
            </a:solidFill>
            <a:prstDash val="solid"/>
          </a:ln>
        </p:spPr>
        <p:txBody>
          <a:bodyPr/>
          <a:lstStyle/>
          <a:p>
            <a:endParaRPr lang="en-US"/>
          </a:p>
        </p:txBody>
      </p:sp>
      <p:sp>
        <p:nvSpPr>
          <p:cNvPr id="21" name="Text 19"/>
          <p:cNvSpPr txBox="1"/>
          <p:nvPr/>
        </p:nvSpPr>
        <p:spPr>
          <a:xfrm>
            <a:off x="10077450" y="1783080"/>
            <a:ext cx="1556461" cy="77724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itchFamily="34" charset="0"/>
                <a:ea typeface="Times New Roman" pitchFamily="34" charset="-122"/>
                <a:cs typeface="Times New Roman" pitchFamily="34" charset="-120"/>
              </a:rPr>
              <a:t>6. Hoàn thiện và nộp</a:t>
            </a:r>
            <a:endParaRPr lang="en-US" sz="11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2697480"/>
          <a:ext cx="11183112" cy="2560320"/>
        </p:xfrm>
        <a:graphic>
          <a:graphicData uri="http://schemas.openxmlformats.org/drawingml/2006/table">
            <a:tbl>
              <a:tblPr/>
              <a:tblGrid>
                <a:gridCol w="3108960">
                  <a:extLst>
                    <a:ext uri="{9D8B030D-6E8A-4147-A177-3AD203B41FA5}">
                      <a16:colId xmlns:a16="http://schemas.microsoft.com/office/drawing/2014/main" val="20000"/>
                    </a:ext>
                  </a:extLst>
                </a:gridCol>
                <a:gridCol w="8074152">
                  <a:extLst>
                    <a:ext uri="{9D8B030D-6E8A-4147-A177-3AD203B41FA5}">
                      <a16:colId xmlns:a16="http://schemas.microsoft.com/office/drawing/2014/main" val="20001"/>
                    </a:ext>
                  </a:extLst>
                </a:gridCol>
              </a:tblGrid>
              <a:tr h="365760">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Chặng</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Sản phẩm cần có khi kết thúc chặng</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1. Vấn đề và đề tài</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Đề tài đã được giảng viên hướng dẫn xác nhận khả thi (Phần III)</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2. Research proposal</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Bản proposal đủ 15 thành phần, liên kết logic (Phần IV)</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3. Đề cương được duyệt</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Đề cương đủ 10 mục đã nộp và được duyệt (Phần V)</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4. Năm chương nội dung</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Bản thảo từng chương, mỗi chương trả lời đúng câu hỏi của nó (Phần VII)</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5. Dữ liệu và kết quả</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Dữ liệu thật đã thu thập, kết quả đã được diễn giải (Phần XIII)</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6. Hoàn thiện và nộp</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Bản hoàn chỉnh đúng format, đúng số trang, sẵn sàng nộp (Phần IX, X)</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23" name="Shape 20"/>
          <p:cNvSpPr/>
          <p:nvPr/>
        </p:nvSpPr>
        <p:spPr>
          <a:xfrm>
            <a:off x="502920" y="5486400"/>
            <a:ext cx="11185855" cy="777240"/>
          </a:xfrm>
          <a:prstGeom prst="rect">
            <a:avLst/>
          </a:prstGeom>
          <a:solidFill>
            <a:srgbClr val="F0F2F5"/>
          </a:solidFill>
          <a:ln w="9525">
            <a:solidFill>
              <a:srgbClr val="12253F"/>
            </a:solidFill>
            <a:prstDash val="solid"/>
          </a:ln>
        </p:spPr>
        <p:txBody>
          <a:bodyPr/>
          <a:lstStyle/>
          <a:p>
            <a:endParaRPr lang="en-US"/>
          </a:p>
        </p:txBody>
      </p:sp>
      <p:sp>
        <p:nvSpPr>
          <p:cNvPr id="24" name="Text 21"/>
          <p:cNvSpPr txBox="1"/>
          <p:nvPr/>
        </p:nvSpPr>
        <p:spPr>
          <a:xfrm>
            <a:off x="758952" y="5577840"/>
            <a:ext cx="10728655" cy="594360"/>
          </a:xfrm>
          <a:prstGeom prst="rect">
            <a:avLst/>
          </a:prstGeom>
          <a:noFill/>
          <a:ln/>
        </p:spPr>
        <p:txBody>
          <a:bodyPr wrap="square" lIns="0" tIns="0" rIns="0" bIns="0" rtlCol="0" anchor="ctr"/>
          <a:lstStyle/>
          <a:p>
            <a:pPr marL="0" indent="0">
              <a:buNone/>
            </a:pPr>
            <a:r>
              <a:rPr lang="en-US" sz="1300" b="1" dirty="0">
                <a:solidFill>
                  <a:srgbClr val="000000"/>
                </a:solidFill>
                <a:latin typeface="Times New Roman" pitchFamily="34" charset="0"/>
                <a:ea typeface="Times New Roman" pitchFamily="34" charset="-122"/>
                <a:cs typeface="Times New Roman" pitchFamily="34" charset="-120"/>
              </a:rPr>
              <a:t>Sinh viên có thể tự đề xuất đề tài hoặc nhận đề tài do chương trình đưa ra, tùy quy định của từng khoa. Dù theo cách nào, đề tài vẫn phải được đối chiếu với bốn điều kiện khả thi ở Phần III trước khi bắt đầu.</a:t>
            </a:r>
            <a:endParaRPr lang="en-US" sz="1300" dirty="0"/>
          </a:p>
        </p:txBody>
      </p:sp>
      <p:sp>
        <p:nvSpPr>
          <p:cNvPr id="25" name="Shape 2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6" name="Text 2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CORE SLIDE 1</a:t>
            </a:r>
            <a:endParaRPr lang="en-US" sz="1000" dirty="0"/>
          </a:p>
        </p:txBody>
      </p:sp>
      <p:sp>
        <p:nvSpPr>
          <p:cNvPr id="27" name="Text 2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Mở đầu · Bản đồ hành trình</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200" b="1" dirty="0">
                <a:solidFill>
                  <a:srgbClr val="000000"/>
                </a:solidFill>
                <a:latin typeface="Times New Roman" pitchFamily="34" charset="0"/>
                <a:ea typeface="Times New Roman" pitchFamily="34" charset="-122"/>
                <a:cs typeface="Times New Roman" pitchFamily="34" charset="-120"/>
              </a:rPr>
              <a:t>Mục tiêu và cấu trúc của Core Slide 1</a:t>
            </a:r>
            <a:endParaRPr lang="en-US" sz="22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2267712" cy="310896"/>
          </a:xfrm>
          <a:prstGeom prst="roundRect">
            <a:avLst>
              <a:gd name="adj" fmla="val 50000"/>
            </a:avLst>
          </a:prstGeom>
          <a:solidFill>
            <a:srgbClr val="12253F"/>
          </a:solidFill>
          <a:ln w="15875">
            <a:solidFill>
              <a:srgbClr val="12253F"/>
            </a:solidFill>
            <a:prstDash val="solid"/>
          </a:ln>
        </p:spPr>
        <p:txBody>
          <a:bodyPr/>
          <a:lstStyle/>
          <a:p>
            <a:endParaRPr lang="en-US"/>
          </a:p>
        </p:txBody>
      </p:sp>
      <p:sp>
        <p:nvSpPr>
          <p:cNvPr id="5" name="Text 3"/>
          <p:cNvSpPr txBox="1"/>
          <p:nvPr/>
        </p:nvSpPr>
        <p:spPr>
          <a:xfrm>
            <a:off x="502920" y="1188720"/>
            <a:ext cx="2267712"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Times New Roman" pitchFamily="34" charset="0"/>
                <a:ea typeface="Times New Roman" pitchFamily="34" charset="-122"/>
                <a:cs typeface="Times New Roman" pitchFamily="34" charset="-120"/>
              </a:rPr>
              <a:t>MỤC TIÊU HỌC TẬP</a:t>
            </a:r>
            <a:endParaRPr lang="en-US" sz="1050" dirty="0"/>
          </a:p>
        </p:txBody>
      </p:sp>
      <p:sp>
        <p:nvSpPr>
          <p:cNvPr id="6" name="Text 4"/>
          <p:cNvSpPr txBox="1"/>
          <p:nvPr/>
        </p:nvSpPr>
        <p:spPr>
          <a:xfrm>
            <a:off x="502920" y="1627632"/>
            <a:ext cx="5577840" cy="502920"/>
          </a:xfrm>
          <a:prstGeom prst="rect">
            <a:avLst/>
          </a:prstGeom>
          <a:noFill/>
          <a:ln/>
        </p:spPr>
        <p:txBody>
          <a:bodyPr wrap="square" lIns="0" tIns="0" rIns="0" bIns="0" rtlCol="0" anchor="ctr"/>
          <a:lstStyle/>
          <a:p>
            <a:pPr marL="0" indent="0">
              <a:buNone/>
            </a:pPr>
            <a:r>
              <a:rPr lang="en-US" sz="1900" dirty="0">
                <a:solidFill>
                  <a:srgbClr val="1A1A1A"/>
                </a:solidFill>
                <a:latin typeface="Times New Roman" pitchFamily="34" charset="0"/>
                <a:ea typeface="Times New Roman" pitchFamily="34" charset="-122"/>
                <a:cs typeface="Times New Roman" pitchFamily="34" charset="-120"/>
              </a:rPr>
              <a:t>Sau khi học xong Core Slide 1, sinh viên tự trả lời được các câu hỏi sau:</a:t>
            </a:r>
            <a:endParaRPr lang="en-US" sz="1900" dirty="0"/>
          </a:p>
        </p:txBody>
      </p:sp>
      <p:sp>
        <p:nvSpPr>
          <p:cNvPr id="7" name="Shape 5"/>
          <p:cNvSpPr/>
          <p:nvPr/>
        </p:nvSpPr>
        <p:spPr>
          <a:xfrm>
            <a:off x="502920" y="222199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8" name="Text 6"/>
          <p:cNvSpPr txBox="1"/>
          <p:nvPr/>
        </p:nvSpPr>
        <p:spPr>
          <a:xfrm>
            <a:off x="832104" y="2176272"/>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Tôi đang làm công trình gì</a:t>
            </a:r>
            <a:endParaRPr lang="en-US" sz="1250" dirty="0"/>
          </a:p>
        </p:txBody>
      </p:sp>
      <p:sp>
        <p:nvSpPr>
          <p:cNvPr id="9" name="Shape 7"/>
          <p:cNvSpPr/>
          <p:nvPr/>
        </p:nvSpPr>
        <p:spPr>
          <a:xfrm>
            <a:off x="502920" y="260604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0" name="Text 8"/>
          <p:cNvSpPr txBox="1"/>
          <p:nvPr/>
        </p:nvSpPr>
        <p:spPr>
          <a:xfrm>
            <a:off x="832104" y="2560320"/>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Tôi phải bắt đầu từ đâu</a:t>
            </a:r>
            <a:endParaRPr lang="en-US" sz="1250" dirty="0"/>
          </a:p>
        </p:txBody>
      </p:sp>
      <p:sp>
        <p:nvSpPr>
          <p:cNvPr id="11" name="Shape 9"/>
          <p:cNvSpPr/>
          <p:nvPr/>
        </p:nvSpPr>
        <p:spPr>
          <a:xfrm>
            <a:off x="502920" y="299008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2" name="Text 10"/>
          <p:cNvSpPr txBox="1"/>
          <p:nvPr/>
        </p:nvSpPr>
        <p:spPr>
          <a:xfrm>
            <a:off x="832104" y="2944368"/>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Tôi cần chọn đề tài như thế nào</a:t>
            </a:r>
            <a:endParaRPr lang="en-US" sz="1250" dirty="0"/>
          </a:p>
        </p:txBody>
      </p:sp>
      <p:sp>
        <p:nvSpPr>
          <p:cNvPr id="13" name="Shape 11"/>
          <p:cNvSpPr/>
          <p:nvPr/>
        </p:nvSpPr>
        <p:spPr>
          <a:xfrm>
            <a:off x="502920" y="337413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4" name="Text 12"/>
          <p:cNvSpPr txBox="1"/>
          <p:nvPr/>
        </p:nvSpPr>
        <p:spPr>
          <a:xfrm>
            <a:off x="832104" y="3328416"/>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Research proposal dùng để làm gì</a:t>
            </a:r>
            <a:endParaRPr lang="en-US" sz="1250" dirty="0"/>
          </a:p>
        </p:txBody>
      </p:sp>
      <p:sp>
        <p:nvSpPr>
          <p:cNvPr id="15" name="Shape 13"/>
          <p:cNvSpPr/>
          <p:nvPr/>
        </p:nvSpPr>
        <p:spPr>
          <a:xfrm>
            <a:off x="502920" y="3758184"/>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6" name="Text 14"/>
          <p:cNvSpPr txBox="1"/>
          <p:nvPr/>
        </p:nvSpPr>
        <p:spPr>
          <a:xfrm>
            <a:off x="832104" y="3712464"/>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Mỗi chương có nhiệm vụ gì</a:t>
            </a:r>
            <a:endParaRPr lang="en-US" sz="1250" dirty="0"/>
          </a:p>
        </p:txBody>
      </p:sp>
      <p:sp>
        <p:nvSpPr>
          <p:cNvPr id="17" name="Shape 15"/>
          <p:cNvSpPr/>
          <p:nvPr/>
        </p:nvSpPr>
        <p:spPr>
          <a:xfrm>
            <a:off x="502920" y="41422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8" name="Text 16"/>
          <p:cNvSpPr txBox="1"/>
          <p:nvPr/>
        </p:nvSpPr>
        <p:spPr>
          <a:xfrm>
            <a:off x="832104" y="4096512"/>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Tiêu chí nào dùng để đánh giá bài</a:t>
            </a:r>
            <a:endParaRPr lang="en-US" sz="1250" dirty="0"/>
          </a:p>
        </p:txBody>
      </p:sp>
      <p:sp>
        <p:nvSpPr>
          <p:cNvPr id="19" name="Shape 17"/>
          <p:cNvSpPr/>
          <p:nvPr/>
        </p:nvSpPr>
        <p:spPr>
          <a:xfrm>
            <a:off x="502920" y="452628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20" name="Text 18"/>
          <p:cNvSpPr txBox="1"/>
          <p:nvPr/>
        </p:nvSpPr>
        <p:spPr>
          <a:xfrm>
            <a:off x="832104" y="4480560"/>
            <a:ext cx="5230368" cy="384048"/>
          </a:xfrm>
          <a:prstGeom prst="rect">
            <a:avLst/>
          </a:prstGeom>
          <a:noFill/>
          <a:ln/>
        </p:spPr>
        <p:txBody>
          <a:bodyPr wrap="square" lIns="0" tIns="0" rIns="0" bIns="0" rtlCol="0" anchor="t"/>
          <a:lstStyle/>
          <a:p>
            <a:pPr marL="0" indent="0">
              <a:buNone/>
            </a:pPr>
            <a:r>
              <a:rPr lang="en-US" sz="1250" dirty="0">
                <a:solidFill>
                  <a:srgbClr val="000000"/>
                </a:solidFill>
                <a:latin typeface="Times New Roman" pitchFamily="34" charset="0"/>
                <a:ea typeface="Times New Roman" pitchFamily="34" charset="-122"/>
                <a:cs typeface="Times New Roman" pitchFamily="34" charset="-120"/>
              </a:rPr>
              <a:t>Sản phẩm nào cần hoàn thành từng tuần</a:t>
            </a:r>
            <a:endParaRPr lang="en-US" sz="1250" dirty="0"/>
          </a:p>
        </p:txBody>
      </p:sp>
      <p:sp>
        <p:nvSpPr>
          <p:cNvPr id="21" name="Shape 19"/>
          <p:cNvSpPr/>
          <p:nvPr/>
        </p:nvSpPr>
        <p:spPr>
          <a:xfrm>
            <a:off x="6309360" y="1188720"/>
            <a:ext cx="2267712" cy="310896"/>
          </a:xfrm>
          <a:prstGeom prst="roundRect">
            <a:avLst>
              <a:gd name="adj" fmla="val 50000"/>
            </a:avLst>
          </a:prstGeom>
          <a:solidFill>
            <a:srgbClr val="12253F"/>
          </a:solidFill>
          <a:ln w="15875">
            <a:solidFill>
              <a:srgbClr val="12253F"/>
            </a:solidFill>
            <a:prstDash val="solid"/>
          </a:ln>
        </p:spPr>
        <p:txBody>
          <a:bodyPr/>
          <a:lstStyle/>
          <a:p>
            <a:endParaRPr lang="en-US"/>
          </a:p>
        </p:txBody>
      </p:sp>
      <p:sp>
        <p:nvSpPr>
          <p:cNvPr id="22" name="Text 20"/>
          <p:cNvSpPr txBox="1"/>
          <p:nvPr/>
        </p:nvSpPr>
        <p:spPr>
          <a:xfrm>
            <a:off x="6309360" y="1188720"/>
            <a:ext cx="2267712" cy="310896"/>
          </a:xfrm>
          <a:prstGeom prst="rect">
            <a:avLst/>
          </a:prstGeom>
          <a:noFill/>
          <a:ln/>
        </p:spPr>
        <p:txBody>
          <a:bodyPr wrap="square" lIns="0" tIns="0" rIns="0" bIns="0" rtlCol="0" anchor="ctr"/>
          <a:lstStyle/>
          <a:p>
            <a:pPr marL="0" indent="0" algn="ctr">
              <a:buNone/>
            </a:pPr>
            <a:r>
              <a:rPr lang="en-US" sz="1050" b="1" kern="0" spc="100" dirty="0">
                <a:solidFill>
                  <a:srgbClr val="FFFFFF"/>
                </a:solidFill>
                <a:latin typeface="Times New Roman" pitchFamily="34" charset="0"/>
                <a:ea typeface="Times New Roman" pitchFamily="34" charset="-122"/>
                <a:cs typeface="Times New Roman" pitchFamily="34" charset="-120"/>
              </a:rPr>
              <a:t>CẤU TRÚC 15 PHẦN</a:t>
            </a:r>
            <a:endParaRPr lang="en-US" sz="105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6309360" y="1627632"/>
          <a:ext cx="5379415" cy="4526280"/>
        </p:xfrm>
        <a:graphic>
          <a:graphicData uri="http://schemas.openxmlformats.org/drawingml/2006/table">
            <a:tbl>
              <a:tblPr/>
              <a:tblGrid>
                <a:gridCol w="1371600">
                  <a:extLst>
                    <a:ext uri="{9D8B030D-6E8A-4147-A177-3AD203B41FA5}">
                      <a16:colId xmlns:a16="http://schemas.microsoft.com/office/drawing/2014/main" val="20000"/>
                    </a:ext>
                  </a:extLst>
                </a:gridCol>
                <a:gridCol w="4007815">
                  <a:extLst>
                    <a:ext uri="{9D8B030D-6E8A-4147-A177-3AD203B41FA5}">
                      <a16:colId xmlns:a16="http://schemas.microsoft.com/office/drawing/2014/main" val="20001"/>
                    </a:ext>
                  </a:extLst>
                </a:gridCol>
              </a:tblGrid>
              <a:tr h="502920">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Phần</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Nội dung</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 - IV</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Định nghĩa, tư duy, chọn đề tài, proposal</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V - VI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Đề cương và các thành phần bắt buộc</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VII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Cấu trúc 5 chương nội dung chính</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VIII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Trích dẫn APA</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IX</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Format, đề mục, bảng, hình, công thức</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X - XI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Quy trình nộp bài, tiêu chí chấm điểm</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XII - XIII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Báo cáo tiến độ, timeline 8 tuần</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2920">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XIV - XV</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Phạm vi Core Slide 1, checklist tổng kết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8"/>
                  </a:ext>
                </a:extLst>
              </a:tr>
            </a:tbl>
          </a:graphicData>
        </a:graphic>
      </p:graphicFrame>
      <p:sp>
        <p:nvSpPr>
          <p:cNvPr id="24" name="Shape 21"/>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5" name="Text 22"/>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CORE SLIDE 1</a:t>
            </a:r>
            <a:endParaRPr lang="en-US" sz="1000" dirty="0"/>
          </a:p>
        </p:txBody>
      </p:sp>
      <p:sp>
        <p:nvSpPr>
          <p:cNvPr id="26" name="Text 23"/>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Mở đầu · Mục tiêu và cấu trúc</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200" b="1" dirty="0">
                <a:solidFill>
                  <a:srgbClr val="000000"/>
                </a:solidFill>
                <a:latin typeface="Times New Roman" pitchFamily="34" charset="0"/>
                <a:ea typeface="Times New Roman" pitchFamily="34" charset="-122"/>
                <a:cs typeface="Times New Roman" pitchFamily="34" charset="-120"/>
              </a:rPr>
              <a:t>Bản đồ nội dung: Phần I đến Phần VI</a:t>
            </a:r>
            <a:endParaRPr lang="en-US" sz="22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608576"/>
        </p:xfrm>
        <a:graphic>
          <a:graphicData uri="http://schemas.openxmlformats.org/drawingml/2006/table">
            <a:tbl>
              <a:tblPr/>
              <a:tblGrid>
                <a:gridCol w="914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611112">
                  <a:extLst>
                    <a:ext uri="{9D8B030D-6E8A-4147-A177-3AD203B41FA5}">
                      <a16:colId xmlns:a16="http://schemas.microsoft.com/office/drawing/2014/main" val="20002"/>
                    </a:ext>
                  </a:extLst>
                </a:gridCol>
              </a:tblGrid>
              <a:tr h="658368">
                <a:tc>
                  <a:txBody>
                    <a:bodyPr/>
                    <a:lstStyle/>
                    <a:p>
                      <a:pPr marL="0" indent="0" algn="l">
                        <a:buNone/>
                      </a:pPr>
                      <a:r>
                        <a:rPr lang="en-US" sz="1650" b="1" dirty="0">
                          <a:solidFill>
                            <a:srgbClr val="FFFFFF"/>
                          </a:solidFill>
                          <a:latin typeface="Times New Roman" pitchFamily="34" charset="0"/>
                          <a:ea typeface="Times New Roman" pitchFamily="34" charset="-122"/>
                          <a:cs typeface="Times New Roman" pitchFamily="34" charset="-120"/>
                        </a:rPr>
                        <a:t>Phần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50" b="1" dirty="0">
                          <a:solidFill>
                            <a:srgbClr val="FFFFFF"/>
                          </a:solidFill>
                          <a:latin typeface="Times New Roman" pitchFamily="34" charset="0"/>
                          <a:ea typeface="Times New Roman" pitchFamily="34" charset="-122"/>
                          <a:cs typeface="Times New Roman" pitchFamily="34" charset="-120"/>
                        </a:rPr>
                        <a:t>Nội dung chính</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50" b="1" dirty="0">
                          <a:solidFill>
                            <a:srgbClr val="FFFFFF"/>
                          </a:solidFill>
                          <a:latin typeface="Times New Roman" pitchFamily="34" charset="0"/>
                          <a:ea typeface="Times New Roman" pitchFamily="34" charset="-122"/>
                          <a:cs typeface="Times New Roman" pitchFamily="34" charset="-120"/>
                        </a:rPr>
                        <a:t>Thông điệp chính</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I</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Chuyên đề và khóa luận là gì</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Là công trình chứng minh năng lực lập luận bằng bằng chứng</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II</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Tư duy nghiên cứu cơ bản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Nghiên cứu bắt đầu từ vấn đề thực tế, không từ đề tài nghe hay</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III</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Chọn đề tài an toàn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Đề tài an toàn nằm trong khả năng kiểm soát của sinh viên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IV</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Research proposal</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Proposal là bản thiết kế logic, không phải bản mô tả ý tưởng</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V</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Đề cương: 10 mục bắt buộc</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Đề cương phải được duyệt trước khi viết khóa luận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58368">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VI</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Các thành phần bắt buộc</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Khóa luận hoàn chỉnh còn cần tên đề tài, tóm tắt, cam đoan, mở đầu</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4"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CORE SLIDE 1</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Mở đầu · Bản đồ nội dung, Phần I đến VI</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200" b="1" dirty="0">
                <a:solidFill>
                  <a:srgbClr val="000000"/>
                </a:solidFill>
                <a:latin typeface="Times New Roman" pitchFamily="34" charset="0"/>
                <a:ea typeface="Times New Roman" pitchFamily="34" charset="-122"/>
                <a:cs typeface="Times New Roman" pitchFamily="34" charset="-120"/>
              </a:rPr>
              <a:t>Bản đồ nội dung: Phần VII đến Phần XI</a:t>
            </a:r>
            <a:endParaRPr lang="en-US" sz="22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498848"/>
        </p:xfrm>
        <a:graphic>
          <a:graphicData uri="http://schemas.openxmlformats.org/drawingml/2006/table">
            <a:tbl>
              <a:tblPr/>
              <a:tblGrid>
                <a:gridCol w="914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611112">
                  <a:extLst>
                    <a:ext uri="{9D8B030D-6E8A-4147-A177-3AD203B41FA5}">
                      <a16:colId xmlns:a16="http://schemas.microsoft.com/office/drawing/2014/main" val="20002"/>
                    </a:ext>
                  </a:extLst>
                </a:gridCol>
              </a:tblGrid>
              <a:tr h="749808">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Phần</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Nội dung chính</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Thông điệp chính</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74980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VII</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Cấu trúc năm chương</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Năm chương là năm câu hỏi nối tiếp nhau theo một mạch logic</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VIII</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Trích dẫn APA</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Trích dẫn là bằng chứng cho tính trung thực học thuật</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4980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IX</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Format và cấu trúc chương</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Format phục vụ người đọc theo dõi lập luận</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X</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Quy trình thực hiện, nộp bài</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Từ đăng ký đề tài đến khi hội đồng công bố điểm là bảy bước</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74980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XI</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Tiêu chí chấm điểm</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Bài đạt yêu cầu là bài có liên kết chặt, không phải bài dài nhất</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4"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CORE SLIDE 1</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Mở đầu · Bản đồ nội dung, Phần VII đến XI</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200" b="1" dirty="0">
                <a:solidFill>
                  <a:srgbClr val="000000"/>
                </a:solidFill>
                <a:latin typeface="Times New Roman" pitchFamily="34" charset="0"/>
                <a:ea typeface="Times New Roman" pitchFamily="34" charset="-122"/>
                <a:cs typeface="Times New Roman" pitchFamily="34" charset="-120"/>
              </a:rPr>
              <a:t>Bản đồ nội dung: Phần XII đến Phần XV</a:t>
            </a:r>
            <a:endParaRPr lang="en-US" sz="22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280160"/>
          <a:ext cx="11183112" cy="4343400"/>
        </p:xfrm>
        <a:graphic>
          <a:graphicData uri="http://schemas.openxmlformats.org/drawingml/2006/table">
            <a:tbl>
              <a:tblPr/>
              <a:tblGrid>
                <a:gridCol w="9144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6611112">
                  <a:extLst>
                    <a:ext uri="{9D8B030D-6E8A-4147-A177-3AD203B41FA5}">
                      <a16:colId xmlns:a16="http://schemas.microsoft.com/office/drawing/2014/main" val="20002"/>
                    </a:ext>
                  </a:extLst>
                </a:gridCol>
              </a:tblGrid>
              <a:tr h="868680">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Phần</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Nội dung chính</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Thông điệp chính</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86868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XII</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Báo cáo tiến độ hằng tuần</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Báo cáo chỉ cần chứng minh có sản phẩm thật</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6868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XIII</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Timeline 8 tuần, critical path</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Trễ một mắt xích trên critical path sẽ kéo trễ toàn bộ</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86868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XIV</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Phạm vi Core Slide 1</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Kỹ năng thực hành chi tiết được để dành cho Core Slide 2</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6868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XV</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Checklist tổng kết</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Từ vấn đề thực tế đến bản hoàn chỉnh là một chuỗi logic liên tục</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CORE SLIDE 1</a:t>
            </a:r>
            <a:endParaRPr lang="en-US" sz="1000" dirty="0"/>
          </a:p>
        </p:txBody>
      </p:sp>
      <p:sp>
        <p:nvSpPr>
          <p:cNvPr id="4"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Mở đầu · Bản đồ nội dung, Phần XII đến XV</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34316" y="1258260"/>
            <a:ext cx="452409" cy="592440"/>
          </a:xfrm>
          <a:prstGeom prst="rect">
            <a:avLst/>
          </a:prstGeom>
          <a:ln w="22225">
            <a:solidFill>
              <a:srgbClr val="FFFFFF"/>
            </a:solidFill>
            <a:prstDash val="solid"/>
          </a:ln>
        </p:spPr>
        <p:txBody>
          <a:bodyPr/>
          <a:lstStyle/>
          <a:p>
            <a:endParaRPr lang="en-US"/>
          </a:p>
        </p:txBody>
      </p:sp>
      <p:sp>
        <p:nvSpPr>
          <p:cNvPr id="6" name="Shape 4"/>
          <p:cNvSpPr/>
          <p:nvPr/>
        </p:nvSpPr>
        <p:spPr>
          <a:xfrm>
            <a:off x="4031260" y="1457535"/>
            <a:ext cx="258519" cy="0"/>
          </a:xfrm>
          <a:prstGeom prst="line">
            <a:avLst/>
          </a:prstGeom>
          <a:noFill/>
          <a:ln w="17780">
            <a:solidFill>
              <a:srgbClr val="FFFFFF"/>
            </a:solidFill>
            <a:prstDash val="solid"/>
          </a:ln>
        </p:spPr>
        <p:txBody>
          <a:bodyPr/>
          <a:lstStyle/>
          <a:p>
            <a:endParaRPr lang="en-US"/>
          </a:p>
        </p:txBody>
      </p:sp>
      <p:sp>
        <p:nvSpPr>
          <p:cNvPr id="7" name="Shape 5"/>
          <p:cNvSpPr/>
          <p:nvPr/>
        </p:nvSpPr>
        <p:spPr>
          <a:xfrm>
            <a:off x="4031260" y="1597567"/>
            <a:ext cx="258519" cy="0"/>
          </a:xfrm>
          <a:prstGeom prst="line">
            <a:avLst/>
          </a:prstGeom>
          <a:noFill/>
          <a:ln w="17780">
            <a:solidFill>
              <a:srgbClr val="FFFFFF"/>
            </a:solidFill>
            <a:prstDash val="solid"/>
          </a:ln>
        </p:spPr>
        <p:txBody>
          <a:bodyPr/>
          <a:lstStyle/>
          <a:p>
            <a:endParaRPr lang="en-US"/>
          </a:p>
        </p:txBody>
      </p:sp>
      <p:sp>
        <p:nvSpPr>
          <p:cNvPr id="8" name="Shape 6"/>
          <p:cNvSpPr/>
          <p:nvPr/>
        </p:nvSpPr>
        <p:spPr>
          <a:xfrm>
            <a:off x="4031260" y="1737598"/>
            <a:ext cx="258519" cy="0"/>
          </a:xfrm>
          <a:prstGeom prst="line">
            <a:avLst/>
          </a:prstGeom>
          <a:noFill/>
          <a:ln w="17780">
            <a:solidFill>
              <a:srgbClr val="FFFFFF"/>
            </a:solidFill>
            <a:prstDash val="solid"/>
          </a:ln>
        </p:spPr>
        <p:txBody>
          <a:bodyPr/>
          <a:lstStyle/>
          <a:p>
            <a:endParaRPr lang="en-US"/>
          </a:p>
        </p:txBody>
      </p:sp>
      <p:sp>
        <p:nvSpPr>
          <p:cNvPr id="9" name="Text 7"/>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Chuyên đề tốt nghiệp và khóa luận tốt nghiệp là gì</a:t>
            </a:r>
            <a:endParaRPr lang="en-US" sz="3200" dirty="0"/>
          </a:p>
        </p:txBody>
      </p:sp>
      <p:sp>
        <p:nvSpPr>
          <p:cNvPr id="10" name="Text 8"/>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Trước khi làm bất cứ điều gì, sinh viên cần hiểu chính xác mình đang tạo ra loại sản phẩm nào và vì sao nó khác một bài tổng hợp thông tin thông thường.</a:t>
            </a:r>
            <a:endParaRPr lang="en-US" sz="2000" dirty="0"/>
          </a:p>
        </p:txBody>
      </p:sp>
      <p:sp>
        <p:nvSpPr>
          <p:cNvPr id="11" name="Shape 9"/>
          <p:cNvSpPr/>
          <p:nvPr/>
        </p:nvSpPr>
        <p:spPr>
          <a:xfrm>
            <a:off x="822960" y="4800600"/>
            <a:ext cx="100584" cy="100584"/>
          </a:xfrm>
          <a:prstGeom prst="ellipse">
            <a:avLst/>
          </a:prstGeom>
          <a:solidFill>
            <a:srgbClr val="1F5C82"/>
          </a:solidFill>
          <a:ln/>
        </p:spPr>
        <p:txBody>
          <a:bodyPr/>
          <a:lstStyle/>
          <a:p>
            <a:endParaRPr lang="en-US"/>
          </a:p>
        </p:txBody>
      </p:sp>
      <p:sp>
        <p:nvSpPr>
          <p:cNvPr id="12" name="Text 10"/>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Chuyên đề tốt nghiệp là gì, khóa luận tốt nghiệp là gì</a:t>
            </a:r>
            <a:endParaRPr lang="en-US" sz="2000" dirty="0"/>
          </a:p>
        </p:txBody>
      </p:sp>
      <p:sp>
        <p:nvSpPr>
          <p:cNvPr id="13" name="Shape 11"/>
          <p:cNvSpPr/>
          <p:nvPr/>
        </p:nvSpPr>
        <p:spPr>
          <a:xfrm>
            <a:off x="822960" y="5202936"/>
            <a:ext cx="100584" cy="100584"/>
          </a:xfrm>
          <a:prstGeom prst="ellipse">
            <a:avLst/>
          </a:prstGeom>
          <a:solidFill>
            <a:srgbClr val="1F5C82"/>
          </a:solidFill>
          <a:ln/>
        </p:spPr>
        <p:txBody>
          <a:bodyPr/>
          <a:lstStyle/>
          <a:p>
            <a:endParaRPr lang="en-US"/>
          </a:p>
        </p:txBody>
      </p:sp>
      <p:sp>
        <p:nvSpPr>
          <p:cNvPr id="14" name="Text 12"/>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Hai loại công trình này giống và khác nhau ở đâu</a:t>
            </a:r>
            <a:endParaRPr lang="en-US" sz="2000" dirty="0"/>
          </a:p>
        </p:txBody>
      </p:sp>
      <p:sp>
        <p:nvSpPr>
          <p:cNvPr id="15" name="Shape 13"/>
          <p:cNvSpPr/>
          <p:nvPr/>
        </p:nvSpPr>
        <p:spPr>
          <a:xfrm>
            <a:off x="822960" y="5605272"/>
            <a:ext cx="100584" cy="100584"/>
          </a:xfrm>
          <a:prstGeom prst="ellipse">
            <a:avLst/>
          </a:prstGeom>
          <a:solidFill>
            <a:srgbClr val="1F5C82"/>
          </a:solidFill>
          <a:ln/>
        </p:spPr>
        <p:txBody>
          <a:bodyPr/>
          <a:lstStyle/>
          <a:p>
            <a:endParaRPr lang="en-US"/>
          </a:p>
        </p:txBody>
      </p:sp>
      <p:sp>
        <p:nvSpPr>
          <p:cNvPr id="16" name="Text 14"/>
          <p:cNvSpPr txBox="1"/>
          <p:nvPr/>
        </p:nvSpPr>
        <p:spPr>
          <a:xfrm>
            <a:off x="1069848" y="5513832"/>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Vì sao không thể chỉ tổng hợp thông tin có sẵn</a:t>
            </a:r>
            <a:endParaRPr lang="en-US" sz="2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Chuyên đề tốt nghiệp và khóa luận tốt nghiệp là gì</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4434840"/>
          </a:xfrm>
          <a:prstGeom prst="rect">
            <a:avLst/>
          </a:prstGeom>
          <a:solidFill>
            <a:srgbClr val="F0F2F5"/>
          </a:solidFill>
          <a:ln w="19050">
            <a:solidFill>
              <a:srgbClr val="12253F"/>
            </a:solidFill>
            <a:prstDash val="solid"/>
          </a:ln>
        </p:spPr>
        <p:txBody>
          <a:bodyPr/>
          <a:lstStyle/>
          <a:p>
            <a:endParaRPr lang="en-US"/>
          </a:p>
        </p:txBody>
      </p:sp>
      <p:sp>
        <p:nvSpPr>
          <p:cNvPr id="5" name="Shape 3"/>
          <p:cNvSpPr/>
          <p:nvPr/>
        </p:nvSpPr>
        <p:spPr>
          <a:xfrm>
            <a:off x="667512" y="1371600"/>
            <a:ext cx="2743200"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6" name="Text 4"/>
          <p:cNvSpPr txBox="1"/>
          <p:nvPr/>
        </p:nvSpPr>
        <p:spPr>
          <a:xfrm>
            <a:off x="667512" y="1371600"/>
            <a:ext cx="2743200" cy="310896"/>
          </a:xfrm>
          <a:prstGeom prst="rect">
            <a:avLst/>
          </a:prstGeom>
          <a:noFill/>
          <a:ln/>
        </p:spPr>
        <p:txBody>
          <a:bodyPr wrap="square" lIns="0" tIns="0" rIns="0" bIns="0" rtlCol="0" anchor="ctr"/>
          <a:lstStyle/>
          <a:p>
            <a:pPr marL="0" indent="0" algn="ctr">
              <a:buNone/>
            </a:pPr>
            <a:r>
              <a:rPr lang="en-US" sz="1050" b="1" kern="0" spc="100" dirty="0">
                <a:solidFill>
                  <a:srgbClr val="12253F"/>
                </a:solidFill>
                <a:latin typeface="Times New Roman" pitchFamily="34" charset="0"/>
                <a:ea typeface="Times New Roman" pitchFamily="34" charset="-122"/>
                <a:cs typeface="Times New Roman" pitchFamily="34" charset="-120"/>
              </a:rPr>
              <a:t>CHUYÊN ĐỀ TỐT NGHIỆP</a:t>
            </a:r>
            <a:endParaRPr lang="en-US" sz="1050" dirty="0"/>
          </a:p>
        </p:txBody>
      </p:sp>
      <p:sp>
        <p:nvSpPr>
          <p:cNvPr id="7" name="Text 5"/>
          <p:cNvSpPr txBox="1"/>
          <p:nvPr/>
        </p:nvSpPr>
        <p:spPr>
          <a:xfrm>
            <a:off x="649224" y="1865376"/>
            <a:ext cx="5163160" cy="3621024"/>
          </a:xfrm>
          <a:prstGeom prst="rect">
            <a:avLst/>
          </a:prstGeom>
          <a:noFill/>
          <a:ln/>
        </p:spPr>
        <p:txBody>
          <a:bodyPr wrap="square" lIns="0" tIns="0" rIns="0" bIns="0" rtlCol="0" anchor="t"/>
          <a:lstStyle/>
          <a:p>
            <a:pPr marL="0" indent="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Là một công trình nghiên cứu quy mô vừa phải. Sinh viên chọn một vấn đề cụ thể, gắn với hoạt động thực tế của một đơn vị, rồi dùng phương pháp phù hợp để phân tích và đề xuất hướng xử lý.
</a:t>
            </a:r>
            <a:r>
              <a:rPr lang="en-US" sz="1800" b="1" dirty="0">
                <a:solidFill>
                  <a:srgbClr val="000000"/>
                </a:solidFill>
                <a:latin typeface="Times New Roman" pitchFamily="34" charset="0"/>
                <a:ea typeface="Times New Roman" pitchFamily="34" charset="-122"/>
                <a:cs typeface="Times New Roman" pitchFamily="34" charset="-120"/>
              </a:rPr>
              <a:t>Sinh viên cần chứng minh khả năng phát hiện vấn đề, phân tích có căn cứ và đề xuất giải pháp hợp lý.</a:t>
            </a:r>
            <a:endParaRPr lang="en-US" sz="1800" dirty="0"/>
          </a:p>
        </p:txBody>
      </p:sp>
      <p:sp>
        <p:nvSpPr>
          <p:cNvPr id="8" name="Shape 6"/>
          <p:cNvSpPr/>
          <p:nvPr/>
        </p:nvSpPr>
        <p:spPr>
          <a:xfrm>
            <a:off x="6233008" y="1234440"/>
            <a:ext cx="5455768" cy="4434840"/>
          </a:xfrm>
          <a:prstGeom prst="rect">
            <a:avLst/>
          </a:prstGeom>
          <a:solidFill>
            <a:srgbClr val="F0F2F5"/>
          </a:solidFill>
          <a:ln w="19050">
            <a:solidFill>
              <a:srgbClr val="12253F"/>
            </a:solidFill>
            <a:prstDash val="solid"/>
          </a:ln>
        </p:spPr>
        <p:txBody>
          <a:bodyPr/>
          <a:lstStyle/>
          <a:p>
            <a:endParaRPr lang="en-US"/>
          </a:p>
        </p:txBody>
      </p:sp>
      <p:sp>
        <p:nvSpPr>
          <p:cNvPr id="9" name="Shape 7"/>
          <p:cNvSpPr/>
          <p:nvPr/>
        </p:nvSpPr>
        <p:spPr>
          <a:xfrm>
            <a:off x="6397600" y="1371600"/>
            <a:ext cx="2743200"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10" name="Text 8"/>
          <p:cNvSpPr txBox="1"/>
          <p:nvPr/>
        </p:nvSpPr>
        <p:spPr>
          <a:xfrm>
            <a:off x="6397600" y="1371600"/>
            <a:ext cx="2743200" cy="310896"/>
          </a:xfrm>
          <a:prstGeom prst="rect">
            <a:avLst/>
          </a:prstGeom>
          <a:noFill/>
          <a:ln/>
        </p:spPr>
        <p:txBody>
          <a:bodyPr wrap="square" lIns="0" tIns="0" rIns="0" bIns="0" rtlCol="0" anchor="ctr"/>
          <a:lstStyle/>
          <a:p>
            <a:pPr marL="0" indent="0" algn="ctr">
              <a:buNone/>
            </a:pPr>
            <a:r>
              <a:rPr lang="en-US" sz="1050" b="1" kern="0" spc="100" dirty="0">
                <a:solidFill>
                  <a:srgbClr val="12253F"/>
                </a:solidFill>
                <a:latin typeface="Times New Roman" pitchFamily="34" charset="0"/>
                <a:ea typeface="Times New Roman" pitchFamily="34" charset="-122"/>
                <a:cs typeface="Times New Roman" pitchFamily="34" charset="-120"/>
              </a:rPr>
              <a:t>KHÓA LUẬN TỐT NGHIỆP</a:t>
            </a:r>
            <a:endParaRPr lang="en-US" sz="1050" dirty="0"/>
          </a:p>
        </p:txBody>
      </p:sp>
      <p:sp>
        <p:nvSpPr>
          <p:cNvPr id="11" name="Text 9"/>
          <p:cNvSpPr txBox="1"/>
          <p:nvPr/>
        </p:nvSpPr>
        <p:spPr>
          <a:xfrm>
            <a:off x="6379312" y="1865376"/>
            <a:ext cx="5163160" cy="3621024"/>
          </a:xfrm>
          <a:prstGeom prst="rect">
            <a:avLst/>
          </a:prstGeom>
          <a:noFill/>
          <a:ln/>
        </p:spPr>
        <p:txBody>
          <a:bodyPr wrap="square" lIns="0" tIns="0" rIns="0" bIns="0" rtlCol="0" anchor="t"/>
          <a:lstStyle/>
          <a:p>
            <a:pPr marL="0" indent="0">
              <a:lnSpc>
                <a:spcPct val="115000"/>
              </a:lnSpc>
              <a:buNone/>
            </a:pPr>
            <a:r>
              <a:rPr lang="en-US" sz="1800" dirty="0">
                <a:solidFill>
                  <a:srgbClr val="000000"/>
                </a:solidFill>
                <a:latin typeface="Times New Roman" pitchFamily="34" charset="0"/>
                <a:ea typeface="Times New Roman" pitchFamily="34" charset="-122"/>
                <a:cs typeface="Times New Roman" pitchFamily="34" charset="-120"/>
              </a:rPr>
              <a:t>Là một công trình nghiên cứu độc lập, quy mô lớn hơn và đòi hỏi chiều sâu học thuật cao hơn. Sinh viên xây dựng vấn đề nghiên cứu từ khoảng trống nghiên cứu, đặt câu hỏi nghiên cứu rõ ràng.
</a:t>
            </a:r>
            <a:r>
              <a:rPr lang="en-US" sz="1800" b="1" dirty="0">
                <a:solidFill>
                  <a:srgbClr val="000000"/>
                </a:solidFill>
                <a:latin typeface="Times New Roman" pitchFamily="34" charset="0"/>
                <a:ea typeface="Times New Roman" pitchFamily="34" charset="-122"/>
                <a:cs typeface="Times New Roman" pitchFamily="34" charset="-120"/>
              </a:rPr>
              <a:t>Sinh viên cần chứng minh tư duy nghiên cứu trọn vẹn, từ đặt vấn đề đến kết luận có căn cứ.</a:t>
            </a:r>
            <a:endParaRPr lang="en-US" sz="1800" dirty="0"/>
          </a:p>
        </p:txBody>
      </p:sp>
      <p:sp>
        <p:nvSpPr>
          <p:cNvPr id="12" name="Shape 10"/>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3" name="Text 11"/>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a:t>
            </a:r>
            <a:endParaRPr lang="en-US" sz="1000" dirty="0"/>
          </a:p>
        </p:txBody>
      </p:sp>
      <p:sp>
        <p:nvSpPr>
          <p:cNvPr id="14" name="Text 12"/>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Định nghĩa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Phân biệt nghiên cứu thật với việc chỉ tổng hợp thông tin</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1051560"/>
          </a:xfrm>
          <a:prstGeom prst="rect">
            <a:avLst/>
          </a:prstGeom>
          <a:solidFill>
            <a:srgbClr val="F0F2F5"/>
          </a:solidFill>
          <a:ln w="9525">
            <a:solidFill>
              <a:srgbClr val="12253F"/>
            </a:solidFill>
            <a:prstDash val="solid"/>
          </a:ln>
        </p:spPr>
        <p:txBody>
          <a:bodyPr/>
          <a:lstStyle/>
          <a:p>
            <a:endParaRPr lang="en-US"/>
          </a:p>
        </p:txBody>
      </p:sp>
      <p:sp>
        <p:nvSpPr>
          <p:cNvPr id="5" name="Text 3"/>
          <p:cNvSpPr txBox="1"/>
          <p:nvPr/>
        </p:nvSpPr>
        <p:spPr>
          <a:xfrm>
            <a:off x="758952" y="1325880"/>
            <a:ext cx="10728655" cy="868680"/>
          </a:xfrm>
          <a:prstGeom prst="rect">
            <a:avLst/>
          </a:prstGeom>
          <a:noFill/>
          <a:ln/>
        </p:spPr>
        <p:txBody>
          <a:bodyPr wrap="square" lIns="0" tIns="0" rIns="0" bIns="0" rtlCol="0" anchor="ctr"/>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Cả hai loại công trình đều là sản phẩm khoa học. Chúng trả lời một vấn đề bằng lập luận và bằng chứng, không phải trình bày lại những gì đã biết.</a:t>
            </a:r>
            <a:endParaRPr lang="en-US" sz="1800" dirty="0"/>
          </a:p>
        </p:txBody>
      </p:sp>
      <p:sp>
        <p:nvSpPr>
          <p:cNvPr id="6" name="Text 4"/>
          <p:cNvSpPr txBox="1"/>
          <p:nvPr/>
        </p:nvSpPr>
        <p:spPr>
          <a:xfrm>
            <a:off x="502920" y="2286000"/>
            <a:ext cx="4572000" cy="292608"/>
          </a:xfrm>
          <a:prstGeom prst="rect">
            <a:avLst/>
          </a:prstGeom>
          <a:noFill/>
          <a:ln/>
        </p:spPr>
        <p:txBody>
          <a:bodyPr wrap="square" lIns="0" tIns="0" rIns="0" bIns="0" rtlCol="0" anchor="ctr"/>
          <a:lstStyle/>
          <a:p>
            <a:pPr marL="0" indent="0">
              <a:buNone/>
            </a:pPr>
            <a:r>
              <a:rPr lang="en-US" sz="1400" b="1" kern="0" spc="100" dirty="0">
                <a:solidFill>
                  <a:srgbClr val="3D4552"/>
                </a:solidFill>
                <a:latin typeface="Times New Roman" pitchFamily="34" charset="0"/>
                <a:ea typeface="Times New Roman" pitchFamily="34" charset="-122"/>
                <a:cs typeface="Times New Roman" pitchFamily="34" charset="-120"/>
              </a:rPr>
              <a:t>VÍ DỤ MINH HỌA</a:t>
            </a:r>
            <a:endParaRPr lang="en-US" sz="1400" dirty="0"/>
          </a:p>
        </p:txBody>
      </p:sp>
      <p:sp>
        <p:nvSpPr>
          <p:cNvPr id="7" name="Shape 5"/>
          <p:cNvSpPr/>
          <p:nvPr/>
        </p:nvSpPr>
        <p:spPr>
          <a:xfrm>
            <a:off x="502920" y="2651760"/>
            <a:ext cx="5592928" cy="2103120"/>
          </a:xfrm>
          <a:prstGeom prst="rect">
            <a:avLst/>
          </a:prstGeom>
          <a:solidFill>
            <a:srgbClr val="FFFFFF"/>
          </a:solidFill>
          <a:ln w="19050">
            <a:solidFill>
              <a:srgbClr val="12253F"/>
            </a:solidFill>
            <a:prstDash val="solid"/>
          </a:ln>
        </p:spPr>
        <p:txBody>
          <a:bodyPr/>
          <a:lstStyle/>
          <a:p>
            <a:endParaRPr lang="en-US"/>
          </a:p>
        </p:txBody>
      </p:sp>
      <p:sp>
        <p:nvSpPr>
          <p:cNvPr id="8" name="Text 6"/>
          <p:cNvSpPr txBox="1"/>
          <p:nvPr/>
        </p:nvSpPr>
        <p:spPr>
          <a:xfrm>
            <a:off x="649224" y="2761488"/>
            <a:ext cx="5300320" cy="1883664"/>
          </a:xfrm>
          <a:prstGeom prst="rect">
            <a:avLst/>
          </a:prstGeom>
          <a:noFill/>
          <a:ln/>
        </p:spPr>
        <p:txBody>
          <a:bodyPr wrap="square" lIns="0" tIns="0" rIns="0" bIns="0" rtlCol="0" anchor="t"/>
          <a:lstStyle/>
          <a:p>
            <a:pPr marL="0" indent="0">
              <a:buNone/>
            </a:pPr>
            <a:r>
              <a:rPr lang="en-US" sz="1850" b="1" dirty="0">
                <a:solidFill>
                  <a:srgbClr val="000000"/>
                </a:solidFill>
                <a:latin typeface="Times New Roman" pitchFamily="34" charset="0"/>
                <a:ea typeface="Times New Roman" pitchFamily="34" charset="-122"/>
                <a:cs typeface="Times New Roman" pitchFamily="34" charset="-120"/>
              </a:rPr>
              <a:t>KHÔNG phải là nghiên cứu
</a:t>
            </a:r>
            <a:r>
              <a:rPr lang="en-US" sz="1800" dirty="0">
                <a:solidFill>
                  <a:srgbClr val="000000"/>
                </a:solidFill>
                <a:latin typeface="Times New Roman" pitchFamily="34" charset="0"/>
                <a:ea typeface="Times New Roman" pitchFamily="34" charset="-122"/>
                <a:cs typeface="Times New Roman" pitchFamily="34" charset="-120"/>
              </a:rPr>
              <a:t>Trình bày lại lịch sử và quy định pháp lý hiện hành về một dịch vụ, không đặt câu hỏi, không phân tích.</a:t>
            </a:r>
            <a:endParaRPr lang="en-US" sz="1850" dirty="0"/>
          </a:p>
        </p:txBody>
      </p:sp>
      <p:sp>
        <p:nvSpPr>
          <p:cNvPr id="9" name="Shape 7"/>
          <p:cNvSpPr/>
          <p:nvPr/>
        </p:nvSpPr>
        <p:spPr>
          <a:xfrm>
            <a:off x="6095848" y="2651760"/>
            <a:ext cx="5592928" cy="2103120"/>
          </a:xfrm>
          <a:prstGeom prst="rect">
            <a:avLst/>
          </a:prstGeom>
          <a:solidFill>
            <a:srgbClr val="F0F2F5"/>
          </a:solidFill>
          <a:ln w="19050">
            <a:solidFill>
              <a:srgbClr val="12253F"/>
            </a:solidFill>
            <a:prstDash val="solid"/>
          </a:ln>
        </p:spPr>
        <p:txBody>
          <a:bodyPr/>
          <a:lstStyle/>
          <a:p>
            <a:endParaRPr lang="en-US"/>
          </a:p>
        </p:txBody>
      </p:sp>
      <p:sp>
        <p:nvSpPr>
          <p:cNvPr id="10" name="Text 8"/>
          <p:cNvSpPr txBox="1"/>
          <p:nvPr/>
        </p:nvSpPr>
        <p:spPr>
          <a:xfrm>
            <a:off x="6242152" y="2761488"/>
            <a:ext cx="5300320" cy="1883664"/>
          </a:xfrm>
          <a:prstGeom prst="rect">
            <a:avLst/>
          </a:prstGeom>
          <a:noFill/>
          <a:ln/>
        </p:spPr>
        <p:txBody>
          <a:bodyPr wrap="square" lIns="0" tIns="0" rIns="0" bIns="0" rtlCol="0" anchor="t"/>
          <a:lstStyle/>
          <a:p>
            <a:pPr marL="0" indent="0">
              <a:buNone/>
            </a:pPr>
            <a:r>
              <a:rPr lang="en-US" sz="1850" b="1" dirty="0">
                <a:solidFill>
                  <a:srgbClr val="000000"/>
                </a:solidFill>
                <a:latin typeface="Times New Roman" pitchFamily="34" charset="0"/>
                <a:ea typeface="Times New Roman" pitchFamily="34" charset="-122"/>
                <a:cs typeface="Times New Roman" pitchFamily="34" charset="-120"/>
              </a:rPr>
              <a:t>LÀ nghiên cứu
</a:t>
            </a:r>
            <a:r>
              <a:rPr lang="en-US" sz="1800" dirty="0">
                <a:solidFill>
                  <a:srgbClr val="000000"/>
                </a:solidFill>
                <a:latin typeface="Times New Roman" pitchFamily="34" charset="0"/>
                <a:ea typeface="Times New Roman" pitchFamily="34" charset="-122"/>
                <a:cs typeface="Times New Roman" pitchFamily="34" charset="-120"/>
              </a:rPr>
              <a:t>Đặt câu hỏi vì sao một nhóm khách hàng ít dùng dịch vụ, thu thập dữ liệu để kiểm tra, rồi kết luận dựa trên dữ liệu.</a:t>
            </a:r>
            <a:endParaRPr lang="en-US" sz="1850" dirty="0"/>
          </a:p>
        </p:txBody>
      </p:sp>
      <p:sp>
        <p:nvSpPr>
          <p:cNvPr id="11" name="Shape 9"/>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2" name="Text 10"/>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a:t>
            </a:r>
            <a:endParaRPr lang="en-US" sz="1000" dirty="0"/>
          </a:p>
        </p:txBody>
      </p:sp>
      <p:sp>
        <p:nvSpPr>
          <p:cNvPr id="13" name="Text 11"/>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Phân biệt nghiên cứu thật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Điểm giống nhau, khác nhau và điều sinh viên phải chứng minh</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55680" cy="2912872"/>
        </p:xfrm>
        <a:graphic>
          <a:graphicData uri="http://schemas.openxmlformats.org/drawingml/2006/table">
            <a:tbl>
              <a:tblPr/>
              <a:tblGrid>
                <a:gridCol w="219456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gridCol w="4389120">
                  <a:extLst>
                    <a:ext uri="{9D8B030D-6E8A-4147-A177-3AD203B41FA5}">
                      <a16:colId xmlns:a16="http://schemas.microsoft.com/office/drawing/2014/main" val="20002"/>
                    </a:ext>
                  </a:extLst>
                </a:gridCol>
              </a:tblGrid>
              <a:tr h="566928">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Tiêu chí</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Chuyên đề tốt nghiệp</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700" b="1" dirty="0">
                          <a:solidFill>
                            <a:srgbClr val="FFFFFF"/>
                          </a:solidFill>
                          <a:latin typeface="Times New Roman" pitchFamily="34" charset="0"/>
                          <a:ea typeface="Times New Roman" pitchFamily="34" charset="-122"/>
                          <a:cs typeface="Times New Roman" pitchFamily="34" charset="-120"/>
                        </a:rPr>
                        <a:t>Khóa luận tốt nghiệp</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6692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Quy mô vấn đề</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Vấn đề cụ thể, gắn với một đơn vị</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Vấn đề rộng hơn, đặt trong cả lĩnh vực</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Nền tảng lý thuyết</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Dùng lý thuyết có sẵn để phân tích</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Tổng quan sâu hơn, xác định khoảng trống nghiên cứu</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6692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Độc lập tư duy</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Phân tích trên nền lý thuyết có sẵn</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Tự xây dựng câu hỏi và khung phân tích</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Năng lực chứng minh</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Phát hiện vấn đề, đề xuất hợp lý</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700" dirty="0">
                          <a:solidFill>
                            <a:srgbClr val="000000"/>
                          </a:solidFill>
                          <a:latin typeface="Times New Roman" pitchFamily="34" charset="0"/>
                          <a:ea typeface="Times New Roman" pitchFamily="34" charset="-122"/>
                          <a:cs typeface="Times New Roman" pitchFamily="34" charset="-120"/>
                        </a:rPr>
                        <a:t>Tư duy nghiên cứu trọn vẹn, có căn cứ</a:t>
                      </a:r>
                      <a:endParaRPr lang="en-US" sz="17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4434840"/>
            <a:ext cx="11185855" cy="1234440"/>
          </a:xfrm>
          <a:prstGeom prst="rect">
            <a:avLst/>
          </a:prstGeom>
          <a:solidFill>
            <a:srgbClr val="F0F2F5"/>
          </a:solidFill>
          <a:ln w="9525">
            <a:solidFill>
              <a:srgbClr val="12253F"/>
            </a:solidFill>
            <a:prstDash val="solid"/>
          </a:ln>
        </p:spPr>
        <p:txBody>
          <a:bodyPr/>
          <a:lstStyle/>
          <a:p>
            <a:endParaRPr lang="en-US"/>
          </a:p>
        </p:txBody>
      </p:sp>
      <p:sp>
        <p:nvSpPr>
          <p:cNvPr id="6" name="Text 3"/>
          <p:cNvSpPr txBox="1"/>
          <p:nvPr/>
        </p:nvSpPr>
        <p:spPr>
          <a:xfrm>
            <a:off x="758952" y="4526280"/>
            <a:ext cx="10728655" cy="1051560"/>
          </a:xfrm>
          <a:prstGeom prst="rect">
            <a:avLst/>
          </a:prstGeom>
          <a:noFill/>
          <a:ln/>
        </p:spPr>
        <p:txBody>
          <a:bodyPr wrap="square" lIns="0" tIns="0" rIns="0" bIns="0" rtlCol="0" anchor="ctr"/>
          <a:lstStyle/>
          <a:p>
            <a:pPr marL="0" indent="0">
              <a:buNone/>
            </a:pPr>
            <a:r>
              <a:rPr lang="en-US" sz="1650" b="1" dirty="0">
                <a:solidFill>
                  <a:srgbClr val="000000"/>
                </a:solidFill>
                <a:latin typeface="Times New Roman" pitchFamily="34" charset="0"/>
                <a:ea typeface="Times New Roman" pitchFamily="34" charset="-122"/>
                <a:cs typeface="Times New Roman" pitchFamily="34" charset="-120"/>
              </a:rPr>
              <a:t>Bài không phải là bản tổng hợp thông tin. Người chấm cần thấy sinh viên tự đặt câu hỏi, tự thu thập hoặc phân tích bằng chứng và tự rút ra kết luận của riêng mình.</a:t>
            </a:r>
            <a:endParaRPr lang="en-US" sz="1650" dirty="0"/>
          </a:p>
        </p:txBody>
      </p:sp>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So sánh</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891229" y="1285189"/>
            <a:ext cx="538582" cy="538582"/>
          </a:xfrm>
          <a:prstGeom prst="ellipse">
            <a:avLst/>
          </a:prstGeom>
          <a:ln w="22225">
            <a:solidFill>
              <a:srgbClr val="FFFFFF"/>
            </a:solidFill>
            <a:prstDash val="solid"/>
          </a:ln>
        </p:spPr>
        <p:txBody>
          <a:bodyPr/>
          <a:lstStyle/>
          <a:p>
            <a:endParaRPr lang="en-US"/>
          </a:p>
        </p:txBody>
      </p:sp>
      <p:sp>
        <p:nvSpPr>
          <p:cNvPr id="6" name="Shape 4"/>
          <p:cNvSpPr/>
          <p:nvPr/>
        </p:nvSpPr>
        <p:spPr>
          <a:xfrm>
            <a:off x="4052804" y="1446764"/>
            <a:ext cx="226204" cy="0"/>
          </a:xfrm>
          <a:prstGeom prst="line">
            <a:avLst/>
          </a:prstGeom>
          <a:noFill/>
          <a:ln w="25400">
            <a:solidFill>
              <a:srgbClr val="FFFFFF"/>
            </a:solidFill>
            <a:prstDash val="solid"/>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Tư duy nghiên cứu cơ bản</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Trước khi chọn đề tài, sinh viên cần có một trình tự suy nghĩ đúng. Phần này xây dựng trình tự đó, từ vấn đề đến câu hỏi, mục tiêu, dữ liệu và kết luận, đồng thời làm rõ ranh giới giữa những khái niệm dễ bị nhầm lẫn.</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Tôi phải suy nghĩ theo trình tự nào trước khi bắt đầu</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Quan sát, nhận định, vấn đề nghiên cứu khác nhau ở đâu</a:t>
            </a:r>
            <a:endParaRPr lang="en-US" sz="2000" dirty="0"/>
          </a:p>
        </p:txBody>
      </p:sp>
      <p:sp>
        <p:nvSpPr>
          <p:cNvPr id="13" name="Shape 11"/>
          <p:cNvSpPr/>
          <p:nvPr/>
        </p:nvSpPr>
        <p:spPr>
          <a:xfrm>
            <a:off x="822960" y="5605272"/>
            <a:ext cx="100584" cy="100584"/>
          </a:xfrm>
          <a:prstGeom prst="ellipse">
            <a:avLst/>
          </a:prstGeom>
          <a:solidFill>
            <a:srgbClr val="1F5C82"/>
          </a:solidFill>
          <a:ln/>
        </p:spPr>
        <p:txBody>
          <a:bodyPr/>
          <a:lstStyle/>
          <a:p>
            <a:endParaRPr lang="en-US"/>
          </a:p>
        </p:txBody>
      </p:sp>
      <p:sp>
        <p:nvSpPr>
          <p:cNvPr id="14" name="Text 12"/>
          <p:cNvSpPr txBox="1"/>
          <p:nvPr/>
        </p:nvSpPr>
        <p:spPr>
          <a:xfrm>
            <a:off x="1069848" y="5513832"/>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Vấn đề thực tế và khoảng trống nghiên cứu khác nhau ở đâu</a:t>
            </a:r>
            <a:endParaRPr lang="en-US" sz="2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Trình tự suy nghĩ: năm bước đầu tiên</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234440"/>
            <a:ext cx="11155680" cy="822960"/>
          </a:xfrm>
          <a:prstGeom prst="rect">
            <a:avLst/>
          </a:prstGeom>
          <a:noFill/>
          <a:ln/>
        </p:spPr>
        <p:txBody>
          <a:bodyPr wrap="square" lIns="0" tIns="0" rIns="0" bIns="0" rtlCol="0" anchor="t"/>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Một nghiên cứu tốt không bắt đầu từ một cái tên đề tài nghe hay. Nó bắt đầu từ một vấn đề có thật, rồi đi qua từng bước suy nghĩ.</a:t>
            </a:r>
            <a:endParaRPr lang="en-US" sz="1400" dirty="0"/>
          </a:p>
        </p:txBody>
      </p:sp>
      <p:sp>
        <p:nvSpPr>
          <p:cNvPr id="5" name="Shape 3"/>
          <p:cNvSpPr/>
          <p:nvPr/>
        </p:nvSpPr>
        <p:spPr>
          <a:xfrm>
            <a:off x="502920" y="2057400"/>
            <a:ext cx="1981139"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6" name="Text 4"/>
          <p:cNvSpPr txBox="1"/>
          <p:nvPr/>
        </p:nvSpPr>
        <p:spPr>
          <a:xfrm>
            <a:off x="557784" y="2057400"/>
            <a:ext cx="1871411" cy="1005840"/>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1. Vấn đề thực tế</a:t>
            </a:r>
            <a:endParaRPr lang="en-US" sz="1150" dirty="0"/>
          </a:p>
        </p:txBody>
      </p:sp>
      <p:sp>
        <p:nvSpPr>
          <p:cNvPr id="7" name="Shape 5"/>
          <p:cNvSpPr/>
          <p:nvPr/>
        </p:nvSpPr>
        <p:spPr>
          <a:xfrm>
            <a:off x="2544867" y="2368296"/>
            <a:ext cx="198425" cy="384048"/>
          </a:xfrm>
          <a:prstGeom prst="chevron">
            <a:avLst/>
          </a:prstGeom>
          <a:solidFill>
            <a:srgbClr val="1F5C82"/>
          </a:solidFill>
          <a:ln/>
        </p:spPr>
        <p:txBody>
          <a:bodyPr/>
          <a:lstStyle/>
          <a:p>
            <a:endParaRPr lang="en-US"/>
          </a:p>
        </p:txBody>
      </p:sp>
      <p:sp>
        <p:nvSpPr>
          <p:cNvPr id="8" name="Shape 6"/>
          <p:cNvSpPr/>
          <p:nvPr/>
        </p:nvSpPr>
        <p:spPr>
          <a:xfrm>
            <a:off x="2804099" y="2057400"/>
            <a:ext cx="1981139"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9" name="Text 7"/>
          <p:cNvSpPr txBox="1"/>
          <p:nvPr/>
        </p:nvSpPr>
        <p:spPr>
          <a:xfrm>
            <a:off x="2858963" y="2057400"/>
            <a:ext cx="1871411" cy="1005840"/>
          </a:xfrm>
          <a:prstGeom prst="rect">
            <a:avLst/>
          </a:prstGeom>
          <a:noFill/>
          <a:ln/>
        </p:spPr>
        <p:txBody>
          <a:bodyPr wrap="square" lIns="0" tIns="0" rIns="0" bIns="0" rtlCol="0" anchor="ctr"/>
          <a:lstStyle/>
          <a:p>
            <a:pPr marL="0" indent="0" algn="ctr">
              <a:buNone/>
            </a:pPr>
            <a:r>
              <a:rPr lang="en-US" sz="1150" b="1" dirty="0">
                <a:solidFill>
                  <a:srgbClr val="000000"/>
                </a:solidFill>
                <a:latin typeface="Times New Roman" pitchFamily="34" charset="0"/>
                <a:ea typeface="Times New Roman" pitchFamily="34" charset="-122"/>
                <a:cs typeface="Times New Roman" pitchFamily="34" charset="-120"/>
              </a:rPr>
              <a:t>2. Điều đang xảy ra</a:t>
            </a:r>
            <a:endParaRPr lang="en-US" sz="1150" dirty="0"/>
          </a:p>
        </p:txBody>
      </p:sp>
      <p:sp>
        <p:nvSpPr>
          <p:cNvPr id="10" name="Shape 8"/>
          <p:cNvSpPr/>
          <p:nvPr/>
        </p:nvSpPr>
        <p:spPr>
          <a:xfrm>
            <a:off x="4846046" y="2368296"/>
            <a:ext cx="198425" cy="384048"/>
          </a:xfrm>
          <a:prstGeom prst="chevron">
            <a:avLst/>
          </a:prstGeom>
          <a:solidFill>
            <a:srgbClr val="1F5C82"/>
          </a:solidFill>
          <a:ln/>
        </p:spPr>
        <p:txBody>
          <a:bodyPr/>
          <a:lstStyle/>
          <a:p>
            <a:endParaRPr lang="en-US"/>
          </a:p>
        </p:txBody>
      </p:sp>
      <p:sp>
        <p:nvSpPr>
          <p:cNvPr id="11" name="Shape 9"/>
          <p:cNvSpPr/>
          <p:nvPr/>
        </p:nvSpPr>
        <p:spPr>
          <a:xfrm>
            <a:off x="5105278" y="2057400"/>
            <a:ext cx="1981139"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12" name="Text 10"/>
          <p:cNvSpPr txBox="1"/>
          <p:nvPr/>
        </p:nvSpPr>
        <p:spPr>
          <a:xfrm>
            <a:off x="5160142" y="2057400"/>
            <a:ext cx="1871411" cy="1005840"/>
          </a:xfrm>
          <a:prstGeom prst="rect">
            <a:avLst/>
          </a:prstGeom>
          <a:noFill/>
          <a:ln/>
        </p:spPr>
        <p:txBody>
          <a:bodyPr wrap="square" lIns="0" tIns="0" rIns="0" bIns="0" rtlCol="0" anchor="ctr"/>
          <a:lstStyle/>
          <a:p>
            <a:pPr marL="0" indent="0" algn="ctr">
              <a:buNone/>
            </a:pPr>
            <a:r>
              <a:rPr lang="en-US" sz="1150" b="1" dirty="0">
                <a:solidFill>
                  <a:srgbClr val="000000"/>
                </a:solidFill>
                <a:latin typeface="Times New Roman" pitchFamily="34" charset="0"/>
                <a:ea typeface="Times New Roman" pitchFamily="34" charset="-122"/>
                <a:cs typeface="Times New Roman" pitchFamily="34" charset="-120"/>
              </a:rPr>
              <a:t>3. Điều chưa được giải thích</a:t>
            </a:r>
            <a:endParaRPr lang="en-US" sz="1150" dirty="0"/>
          </a:p>
        </p:txBody>
      </p:sp>
      <p:sp>
        <p:nvSpPr>
          <p:cNvPr id="13" name="Shape 11"/>
          <p:cNvSpPr/>
          <p:nvPr/>
        </p:nvSpPr>
        <p:spPr>
          <a:xfrm>
            <a:off x="7147225" y="2368296"/>
            <a:ext cx="198425" cy="384048"/>
          </a:xfrm>
          <a:prstGeom prst="chevron">
            <a:avLst/>
          </a:prstGeom>
          <a:solidFill>
            <a:srgbClr val="1F5C82"/>
          </a:solidFill>
          <a:ln/>
        </p:spPr>
        <p:txBody>
          <a:bodyPr/>
          <a:lstStyle/>
          <a:p>
            <a:endParaRPr lang="en-US"/>
          </a:p>
        </p:txBody>
      </p:sp>
      <p:sp>
        <p:nvSpPr>
          <p:cNvPr id="14" name="Shape 12"/>
          <p:cNvSpPr/>
          <p:nvPr/>
        </p:nvSpPr>
        <p:spPr>
          <a:xfrm>
            <a:off x="7406457" y="2057400"/>
            <a:ext cx="1981139"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15" name="Text 13"/>
          <p:cNvSpPr txBox="1"/>
          <p:nvPr/>
        </p:nvSpPr>
        <p:spPr>
          <a:xfrm>
            <a:off x="7461321" y="2057400"/>
            <a:ext cx="1871411" cy="1005840"/>
          </a:xfrm>
          <a:prstGeom prst="rect">
            <a:avLst/>
          </a:prstGeom>
          <a:noFill/>
          <a:ln/>
        </p:spPr>
        <p:txBody>
          <a:bodyPr wrap="square" lIns="0" tIns="0" rIns="0" bIns="0" rtlCol="0" anchor="ctr"/>
          <a:lstStyle/>
          <a:p>
            <a:pPr marL="0" indent="0" algn="ctr">
              <a:buNone/>
            </a:pPr>
            <a:r>
              <a:rPr lang="en-US" sz="1150" b="1" dirty="0">
                <a:solidFill>
                  <a:srgbClr val="FFFFFF"/>
                </a:solidFill>
                <a:latin typeface="Times New Roman" pitchFamily="34" charset="0"/>
                <a:ea typeface="Times New Roman" pitchFamily="34" charset="-122"/>
                <a:cs typeface="Times New Roman" pitchFamily="34" charset="-120"/>
              </a:rPr>
              <a:t>4. Vấn đề nghiên cứu</a:t>
            </a:r>
            <a:endParaRPr lang="en-US" sz="1150" dirty="0"/>
          </a:p>
        </p:txBody>
      </p:sp>
      <p:sp>
        <p:nvSpPr>
          <p:cNvPr id="16" name="Shape 14"/>
          <p:cNvSpPr/>
          <p:nvPr/>
        </p:nvSpPr>
        <p:spPr>
          <a:xfrm>
            <a:off x="9448404" y="2368296"/>
            <a:ext cx="198425" cy="384048"/>
          </a:xfrm>
          <a:prstGeom prst="chevron">
            <a:avLst/>
          </a:prstGeom>
          <a:solidFill>
            <a:srgbClr val="1F5C82"/>
          </a:solidFill>
          <a:ln/>
        </p:spPr>
        <p:txBody>
          <a:bodyPr/>
          <a:lstStyle/>
          <a:p>
            <a:endParaRPr lang="en-US"/>
          </a:p>
        </p:txBody>
      </p:sp>
      <p:sp>
        <p:nvSpPr>
          <p:cNvPr id="17" name="Shape 15"/>
          <p:cNvSpPr/>
          <p:nvPr/>
        </p:nvSpPr>
        <p:spPr>
          <a:xfrm>
            <a:off x="9707636" y="2057400"/>
            <a:ext cx="1981139"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18" name="Text 16"/>
          <p:cNvSpPr txBox="1"/>
          <p:nvPr/>
        </p:nvSpPr>
        <p:spPr>
          <a:xfrm>
            <a:off x="9762500" y="2057400"/>
            <a:ext cx="1871411" cy="1005840"/>
          </a:xfrm>
          <a:prstGeom prst="rect">
            <a:avLst/>
          </a:prstGeom>
          <a:noFill/>
          <a:ln/>
        </p:spPr>
        <p:txBody>
          <a:bodyPr wrap="square" lIns="0" tIns="0" rIns="0" bIns="0" rtlCol="0" anchor="ctr"/>
          <a:lstStyle/>
          <a:p>
            <a:pPr marL="0" indent="0" algn="ctr">
              <a:buNone/>
            </a:pPr>
            <a:r>
              <a:rPr lang="en-US" sz="1150" b="1" dirty="0">
                <a:solidFill>
                  <a:srgbClr val="000000"/>
                </a:solidFill>
                <a:latin typeface="Times New Roman" pitchFamily="34" charset="0"/>
                <a:ea typeface="Times New Roman" pitchFamily="34" charset="-122"/>
                <a:cs typeface="Times New Roman" pitchFamily="34" charset="-120"/>
              </a:rPr>
              <a:t>5. Câu hỏi cần trả lời</a:t>
            </a:r>
            <a:endParaRPr lang="en-US" sz="1150" dirty="0"/>
          </a:p>
        </p:txBody>
      </p:sp>
      <p:sp>
        <p:nvSpPr>
          <p:cNvPr id="19" name="Shape 17"/>
          <p:cNvSpPr/>
          <p:nvPr/>
        </p:nvSpPr>
        <p:spPr>
          <a:xfrm>
            <a:off x="502920" y="3291840"/>
            <a:ext cx="5455768" cy="1234440"/>
          </a:xfrm>
          <a:prstGeom prst="rect">
            <a:avLst/>
          </a:prstGeom>
          <a:solidFill>
            <a:srgbClr val="FFFFFF"/>
          </a:solidFill>
          <a:ln w="19050">
            <a:solidFill>
              <a:srgbClr val="12253F"/>
            </a:solidFill>
            <a:prstDash val="solid"/>
          </a:ln>
        </p:spPr>
        <p:txBody>
          <a:bodyPr/>
          <a:lstStyle/>
          <a:p>
            <a:endParaRPr lang="en-US"/>
          </a:p>
        </p:txBody>
      </p:sp>
      <p:sp>
        <p:nvSpPr>
          <p:cNvPr id="20" name="Text 18"/>
          <p:cNvSpPr txBox="1"/>
          <p:nvPr/>
        </p:nvSpPr>
        <p:spPr>
          <a:xfrm>
            <a:off x="649224" y="3401568"/>
            <a:ext cx="5163160"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Bước 1 đến 3: Quan sát thực tế
</a:t>
            </a:r>
            <a:r>
              <a:rPr lang="en-US" sz="1800" dirty="0">
                <a:solidFill>
                  <a:srgbClr val="000000"/>
                </a:solidFill>
                <a:latin typeface="Times New Roman" pitchFamily="34" charset="0"/>
                <a:ea typeface="Times New Roman" pitchFamily="34" charset="-122"/>
                <a:cs typeface="Times New Roman" pitchFamily="34" charset="-120"/>
              </a:rPr>
              <a:t>Sinh viên quan sát một hiện tượng đang xảy ra, xác định phần nào chưa có lời giải thích thỏa đáng.</a:t>
            </a:r>
            <a:endParaRPr lang="en-US" sz="1900" dirty="0"/>
          </a:p>
        </p:txBody>
      </p:sp>
      <p:sp>
        <p:nvSpPr>
          <p:cNvPr id="21" name="Shape 19"/>
          <p:cNvSpPr/>
          <p:nvPr/>
        </p:nvSpPr>
        <p:spPr>
          <a:xfrm>
            <a:off x="6233008" y="3291840"/>
            <a:ext cx="5455768" cy="1234440"/>
          </a:xfrm>
          <a:prstGeom prst="rect">
            <a:avLst/>
          </a:prstGeom>
          <a:solidFill>
            <a:srgbClr val="FFFFFF"/>
          </a:solidFill>
          <a:ln w="19050">
            <a:solidFill>
              <a:srgbClr val="12253F"/>
            </a:solidFill>
            <a:prstDash val="solid"/>
          </a:ln>
        </p:spPr>
        <p:txBody>
          <a:bodyPr/>
          <a:lstStyle/>
          <a:p>
            <a:endParaRPr lang="en-US"/>
          </a:p>
        </p:txBody>
      </p:sp>
      <p:sp>
        <p:nvSpPr>
          <p:cNvPr id="22" name="Text 20"/>
          <p:cNvSpPr txBox="1"/>
          <p:nvPr/>
        </p:nvSpPr>
        <p:spPr>
          <a:xfrm>
            <a:off x="6379312" y="3401568"/>
            <a:ext cx="5163160"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Bước 4 đến 5: Định hình vấn đề
</a:t>
            </a:r>
            <a:r>
              <a:rPr lang="en-US" sz="1800" dirty="0">
                <a:solidFill>
                  <a:srgbClr val="000000"/>
                </a:solidFill>
                <a:latin typeface="Times New Roman" pitchFamily="34" charset="0"/>
                <a:ea typeface="Times New Roman" pitchFamily="34" charset="-122"/>
                <a:cs typeface="Times New Roman" pitchFamily="34" charset="-120"/>
              </a:rPr>
              <a:t>Chuyển điều chưa được giải thích thành một vấn đề nghiên cứu cụ thể, đặt thành câu hỏi có thể trả lời bằng dữ liệu.</a:t>
            </a:r>
            <a:endParaRPr lang="en-US" sz="1900" dirty="0"/>
          </a:p>
        </p:txBody>
      </p:sp>
      <p:sp>
        <p:nvSpPr>
          <p:cNvPr id="23" name="Shape 21"/>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4" name="Text 22"/>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25" name="Text 23"/>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Trình tự tư duy, bước 1 đến 5</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Trình tự suy nghĩ: ba bước còn lại</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71600"/>
            <a:ext cx="3515258"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557784" y="1371600"/>
            <a:ext cx="3405530" cy="100584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6. Dữ liệu cần có</a:t>
            </a:r>
            <a:endParaRPr lang="en-US" sz="1300" dirty="0"/>
          </a:p>
        </p:txBody>
      </p:sp>
      <p:sp>
        <p:nvSpPr>
          <p:cNvPr id="6" name="Shape 4"/>
          <p:cNvSpPr/>
          <p:nvPr/>
        </p:nvSpPr>
        <p:spPr>
          <a:xfrm>
            <a:off x="4078986" y="1682496"/>
            <a:ext cx="198425" cy="384048"/>
          </a:xfrm>
          <a:prstGeom prst="chevron">
            <a:avLst/>
          </a:prstGeom>
          <a:solidFill>
            <a:srgbClr val="1F5C82"/>
          </a:solidFill>
          <a:ln/>
        </p:spPr>
        <p:txBody>
          <a:bodyPr/>
          <a:lstStyle/>
          <a:p>
            <a:endParaRPr lang="en-US"/>
          </a:p>
        </p:txBody>
      </p:sp>
      <p:sp>
        <p:nvSpPr>
          <p:cNvPr id="7" name="Shape 5"/>
          <p:cNvSpPr/>
          <p:nvPr/>
        </p:nvSpPr>
        <p:spPr>
          <a:xfrm>
            <a:off x="4338218" y="1371600"/>
            <a:ext cx="3515258"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8" name="Text 6"/>
          <p:cNvSpPr txBox="1"/>
          <p:nvPr/>
        </p:nvSpPr>
        <p:spPr>
          <a:xfrm>
            <a:off x="4393082" y="1371600"/>
            <a:ext cx="3405530" cy="100584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7. Phương pháp phù hợp</a:t>
            </a:r>
            <a:endParaRPr lang="en-US" sz="1300" dirty="0"/>
          </a:p>
        </p:txBody>
      </p:sp>
      <p:sp>
        <p:nvSpPr>
          <p:cNvPr id="9" name="Shape 7"/>
          <p:cNvSpPr/>
          <p:nvPr/>
        </p:nvSpPr>
        <p:spPr>
          <a:xfrm>
            <a:off x="7914284" y="1682496"/>
            <a:ext cx="198425" cy="384048"/>
          </a:xfrm>
          <a:prstGeom prst="chevron">
            <a:avLst/>
          </a:prstGeom>
          <a:solidFill>
            <a:srgbClr val="1F5C82"/>
          </a:solidFill>
          <a:ln/>
        </p:spPr>
        <p:txBody>
          <a:bodyPr/>
          <a:lstStyle/>
          <a:p>
            <a:endParaRPr lang="en-US"/>
          </a:p>
        </p:txBody>
      </p:sp>
      <p:sp>
        <p:nvSpPr>
          <p:cNvPr id="10" name="Shape 8"/>
          <p:cNvSpPr/>
          <p:nvPr/>
        </p:nvSpPr>
        <p:spPr>
          <a:xfrm>
            <a:off x="8173517" y="1371600"/>
            <a:ext cx="3515258"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11" name="Text 9"/>
          <p:cNvSpPr txBox="1"/>
          <p:nvPr/>
        </p:nvSpPr>
        <p:spPr>
          <a:xfrm>
            <a:off x="8228381" y="1371600"/>
            <a:ext cx="3405530" cy="100584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8. Kết luận trong phạm vi bằng chứng</a:t>
            </a:r>
            <a:endParaRPr lang="en-US" sz="1300" dirty="0"/>
          </a:p>
        </p:txBody>
      </p:sp>
      <p:sp>
        <p:nvSpPr>
          <p:cNvPr id="12" name="Shape 10"/>
          <p:cNvSpPr/>
          <p:nvPr/>
        </p:nvSpPr>
        <p:spPr>
          <a:xfrm>
            <a:off x="502920" y="2606040"/>
            <a:ext cx="5455768" cy="1234440"/>
          </a:xfrm>
          <a:prstGeom prst="rect">
            <a:avLst/>
          </a:prstGeom>
          <a:solidFill>
            <a:srgbClr val="FFFFFF"/>
          </a:solidFill>
          <a:ln w="19050">
            <a:solidFill>
              <a:srgbClr val="12253F"/>
            </a:solidFill>
            <a:prstDash val="solid"/>
          </a:ln>
        </p:spPr>
        <p:txBody>
          <a:bodyPr/>
          <a:lstStyle/>
          <a:p>
            <a:endParaRPr lang="en-US"/>
          </a:p>
        </p:txBody>
      </p:sp>
      <p:sp>
        <p:nvSpPr>
          <p:cNvPr id="13" name="Text 11"/>
          <p:cNvSpPr txBox="1"/>
          <p:nvPr/>
        </p:nvSpPr>
        <p:spPr>
          <a:xfrm>
            <a:off x="649224" y="2715768"/>
            <a:ext cx="5163160"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Bước 6 đến 7: Chuẩn bị công cụ
</a:t>
            </a:r>
            <a:r>
              <a:rPr lang="en-US" sz="1800" dirty="0">
                <a:solidFill>
                  <a:srgbClr val="000000"/>
                </a:solidFill>
                <a:latin typeface="Times New Roman" pitchFamily="34" charset="0"/>
                <a:ea typeface="Times New Roman" pitchFamily="34" charset="-122"/>
                <a:cs typeface="Times New Roman" pitchFamily="34" charset="-120"/>
              </a:rPr>
              <a:t>Xác định loại dữ liệu cần thu thập và phương pháp phân tích phù hợp với câu hỏi đã đặt ra.</a:t>
            </a:r>
            <a:endParaRPr lang="en-US" sz="1900" dirty="0"/>
          </a:p>
        </p:txBody>
      </p:sp>
      <p:sp>
        <p:nvSpPr>
          <p:cNvPr id="14" name="Shape 12"/>
          <p:cNvSpPr/>
          <p:nvPr/>
        </p:nvSpPr>
        <p:spPr>
          <a:xfrm>
            <a:off x="6233008" y="2606040"/>
            <a:ext cx="5455768" cy="1234440"/>
          </a:xfrm>
          <a:prstGeom prst="rect">
            <a:avLst/>
          </a:prstGeom>
          <a:solidFill>
            <a:srgbClr val="FFFFFF"/>
          </a:solidFill>
          <a:ln w="19050">
            <a:solidFill>
              <a:srgbClr val="12253F"/>
            </a:solidFill>
            <a:prstDash val="solid"/>
          </a:ln>
        </p:spPr>
        <p:txBody>
          <a:bodyPr/>
          <a:lstStyle/>
          <a:p>
            <a:endParaRPr lang="en-US"/>
          </a:p>
        </p:txBody>
      </p:sp>
      <p:sp>
        <p:nvSpPr>
          <p:cNvPr id="15" name="Text 13"/>
          <p:cNvSpPr txBox="1"/>
          <p:nvPr/>
        </p:nvSpPr>
        <p:spPr>
          <a:xfrm>
            <a:off x="6379312" y="2715768"/>
            <a:ext cx="5163160"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Bước 8: Giới hạn kết luận
</a:t>
            </a:r>
            <a:r>
              <a:rPr lang="en-US" sz="1800" dirty="0">
                <a:solidFill>
                  <a:srgbClr val="000000"/>
                </a:solidFill>
                <a:latin typeface="Times New Roman" pitchFamily="34" charset="0"/>
                <a:ea typeface="Times New Roman" pitchFamily="34" charset="-122"/>
                <a:cs typeface="Times New Roman" pitchFamily="34" charset="-120"/>
              </a:rPr>
              <a:t>Kết luận chỉ được phép nằm trong phạm vi những gì bằng chứng thu thập được cho phép nói.</a:t>
            </a:r>
            <a:endParaRPr lang="en-US" sz="1900" dirty="0"/>
          </a:p>
        </p:txBody>
      </p:sp>
      <p:sp>
        <p:nvSpPr>
          <p:cNvPr id="16" name="Shape 14"/>
          <p:cNvSpPr/>
          <p:nvPr/>
        </p:nvSpPr>
        <p:spPr>
          <a:xfrm>
            <a:off x="502920" y="4114800"/>
            <a:ext cx="11185855" cy="1005840"/>
          </a:xfrm>
          <a:prstGeom prst="rect">
            <a:avLst/>
          </a:prstGeom>
          <a:solidFill>
            <a:srgbClr val="F0F2F5"/>
          </a:solidFill>
          <a:ln w="9525">
            <a:solidFill>
              <a:srgbClr val="12253F"/>
            </a:solidFill>
            <a:prstDash val="solid"/>
          </a:ln>
        </p:spPr>
        <p:txBody>
          <a:bodyPr/>
          <a:lstStyle/>
          <a:p>
            <a:endParaRPr lang="en-US"/>
          </a:p>
        </p:txBody>
      </p:sp>
      <p:sp>
        <p:nvSpPr>
          <p:cNvPr id="17" name="Text 15"/>
          <p:cNvSpPr txBox="1"/>
          <p:nvPr/>
        </p:nvSpPr>
        <p:spPr>
          <a:xfrm>
            <a:off x="758952" y="4206240"/>
            <a:ext cx="10728655" cy="82296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Trước khi đặt câu hỏi nghiên cứu, sinh viên bắt buộc phải phân biệt rõ ba khái niệm dễ nhầm lẫn: quan sát thực tế, nhận định cá nhân và vấn đề nghiên cứu.</a:t>
            </a:r>
            <a:endParaRPr lang="en-US" sz="1350" dirty="0"/>
          </a:p>
        </p:txBody>
      </p:sp>
      <p:sp>
        <p:nvSpPr>
          <p:cNvPr id="18" name="Shape 1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9" name="Text 1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20" name="Text 1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Trình tự tư duy, bước 6 đến 8</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Ba khái niệm dễ nhầm lẫn nhất khi bắt đầu</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3108960"/>
        </p:xfrm>
        <a:graphic>
          <a:graphicData uri="http://schemas.openxmlformats.org/drawingml/2006/table">
            <a:tbl>
              <a:tblPr/>
              <a:tblGrid>
                <a:gridCol w="5486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7708392">
                  <a:extLst>
                    <a:ext uri="{9D8B030D-6E8A-4147-A177-3AD203B41FA5}">
                      <a16:colId xmlns:a16="http://schemas.microsoft.com/office/drawing/2014/main" val="20002"/>
                    </a:ext>
                  </a:extLst>
                </a:gridCol>
              </a:tblGrid>
              <a:tr h="777240">
                <a:tc>
                  <a:txBody>
                    <a:bodyPr/>
                    <a:lstStyle/>
                    <a:p>
                      <a:pPr marL="0" indent="0" algn="l">
                        <a:buNone/>
                      </a:pPr>
                      <a:r>
                        <a:rPr lang="en-US" sz="2000" b="1" dirty="0">
                          <a:solidFill>
                            <a:srgbClr val="FFFFFF"/>
                          </a:solidFill>
                          <a:latin typeface="Times New Roman" pitchFamily="34" charset="0"/>
                          <a:ea typeface="Times New Roman" pitchFamily="34" charset="-122"/>
                          <a:cs typeface="Times New Roman" pitchFamily="34" charset="-120"/>
                        </a:rPr>
                        <a:t>#</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2000" b="1" dirty="0">
                          <a:solidFill>
                            <a:srgbClr val="FFFFFF"/>
                          </a:solidFill>
                          <a:latin typeface="Times New Roman" pitchFamily="34" charset="0"/>
                          <a:ea typeface="Times New Roman" pitchFamily="34" charset="-122"/>
                          <a:cs typeface="Times New Roman" pitchFamily="34" charset="-120"/>
                        </a:rPr>
                        <a:t>Khái niệm</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2000" b="1" dirty="0">
                          <a:solidFill>
                            <a:srgbClr val="FFFFFF"/>
                          </a:solidFill>
                          <a:latin typeface="Times New Roman" pitchFamily="34" charset="0"/>
                          <a:ea typeface="Times New Roman" pitchFamily="34" charset="-122"/>
                          <a:cs typeface="Times New Roman" pitchFamily="34" charset="-120"/>
                        </a:rPr>
                        <a:t>Đây là gì</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77724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1</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Quan sát</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Một điều sinh viên nhìn thấy trong thực tế, chưa qua phân tích</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724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2</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Nhận định cá nhân</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Ý kiến chủ quan về quan sát đó, chưa có căn cứ kiểm chứng</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7724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3</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Vấn đề nghiên cứu</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Một khó khăn hoặc câu hỏi cụ thể, được xác định rõ, có thể kiểm chứng bằng dữ liệu thật</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Phân biệt khái niệm, phần một</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Hai khái niệm còn lại và lỗi thường gặp</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2880360"/>
        </p:xfrm>
        <a:graphic>
          <a:graphicData uri="http://schemas.openxmlformats.org/drawingml/2006/table">
            <a:tbl>
              <a:tblPr/>
              <a:tblGrid>
                <a:gridCol w="54864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7708392">
                  <a:extLst>
                    <a:ext uri="{9D8B030D-6E8A-4147-A177-3AD203B41FA5}">
                      <a16:colId xmlns:a16="http://schemas.microsoft.com/office/drawing/2014/main" val="20002"/>
                    </a:ext>
                  </a:extLst>
                </a:gridCol>
              </a:tblGrid>
              <a:tr h="960120">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Khái niệm</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800" b="1" dirty="0">
                          <a:solidFill>
                            <a:srgbClr val="FFFFFF"/>
                          </a:solidFill>
                          <a:latin typeface="Times New Roman" pitchFamily="34" charset="0"/>
                          <a:ea typeface="Times New Roman" pitchFamily="34" charset="-122"/>
                          <a:cs typeface="Times New Roman" pitchFamily="34" charset="-120"/>
                        </a:rPr>
                        <a:t>Đây là gì</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96012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4</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Câu hỏi nghiên cứu</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Câu hỏi cụ thể, trả lời được bằng phương pháp và dữ liệu phù hợp</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5</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Kết luận nghiên cứu</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00" dirty="0">
                          <a:solidFill>
                            <a:srgbClr val="000000"/>
                          </a:solidFill>
                          <a:latin typeface="Times New Roman" pitchFamily="34" charset="0"/>
                          <a:ea typeface="Times New Roman" pitchFamily="34" charset="-122"/>
                          <a:cs typeface="Times New Roman" pitchFamily="34" charset="-120"/>
                        </a:rPr>
                        <a:t>Câu trả lời rút ra sau khi phân tích dữ liệu thật, giới hạn trong phạm vi dữ liệu</a:t>
                      </a:r>
                      <a:endParaRPr lang="en-US" sz="18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bl>
          </a:graphicData>
        </a:graphic>
      </p:graphicFrame>
      <p:sp>
        <p:nvSpPr>
          <p:cNvPr id="5" name="Shape 2"/>
          <p:cNvSpPr/>
          <p:nvPr/>
        </p:nvSpPr>
        <p:spPr>
          <a:xfrm>
            <a:off x="502920" y="4272117"/>
            <a:ext cx="11185855" cy="1280160"/>
          </a:xfrm>
          <a:prstGeom prst="rect">
            <a:avLst/>
          </a:prstGeom>
          <a:solidFill>
            <a:srgbClr val="F0F2F5"/>
          </a:solidFill>
          <a:ln w="9525">
            <a:solidFill>
              <a:srgbClr val="12253F"/>
            </a:solidFill>
            <a:prstDash val="solid"/>
          </a:ln>
        </p:spPr>
        <p:txBody>
          <a:bodyPr/>
          <a:lstStyle/>
          <a:p>
            <a:endParaRPr lang="en-US"/>
          </a:p>
        </p:txBody>
      </p:sp>
      <p:sp>
        <p:nvSpPr>
          <p:cNvPr id="6" name="Text 3"/>
          <p:cNvSpPr txBox="1"/>
          <p:nvPr/>
        </p:nvSpPr>
        <p:spPr>
          <a:xfrm>
            <a:off x="758952" y="4363557"/>
            <a:ext cx="10728655" cy="1097280"/>
          </a:xfrm>
          <a:prstGeom prst="rect">
            <a:avLst/>
          </a:prstGeom>
          <a:noFill/>
          <a:ln/>
        </p:spPr>
        <p:txBody>
          <a:bodyPr wrap="square" lIns="0" tIns="0" rIns="0" bIns="0" rtlCol="0" anchor="ctr"/>
          <a:lstStyle/>
          <a:p>
            <a:pPr marL="0" indent="0">
              <a:buNone/>
            </a:pPr>
            <a:r>
              <a:rPr lang="en-US" sz="1650" b="1" dirty="0">
                <a:solidFill>
                  <a:srgbClr val="000000"/>
                </a:solidFill>
                <a:latin typeface="Times New Roman" pitchFamily="34" charset="0"/>
                <a:ea typeface="Times New Roman" pitchFamily="34" charset="-122"/>
                <a:cs typeface="Times New Roman" pitchFamily="34" charset="-120"/>
              </a:rPr>
              <a:t>Sinh viên mới thường mắc lỗi dừng lại ở bước nhận định cá nhân rồi viết thẳng thành kết luận, bỏ qua toàn bộ bước thu thập và phân tích dữ liệu ở giữa.</a:t>
            </a:r>
            <a:endParaRPr lang="en-US" sz="1650" dirty="0"/>
          </a:p>
        </p:txBody>
      </p:sp>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Phân biệt khái niệm, phần hai</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50" b="1" dirty="0">
                <a:solidFill>
                  <a:srgbClr val="000000"/>
                </a:solidFill>
                <a:latin typeface="Times New Roman" pitchFamily="34" charset="0"/>
                <a:ea typeface="Times New Roman" pitchFamily="34" charset="-122"/>
                <a:cs typeface="Times New Roman" pitchFamily="34" charset="-120"/>
              </a:rPr>
              <a:t>Vấn đề thực tế và khoảng trống nghiên cứu là hai điều khác nhau</a:t>
            </a:r>
            <a:endParaRPr lang="en-US" sz="18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Vấn đề nghiên cứu ở Mục 3 có thể xuất phát từ một trong hai nguồn sau. Sinh viên cần biết mình đang đứng ở nguồn nào để biết phải chứng minh điều gì.</a:t>
            </a:r>
            <a:endParaRPr lang="en-US" sz="1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173968" cy="2743200"/>
        </p:xfrm>
        <a:graphic>
          <a:graphicData uri="http://schemas.openxmlformats.org/drawingml/2006/table">
            <a:tbl>
              <a:tblPr/>
              <a:tblGrid>
                <a:gridCol w="1920240">
                  <a:extLst>
                    <a:ext uri="{9D8B030D-6E8A-4147-A177-3AD203B41FA5}">
                      <a16:colId xmlns:a16="http://schemas.microsoft.com/office/drawing/2014/main" val="20000"/>
                    </a:ext>
                  </a:extLst>
                </a:gridCol>
                <a:gridCol w="4626864">
                  <a:extLst>
                    <a:ext uri="{9D8B030D-6E8A-4147-A177-3AD203B41FA5}">
                      <a16:colId xmlns:a16="http://schemas.microsoft.com/office/drawing/2014/main" val="20001"/>
                    </a:ext>
                  </a:extLst>
                </a:gridCol>
                <a:gridCol w="4626864">
                  <a:extLst>
                    <a:ext uri="{9D8B030D-6E8A-4147-A177-3AD203B41FA5}">
                      <a16:colId xmlns:a16="http://schemas.microsoft.com/office/drawing/2014/main" val="20002"/>
                    </a:ext>
                  </a:extLst>
                </a:gridCol>
              </a:tblGrid>
              <a:tr h="685800">
                <a:tc>
                  <a:txBody>
                    <a:bodyPr/>
                    <a:lstStyle/>
                    <a:p>
                      <a:pPr marL="0" indent="0" algn="l">
                        <a:buNone/>
                      </a:pP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250" b="1" dirty="0">
                          <a:solidFill>
                            <a:srgbClr val="FFFFFF"/>
                          </a:solidFill>
                          <a:latin typeface="Times New Roman" pitchFamily="34" charset="0"/>
                          <a:ea typeface="Times New Roman" pitchFamily="34" charset="-122"/>
                          <a:cs typeface="Times New Roman" pitchFamily="34" charset="-120"/>
                        </a:rPr>
                        <a:t>Vấn đề thực tế (ứng dụng)</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250" b="1" dirty="0">
                          <a:solidFill>
                            <a:srgbClr val="FFFFFF"/>
                          </a:solidFill>
                          <a:latin typeface="Times New Roman" pitchFamily="34" charset="0"/>
                          <a:ea typeface="Times New Roman" pitchFamily="34" charset="-122"/>
                          <a:cs typeface="Times New Roman" pitchFamily="34" charset="-120"/>
                        </a:rPr>
                        <a:t>Khoảng trống nghiên cứu (lý thuyết)</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85800">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Đây là gì</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Một khó khăn hoặc tình huống cụ thể đang xảy ra trong thực tế, sinh viên muốn phân tích hoặc đề xuất hướng xử lý</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Một điều chưa được giải thích rõ trong tri thức khoa học hiện có, cần nghiên cứu thêm để bổ sung hiểu biết</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Ví dụ</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Một cửa hàng bán lẻ đang mất khách vào tay đối thủ mới mở gần đó</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Chưa có nghiên cứu nào kiểm chứng mối liên hệ giữa hai yếu tố cụ thể trong một bối cảnh cụ thể</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85800">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Khi nào bắt buộc phải chứng minh</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Hầu hết đề tài khóa luận đại học thuộc dạng ứng dụng, chỉ cần chứng minh vấn đề thực tế có thật và có ý nghĩa để nghiên cứu</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250" dirty="0">
                          <a:solidFill>
                            <a:srgbClr val="000000"/>
                          </a:solidFill>
                          <a:latin typeface="Times New Roman" pitchFamily="34" charset="0"/>
                          <a:ea typeface="Times New Roman" pitchFamily="34" charset="-122"/>
                          <a:cs typeface="Times New Roman" pitchFamily="34" charset="-120"/>
                        </a:rPr>
                        <a:t>Chỉ bắt buộc khi hướng dẫn áp dụng cho ngành hoặc chương trình của sinh viên yêu cầu rõ phải chứng minh đóng góp lý thuyết</a:t>
                      </a:r>
                      <a:endParaRPr lang="en-US" sz="12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02920" y="4709160"/>
            <a:ext cx="11185855" cy="777240"/>
          </a:xfrm>
          <a:prstGeom prst="rect">
            <a:avLst/>
          </a:prstGeom>
          <a:solidFill>
            <a:srgbClr val="F0F2F5"/>
          </a:solidFill>
          <a:ln w="9525">
            <a:solidFill>
              <a:srgbClr val="12253F"/>
            </a:solidFill>
            <a:prstDash val="solid"/>
          </a:ln>
        </p:spPr>
        <p:txBody>
          <a:bodyPr/>
          <a:lstStyle/>
          <a:p>
            <a:endParaRPr lang="en-US"/>
          </a:p>
        </p:txBody>
      </p:sp>
      <p:sp>
        <p:nvSpPr>
          <p:cNvPr id="7" name="Text 4"/>
          <p:cNvSpPr txBox="1"/>
          <p:nvPr/>
        </p:nvSpPr>
        <p:spPr>
          <a:xfrm>
            <a:off x="758952" y="4800600"/>
            <a:ext cx="10728655" cy="59436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Không phải đề tài ứng dụng nào cũng bắt buộc phải chứng minh lấp khoảng trống nghiên cứu. Sinh viên chỉ cần làm việc này khi hướng dẫn của ngành hoặc chương trình mình yêu cầu rõ điều đó.</a:t>
            </a:r>
            <a:endParaRPr lang="en-US" sz="1350" dirty="0"/>
          </a:p>
        </p:txBody>
      </p:sp>
      <p:sp>
        <p:nvSpPr>
          <p:cNvPr id="8" name="Shape 5"/>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9" name="Text 6"/>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10" name="Text 7"/>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Vấn đề thực tế và khoảng trống nghiên cứu</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Case minh họa: năm khái niệm áp trên hai đề tài cụ thể</a:t>
            </a:r>
            <a:endParaRPr lang="en-US" sz="2000" dirty="0"/>
          </a:p>
        </p:txBody>
      </p:sp>
      <p:sp>
        <p:nvSpPr>
          <p:cNvPr id="3" name="Shape 1"/>
          <p:cNvSpPr/>
          <p:nvPr/>
        </p:nvSpPr>
        <p:spPr>
          <a:xfrm>
            <a:off x="502920" y="781076"/>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980669"/>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980669"/>
            <a:ext cx="5952744" cy="310896"/>
          </a:xfrm>
          <a:prstGeom prst="rect">
            <a:avLst/>
          </a:prstGeom>
          <a:noFill/>
          <a:ln/>
        </p:spPr>
        <p:txBody>
          <a:bodyPr wrap="square" lIns="0" tIns="0" rIns="0" bIns="0" rtlCol="0" anchor="ctr"/>
          <a:lstStyle/>
          <a:p>
            <a:pPr marL="0" indent="0" algn="ctr">
              <a:buNone/>
            </a:pPr>
            <a:r>
              <a:rPr lang="en-US" sz="1400" b="1" kern="0" spc="100" dirty="0">
                <a:solidFill>
                  <a:srgbClr val="12253F"/>
                </a:solidFill>
                <a:latin typeface="Times New Roman" pitchFamily="34" charset="0"/>
                <a:ea typeface="Times New Roman" pitchFamily="34" charset="-122"/>
                <a:cs typeface="Times New Roman" pitchFamily="34" charset="-120"/>
              </a:rPr>
              <a:t>VÍ DỤ MINH HỌA</a:t>
            </a:r>
            <a:endParaRPr lang="en-US" sz="1400" dirty="0"/>
          </a:p>
        </p:txBody>
      </p:sp>
      <p:graphicFrame>
        <p:nvGraphicFramePr>
          <p:cNvPr id="18" name="Table 0"/>
          <p:cNvGraphicFramePr>
            <a:graphicFrameLocks noGrp="1"/>
          </p:cNvGraphicFramePr>
          <p:nvPr>
            <p:extLst>
              <p:ext uri="{D42A27DB-BD31-4B8C-83A1-F6EECF244321}">
                <p14:modId xmlns:p14="http://schemas.microsoft.com/office/powerpoint/2010/main" val="2947186562"/>
              </p:ext>
            </p:extLst>
          </p:nvPr>
        </p:nvGraphicFramePr>
        <p:xfrm>
          <a:off x="502920" y="1508760"/>
          <a:ext cx="11423609" cy="4279392"/>
        </p:xfrm>
        <a:graphic>
          <a:graphicData uri="http://schemas.openxmlformats.org/drawingml/2006/table">
            <a:tbl>
              <a:tblPr/>
              <a:tblGrid>
                <a:gridCol w="2225957">
                  <a:extLst>
                    <a:ext uri="{9D8B030D-6E8A-4147-A177-3AD203B41FA5}">
                      <a16:colId xmlns:a16="http://schemas.microsoft.com/office/drawing/2014/main" val="20000"/>
                    </a:ext>
                  </a:extLst>
                </a:gridCol>
                <a:gridCol w="4594374">
                  <a:extLst>
                    <a:ext uri="{9D8B030D-6E8A-4147-A177-3AD203B41FA5}">
                      <a16:colId xmlns:a16="http://schemas.microsoft.com/office/drawing/2014/main" val="20001"/>
                    </a:ext>
                  </a:extLst>
                </a:gridCol>
                <a:gridCol w="4603278">
                  <a:extLst>
                    <a:ext uri="{9D8B030D-6E8A-4147-A177-3AD203B41FA5}">
                      <a16:colId xmlns:a16="http://schemas.microsoft.com/office/drawing/2014/main" val="20002"/>
                    </a:ext>
                  </a:extLst>
                </a:gridCol>
              </a:tblGrid>
              <a:tr h="713232">
                <a:tc>
                  <a:txBody>
                    <a:bodyPr/>
                    <a:lstStyle/>
                    <a:p>
                      <a:pPr marL="0" indent="0" algn="l">
                        <a:buNone/>
                      </a:pPr>
                      <a:r>
                        <a:rPr lang="en-US" sz="1600" b="1" dirty="0">
                          <a:solidFill>
                            <a:srgbClr val="FFFFFF"/>
                          </a:solidFill>
                          <a:latin typeface="Times New Roman" pitchFamily="34" charset="0"/>
                          <a:ea typeface="Times New Roman" pitchFamily="34" charset="-122"/>
                          <a:cs typeface="Times New Roman" pitchFamily="34" charset="-120"/>
                        </a:rPr>
                        <a:t>Khái niệm</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00" b="1" dirty="0">
                          <a:solidFill>
                            <a:srgbClr val="FFFFFF"/>
                          </a:solidFill>
                          <a:latin typeface="Times New Roman" pitchFamily="34" charset="0"/>
                          <a:ea typeface="Times New Roman" pitchFamily="34" charset="-122"/>
                          <a:cs typeface="Times New Roman" pitchFamily="34" charset="-120"/>
                        </a:rPr>
                        <a:t>Case A · Ngân hàng số</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00" b="1" dirty="0">
                          <a:solidFill>
                            <a:srgbClr val="FFFFFF"/>
                          </a:solidFill>
                          <a:latin typeface="Times New Roman" pitchFamily="34" charset="0"/>
                          <a:ea typeface="Times New Roman" pitchFamily="34" charset="-122"/>
                          <a:cs typeface="Times New Roman" pitchFamily="34" charset="-120"/>
                        </a:rPr>
                        <a:t>Case B · Trường tiểu học</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713232">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Quan sát</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Ngân hàng đã quảng bá dịch vụ số nhưng một bộ phận khách hàng vẫn không dùng</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Phụ huynh đến trường làm thủ tục hành chính và phải chờ lâu</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3232">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Nhận định cá nhân</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Có thể khách hàng lớn tuổi ngại công nghệ, đây mới chỉ là suy đoán</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Có thể nhân viên hành chính làm việc chậm, đây mới chỉ là suy đoán</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13232">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Vấn đề nghiên cứu</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Chưa rõ yếu tố nào thật sự ảnh hưởng đến ý định dùng dịch vụ ngân hàng số</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Chưa rõ yếu tố nào quyết định mức hài lòng của phụ huynh với dịch vụ hành chính</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3232">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Câu hỏi nghiên cứu</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Yếu tố nào ảnh hưởng đến ý định sử dụng dịch vụ ngân hàng số của khách hàng cá nhân</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Yếu tố nào ảnh hưởng đến mức độ hài lòng của phụ huynh đối với dịch vụ hành chính</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713232">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Kết luận nghiên cứu</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Kết luận nêu đúng các yếu tố có bằng chứng thống kê, trong phạm vi mẫu khảo sát</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Kết luận nêu đúng các yếu tố có bằng chứng thống kê, trong phạm vi mẫu khảo sát</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Hai case đối chiếu năm khái niệm</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III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891229" y="1285189"/>
            <a:ext cx="538582" cy="538582"/>
          </a:xfrm>
          <a:prstGeom prst="ellipse">
            <a:avLst/>
          </a:prstGeom>
          <a:ln w="20320">
            <a:solidFill>
              <a:srgbClr val="FFFFFF"/>
            </a:solidFill>
            <a:prstDash val="solid"/>
          </a:ln>
        </p:spPr>
        <p:txBody>
          <a:bodyPr/>
          <a:lstStyle/>
          <a:p>
            <a:endParaRPr lang="en-US"/>
          </a:p>
        </p:txBody>
      </p:sp>
      <p:sp>
        <p:nvSpPr>
          <p:cNvPr id="6" name="Shape 4"/>
          <p:cNvSpPr/>
          <p:nvPr/>
        </p:nvSpPr>
        <p:spPr>
          <a:xfrm>
            <a:off x="4031260" y="1425220"/>
            <a:ext cx="258519" cy="258519"/>
          </a:xfrm>
          <a:prstGeom prst="ellipse">
            <a:avLst/>
          </a:prstGeom>
          <a:solidFill>
            <a:srgbClr val="FFFFFF"/>
          </a:solidFill>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Chọn đề tài an toàn</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Chọn sai đề tài là nguyên nhân phổ biến nhất khiến sinh viên bị chậm tiến độ. Phần này giúp sinh viên tự kiểm tra một đề tài trước khi trình giảng viên hướng dẫn.</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Đề tài an toàn và đề tài khả thi là gì</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Vì sao một số đề tài nghe hay nhưng không thể triển khai</a:t>
            </a:r>
            <a:endParaRPr lang="en-US" sz="2000" dirty="0"/>
          </a:p>
        </p:txBody>
      </p:sp>
      <p:sp>
        <p:nvSpPr>
          <p:cNvPr id="13" name="Shape 11"/>
          <p:cNvSpPr/>
          <p:nvPr/>
        </p:nvSpPr>
        <p:spPr>
          <a:xfrm>
            <a:off x="822960" y="5605272"/>
            <a:ext cx="100584" cy="100584"/>
          </a:xfrm>
          <a:prstGeom prst="ellipse">
            <a:avLst/>
          </a:prstGeom>
          <a:solidFill>
            <a:srgbClr val="1F5C82"/>
          </a:solidFill>
          <a:ln/>
        </p:spPr>
        <p:txBody>
          <a:bodyPr/>
          <a:lstStyle/>
          <a:p>
            <a:endParaRPr lang="en-US"/>
          </a:p>
        </p:txBody>
      </p:sp>
      <p:sp>
        <p:nvSpPr>
          <p:cNvPr id="14" name="Text 12"/>
          <p:cNvSpPr txBox="1"/>
          <p:nvPr/>
        </p:nvSpPr>
        <p:spPr>
          <a:xfrm>
            <a:off x="1069848" y="5513832"/>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Cách tự kiểm tra đề tài trước khi xin xác nhận</a:t>
            </a:r>
            <a:endParaRPr lang="en-US" sz="2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Đề tài an toàn và đề tài khả thi là gì</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5455768" cy="137160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298448"/>
            <a:ext cx="5163160" cy="11521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Đề tài nghiên cứu là gì
</a:t>
            </a:r>
            <a:r>
              <a:rPr lang="en-US" sz="1800" dirty="0">
                <a:solidFill>
                  <a:srgbClr val="000000"/>
                </a:solidFill>
                <a:latin typeface="Times New Roman" pitchFamily="34" charset="0"/>
                <a:ea typeface="Times New Roman" pitchFamily="34" charset="-122"/>
                <a:cs typeface="Times New Roman" pitchFamily="34" charset="-120"/>
              </a:rPr>
              <a:t>Là tên gọi cụ thể của vấn đề nghiên cứu mà sinh viên sẽ triển khai. Đề tài phải phản ánh đúng nội dung sẽ nghiên cứu, không phải một khẩu hiệu.</a:t>
            </a:r>
            <a:endParaRPr lang="en-US" sz="1900" dirty="0"/>
          </a:p>
        </p:txBody>
      </p:sp>
      <p:sp>
        <p:nvSpPr>
          <p:cNvPr id="6" name="Shape 4"/>
          <p:cNvSpPr/>
          <p:nvPr/>
        </p:nvSpPr>
        <p:spPr>
          <a:xfrm>
            <a:off x="6233008" y="1188720"/>
            <a:ext cx="5455768" cy="137160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379312" y="1298448"/>
            <a:ext cx="5163160" cy="11521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Đề tài an toàn là gì
</a:t>
            </a:r>
            <a:r>
              <a:rPr lang="en-US" sz="1800" dirty="0">
                <a:solidFill>
                  <a:srgbClr val="000000"/>
                </a:solidFill>
                <a:latin typeface="Times New Roman" pitchFamily="34" charset="0"/>
                <a:ea typeface="Times New Roman" pitchFamily="34" charset="-122"/>
                <a:cs typeface="Times New Roman" pitchFamily="34" charset="-120"/>
              </a:rPr>
              <a:t>Là đề tài mà sinh viên có đủ điều kiện thực tế để hoàn thành trong thời gian và nguồn lực đang có, đồng thời vẫn giữ được chiều sâu học thuật.</a:t>
            </a:r>
            <a:endParaRPr lang="en-US" sz="1900" dirty="0"/>
          </a:p>
        </p:txBody>
      </p:sp>
      <p:sp>
        <p:nvSpPr>
          <p:cNvPr id="8" name="Shape 6"/>
          <p:cNvSpPr/>
          <p:nvPr/>
        </p:nvSpPr>
        <p:spPr>
          <a:xfrm>
            <a:off x="502920" y="2697480"/>
            <a:ext cx="11185855" cy="594360"/>
          </a:xfrm>
          <a:prstGeom prst="rect">
            <a:avLst/>
          </a:prstGeom>
          <a:solidFill>
            <a:srgbClr val="F0F2F5"/>
          </a:solidFill>
          <a:ln w="9525">
            <a:solidFill>
              <a:srgbClr val="12253F"/>
            </a:solidFill>
            <a:prstDash val="solid"/>
          </a:ln>
        </p:spPr>
        <p:txBody>
          <a:bodyPr/>
          <a:lstStyle/>
          <a:p>
            <a:endParaRPr lang="en-US"/>
          </a:p>
        </p:txBody>
      </p:sp>
      <p:sp>
        <p:nvSpPr>
          <p:cNvPr id="9" name="Text 7"/>
          <p:cNvSpPr txBox="1"/>
          <p:nvPr/>
        </p:nvSpPr>
        <p:spPr>
          <a:xfrm>
            <a:off x="758952" y="2788920"/>
            <a:ext cx="10728655" cy="41148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An toàn không đồng nghĩa với dễ hoặc thiếu giá trị học thuật. Đề tài an toàn vẫn đòi hỏi lập luận và phân tích nghiêm túc, chỉ khác là sinh viên có đủ điều kiện thật sự để triển khai nó trong thời gian đang có.</a:t>
            </a:r>
            <a:endParaRPr lang="en-US" sz="1350" dirty="0"/>
          </a:p>
        </p:txBody>
      </p:sp>
      <p:sp>
        <p:nvSpPr>
          <p:cNvPr id="10" name="Text 8"/>
          <p:cNvSpPr txBox="1"/>
          <p:nvPr/>
        </p:nvSpPr>
        <p:spPr>
          <a:xfrm>
            <a:off x="502920" y="3456432"/>
            <a:ext cx="9144000" cy="320040"/>
          </a:xfrm>
          <a:prstGeom prst="rect">
            <a:avLst/>
          </a:prstGeom>
          <a:noFill/>
          <a:ln/>
        </p:spPr>
        <p:txBody>
          <a:bodyPr wrap="square" lIns="0" tIns="0" rIns="0" bIns="0" rtlCol="0" anchor="ctr"/>
          <a:lstStyle/>
          <a:p>
            <a:pPr marL="0" indent="0">
              <a:buNone/>
            </a:pPr>
            <a:r>
              <a:rPr lang="en-US" sz="1900" b="1" kern="0" spc="50" dirty="0">
                <a:solidFill>
                  <a:srgbClr val="12253F"/>
                </a:solidFill>
                <a:latin typeface="Times New Roman" pitchFamily="34" charset="0"/>
                <a:ea typeface="Times New Roman" pitchFamily="34" charset="-122"/>
                <a:cs typeface="Times New Roman" pitchFamily="34" charset="-120"/>
              </a:rPr>
              <a:t>BỐN ĐIỀU KIỆN CỦA MỘT ĐỀ TÀI KHẢ THI</a:t>
            </a:r>
            <a:endParaRPr lang="en-US" sz="1900" dirty="0"/>
          </a:p>
        </p:txBody>
      </p:sp>
      <p:sp>
        <p:nvSpPr>
          <p:cNvPr id="11" name="Shape 9"/>
          <p:cNvSpPr/>
          <p:nvPr/>
        </p:nvSpPr>
        <p:spPr>
          <a:xfrm>
            <a:off x="502920" y="3840480"/>
            <a:ext cx="2625014" cy="1280160"/>
          </a:xfrm>
          <a:prstGeom prst="rect">
            <a:avLst/>
          </a:prstGeom>
          <a:solidFill>
            <a:srgbClr val="FFFFFF"/>
          </a:solidFill>
          <a:ln w="12700">
            <a:solidFill>
              <a:srgbClr val="12253F"/>
            </a:solidFill>
            <a:prstDash val="solid"/>
          </a:ln>
        </p:spPr>
        <p:txBody>
          <a:bodyPr/>
          <a:lstStyle/>
          <a:p>
            <a:endParaRPr lang="en-US"/>
          </a:p>
        </p:txBody>
      </p:sp>
      <p:sp>
        <p:nvSpPr>
          <p:cNvPr id="12" name="Text 10"/>
          <p:cNvSpPr txBox="1"/>
          <p:nvPr/>
        </p:nvSpPr>
        <p:spPr>
          <a:xfrm>
            <a:off x="649224" y="3950208"/>
            <a:ext cx="2332406" cy="10607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Thời gian
</a:t>
            </a:r>
            <a:r>
              <a:rPr lang="en-US" sz="1800" dirty="0">
                <a:solidFill>
                  <a:srgbClr val="000000"/>
                </a:solidFill>
                <a:latin typeface="Times New Roman" pitchFamily="34" charset="0"/>
                <a:ea typeface="Times New Roman" pitchFamily="34" charset="-122"/>
                <a:cs typeface="Times New Roman" pitchFamily="34" charset="-120"/>
              </a:rPr>
              <a:t>Hoàn thành trong 8 tuần</a:t>
            </a:r>
            <a:endParaRPr lang="en-US" sz="1900" dirty="0"/>
          </a:p>
        </p:txBody>
      </p:sp>
      <p:sp>
        <p:nvSpPr>
          <p:cNvPr id="13" name="Shape 11"/>
          <p:cNvSpPr/>
          <p:nvPr/>
        </p:nvSpPr>
        <p:spPr>
          <a:xfrm>
            <a:off x="3356534" y="3840480"/>
            <a:ext cx="2625014" cy="1280160"/>
          </a:xfrm>
          <a:prstGeom prst="rect">
            <a:avLst/>
          </a:prstGeom>
          <a:solidFill>
            <a:srgbClr val="FFFFFF"/>
          </a:solidFill>
          <a:ln w="12700">
            <a:solidFill>
              <a:srgbClr val="12253F"/>
            </a:solidFill>
            <a:prstDash val="solid"/>
          </a:ln>
        </p:spPr>
        <p:txBody>
          <a:bodyPr/>
          <a:lstStyle/>
          <a:p>
            <a:endParaRPr lang="en-US"/>
          </a:p>
        </p:txBody>
      </p:sp>
      <p:sp>
        <p:nvSpPr>
          <p:cNvPr id="14" name="Text 12"/>
          <p:cNvSpPr txBox="1"/>
          <p:nvPr/>
        </p:nvSpPr>
        <p:spPr>
          <a:xfrm>
            <a:off x="3502838" y="3950208"/>
            <a:ext cx="2332406" cy="10607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Dữ liệu
</a:t>
            </a:r>
            <a:r>
              <a:rPr lang="en-US" sz="1800" dirty="0">
                <a:solidFill>
                  <a:srgbClr val="000000"/>
                </a:solidFill>
                <a:latin typeface="Times New Roman" pitchFamily="34" charset="0"/>
                <a:ea typeface="Times New Roman" pitchFamily="34" charset="-122"/>
                <a:cs typeface="Times New Roman" pitchFamily="34" charset="-120"/>
              </a:rPr>
              <a:t>Thật sự tiếp cận được</a:t>
            </a:r>
            <a:endParaRPr lang="en-US" sz="1900" dirty="0"/>
          </a:p>
        </p:txBody>
      </p:sp>
      <p:sp>
        <p:nvSpPr>
          <p:cNvPr id="15" name="Shape 13"/>
          <p:cNvSpPr/>
          <p:nvPr/>
        </p:nvSpPr>
        <p:spPr>
          <a:xfrm>
            <a:off x="6210148" y="3840480"/>
            <a:ext cx="2625014" cy="1280160"/>
          </a:xfrm>
          <a:prstGeom prst="rect">
            <a:avLst/>
          </a:prstGeom>
          <a:solidFill>
            <a:srgbClr val="FFFFFF"/>
          </a:solidFill>
          <a:ln w="12700">
            <a:solidFill>
              <a:srgbClr val="12253F"/>
            </a:solidFill>
            <a:prstDash val="solid"/>
          </a:ln>
        </p:spPr>
        <p:txBody>
          <a:bodyPr/>
          <a:lstStyle/>
          <a:p>
            <a:endParaRPr lang="en-US"/>
          </a:p>
        </p:txBody>
      </p:sp>
      <p:sp>
        <p:nvSpPr>
          <p:cNvPr id="16" name="Text 14"/>
          <p:cNvSpPr txBox="1"/>
          <p:nvPr/>
        </p:nvSpPr>
        <p:spPr>
          <a:xfrm>
            <a:off x="6356452" y="3950208"/>
            <a:ext cx="2332406" cy="10607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Đối tượng khảo sát
</a:t>
            </a:r>
            <a:r>
              <a:rPr lang="en-US" sz="1800" dirty="0">
                <a:solidFill>
                  <a:srgbClr val="000000"/>
                </a:solidFill>
                <a:latin typeface="Times New Roman" pitchFamily="34" charset="0"/>
                <a:ea typeface="Times New Roman" pitchFamily="34" charset="-122"/>
                <a:cs typeface="Times New Roman" pitchFamily="34" charset="-120"/>
              </a:rPr>
              <a:t>Tiếp cận được đúng nhóm</a:t>
            </a:r>
            <a:endParaRPr lang="en-US" sz="1900" dirty="0"/>
          </a:p>
        </p:txBody>
      </p:sp>
      <p:sp>
        <p:nvSpPr>
          <p:cNvPr id="17" name="Shape 15"/>
          <p:cNvSpPr/>
          <p:nvPr/>
        </p:nvSpPr>
        <p:spPr>
          <a:xfrm>
            <a:off x="9063761" y="3840480"/>
            <a:ext cx="2625014" cy="1280160"/>
          </a:xfrm>
          <a:prstGeom prst="rect">
            <a:avLst/>
          </a:prstGeom>
          <a:solidFill>
            <a:srgbClr val="FFFFFF"/>
          </a:solidFill>
          <a:ln w="12700">
            <a:solidFill>
              <a:srgbClr val="12253F"/>
            </a:solidFill>
            <a:prstDash val="solid"/>
          </a:ln>
        </p:spPr>
        <p:txBody>
          <a:bodyPr/>
          <a:lstStyle/>
          <a:p>
            <a:endParaRPr lang="en-US"/>
          </a:p>
        </p:txBody>
      </p:sp>
      <p:sp>
        <p:nvSpPr>
          <p:cNvPr id="18" name="Text 16"/>
          <p:cNvSpPr txBox="1"/>
          <p:nvPr/>
        </p:nvSpPr>
        <p:spPr>
          <a:xfrm>
            <a:off x="9210065" y="3950208"/>
            <a:ext cx="2332406" cy="10607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Năng lực xử lý
</a:t>
            </a:r>
            <a:r>
              <a:rPr lang="en-US" sz="1800" dirty="0">
                <a:solidFill>
                  <a:srgbClr val="000000"/>
                </a:solidFill>
                <a:latin typeface="Times New Roman" pitchFamily="34" charset="0"/>
                <a:ea typeface="Times New Roman" pitchFamily="34" charset="-122"/>
                <a:cs typeface="Times New Roman" pitchFamily="34" charset="-120"/>
              </a:rPr>
              <a:t>Trong khả năng phân tích</a:t>
            </a:r>
            <a:endParaRPr lang="en-US" sz="1900" dirty="0"/>
          </a:p>
        </p:txBody>
      </p:sp>
      <p:sp>
        <p:nvSpPr>
          <p:cNvPr id="19" name="Shape 1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0" name="Text 1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21" name="Text 1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Định nghĩa đề tài an toàn</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Đề tài nghe hay và đề tài triển khai được khác nhau ở đâu</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5592928" cy="246888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298448"/>
            <a:ext cx="5300320" cy="224942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Đề tài nghe hay nhưng rủi ro
</a:t>
            </a:r>
            <a:r>
              <a:rPr lang="en-US" sz="1800" dirty="0">
                <a:solidFill>
                  <a:srgbClr val="000000"/>
                </a:solidFill>
                <a:latin typeface="Times New Roman" pitchFamily="34" charset="0"/>
                <a:ea typeface="Times New Roman" pitchFamily="34" charset="-122"/>
                <a:cs typeface="Times New Roman" pitchFamily="34" charset="-120"/>
              </a:rPr>
              <a:t>•  Phạm vi quá rộng, cố giải quyết toàn bộ một ngành
•  Cần dữ liệu nội bộ doanh nghiệp không thể tiếp cận
•  Đòi hỏi kỹ thuật vượt quá năng lực đã trang bị
•  Tên đề tài mơ hồ, không nêu rõ phạm vi</a:t>
            </a:r>
            <a:endParaRPr lang="en-US" sz="1900" dirty="0"/>
          </a:p>
        </p:txBody>
      </p:sp>
      <p:sp>
        <p:nvSpPr>
          <p:cNvPr id="6" name="Shape 4"/>
          <p:cNvSpPr/>
          <p:nvPr/>
        </p:nvSpPr>
        <p:spPr>
          <a:xfrm>
            <a:off x="6095848" y="1188720"/>
            <a:ext cx="5592928" cy="246888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242152" y="1298448"/>
            <a:ext cx="5300320" cy="224942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Đề tài có thể triển khai
</a:t>
            </a:r>
            <a:r>
              <a:rPr lang="en-US" sz="1800" dirty="0">
                <a:solidFill>
                  <a:srgbClr val="000000"/>
                </a:solidFill>
                <a:latin typeface="Times New Roman" pitchFamily="34" charset="0"/>
                <a:ea typeface="Times New Roman" pitchFamily="34" charset="-122"/>
                <a:cs typeface="Times New Roman" pitchFamily="34" charset="-120"/>
              </a:rPr>
              <a:t>•  Phạm vi giới hạn rõ theo đối tượng, không gian, thời gian
•  Dữ liệu thu thập được trong 8 tuần
•  Phương pháp nằm trong phạm vi đã học
•  Tên đề tài nêu rõ vấn đề, đối tượng, phạm vi</a:t>
            </a:r>
            <a:endParaRPr lang="en-US" sz="1900" dirty="0"/>
          </a:p>
        </p:txBody>
      </p:sp>
      <p:sp>
        <p:nvSpPr>
          <p:cNvPr id="8"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9"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10"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Dấu hiệu nhận diện rủi ro</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Ba lý do chính khiến một đề tài trở nên rủi ro</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128016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1042416"/>
          </a:xfrm>
          <a:prstGeom prst="rect">
            <a:avLst/>
          </a:prstGeom>
          <a:noFill/>
          <a:ln/>
        </p:spPr>
        <p:txBody>
          <a:bodyPr wrap="square" lIns="0" tIns="0" rIns="0" bIns="0" rtlCol="0" anchor="t"/>
          <a:lstStyle/>
          <a:p>
            <a:pPr marL="0" indent="0">
              <a:lnSpc>
                <a:spcPct val="108000"/>
              </a:lnSpc>
              <a:buNone/>
            </a:pPr>
            <a:r>
              <a:rPr lang="en-US" sz="2000" b="1" dirty="0">
                <a:solidFill>
                  <a:srgbClr val="12253F"/>
                </a:solidFill>
                <a:latin typeface="Times New Roman" pitchFamily="34" charset="0"/>
                <a:ea typeface="Times New Roman" pitchFamily="34" charset="-122"/>
                <a:cs typeface="Times New Roman" pitchFamily="34" charset="-120"/>
              </a:rPr>
              <a:t>Phạm vi quá rộng: </a:t>
            </a:r>
            <a:r>
              <a:rPr lang="en-US" sz="2000" dirty="0">
                <a:solidFill>
                  <a:srgbClr val="000000"/>
                </a:solidFill>
                <a:latin typeface="Times New Roman" pitchFamily="34" charset="0"/>
                <a:ea typeface="Times New Roman" pitchFamily="34" charset="-122"/>
                <a:cs typeface="Times New Roman" pitchFamily="34" charset="-120"/>
              </a:rPr>
              <a:t>Không đủ thời gian nghiên cứu sâu toàn bộ phạm vi, dẫn đến phân tích hời hợt</a:t>
            </a:r>
            <a:endParaRPr lang="en-US" sz="2000" dirty="0"/>
          </a:p>
        </p:txBody>
      </p:sp>
      <p:sp>
        <p:nvSpPr>
          <p:cNvPr id="6" name="Shape 4"/>
          <p:cNvSpPr/>
          <p:nvPr/>
        </p:nvSpPr>
        <p:spPr>
          <a:xfrm>
            <a:off x="502920" y="2651760"/>
            <a:ext cx="11185855" cy="128016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704088" y="2779776"/>
            <a:ext cx="10783519" cy="1042416"/>
          </a:xfrm>
          <a:prstGeom prst="rect">
            <a:avLst/>
          </a:prstGeom>
          <a:noFill/>
          <a:ln/>
        </p:spPr>
        <p:txBody>
          <a:bodyPr wrap="square" lIns="0" tIns="0" rIns="0" bIns="0" rtlCol="0" anchor="t"/>
          <a:lstStyle/>
          <a:p>
            <a:pPr marL="0" indent="0">
              <a:lnSpc>
                <a:spcPct val="108000"/>
              </a:lnSpc>
              <a:buNone/>
            </a:pPr>
            <a:r>
              <a:rPr lang="en-US" sz="2000" b="1" dirty="0">
                <a:solidFill>
                  <a:srgbClr val="12253F"/>
                </a:solidFill>
                <a:latin typeface="Times New Roman" pitchFamily="34" charset="0"/>
                <a:ea typeface="Times New Roman" pitchFamily="34" charset="-122"/>
                <a:cs typeface="Times New Roman" pitchFamily="34" charset="-120"/>
              </a:rPr>
              <a:t>Dữ liệu không thể tiếp cận: </a:t>
            </a:r>
            <a:r>
              <a:rPr lang="en-US" sz="2000" dirty="0">
                <a:solidFill>
                  <a:srgbClr val="000000"/>
                </a:solidFill>
                <a:latin typeface="Times New Roman" pitchFamily="34" charset="0"/>
                <a:ea typeface="Times New Roman" pitchFamily="34" charset="-122"/>
                <a:cs typeface="Times New Roman" pitchFamily="34" charset="-120"/>
              </a:rPr>
              <a:t>Đề tài phụ thuộc dữ liệu nội bộ, dữ liệu mật hoặc chưa từng công bố</a:t>
            </a:r>
            <a:endParaRPr lang="en-US" sz="2000" dirty="0"/>
          </a:p>
        </p:txBody>
      </p:sp>
      <p:sp>
        <p:nvSpPr>
          <p:cNvPr id="8" name="Shape 6"/>
          <p:cNvSpPr/>
          <p:nvPr/>
        </p:nvSpPr>
        <p:spPr>
          <a:xfrm>
            <a:off x="502920" y="4069080"/>
            <a:ext cx="11185855" cy="1280160"/>
          </a:xfrm>
          <a:prstGeom prst="rect">
            <a:avLst/>
          </a:prstGeom>
          <a:solidFill>
            <a:srgbClr val="FFFFFF"/>
          </a:solidFill>
          <a:ln w="19050">
            <a:solidFill>
              <a:srgbClr val="12253F"/>
            </a:solidFill>
            <a:prstDash val="solid"/>
          </a:ln>
        </p:spPr>
        <p:txBody>
          <a:bodyPr/>
          <a:lstStyle/>
          <a:p>
            <a:endParaRPr lang="en-US"/>
          </a:p>
        </p:txBody>
      </p:sp>
      <p:sp>
        <p:nvSpPr>
          <p:cNvPr id="9" name="Text 7"/>
          <p:cNvSpPr txBox="1"/>
          <p:nvPr/>
        </p:nvSpPr>
        <p:spPr>
          <a:xfrm>
            <a:off x="704088" y="4197096"/>
            <a:ext cx="10783519" cy="1042416"/>
          </a:xfrm>
          <a:prstGeom prst="rect">
            <a:avLst/>
          </a:prstGeom>
          <a:noFill/>
          <a:ln/>
        </p:spPr>
        <p:txBody>
          <a:bodyPr wrap="square" lIns="0" tIns="0" rIns="0" bIns="0" rtlCol="0" anchor="t"/>
          <a:lstStyle/>
          <a:p>
            <a:pPr marL="0" indent="0">
              <a:lnSpc>
                <a:spcPct val="108000"/>
              </a:lnSpc>
              <a:buNone/>
            </a:pPr>
            <a:r>
              <a:rPr lang="en-US" sz="2000" b="1" dirty="0">
                <a:solidFill>
                  <a:srgbClr val="12253F"/>
                </a:solidFill>
                <a:latin typeface="Times New Roman" pitchFamily="34" charset="0"/>
                <a:ea typeface="Times New Roman" pitchFamily="34" charset="-122"/>
                <a:cs typeface="Times New Roman" pitchFamily="34" charset="-120"/>
              </a:rPr>
              <a:t>Vượt năng lực xử lý: </a:t>
            </a:r>
            <a:r>
              <a:rPr lang="en-US" sz="2000" dirty="0">
                <a:solidFill>
                  <a:srgbClr val="000000"/>
                </a:solidFill>
                <a:latin typeface="Times New Roman" pitchFamily="34" charset="0"/>
                <a:ea typeface="Times New Roman" pitchFamily="34" charset="-122"/>
                <a:cs typeface="Times New Roman" pitchFamily="34" charset="-120"/>
              </a:rPr>
              <a:t>Đòi hỏi phương pháp phân tích phức tạp chưa từng được trang bị</a:t>
            </a:r>
            <a:endParaRPr lang="en-US" sz="2000" dirty="0"/>
          </a:p>
        </p:txBody>
      </p:sp>
      <p:sp>
        <p:nvSpPr>
          <p:cNvPr id="10" name="Shape 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1" name="Text 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12" name="Text 1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Ba nguyên nhân gây rủi ro</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Cách chọn phạm vi vừa đủ và cách đặt tên đề tài</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234440"/>
            <a:ext cx="11185855" cy="1051560"/>
          </a:xfrm>
          <a:prstGeom prst="rect">
            <a:avLst/>
          </a:prstGeom>
          <a:noFill/>
          <a:ln/>
        </p:spPr>
        <p:txBody>
          <a:bodyPr wrap="square" lIns="0" tIns="0" rIns="0" bIns="0" rtlCol="0" anchor="t"/>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Cách chọn phạm vi vừa đủ nhưng vẫn có chiều sâu học thuật
</a:t>
            </a:r>
            <a:r>
              <a:rPr lang="en-US" sz="1900" dirty="0">
                <a:solidFill>
                  <a:srgbClr val="1A1A1A"/>
                </a:solidFill>
                <a:latin typeface="Times New Roman" pitchFamily="34" charset="0"/>
                <a:ea typeface="Times New Roman" pitchFamily="34" charset="-122"/>
                <a:cs typeface="Times New Roman" pitchFamily="34" charset="-120"/>
              </a:rPr>
              <a:t>Thu hẹp đề tài theo ba trục: đối tượng, không gian, thời gian cụ thể. Phạm vi hẹp không làm giảm giá trị học thuật, miễn là sinh viên vẫn lập luận chặt chẽ và có căn cứ rõ ràng.</a:t>
            </a:r>
            <a:endParaRPr lang="en-US" sz="2000" dirty="0"/>
          </a:p>
        </p:txBody>
      </p:sp>
      <p:sp>
        <p:nvSpPr>
          <p:cNvPr id="5" name="Shape 3"/>
          <p:cNvSpPr/>
          <p:nvPr/>
        </p:nvSpPr>
        <p:spPr>
          <a:xfrm>
            <a:off x="502920" y="2377440"/>
            <a:ext cx="11185855" cy="914400"/>
          </a:xfrm>
          <a:prstGeom prst="rect">
            <a:avLst/>
          </a:prstGeom>
          <a:solidFill>
            <a:srgbClr val="F0F2F5"/>
          </a:solidFill>
          <a:ln w="9525">
            <a:solidFill>
              <a:srgbClr val="12253F"/>
            </a:solidFill>
            <a:prstDash val="solid"/>
          </a:ln>
        </p:spPr>
        <p:txBody>
          <a:bodyPr/>
          <a:lstStyle/>
          <a:p>
            <a:endParaRPr lang="en-US"/>
          </a:p>
        </p:txBody>
      </p:sp>
      <p:sp>
        <p:nvSpPr>
          <p:cNvPr id="6" name="Text 4"/>
          <p:cNvSpPr txBox="1"/>
          <p:nvPr/>
        </p:nvSpPr>
        <p:spPr>
          <a:xfrm>
            <a:off x="758952" y="2468880"/>
            <a:ext cx="10728655" cy="731520"/>
          </a:xfrm>
          <a:prstGeom prst="rect">
            <a:avLst/>
          </a:prstGeom>
          <a:noFill/>
          <a:ln/>
        </p:spPr>
        <p:txBody>
          <a:bodyPr wrap="square" lIns="0" tIns="0" rIns="0" bIns="0" rtlCol="0" anchor="ctr"/>
          <a:lstStyle/>
          <a:p>
            <a:pPr marL="0" indent="0">
              <a:buNone/>
            </a:pPr>
            <a:r>
              <a:rPr lang="en-US" b="1" dirty="0">
                <a:solidFill>
                  <a:srgbClr val="000000"/>
                </a:solidFill>
                <a:latin typeface="Times New Roman" pitchFamily="34" charset="0"/>
                <a:ea typeface="Times New Roman" pitchFamily="34" charset="-122"/>
                <a:cs typeface="Times New Roman" pitchFamily="34" charset="-120"/>
              </a:rPr>
              <a:t>Sinh viên bậc đại học không cần tự xây dựng một lý thuyết hoàn toàn mới. Yêu cầu là vận dụng lý thuyết đã có chặt chẽ, có căn cứ và giải thích được từng lựa chọn.</a:t>
            </a:r>
            <a:endParaRPr lang="en-US" dirty="0"/>
          </a:p>
        </p:txBody>
      </p:sp>
      <p:sp>
        <p:nvSpPr>
          <p:cNvPr id="7" name="Shape 5"/>
          <p:cNvSpPr/>
          <p:nvPr/>
        </p:nvSpPr>
        <p:spPr>
          <a:xfrm>
            <a:off x="502920" y="3520440"/>
            <a:ext cx="11185855" cy="2286000"/>
          </a:xfrm>
          <a:prstGeom prst="rect">
            <a:avLst/>
          </a:prstGeom>
          <a:solidFill>
            <a:srgbClr val="FFFFFF"/>
          </a:solidFill>
          <a:ln w="12700">
            <a:solidFill>
              <a:srgbClr val="12253F"/>
            </a:solidFill>
            <a:prstDash val="solid"/>
          </a:ln>
        </p:spPr>
        <p:txBody>
          <a:bodyPr/>
          <a:lstStyle/>
          <a:p>
            <a:endParaRPr lang="en-US"/>
          </a:p>
        </p:txBody>
      </p:sp>
      <p:sp>
        <p:nvSpPr>
          <p:cNvPr id="8" name="Text 6"/>
          <p:cNvSpPr txBox="1"/>
          <p:nvPr/>
        </p:nvSpPr>
        <p:spPr>
          <a:xfrm>
            <a:off x="649224" y="3630168"/>
            <a:ext cx="10893247" cy="2066544"/>
          </a:xfrm>
          <a:prstGeom prst="rect">
            <a:avLst/>
          </a:prstGeom>
          <a:noFill/>
          <a:ln/>
        </p:spPr>
        <p:txBody>
          <a:bodyPr wrap="square" lIns="0" tIns="0" rIns="0" bIns="0" rtlCol="0" anchor="t"/>
          <a:lstStyle/>
          <a:p>
            <a:pPr marL="0" indent="0">
              <a:buNone/>
            </a:pPr>
            <a:r>
              <a:rPr lang="en-US" sz="1800" b="1" kern="0" spc="100" dirty="0">
                <a:solidFill>
                  <a:srgbClr val="3D4552"/>
                </a:solidFill>
                <a:latin typeface="Times New Roman" pitchFamily="34" charset="0"/>
                <a:ea typeface="Times New Roman" pitchFamily="34" charset="-122"/>
                <a:cs typeface="Times New Roman" pitchFamily="34" charset="-120"/>
              </a:rPr>
              <a:t>VÍ DỤ: CÁCH ĐẶT TÊN ĐỀ TÀI RÕ RÀNG
</a:t>
            </a:r>
            <a:r>
              <a:rPr lang="en-US" sz="1900" b="1" dirty="0">
                <a:solidFill>
                  <a:srgbClr val="000000"/>
                </a:solidFill>
                <a:latin typeface="Times New Roman" pitchFamily="34" charset="0"/>
                <a:ea typeface="Times New Roman" pitchFamily="34" charset="-122"/>
                <a:cs typeface="Times New Roman" pitchFamily="34" charset="-120"/>
              </a:rPr>
              <a:t>Tên mơ hồ:  </a:t>
            </a:r>
            <a:r>
              <a:rPr lang="en-US" sz="1900" dirty="0">
                <a:solidFill>
                  <a:srgbClr val="000000"/>
                </a:solidFill>
                <a:latin typeface="Times New Roman" pitchFamily="34" charset="0"/>
                <a:ea typeface="Times New Roman" pitchFamily="34" charset="-122"/>
                <a:cs typeface="Times New Roman" pitchFamily="34" charset="-120"/>
              </a:rPr>
              <a:t>Giải pháp phát triển dịch vụ ngân hàng số
</a:t>
            </a:r>
            <a:r>
              <a:rPr lang="en-US" sz="1900" b="1" dirty="0">
                <a:solidFill>
                  <a:srgbClr val="000000"/>
                </a:solidFill>
                <a:latin typeface="Times New Roman" pitchFamily="34" charset="0"/>
                <a:ea typeface="Times New Roman" pitchFamily="34" charset="-122"/>
                <a:cs typeface="Times New Roman" pitchFamily="34" charset="-120"/>
              </a:rPr>
              <a:t>Tên rõ ràng:  </a:t>
            </a:r>
            <a:r>
              <a:rPr lang="en-US" sz="1900" dirty="0">
                <a:solidFill>
                  <a:srgbClr val="000000"/>
                </a:solidFill>
                <a:latin typeface="Times New Roman" pitchFamily="34" charset="0"/>
                <a:ea typeface="Times New Roman" pitchFamily="34" charset="-122"/>
                <a:cs typeface="Times New Roman" pitchFamily="34" charset="-120"/>
              </a:rPr>
              <a:t>Các yếu tố ảnh hưởng đến ý định sử dụng dịch vụ ngân hàng số của khách hàng cá nhân tại một ngân hàng thương mại</a:t>
            </a:r>
            <a:endParaRPr lang="en-US" sz="1800" dirty="0"/>
          </a:p>
        </p:txBody>
      </p:sp>
      <p:sp>
        <p:nvSpPr>
          <p:cNvPr id="9" name="Shape 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11" name="Text 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Thu hẹp phạm vi và đặt tên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Checklist tự kiểm tra đề tài trước khi trình GVHD</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234440"/>
            <a:ext cx="11155680" cy="822960"/>
          </a:xfrm>
          <a:prstGeom prst="rect">
            <a:avLst/>
          </a:prstGeom>
          <a:noFill/>
          <a:ln/>
        </p:spPr>
        <p:txBody>
          <a:bodyPr wrap="square" lIns="0" tIns="0" rIns="0" bIns="0" rtlCol="0" anchor="t"/>
          <a:lstStyle/>
          <a:p>
            <a:pPr marL="0" indent="0">
              <a:buNone/>
            </a:pPr>
            <a:r>
              <a:rPr lang="en-US" sz="1450" dirty="0">
                <a:solidFill>
                  <a:srgbClr val="1A1A1A"/>
                </a:solidFill>
                <a:latin typeface="Times New Roman" pitchFamily="34" charset="0"/>
                <a:ea typeface="Times New Roman" pitchFamily="34" charset="-122"/>
                <a:cs typeface="Times New Roman" pitchFamily="34" charset="-120"/>
              </a:rPr>
              <a:t>Trước khi xin giảng viên hướng dẫn xác nhận, sinh viên tự trả lời sáu câu hỏi sau. Nếu có câu trả lời là không, đề tài cần được điều chỉnh.</a:t>
            </a:r>
            <a:endParaRPr lang="en-US" sz="1450" dirty="0"/>
          </a:p>
        </p:txBody>
      </p:sp>
      <p:sp>
        <p:nvSpPr>
          <p:cNvPr id="5" name="Shape 3"/>
          <p:cNvSpPr/>
          <p:nvPr/>
        </p:nvSpPr>
        <p:spPr>
          <a:xfrm>
            <a:off x="502920" y="19560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6" name="Text 4"/>
          <p:cNvSpPr txBox="1"/>
          <p:nvPr/>
        </p:nvSpPr>
        <p:spPr>
          <a:xfrm>
            <a:off x="832104" y="19103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Tôi có thể phát biểu vấn đề nghiên cứu bằng một câu rõ ràng, không mơ hồ</a:t>
            </a:r>
            <a:endParaRPr lang="en-US" sz="1500" dirty="0"/>
          </a:p>
        </p:txBody>
      </p:sp>
      <p:sp>
        <p:nvSpPr>
          <p:cNvPr id="7" name="Shape 5"/>
          <p:cNvSpPr/>
          <p:nvPr/>
        </p:nvSpPr>
        <p:spPr>
          <a:xfrm>
            <a:off x="502920" y="24132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8" name="Text 6"/>
          <p:cNvSpPr txBox="1"/>
          <p:nvPr/>
        </p:nvSpPr>
        <p:spPr>
          <a:xfrm>
            <a:off x="832104" y="23675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Tôi biết chính xác dữ liệu cần thu thập và biết mình có thể tiếp cận được</a:t>
            </a:r>
            <a:endParaRPr lang="en-US" sz="1500" dirty="0"/>
          </a:p>
        </p:txBody>
      </p:sp>
      <p:sp>
        <p:nvSpPr>
          <p:cNvPr id="9" name="Shape 7"/>
          <p:cNvSpPr/>
          <p:nvPr/>
        </p:nvSpPr>
        <p:spPr>
          <a:xfrm>
            <a:off x="502920" y="28704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0" name="Text 8"/>
          <p:cNvSpPr txBox="1"/>
          <p:nvPr/>
        </p:nvSpPr>
        <p:spPr>
          <a:xfrm>
            <a:off x="832104" y="28247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Tôi có thể hoàn thành đề tài này trong 8 tuần với khối lượng công việc hiện tại</a:t>
            </a:r>
            <a:endParaRPr lang="en-US" sz="1500" dirty="0"/>
          </a:p>
        </p:txBody>
      </p:sp>
      <p:sp>
        <p:nvSpPr>
          <p:cNvPr id="11" name="Shape 9"/>
          <p:cNvSpPr/>
          <p:nvPr/>
        </p:nvSpPr>
        <p:spPr>
          <a:xfrm>
            <a:off x="502920" y="33276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2" name="Text 10"/>
          <p:cNvSpPr txBox="1"/>
          <p:nvPr/>
        </p:nvSpPr>
        <p:spPr>
          <a:xfrm>
            <a:off x="832104" y="32819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Tôi có khả năng thực hiện phương pháp phân tích mà đề tài đòi hỏi</a:t>
            </a:r>
            <a:endParaRPr lang="en-US" sz="1500" dirty="0"/>
          </a:p>
        </p:txBody>
      </p:sp>
      <p:sp>
        <p:nvSpPr>
          <p:cNvPr id="13" name="Shape 11"/>
          <p:cNvSpPr/>
          <p:nvPr/>
        </p:nvSpPr>
        <p:spPr>
          <a:xfrm>
            <a:off x="502920" y="37848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4" name="Text 12"/>
          <p:cNvSpPr txBox="1"/>
          <p:nvPr/>
        </p:nvSpPr>
        <p:spPr>
          <a:xfrm>
            <a:off x="832104" y="37391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Tên đề tài của tôi thể hiện rõ vấn đề, đối tượng và phạm vi nghiên cứu</a:t>
            </a:r>
            <a:endParaRPr lang="en-US" sz="1500" dirty="0"/>
          </a:p>
        </p:txBody>
      </p:sp>
      <p:sp>
        <p:nvSpPr>
          <p:cNvPr id="15" name="Shape 13"/>
          <p:cNvSpPr/>
          <p:nvPr/>
        </p:nvSpPr>
        <p:spPr>
          <a:xfrm>
            <a:off x="502920" y="4242029"/>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6" name="Text 14"/>
          <p:cNvSpPr txBox="1"/>
          <p:nvPr/>
        </p:nvSpPr>
        <p:spPr>
          <a:xfrm>
            <a:off x="832104" y="4196309"/>
            <a:ext cx="10808208" cy="457200"/>
          </a:xfrm>
          <a:prstGeom prst="rect">
            <a:avLst/>
          </a:prstGeom>
          <a:noFill/>
          <a:ln/>
        </p:spPr>
        <p:txBody>
          <a:bodyPr wrap="square" lIns="0" tIns="0" rIns="0" bIns="0" rtlCol="0" anchor="t"/>
          <a:lstStyle/>
          <a:p>
            <a:pPr marL="0" indent="0">
              <a:buNone/>
            </a:pPr>
            <a:r>
              <a:rPr lang="en-US" sz="1500" dirty="0">
                <a:solidFill>
                  <a:srgbClr val="000000"/>
                </a:solidFill>
                <a:latin typeface="Times New Roman" pitchFamily="34" charset="0"/>
                <a:ea typeface="Times New Roman" pitchFamily="34" charset="-122"/>
                <a:cs typeface="Times New Roman" pitchFamily="34" charset="-120"/>
              </a:rPr>
              <a:t>Nếu dữ liệu hoặc đối tượng khảo sát dự kiến không tiếp cận được, tôi đã có phương án dự phòng cụ thể</a:t>
            </a:r>
            <a:endParaRPr lang="en-US" sz="1500" dirty="0"/>
          </a:p>
        </p:txBody>
      </p:sp>
      <p:sp>
        <p:nvSpPr>
          <p:cNvPr id="17" name="Shape 15"/>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8" name="Text 16"/>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19" name="Text 17"/>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Checklist chọn đề tài</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Case minh họa: từ đề tài rủi ro đến đề tài đã thu hẹp phạm vi</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078992"/>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1078992"/>
            <a:ext cx="5952744" cy="310896"/>
          </a:xfrm>
          <a:prstGeom prst="rect">
            <a:avLst/>
          </a:prstGeom>
          <a:noFill/>
          <a:ln/>
        </p:spPr>
        <p:txBody>
          <a:bodyPr wrap="square" lIns="0" tIns="0" rIns="0" bIns="0" rtlCol="0" anchor="ctr"/>
          <a:lstStyle/>
          <a:p>
            <a:pPr marL="0" indent="0" algn="ctr">
              <a:buNone/>
            </a:pPr>
            <a:r>
              <a:rPr lang="en-US" sz="1400" b="1" kern="0" spc="100" dirty="0">
                <a:solidFill>
                  <a:srgbClr val="12253F"/>
                </a:solidFill>
                <a:latin typeface="Times New Roman" pitchFamily="34" charset="0"/>
                <a:ea typeface="Times New Roman" pitchFamily="34" charset="-122"/>
                <a:cs typeface="Times New Roman" pitchFamily="34" charset="-120"/>
              </a:rPr>
              <a:t>VÍ DỤ MINH HỌA</a:t>
            </a:r>
            <a:endParaRPr lang="en-US" sz="1400" dirty="0"/>
          </a:p>
        </p:txBody>
      </p:sp>
      <p:sp>
        <p:nvSpPr>
          <p:cNvPr id="6" name="Text 4"/>
          <p:cNvSpPr txBox="1"/>
          <p:nvPr/>
        </p:nvSpPr>
        <p:spPr>
          <a:xfrm>
            <a:off x="502920" y="1536192"/>
            <a:ext cx="11185855" cy="292608"/>
          </a:xfrm>
          <a:prstGeom prst="rect">
            <a:avLst/>
          </a:prstGeom>
          <a:noFill/>
          <a:ln/>
        </p:spPr>
        <p:txBody>
          <a:bodyPr wrap="square" lIns="0" tIns="0" rIns="0" bIns="0" rtlCol="0" anchor="ctr"/>
          <a:lstStyle/>
          <a:p>
            <a:pPr marL="0" indent="0">
              <a:buNone/>
            </a:pPr>
            <a:r>
              <a:rPr lang="en-US" sz="1500" b="1" kern="0" spc="50" dirty="0">
                <a:solidFill>
                  <a:srgbClr val="3D4552"/>
                </a:solidFill>
                <a:latin typeface="Times New Roman" pitchFamily="34" charset="0"/>
                <a:ea typeface="Times New Roman" pitchFamily="34" charset="-122"/>
                <a:cs typeface="Times New Roman" pitchFamily="34" charset="-120"/>
              </a:rPr>
              <a:t>CASE A · NGÂN HÀNG SỐ</a:t>
            </a:r>
            <a:endParaRPr lang="en-US" sz="1500" dirty="0"/>
          </a:p>
        </p:txBody>
      </p:sp>
      <p:sp>
        <p:nvSpPr>
          <p:cNvPr id="7" name="Shape 5"/>
          <p:cNvSpPr/>
          <p:nvPr/>
        </p:nvSpPr>
        <p:spPr>
          <a:xfrm>
            <a:off x="502920" y="1847088"/>
            <a:ext cx="5592928" cy="1234440"/>
          </a:xfrm>
          <a:prstGeom prst="rect">
            <a:avLst/>
          </a:prstGeom>
          <a:solidFill>
            <a:srgbClr val="FFFFFF"/>
          </a:solidFill>
          <a:ln w="19050">
            <a:solidFill>
              <a:srgbClr val="12253F"/>
            </a:solidFill>
            <a:prstDash val="solid"/>
          </a:ln>
        </p:spPr>
        <p:txBody>
          <a:bodyPr/>
          <a:lstStyle/>
          <a:p>
            <a:endParaRPr lang="en-US"/>
          </a:p>
        </p:txBody>
      </p:sp>
      <p:sp>
        <p:nvSpPr>
          <p:cNvPr id="8" name="Text 6"/>
          <p:cNvSpPr txBox="1"/>
          <p:nvPr/>
        </p:nvSpPr>
        <p:spPr>
          <a:xfrm>
            <a:off x="649224" y="1956816"/>
            <a:ext cx="5300320" cy="1014984"/>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Đề tài rủi ro
</a:t>
            </a:r>
            <a:r>
              <a:rPr lang="en-US" sz="1450" dirty="0">
                <a:solidFill>
                  <a:srgbClr val="000000"/>
                </a:solidFill>
                <a:latin typeface="Times New Roman" pitchFamily="34" charset="0"/>
                <a:ea typeface="Times New Roman" pitchFamily="34" charset="-122"/>
                <a:cs typeface="Times New Roman" pitchFamily="34" charset="-120"/>
              </a:rPr>
              <a:t>Giải pháp phát triển dịch vụ ngân hàng số. Phạm vi không rõ ngân hàng nào, đối tượng nào, không nêu vấn đề cụ thể.</a:t>
            </a:r>
            <a:endParaRPr lang="en-US" sz="1600" dirty="0"/>
          </a:p>
        </p:txBody>
      </p:sp>
      <p:sp>
        <p:nvSpPr>
          <p:cNvPr id="9" name="Shape 7"/>
          <p:cNvSpPr/>
          <p:nvPr/>
        </p:nvSpPr>
        <p:spPr>
          <a:xfrm>
            <a:off x="6095848" y="1847088"/>
            <a:ext cx="5592928" cy="1234440"/>
          </a:xfrm>
          <a:prstGeom prst="rect">
            <a:avLst/>
          </a:prstGeom>
          <a:solidFill>
            <a:srgbClr val="F0F2F5"/>
          </a:solidFill>
          <a:ln w="19050">
            <a:solidFill>
              <a:srgbClr val="12253F"/>
            </a:solidFill>
            <a:prstDash val="solid"/>
          </a:ln>
        </p:spPr>
        <p:txBody>
          <a:bodyPr/>
          <a:lstStyle/>
          <a:p>
            <a:endParaRPr lang="en-US"/>
          </a:p>
        </p:txBody>
      </p:sp>
      <p:sp>
        <p:nvSpPr>
          <p:cNvPr id="10" name="Text 8"/>
          <p:cNvSpPr txBox="1"/>
          <p:nvPr/>
        </p:nvSpPr>
        <p:spPr>
          <a:xfrm>
            <a:off x="6242152" y="1956816"/>
            <a:ext cx="5300320" cy="1014984"/>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Đề tài khả thi
</a:t>
            </a:r>
            <a:r>
              <a:rPr lang="en-US" sz="1450" dirty="0">
                <a:solidFill>
                  <a:srgbClr val="000000"/>
                </a:solidFill>
                <a:latin typeface="Times New Roman" pitchFamily="34" charset="0"/>
                <a:ea typeface="Times New Roman" pitchFamily="34" charset="-122"/>
                <a:cs typeface="Times New Roman" pitchFamily="34" charset="-120"/>
              </a:rPr>
              <a:t>Các yếu tố ảnh hưởng đến ý định sử dụng dịch vụ ngân hàng số của khách hàng cá nhân tại một ngân hàng thương mại. Đối tượng, phạm vi và vấn đề đều rõ.</a:t>
            </a:r>
            <a:endParaRPr lang="en-US" sz="1600" dirty="0"/>
          </a:p>
        </p:txBody>
      </p:sp>
      <p:sp>
        <p:nvSpPr>
          <p:cNvPr id="11" name="Text 9"/>
          <p:cNvSpPr txBox="1"/>
          <p:nvPr/>
        </p:nvSpPr>
        <p:spPr>
          <a:xfrm>
            <a:off x="502920" y="3310128"/>
            <a:ext cx="11185855" cy="292608"/>
          </a:xfrm>
          <a:prstGeom prst="rect">
            <a:avLst/>
          </a:prstGeom>
          <a:noFill/>
          <a:ln/>
        </p:spPr>
        <p:txBody>
          <a:bodyPr wrap="square" lIns="0" tIns="0" rIns="0" bIns="0" rtlCol="0" anchor="ctr"/>
          <a:lstStyle/>
          <a:p>
            <a:pPr marL="0" indent="0">
              <a:buNone/>
            </a:pPr>
            <a:r>
              <a:rPr lang="en-US" sz="1500" b="1" kern="0" spc="50" dirty="0">
                <a:solidFill>
                  <a:srgbClr val="3D4552"/>
                </a:solidFill>
                <a:latin typeface="Times New Roman" pitchFamily="34" charset="0"/>
                <a:ea typeface="Times New Roman" pitchFamily="34" charset="-122"/>
                <a:cs typeface="Times New Roman" pitchFamily="34" charset="-120"/>
              </a:rPr>
              <a:t>CASE B · TRƯỜNG TIỂU HỌC</a:t>
            </a:r>
            <a:endParaRPr lang="en-US" sz="1500" dirty="0"/>
          </a:p>
        </p:txBody>
      </p:sp>
      <p:sp>
        <p:nvSpPr>
          <p:cNvPr id="12" name="Shape 10"/>
          <p:cNvSpPr/>
          <p:nvPr/>
        </p:nvSpPr>
        <p:spPr>
          <a:xfrm>
            <a:off x="502920" y="3621024"/>
            <a:ext cx="5592928" cy="1234440"/>
          </a:xfrm>
          <a:prstGeom prst="rect">
            <a:avLst/>
          </a:prstGeom>
          <a:solidFill>
            <a:srgbClr val="FFFFFF"/>
          </a:solidFill>
          <a:ln w="19050">
            <a:solidFill>
              <a:srgbClr val="12253F"/>
            </a:solidFill>
            <a:prstDash val="solid"/>
          </a:ln>
        </p:spPr>
        <p:txBody>
          <a:bodyPr/>
          <a:lstStyle/>
          <a:p>
            <a:endParaRPr lang="en-US"/>
          </a:p>
        </p:txBody>
      </p:sp>
      <p:sp>
        <p:nvSpPr>
          <p:cNvPr id="13" name="Text 11"/>
          <p:cNvSpPr txBox="1"/>
          <p:nvPr/>
        </p:nvSpPr>
        <p:spPr>
          <a:xfrm>
            <a:off x="649224" y="3730752"/>
            <a:ext cx="5300320" cy="1014984"/>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Đề tài rủi ro
</a:t>
            </a:r>
            <a:r>
              <a:rPr lang="en-US" sz="1450" dirty="0">
                <a:solidFill>
                  <a:srgbClr val="000000"/>
                </a:solidFill>
                <a:latin typeface="Times New Roman" pitchFamily="34" charset="0"/>
                <a:ea typeface="Times New Roman" pitchFamily="34" charset="-122"/>
                <a:cs typeface="Times New Roman" pitchFamily="34" charset="-120"/>
              </a:rPr>
              <a:t>Nâng cao chất lượng phục vụ trong giáo dục tiểu học. Phạm vi cả một cấp học, không nêu trường nào, đo hài lòng bằng cách nào.</a:t>
            </a:r>
            <a:endParaRPr lang="en-US" sz="1600" dirty="0"/>
          </a:p>
        </p:txBody>
      </p:sp>
      <p:sp>
        <p:nvSpPr>
          <p:cNvPr id="14" name="Shape 12"/>
          <p:cNvSpPr/>
          <p:nvPr/>
        </p:nvSpPr>
        <p:spPr>
          <a:xfrm>
            <a:off x="6095848" y="3621024"/>
            <a:ext cx="5592928" cy="1234440"/>
          </a:xfrm>
          <a:prstGeom prst="rect">
            <a:avLst/>
          </a:prstGeom>
          <a:solidFill>
            <a:srgbClr val="F0F2F5"/>
          </a:solidFill>
          <a:ln w="19050">
            <a:solidFill>
              <a:srgbClr val="12253F"/>
            </a:solidFill>
            <a:prstDash val="solid"/>
          </a:ln>
        </p:spPr>
        <p:txBody>
          <a:bodyPr/>
          <a:lstStyle/>
          <a:p>
            <a:endParaRPr lang="en-US"/>
          </a:p>
        </p:txBody>
      </p:sp>
      <p:sp>
        <p:nvSpPr>
          <p:cNvPr id="15" name="Text 13"/>
          <p:cNvSpPr txBox="1"/>
          <p:nvPr/>
        </p:nvSpPr>
        <p:spPr>
          <a:xfrm>
            <a:off x="6242152" y="3730752"/>
            <a:ext cx="5300320" cy="1014984"/>
          </a:xfrm>
          <a:prstGeom prst="rect">
            <a:avLst/>
          </a:prstGeom>
          <a:noFill/>
          <a:ln/>
        </p:spPr>
        <p:txBody>
          <a:bodyPr wrap="square" lIns="0" tIns="0" rIns="0" bIns="0" rtlCol="0" anchor="t"/>
          <a:lstStyle/>
          <a:p>
            <a:pPr marL="0" indent="0">
              <a:buNone/>
            </a:pPr>
            <a:r>
              <a:rPr lang="en-US" sz="1600" b="1" dirty="0">
                <a:solidFill>
                  <a:srgbClr val="000000"/>
                </a:solidFill>
                <a:latin typeface="Times New Roman" pitchFamily="34" charset="0"/>
                <a:ea typeface="Times New Roman" pitchFamily="34" charset="-122"/>
                <a:cs typeface="Times New Roman" pitchFamily="34" charset="-120"/>
              </a:rPr>
              <a:t>Đề tài khả thi
</a:t>
            </a:r>
            <a:r>
              <a:rPr lang="en-US" sz="1450" dirty="0">
                <a:solidFill>
                  <a:srgbClr val="000000"/>
                </a:solidFill>
                <a:latin typeface="Times New Roman" pitchFamily="34" charset="0"/>
                <a:ea typeface="Times New Roman" pitchFamily="34" charset="-122"/>
                <a:cs typeface="Times New Roman" pitchFamily="34" charset="-120"/>
              </a:rPr>
              <a:t>Các yếu tố ảnh hưởng đến mức độ hài lòng của phụ huynh đối với dịch vụ hành chính tại một trường tiểu học. Đối tượng, phạm vi và vấn đề đều rõ.</a:t>
            </a:r>
            <a:endParaRPr lang="en-US" sz="1600" dirty="0"/>
          </a:p>
        </p:txBody>
      </p:sp>
      <p:sp>
        <p:nvSpPr>
          <p:cNvPr id="16" name="Shape 14"/>
          <p:cNvSpPr/>
          <p:nvPr/>
        </p:nvSpPr>
        <p:spPr>
          <a:xfrm>
            <a:off x="502920" y="5029200"/>
            <a:ext cx="11185855" cy="777240"/>
          </a:xfrm>
          <a:prstGeom prst="rect">
            <a:avLst/>
          </a:prstGeom>
          <a:solidFill>
            <a:srgbClr val="F0F2F5"/>
          </a:solidFill>
          <a:ln w="9525">
            <a:solidFill>
              <a:srgbClr val="12253F"/>
            </a:solidFill>
            <a:prstDash val="solid"/>
          </a:ln>
        </p:spPr>
        <p:txBody>
          <a:bodyPr/>
          <a:lstStyle/>
          <a:p>
            <a:endParaRPr lang="en-US"/>
          </a:p>
        </p:txBody>
      </p:sp>
      <p:sp>
        <p:nvSpPr>
          <p:cNvPr id="17" name="Text 15"/>
          <p:cNvSpPr txBox="1"/>
          <p:nvPr/>
        </p:nvSpPr>
        <p:spPr>
          <a:xfrm>
            <a:off x="758952" y="5120640"/>
            <a:ext cx="10728655" cy="59436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Cả hai đề tài khả thi đều đã nêu rõ yếu tố cần tìm, đối tượng khảo sát và phạm vi một tổ chức cụ thể. Đây là ba điều một đề tài an toàn bắt buộc phải có.</a:t>
            </a:r>
            <a:endParaRPr lang="en-US" sz="1350" dirty="0"/>
          </a:p>
        </p:txBody>
      </p:sp>
      <p:sp>
        <p:nvSpPr>
          <p:cNvPr id="18" name="Shape 1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9" name="Text 1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III</a:t>
            </a:r>
            <a:endParaRPr lang="en-US" sz="1000" dirty="0"/>
          </a:p>
        </p:txBody>
      </p:sp>
      <p:sp>
        <p:nvSpPr>
          <p:cNvPr id="20" name="Text 1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Đề tài rủi ro và đề tài khả thi</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IV</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55859" y="1382134"/>
            <a:ext cx="409322" cy="107716"/>
          </a:xfrm>
          <a:prstGeom prst="chevron">
            <a:avLst/>
          </a:prstGeom>
          <a:ln w="17780">
            <a:solidFill>
              <a:srgbClr val="FFFFFF"/>
            </a:solidFill>
            <a:prstDash val="solid"/>
          </a:ln>
        </p:spPr>
        <p:txBody>
          <a:bodyPr/>
          <a:lstStyle/>
          <a:p>
            <a:endParaRPr lang="en-US"/>
          </a:p>
        </p:txBody>
      </p:sp>
      <p:sp>
        <p:nvSpPr>
          <p:cNvPr id="6" name="Shape 4"/>
          <p:cNvSpPr/>
          <p:nvPr/>
        </p:nvSpPr>
        <p:spPr>
          <a:xfrm>
            <a:off x="3955859" y="1500622"/>
            <a:ext cx="409322" cy="107716"/>
          </a:xfrm>
          <a:prstGeom prst="chevron">
            <a:avLst/>
          </a:prstGeom>
          <a:ln w="17780">
            <a:solidFill>
              <a:srgbClr val="FFFFFF"/>
            </a:solidFill>
            <a:prstDash val="solid"/>
          </a:ln>
        </p:spPr>
        <p:txBody>
          <a:bodyPr/>
          <a:lstStyle/>
          <a:p>
            <a:endParaRPr lang="en-US"/>
          </a:p>
        </p:txBody>
      </p:sp>
      <p:sp>
        <p:nvSpPr>
          <p:cNvPr id="7" name="Shape 5"/>
          <p:cNvSpPr/>
          <p:nvPr/>
        </p:nvSpPr>
        <p:spPr>
          <a:xfrm>
            <a:off x="3955859" y="1619110"/>
            <a:ext cx="409322" cy="107716"/>
          </a:xfrm>
          <a:prstGeom prst="chevron">
            <a:avLst/>
          </a:prstGeom>
          <a:ln w="17780">
            <a:solidFill>
              <a:srgbClr val="FFFFFF"/>
            </a:solidFill>
            <a:prstDash val="solid"/>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Research Proposal: bản thiết kế logic của toàn bộ nghiên cứu</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Đây là phần trọng tâm của Core Slide 1. Research proposal là bước quyết định một đề tài có khả thi hay không, trước khi sinh viên đầu tư thời gian viết toàn bộ khóa luận.</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Research proposal là gì và vì sao phải làm trước</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Điều gì xảy ra nếu bỏ qua bước này</a:t>
            </a:r>
            <a:endParaRPr lang="en-US" sz="2000" dirty="0"/>
          </a:p>
        </p:txBody>
      </p:sp>
      <p:sp>
        <p:nvSpPr>
          <p:cNvPr id="14" name="Shape 12"/>
          <p:cNvSpPr/>
          <p:nvPr/>
        </p:nvSpPr>
        <p:spPr>
          <a:xfrm>
            <a:off x="822960" y="5605272"/>
            <a:ext cx="100584" cy="100584"/>
          </a:xfrm>
          <a:prstGeom prst="ellipse">
            <a:avLst/>
          </a:prstGeom>
          <a:solidFill>
            <a:srgbClr val="1F5C82"/>
          </a:solidFill>
          <a:ln/>
        </p:spPr>
        <p:txBody>
          <a:bodyPr/>
          <a:lstStyle/>
          <a:p>
            <a:endParaRPr lang="en-US"/>
          </a:p>
        </p:txBody>
      </p:sp>
      <p:sp>
        <p:nvSpPr>
          <p:cNvPr id="15" name="Text 13"/>
          <p:cNvSpPr txBox="1"/>
          <p:nvPr/>
        </p:nvSpPr>
        <p:spPr>
          <a:xfrm>
            <a:off x="1069848" y="5513832"/>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Proposal gồm những thành phần nào</a:t>
            </a:r>
            <a:endParaRPr lang="en-US" sz="2000" dirty="0"/>
          </a:p>
        </p:txBody>
      </p:sp>
      <p:sp>
        <p:nvSpPr>
          <p:cNvPr id="16" name="Shape 14"/>
          <p:cNvSpPr/>
          <p:nvPr/>
        </p:nvSpPr>
        <p:spPr>
          <a:xfrm>
            <a:off x="822960" y="6007608"/>
            <a:ext cx="100584" cy="100584"/>
          </a:xfrm>
          <a:prstGeom prst="ellipse">
            <a:avLst/>
          </a:prstGeom>
          <a:solidFill>
            <a:srgbClr val="1F5C82"/>
          </a:solidFill>
          <a:ln/>
        </p:spPr>
        <p:txBody>
          <a:bodyPr/>
          <a:lstStyle/>
          <a:p>
            <a:endParaRPr lang="en-US"/>
          </a:p>
        </p:txBody>
      </p:sp>
      <p:sp>
        <p:nvSpPr>
          <p:cNvPr id="17" name="Text 15"/>
          <p:cNvSpPr txBox="1"/>
          <p:nvPr/>
        </p:nvSpPr>
        <p:spPr>
          <a:xfrm>
            <a:off x="1069848" y="5916168"/>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Proposal và đề cương liên hệ với nhau như thế nào</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Research proposal là gì</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11185855" cy="123444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298448"/>
            <a:ext cx="10893247" cy="1014984"/>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Research proposal là bản thiết kế logic của toàn bộ nghiên cứu. Nó trình bày trước khi viết khóa luận rằng vấn đề, mục tiêu, câu hỏi, lý thuyết, mô hình, phương pháp, dữ liệu và timeline là gì.</a:t>
            </a:r>
            <a:endParaRPr lang="en-US" sz="2000" dirty="0"/>
          </a:p>
        </p:txBody>
      </p:sp>
      <p:sp>
        <p:nvSpPr>
          <p:cNvPr id="6" name="Text 4"/>
          <p:cNvSpPr txBox="1"/>
          <p:nvPr/>
        </p:nvSpPr>
        <p:spPr>
          <a:xfrm>
            <a:off x="502920" y="2651760"/>
            <a:ext cx="5410048" cy="365760"/>
          </a:xfrm>
          <a:prstGeom prst="rect">
            <a:avLst/>
          </a:prstGeom>
          <a:noFill/>
          <a:ln/>
        </p:spPr>
        <p:txBody>
          <a:bodyPr wrap="square" lIns="0" tIns="0" rIns="0" bIns="0" rtlCol="0" anchor="ctr"/>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Proposal giúp kiểm tra điều gì</a:t>
            </a:r>
            <a:endParaRPr lang="en-US" sz="2000" dirty="0"/>
          </a:p>
        </p:txBody>
      </p:sp>
      <p:sp>
        <p:nvSpPr>
          <p:cNvPr id="7" name="Text 5"/>
          <p:cNvSpPr txBox="1"/>
          <p:nvPr/>
        </p:nvSpPr>
        <p:spPr>
          <a:xfrm>
            <a:off x="502920" y="3063240"/>
            <a:ext cx="5410048" cy="1645920"/>
          </a:xfrm>
          <a:prstGeom prst="rect">
            <a:avLst/>
          </a:prstGeom>
          <a:noFill/>
          <a:ln/>
        </p:spPr>
        <p:txBody>
          <a:bodyPr wrap="square" lIns="0" tIns="0" rIns="0" bIns="0" rtlCol="0" anchor="t"/>
          <a:lstStyle/>
          <a:p>
            <a:pPr marL="0" indent="0">
              <a:lnSpc>
                <a:spcPct val="115000"/>
              </a:lnSpc>
              <a:buNone/>
            </a:pPr>
            <a:r>
              <a:rPr lang="en-US" sz="1850" dirty="0">
                <a:solidFill>
                  <a:srgbClr val="1A1A1A"/>
                </a:solidFill>
                <a:latin typeface="Times New Roman" pitchFamily="34" charset="0"/>
                <a:ea typeface="Times New Roman" pitchFamily="34" charset="-122"/>
                <a:cs typeface="Times New Roman" pitchFamily="34" charset="-120"/>
              </a:rPr>
              <a:t>•  Kiểm tra đề tài có khả thi hay không
•  Kiểm soát phạm vi nghiên cứu
•  Liên kết chặt vấn đề, mục tiêu, câu hỏi, lý thuyết, mô hình, phương pháp, dữ liệu, timeline</a:t>
            </a:r>
            <a:endParaRPr lang="en-US" sz="1850" dirty="0"/>
          </a:p>
        </p:txBody>
      </p:sp>
      <p:sp>
        <p:nvSpPr>
          <p:cNvPr id="8" name="Text 6"/>
          <p:cNvSpPr txBox="1"/>
          <p:nvPr/>
        </p:nvSpPr>
        <p:spPr>
          <a:xfrm>
            <a:off x="6278728" y="2651760"/>
            <a:ext cx="5410048" cy="365760"/>
          </a:xfrm>
          <a:prstGeom prst="rect">
            <a:avLst/>
          </a:prstGeom>
          <a:noFill/>
          <a:ln/>
        </p:spPr>
        <p:txBody>
          <a:bodyPr wrap="square" lIns="0" tIns="0" rIns="0" bIns="0" rtlCol="0" anchor="ctr"/>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Proposal KHÔNG phải là gì</a:t>
            </a:r>
            <a:endParaRPr lang="en-US" sz="2000" dirty="0"/>
          </a:p>
        </p:txBody>
      </p:sp>
      <p:sp>
        <p:nvSpPr>
          <p:cNvPr id="9" name="Text 7"/>
          <p:cNvSpPr txBox="1"/>
          <p:nvPr/>
        </p:nvSpPr>
        <p:spPr>
          <a:xfrm>
            <a:off x="6278728" y="3063240"/>
            <a:ext cx="5410048" cy="1645920"/>
          </a:xfrm>
          <a:prstGeom prst="rect">
            <a:avLst/>
          </a:prstGeom>
          <a:noFill/>
          <a:ln/>
        </p:spPr>
        <p:txBody>
          <a:bodyPr wrap="square" lIns="0" tIns="0" rIns="0" bIns="0" rtlCol="0" anchor="t"/>
          <a:lstStyle/>
          <a:p>
            <a:pPr marL="0" indent="0">
              <a:lnSpc>
                <a:spcPct val="115000"/>
              </a:lnSpc>
              <a:buNone/>
            </a:pPr>
            <a:r>
              <a:rPr lang="en-US" sz="1850" dirty="0">
                <a:solidFill>
                  <a:srgbClr val="1A1A1A"/>
                </a:solidFill>
                <a:latin typeface="Times New Roman" pitchFamily="34" charset="0"/>
                <a:ea typeface="Times New Roman" pitchFamily="34" charset="-122"/>
                <a:cs typeface="Times New Roman" pitchFamily="34" charset="-120"/>
              </a:rPr>
              <a:t>•  Không phải bản khóa luận hoàn chỉnh thu nhỏ, chưa có kết quả nghiên cứu
•  Không phải bản mô tả ý tưởng chung chung, phải cụ thể đến mức người đọc hình dung được cách nghiên cứu diễn ra</a:t>
            </a:r>
            <a:endParaRPr lang="en-US" sz="1850" dirty="0"/>
          </a:p>
        </p:txBody>
      </p:sp>
      <p:sp>
        <p:nvSpPr>
          <p:cNvPr id="10" name="Shape 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1" name="Text 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12" name="Text 1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Định nghĩa proposal</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Điều gì xảy ra nếu viết khóa luận khi chưa có proposal</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5592928" cy="265176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298448"/>
            <a:ext cx="5300320" cy="24323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Có proposal rõ ràng trước khi viết
</a:t>
            </a:r>
            <a:r>
              <a:rPr lang="en-US" sz="1800" dirty="0">
                <a:solidFill>
                  <a:srgbClr val="000000"/>
                </a:solidFill>
                <a:latin typeface="Times New Roman" pitchFamily="34" charset="0"/>
                <a:ea typeface="Times New Roman" pitchFamily="34" charset="-122"/>
                <a:cs typeface="Times New Roman" pitchFamily="34" charset="-120"/>
              </a:rPr>
              <a:t>•  Biết chính xác cần đọc tài liệu gì
•  Biết chính xác cần thu thập dữ liệu gì
•  Các chương có mạch logic nối liền nhau
•  GVHD góp ý nhanh vì đã thấy toàn bộ kế hoạch</a:t>
            </a:r>
            <a:endParaRPr lang="en-US" sz="1900" dirty="0"/>
          </a:p>
        </p:txBody>
      </p:sp>
      <p:sp>
        <p:nvSpPr>
          <p:cNvPr id="6" name="Shape 4"/>
          <p:cNvSpPr/>
          <p:nvPr/>
        </p:nvSpPr>
        <p:spPr>
          <a:xfrm>
            <a:off x="6095848" y="1188720"/>
            <a:ext cx="5592928" cy="265176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242152" y="1298448"/>
            <a:ext cx="5300320" cy="243230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Viết khóa luận khi chưa có proposal
</a:t>
            </a:r>
            <a:r>
              <a:rPr lang="en-US" sz="1800" dirty="0">
                <a:solidFill>
                  <a:srgbClr val="000000"/>
                </a:solidFill>
                <a:latin typeface="Times New Roman" pitchFamily="34" charset="0"/>
                <a:ea typeface="Times New Roman" pitchFamily="34" charset="-122"/>
                <a:cs typeface="Times New Roman" pitchFamily="34" charset="-120"/>
              </a:rPr>
              <a:t>•  Viết chương 1 xong mới phát hiện dữ liệu không thể thu thập
•  Phải viết lại nhiều lần vì mục tiêu thay đổi liên tục
•  Các chương rời rạc, không chung một câu hỏi
•  Mất nhiều thời gian nhất ở tuần cuối</a:t>
            </a:r>
            <a:endParaRPr lang="en-US" sz="1900" dirty="0"/>
          </a:p>
        </p:txBody>
      </p:sp>
      <p:sp>
        <p:nvSpPr>
          <p:cNvPr id="8" name="Shape 6"/>
          <p:cNvSpPr/>
          <p:nvPr/>
        </p:nvSpPr>
        <p:spPr>
          <a:xfrm>
            <a:off x="502920" y="4023360"/>
            <a:ext cx="11185855" cy="868680"/>
          </a:xfrm>
          <a:prstGeom prst="rect">
            <a:avLst/>
          </a:prstGeom>
          <a:solidFill>
            <a:srgbClr val="F0F2F5"/>
          </a:solidFill>
          <a:ln w="9525">
            <a:solidFill>
              <a:srgbClr val="12253F"/>
            </a:solidFill>
            <a:prstDash val="solid"/>
          </a:ln>
        </p:spPr>
        <p:txBody>
          <a:bodyPr/>
          <a:lstStyle/>
          <a:p>
            <a:endParaRPr lang="en-US"/>
          </a:p>
        </p:txBody>
      </p:sp>
      <p:sp>
        <p:nvSpPr>
          <p:cNvPr id="9" name="Text 7"/>
          <p:cNvSpPr txBox="1"/>
          <p:nvPr/>
        </p:nvSpPr>
        <p:spPr>
          <a:xfrm>
            <a:off x="758952" y="4114800"/>
            <a:ext cx="10728655" cy="685800"/>
          </a:xfrm>
          <a:prstGeom prst="rect">
            <a:avLst/>
          </a:prstGeom>
          <a:noFill/>
          <a:ln/>
        </p:spPr>
        <p:txBody>
          <a:bodyPr wrap="square" lIns="0" tIns="0" rIns="0" bIns="0"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Trong kế hoạch 8 tuần, proposal chưa hoàn chỉnh ở tuần 2 là rủi ro lớn nhất cho toàn bộ tiến độ phía sau.</a:t>
            </a:r>
            <a:endParaRPr lang="en-US" sz="1400" dirty="0"/>
          </a:p>
        </p:txBody>
      </p:sp>
      <p:sp>
        <p:nvSpPr>
          <p:cNvPr id="10" name="Shape 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1" name="Text 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12" name="Text 1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Rủi ro khi thiếu proposal</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Sơ đồ research proposal: nhóm thành phần mở đầu</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Mỗi thành phần trả lời cho thành phần trước và chuẩn bị nền cho thành phần sau, tạo thành một chuỗi logic khép kín.</a:t>
            </a:r>
            <a:endParaRPr lang="en-US" sz="1400" dirty="0"/>
          </a:p>
        </p:txBody>
      </p:sp>
      <p:sp>
        <p:nvSpPr>
          <p:cNvPr id="5" name="Shape 3"/>
          <p:cNvSpPr/>
          <p:nvPr/>
        </p:nvSpPr>
        <p:spPr>
          <a:xfrm>
            <a:off x="502920" y="2011680"/>
            <a:ext cx="2590724"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6" name="Text 4"/>
          <p:cNvSpPr txBox="1"/>
          <p:nvPr/>
        </p:nvSpPr>
        <p:spPr>
          <a:xfrm>
            <a:off x="557784" y="2011680"/>
            <a:ext cx="2480996"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Bối cảnh nghiên cứu</a:t>
            </a:r>
            <a:endParaRPr lang="en-US" sz="1250" dirty="0"/>
          </a:p>
        </p:txBody>
      </p:sp>
      <p:sp>
        <p:nvSpPr>
          <p:cNvPr id="7" name="Shape 5"/>
          <p:cNvSpPr/>
          <p:nvPr/>
        </p:nvSpPr>
        <p:spPr>
          <a:xfrm>
            <a:off x="3145765" y="2322576"/>
            <a:ext cx="170078" cy="384048"/>
          </a:xfrm>
          <a:prstGeom prst="chevron">
            <a:avLst/>
          </a:prstGeom>
          <a:solidFill>
            <a:srgbClr val="1F5C82"/>
          </a:solidFill>
          <a:ln/>
        </p:spPr>
        <p:txBody>
          <a:bodyPr/>
          <a:lstStyle/>
          <a:p>
            <a:endParaRPr lang="en-US"/>
          </a:p>
        </p:txBody>
      </p:sp>
      <p:sp>
        <p:nvSpPr>
          <p:cNvPr id="8" name="Shape 6"/>
          <p:cNvSpPr/>
          <p:nvPr/>
        </p:nvSpPr>
        <p:spPr>
          <a:xfrm>
            <a:off x="3367964" y="2011680"/>
            <a:ext cx="2590724"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9" name="Text 7"/>
          <p:cNvSpPr txBox="1"/>
          <p:nvPr/>
        </p:nvSpPr>
        <p:spPr>
          <a:xfrm>
            <a:off x="3422828" y="2011680"/>
            <a:ext cx="2480996"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Vấn đề nghiên cứu</a:t>
            </a:r>
            <a:endParaRPr lang="en-US" sz="1250" dirty="0"/>
          </a:p>
        </p:txBody>
      </p:sp>
      <p:sp>
        <p:nvSpPr>
          <p:cNvPr id="10" name="Shape 8"/>
          <p:cNvSpPr/>
          <p:nvPr/>
        </p:nvSpPr>
        <p:spPr>
          <a:xfrm>
            <a:off x="6010808" y="2322576"/>
            <a:ext cx="170078" cy="384048"/>
          </a:xfrm>
          <a:prstGeom prst="chevron">
            <a:avLst/>
          </a:prstGeom>
          <a:solidFill>
            <a:srgbClr val="1F5C82"/>
          </a:solidFill>
          <a:ln/>
        </p:spPr>
        <p:txBody>
          <a:bodyPr/>
          <a:lstStyle/>
          <a:p>
            <a:endParaRPr lang="en-US"/>
          </a:p>
        </p:txBody>
      </p:sp>
      <p:sp>
        <p:nvSpPr>
          <p:cNvPr id="11" name="Shape 9"/>
          <p:cNvSpPr/>
          <p:nvPr/>
        </p:nvSpPr>
        <p:spPr>
          <a:xfrm>
            <a:off x="6233008" y="201168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12" name="Text 10"/>
          <p:cNvSpPr txBox="1"/>
          <p:nvPr/>
        </p:nvSpPr>
        <p:spPr>
          <a:xfrm>
            <a:off x="6287872" y="201168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Lý do cần nghiên cứu</a:t>
            </a:r>
            <a:endParaRPr lang="en-US" sz="1250" dirty="0"/>
          </a:p>
        </p:txBody>
      </p:sp>
      <p:sp>
        <p:nvSpPr>
          <p:cNvPr id="13" name="Shape 11"/>
          <p:cNvSpPr/>
          <p:nvPr/>
        </p:nvSpPr>
        <p:spPr>
          <a:xfrm>
            <a:off x="8875852" y="2322576"/>
            <a:ext cx="170078" cy="384048"/>
          </a:xfrm>
          <a:prstGeom prst="chevron">
            <a:avLst/>
          </a:prstGeom>
          <a:solidFill>
            <a:srgbClr val="1F5C82"/>
          </a:solidFill>
          <a:ln/>
        </p:spPr>
        <p:txBody>
          <a:bodyPr/>
          <a:lstStyle/>
          <a:p>
            <a:endParaRPr lang="en-US"/>
          </a:p>
        </p:txBody>
      </p:sp>
      <p:sp>
        <p:nvSpPr>
          <p:cNvPr id="14" name="Shape 12"/>
          <p:cNvSpPr/>
          <p:nvPr/>
        </p:nvSpPr>
        <p:spPr>
          <a:xfrm>
            <a:off x="9098051" y="2011680"/>
            <a:ext cx="2590724"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15" name="Text 13"/>
          <p:cNvSpPr txBox="1"/>
          <p:nvPr/>
        </p:nvSpPr>
        <p:spPr>
          <a:xfrm>
            <a:off x="9152915" y="2011680"/>
            <a:ext cx="2480996"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Mục tiêu nghiên cứu</a:t>
            </a:r>
            <a:endParaRPr lang="en-US" sz="1250" dirty="0"/>
          </a:p>
        </p:txBody>
      </p:sp>
      <p:sp>
        <p:nvSpPr>
          <p:cNvPr id="16" name="Shape 14"/>
          <p:cNvSpPr/>
          <p:nvPr/>
        </p:nvSpPr>
        <p:spPr>
          <a:xfrm>
            <a:off x="502920" y="3246120"/>
            <a:ext cx="2590724"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17" name="Text 15"/>
          <p:cNvSpPr txBox="1"/>
          <p:nvPr/>
        </p:nvSpPr>
        <p:spPr>
          <a:xfrm>
            <a:off x="557784" y="3246120"/>
            <a:ext cx="2480996"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Câu hỏi nghiên cứu</a:t>
            </a:r>
            <a:endParaRPr lang="en-US" sz="1250" dirty="0"/>
          </a:p>
        </p:txBody>
      </p:sp>
      <p:sp>
        <p:nvSpPr>
          <p:cNvPr id="18" name="Shape 16"/>
          <p:cNvSpPr/>
          <p:nvPr/>
        </p:nvSpPr>
        <p:spPr>
          <a:xfrm>
            <a:off x="3145765" y="3557016"/>
            <a:ext cx="170078" cy="384048"/>
          </a:xfrm>
          <a:prstGeom prst="chevron">
            <a:avLst/>
          </a:prstGeom>
          <a:solidFill>
            <a:srgbClr val="1F5C82"/>
          </a:solidFill>
          <a:ln/>
        </p:spPr>
        <p:txBody>
          <a:bodyPr/>
          <a:lstStyle/>
          <a:p>
            <a:endParaRPr lang="en-US"/>
          </a:p>
        </p:txBody>
      </p:sp>
      <p:sp>
        <p:nvSpPr>
          <p:cNvPr id="19" name="Shape 17"/>
          <p:cNvSpPr/>
          <p:nvPr/>
        </p:nvSpPr>
        <p:spPr>
          <a:xfrm>
            <a:off x="3367964" y="324612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20" name="Text 18"/>
          <p:cNvSpPr txBox="1"/>
          <p:nvPr/>
        </p:nvSpPr>
        <p:spPr>
          <a:xfrm>
            <a:off x="3422828" y="324612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Đối tượng và phạm vi</a:t>
            </a:r>
            <a:endParaRPr lang="en-US" sz="1250" dirty="0"/>
          </a:p>
        </p:txBody>
      </p:sp>
      <p:sp>
        <p:nvSpPr>
          <p:cNvPr id="21" name="Shape 19"/>
          <p:cNvSpPr/>
          <p:nvPr/>
        </p:nvSpPr>
        <p:spPr>
          <a:xfrm>
            <a:off x="6010808" y="3557016"/>
            <a:ext cx="170078" cy="384048"/>
          </a:xfrm>
          <a:prstGeom prst="chevron">
            <a:avLst/>
          </a:prstGeom>
          <a:solidFill>
            <a:srgbClr val="1F5C82"/>
          </a:solidFill>
          <a:ln/>
        </p:spPr>
        <p:txBody>
          <a:bodyPr/>
          <a:lstStyle/>
          <a:p>
            <a:endParaRPr lang="en-US"/>
          </a:p>
        </p:txBody>
      </p:sp>
      <p:sp>
        <p:nvSpPr>
          <p:cNvPr id="22" name="Shape 20"/>
          <p:cNvSpPr/>
          <p:nvPr/>
        </p:nvSpPr>
        <p:spPr>
          <a:xfrm>
            <a:off x="6233008" y="324612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23" name="Text 21"/>
          <p:cNvSpPr txBox="1"/>
          <p:nvPr/>
        </p:nvSpPr>
        <p:spPr>
          <a:xfrm>
            <a:off x="6287872" y="324612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Cơ sở lý thuyết</a:t>
            </a:r>
            <a:endParaRPr lang="en-US" sz="1250" dirty="0"/>
          </a:p>
        </p:txBody>
      </p:sp>
      <p:sp>
        <p:nvSpPr>
          <p:cNvPr id="24" name="Shape 22"/>
          <p:cNvSpPr/>
          <p:nvPr/>
        </p:nvSpPr>
        <p:spPr>
          <a:xfrm>
            <a:off x="8875852" y="3557016"/>
            <a:ext cx="170078" cy="384048"/>
          </a:xfrm>
          <a:prstGeom prst="chevron">
            <a:avLst/>
          </a:prstGeom>
          <a:solidFill>
            <a:srgbClr val="1F5C82"/>
          </a:solidFill>
          <a:ln/>
        </p:spPr>
        <p:txBody>
          <a:bodyPr/>
          <a:lstStyle/>
          <a:p>
            <a:endParaRPr lang="en-US"/>
          </a:p>
        </p:txBody>
      </p:sp>
      <p:sp>
        <p:nvSpPr>
          <p:cNvPr id="25" name="Shape 23"/>
          <p:cNvSpPr/>
          <p:nvPr/>
        </p:nvSpPr>
        <p:spPr>
          <a:xfrm>
            <a:off x="9098051" y="324612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26" name="Text 24"/>
          <p:cNvSpPr txBox="1"/>
          <p:nvPr/>
        </p:nvSpPr>
        <p:spPr>
          <a:xfrm>
            <a:off x="9152915" y="324612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Mô hình và biến số</a:t>
            </a:r>
            <a:endParaRPr lang="en-US" sz="1250" dirty="0"/>
          </a:p>
        </p:txBody>
      </p:sp>
      <p:sp>
        <p:nvSpPr>
          <p:cNvPr id="27" name="Shape 25"/>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8" name="Text 26"/>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29" name="Text 27"/>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Sơ đồ liên kết proposal, nhóm 1</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Sơ đồ research proposal: nhóm thành phần triển khai</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8016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557784" y="128016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Phương pháp dự kiến</a:t>
            </a:r>
            <a:endParaRPr lang="en-US" sz="1250" dirty="0"/>
          </a:p>
        </p:txBody>
      </p:sp>
      <p:sp>
        <p:nvSpPr>
          <p:cNvPr id="6" name="Shape 4"/>
          <p:cNvSpPr/>
          <p:nvPr/>
        </p:nvSpPr>
        <p:spPr>
          <a:xfrm>
            <a:off x="3145765" y="1591056"/>
            <a:ext cx="170078" cy="384048"/>
          </a:xfrm>
          <a:prstGeom prst="chevron">
            <a:avLst/>
          </a:prstGeom>
          <a:solidFill>
            <a:srgbClr val="1F5C82"/>
          </a:solidFill>
          <a:ln/>
        </p:spPr>
        <p:txBody>
          <a:bodyPr/>
          <a:lstStyle/>
          <a:p>
            <a:endParaRPr lang="en-US"/>
          </a:p>
        </p:txBody>
      </p:sp>
      <p:sp>
        <p:nvSpPr>
          <p:cNvPr id="7" name="Shape 5"/>
          <p:cNvSpPr/>
          <p:nvPr/>
        </p:nvSpPr>
        <p:spPr>
          <a:xfrm>
            <a:off x="3367964" y="128016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8" name="Text 6"/>
          <p:cNvSpPr txBox="1"/>
          <p:nvPr/>
        </p:nvSpPr>
        <p:spPr>
          <a:xfrm>
            <a:off x="3422828" y="128016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Nguồn dữ liệu dự kiến</a:t>
            </a:r>
            <a:endParaRPr lang="en-US" sz="1250" dirty="0"/>
          </a:p>
        </p:txBody>
      </p:sp>
      <p:sp>
        <p:nvSpPr>
          <p:cNvPr id="9" name="Shape 7"/>
          <p:cNvSpPr/>
          <p:nvPr/>
        </p:nvSpPr>
        <p:spPr>
          <a:xfrm>
            <a:off x="6010808" y="1591056"/>
            <a:ext cx="170078" cy="384048"/>
          </a:xfrm>
          <a:prstGeom prst="chevron">
            <a:avLst/>
          </a:prstGeom>
          <a:solidFill>
            <a:srgbClr val="1F5C82"/>
          </a:solidFill>
          <a:ln/>
        </p:spPr>
        <p:txBody>
          <a:bodyPr/>
          <a:lstStyle/>
          <a:p>
            <a:endParaRPr lang="en-US"/>
          </a:p>
        </p:txBody>
      </p:sp>
      <p:sp>
        <p:nvSpPr>
          <p:cNvPr id="10" name="Shape 8"/>
          <p:cNvSpPr/>
          <p:nvPr/>
        </p:nvSpPr>
        <p:spPr>
          <a:xfrm>
            <a:off x="6233008" y="1280160"/>
            <a:ext cx="2590724" cy="1005840"/>
          </a:xfrm>
          <a:prstGeom prst="roundRect">
            <a:avLst>
              <a:gd name="adj" fmla="val 6364"/>
            </a:avLst>
          </a:prstGeom>
          <a:solidFill>
            <a:srgbClr val="FFFFFF"/>
          </a:solidFill>
          <a:ln w="19050">
            <a:solidFill>
              <a:srgbClr val="12253F"/>
            </a:solidFill>
            <a:prstDash val="solid"/>
          </a:ln>
        </p:spPr>
        <p:txBody>
          <a:bodyPr/>
          <a:lstStyle/>
          <a:p>
            <a:endParaRPr lang="en-US"/>
          </a:p>
        </p:txBody>
      </p:sp>
      <p:sp>
        <p:nvSpPr>
          <p:cNvPr id="11" name="Text 9"/>
          <p:cNvSpPr txBox="1"/>
          <p:nvPr/>
        </p:nvSpPr>
        <p:spPr>
          <a:xfrm>
            <a:off x="6287872" y="1280160"/>
            <a:ext cx="2480996" cy="1005840"/>
          </a:xfrm>
          <a:prstGeom prst="rect">
            <a:avLst/>
          </a:prstGeom>
          <a:noFill/>
          <a:ln/>
        </p:spPr>
        <p:txBody>
          <a:bodyPr wrap="square" lIns="0" tIns="0" rIns="0" bIns="0" rtlCol="0" anchor="ctr"/>
          <a:lstStyle/>
          <a:p>
            <a:pPr marL="0" indent="0" algn="ctr">
              <a:buNone/>
            </a:pPr>
            <a:r>
              <a:rPr lang="en-US" sz="1250" b="1" dirty="0">
                <a:solidFill>
                  <a:srgbClr val="000000"/>
                </a:solidFill>
                <a:latin typeface="Times New Roman" pitchFamily="34" charset="0"/>
                <a:ea typeface="Times New Roman" pitchFamily="34" charset="-122"/>
                <a:cs typeface="Times New Roman" pitchFamily="34" charset="-120"/>
              </a:rPr>
              <a:t>Kết quả dự kiến</a:t>
            </a:r>
            <a:endParaRPr lang="en-US" sz="1250" dirty="0"/>
          </a:p>
        </p:txBody>
      </p:sp>
      <p:sp>
        <p:nvSpPr>
          <p:cNvPr id="12" name="Shape 10"/>
          <p:cNvSpPr/>
          <p:nvPr/>
        </p:nvSpPr>
        <p:spPr>
          <a:xfrm>
            <a:off x="8875852" y="1591056"/>
            <a:ext cx="170078" cy="384048"/>
          </a:xfrm>
          <a:prstGeom prst="chevron">
            <a:avLst/>
          </a:prstGeom>
          <a:solidFill>
            <a:srgbClr val="1F5C82"/>
          </a:solidFill>
          <a:ln/>
        </p:spPr>
        <p:txBody>
          <a:bodyPr/>
          <a:lstStyle/>
          <a:p>
            <a:endParaRPr lang="en-US"/>
          </a:p>
        </p:txBody>
      </p:sp>
      <p:sp>
        <p:nvSpPr>
          <p:cNvPr id="13" name="Shape 11"/>
          <p:cNvSpPr/>
          <p:nvPr/>
        </p:nvSpPr>
        <p:spPr>
          <a:xfrm>
            <a:off x="9098051" y="1280160"/>
            <a:ext cx="2590724" cy="1005840"/>
          </a:xfrm>
          <a:prstGeom prst="roundRect">
            <a:avLst>
              <a:gd name="adj" fmla="val 6364"/>
            </a:avLst>
          </a:prstGeom>
          <a:solidFill>
            <a:srgbClr val="12253F"/>
          </a:solidFill>
          <a:ln w="19050">
            <a:solidFill>
              <a:srgbClr val="12253F"/>
            </a:solidFill>
            <a:prstDash val="solid"/>
          </a:ln>
        </p:spPr>
        <p:txBody>
          <a:bodyPr/>
          <a:lstStyle/>
          <a:p>
            <a:endParaRPr lang="en-US"/>
          </a:p>
        </p:txBody>
      </p:sp>
      <p:sp>
        <p:nvSpPr>
          <p:cNvPr id="14" name="Text 12"/>
          <p:cNvSpPr txBox="1"/>
          <p:nvPr/>
        </p:nvSpPr>
        <p:spPr>
          <a:xfrm>
            <a:off x="9152915" y="1280160"/>
            <a:ext cx="2480996" cy="100584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Kế hoạch thực hiện</a:t>
            </a:r>
            <a:endParaRPr lang="en-US" sz="1250" dirty="0"/>
          </a:p>
        </p:txBody>
      </p:sp>
      <p:sp>
        <p:nvSpPr>
          <p:cNvPr id="15" name="Shape 13"/>
          <p:cNvSpPr/>
          <p:nvPr/>
        </p:nvSpPr>
        <p:spPr>
          <a:xfrm>
            <a:off x="502920" y="2651760"/>
            <a:ext cx="11185855" cy="1463040"/>
          </a:xfrm>
          <a:prstGeom prst="rect">
            <a:avLst/>
          </a:prstGeom>
          <a:solidFill>
            <a:srgbClr val="F0F2F5"/>
          </a:solidFill>
          <a:ln w="9525">
            <a:solidFill>
              <a:srgbClr val="12253F"/>
            </a:solidFill>
            <a:prstDash val="solid"/>
          </a:ln>
        </p:spPr>
        <p:txBody>
          <a:bodyPr/>
          <a:lstStyle/>
          <a:p>
            <a:endParaRPr lang="en-US"/>
          </a:p>
        </p:txBody>
      </p:sp>
      <p:sp>
        <p:nvSpPr>
          <p:cNvPr id="16" name="Text 14"/>
          <p:cNvSpPr txBox="1"/>
          <p:nvPr/>
        </p:nvSpPr>
        <p:spPr>
          <a:xfrm>
            <a:off x="758952" y="2743200"/>
            <a:ext cx="10728655" cy="1280160"/>
          </a:xfrm>
          <a:prstGeom prst="rect">
            <a:avLst/>
          </a:prstGeom>
          <a:noFill/>
          <a:ln/>
        </p:spPr>
        <p:txBody>
          <a:bodyPr wrap="square" lIns="0" tIns="0" rIns="0" bIns="0" rtlCol="0" anchor="ctr"/>
          <a:lstStyle/>
          <a:p>
            <a:pPr marL="0" indent="0">
              <a:buNone/>
            </a:pPr>
            <a:r>
              <a:rPr lang="en-US" sz="1500" b="1" dirty="0">
                <a:solidFill>
                  <a:srgbClr val="000000"/>
                </a:solidFill>
                <a:latin typeface="Times New Roman" pitchFamily="34" charset="0"/>
                <a:ea typeface="Times New Roman" pitchFamily="34" charset="-122"/>
                <a:cs typeface="Times New Roman" pitchFamily="34" charset="-120"/>
              </a:rPr>
              <a:t>Vấn đề nghiên cứu quyết định mục tiêu. Mục tiêu quyết định câu hỏi. Câu hỏi quyết định lý thuyết và mô hình cần dùng. Lý thuyết và mô hình quyết định phương pháp và dữ liệu cần thu thập.</a:t>
            </a:r>
            <a:endParaRPr lang="en-US" sz="1500" dirty="0"/>
          </a:p>
        </p:txBody>
      </p:sp>
      <p:sp>
        <p:nvSpPr>
          <p:cNvPr id="17" name="Shape 15"/>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8" name="Text 16"/>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19" name="Text 17"/>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Sơ đồ liên kết proposal, nhóm 2</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Mười thành phần đầu của research proposal</a:t>
            </a:r>
            <a:endParaRPr lang="en-US" sz="17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5632704"/>
        </p:xfrm>
        <a:graphic>
          <a:graphicData uri="http://schemas.openxmlformats.org/drawingml/2006/table">
            <a:tbl>
              <a:tblPr/>
              <a:tblGrid>
                <a:gridCol w="457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8074152">
                  <a:extLst>
                    <a:ext uri="{9D8B030D-6E8A-4147-A177-3AD203B41FA5}">
                      <a16:colId xmlns:a16="http://schemas.microsoft.com/office/drawing/2014/main" val="20002"/>
                    </a:ext>
                  </a:extLst>
                </a:gridCol>
              </a:tblGrid>
              <a:tr h="512064">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Thành phần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Vai trò trả lời cho câu hỏi nào của người đọc</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Tên đề tài</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Người đọc biết ngay vấn đề, đối tượng và phạm vi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2</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Bối cảnh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Vì sao vấn đề này xuất hiện, nằm trong bối cảnh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3</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Vấn đề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Vấn đề thực tế hoặc khoảng trống nghiên cứu cụ thể mà nghiên cứu sẽ giải quyết</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4</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Lý do cần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Vì sao khoảng trống này đáng để giải quyết</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5</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Mục tiêu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Nghiên cứu này muốn đạt được điều gì</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6</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Câu hỏi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Câu hỏi cụ thể sẽ được trả lời bằng dữ liệu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7</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Đối tượng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Ai hoặc cái gì đang được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8</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Phạm vi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Nghiên cứu giới hạn ở không gian và thời gian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8"/>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9</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Cơ sở lý thuyết</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Nghiên cứu dựa trên nền tảng lý thuyết nào đã có</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10</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Mô hình nghiên cứu</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Các yếu tố quan hệ với nhau như thế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10"/>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Thành phần 1 đến 10</a:t>
            </a:r>
            <a:endParaRPr lang="en-US" sz="1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Năm thành phần cuối của research proposal</a:t>
            </a:r>
            <a:endParaRPr lang="en-US" sz="17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3072384"/>
        </p:xfrm>
        <a:graphic>
          <a:graphicData uri="http://schemas.openxmlformats.org/drawingml/2006/table">
            <a:tbl>
              <a:tblPr/>
              <a:tblGrid>
                <a:gridCol w="457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8074152">
                  <a:extLst>
                    <a:ext uri="{9D8B030D-6E8A-4147-A177-3AD203B41FA5}">
                      <a16:colId xmlns:a16="http://schemas.microsoft.com/office/drawing/2014/main" val="20002"/>
                    </a:ext>
                  </a:extLst>
                </a:gridCol>
              </a:tblGrid>
              <a:tr h="512064">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Thành phần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50" b="1" dirty="0">
                          <a:solidFill>
                            <a:srgbClr val="FFFFFF"/>
                          </a:solidFill>
                          <a:latin typeface="Times New Roman" pitchFamily="34" charset="0"/>
                          <a:ea typeface="Times New Roman" pitchFamily="34" charset="-122"/>
                          <a:cs typeface="Times New Roman" pitchFamily="34" charset="-120"/>
                        </a:rPr>
                        <a:t>Vai trò trả lời cho câu hỏi nào của người đọc</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11</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Biến hoặc khái niệm chính</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Những yếu tố nào sẽ được đo lường hoặc phân tích</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12</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Phương pháp dự kiến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Nghiên cứu sẽ được thực hiện bằng cách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13</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Nguồn dữ liệu dự kiến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Dữ liệu sẽ lấy từ đâu, bằng cách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14</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Kết quả dự kiến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Nghiên cứu dự kiến sẽ tìm ra điều gì</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12064">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15</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Kế hoạch thực hiện</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50" dirty="0">
                          <a:solidFill>
                            <a:srgbClr val="000000"/>
                          </a:solidFill>
                          <a:latin typeface="Times New Roman" pitchFamily="34" charset="0"/>
                          <a:ea typeface="Times New Roman" pitchFamily="34" charset="-122"/>
                          <a:cs typeface="Times New Roman" pitchFamily="34" charset="-120"/>
                        </a:rPr>
                        <a:t>Công việc nào thực hiện theo trình tự thời gian nào</a:t>
                      </a:r>
                      <a:endParaRPr lang="en-US" sz="13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02920" y="4480560"/>
            <a:ext cx="11185855" cy="365760"/>
          </a:xfrm>
          <a:prstGeom prst="rect">
            <a:avLst/>
          </a:prstGeom>
          <a:noFill/>
          <a:ln/>
        </p:spPr>
        <p:txBody>
          <a:bodyPr wrap="square" lIns="0" tIns="0" rIns="0" bIns="0" rtlCol="0" anchor="ctr"/>
          <a:lstStyle/>
          <a:p>
            <a:pPr marL="0" indent="0">
              <a:buNone/>
            </a:pPr>
            <a:r>
              <a:rPr lang="en-US" sz="1400" i="1" dirty="0">
                <a:solidFill>
                  <a:srgbClr val="3D4552"/>
                </a:solidFill>
                <a:latin typeface="Times New Roman" pitchFamily="34" charset="0"/>
                <a:ea typeface="Times New Roman" pitchFamily="34" charset="-122"/>
                <a:cs typeface="Times New Roman" pitchFamily="34" charset="-120"/>
              </a:rPr>
              <a:t>Ở Core Slide 1, mỗi thành phần chỉ được giới thiệu vai trò. Kỹ năng viết chi tiết sẽ được trình bày ở Core Slide 2.</a:t>
            </a:r>
            <a:endParaRPr lang="en-US" sz="14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6 · Thành phần 11 đến 15</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550" b="1" dirty="0">
                <a:solidFill>
                  <a:srgbClr val="000000"/>
                </a:solidFill>
                <a:latin typeface="Times New Roman" pitchFamily="34" charset="0"/>
                <a:ea typeface="Times New Roman" pitchFamily="34" charset="-122"/>
                <a:cs typeface="Times New Roman" pitchFamily="34" charset="-120"/>
              </a:rPr>
              <a:t>Research proposal và đề cương không phải hai cấu trúc tách biệt, mà là một nội dung viết ở hai giai đoạn</a:t>
            </a:r>
            <a:endParaRPr lang="en-US" sz="15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143000"/>
          <a:ext cx="11183112" cy="4974336"/>
        </p:xfrm>
        <a:graphic>
          <a:graphicData uri="http://schemas.openxmlformats.org/drawingml/2006/table">
            <a:tbl>
              <a:tblPr/>
              <a:tblGrid>
                <a:gridCol w="457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7068312">
                  <a:extLst>
                    <a:ext uri="{9D8B030D-6E8A-4147-A177-3AD203B41FA5}">
                      <a16:colId xmlns:a16="http://schemas.microsoft.com/office/drawing/2014/main" val="20002"/>
                    </a:ext>
                  </a:extLst>
                </a:gridCol>
              </a:tblGrid>
              <a:tr h="310896">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Thành phần của research proposal</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100" b="1" dirty="0">
                          <a:solidFill>
                            <a:srgbClr val="FFFFFF"/>
                          </a:solidFill>
                          <a:latin typeface="Times New Roman" pitchFamily="34" charset="0"/>
                          <a:ea typeface="Times New Roman" pitchFamily="34" charset="-122"/>
                          <a:cs typeface="Times New Roman" pitchFamily="34" charset="-120"/>
                        </a:rPr>
                        <a:t>Mục tương ứng trong đề cương (Phần V)</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Tên đề tài</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Trang bìa và tên đề tài chính thức của đề cương</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2</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Bối cảnh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1.1 · Đặt vấn đề</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3</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Vấn đề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1.1 · Đặt vấn đề</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4</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Lý do cần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1.2 · Tính cấp thiết của đề tài</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5</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tiêu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2 · Mục tiêu tổng quát và mục tiêu cụ thể</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6</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Câu hỏi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3 · Câu hỏi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7</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Đối tượng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4 · Đối tượng và phạm vi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8</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Phạm vi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4 · Đối tượng và phạm vi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8"/>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9</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Cơ sở lý thuyết</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8 · Tổng quan lĩnh vực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10</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Mô hình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5 · Phương pháp nghiên cứu (mô hình lý thuyết, mô hình thực nghiệm)</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10"/>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11</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Biến hoặc khái niệm chính</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5 · Phương pháp nghiên cứu (mô tả biến, cách đo lường)</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12</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Phương pháp dự kiến</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5 · Phương pháp nghiên cứu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12"/>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13</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Nguồn dữ liệu dự kiến</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5 · Phương pháp nghiên cứu (nguồn số liệu, cách chọn mẫu)</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13"/>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14</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Kết quả dự kiến</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6 · Nội dung nghiên cứu và Mục 7 · Đóng góp của đề tài</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14"/>
                  </a:ext>
                </a:extLst>
              </a:tr>
              <a:tr h="310896">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15</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Kế hoạch thực hiện</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00000"/>
                          </a:solidFill>
                          <a:latin typeface="Times New Roman" pitchFamily="34" charset="0"/>
                          <a:ea typeface="Times New Roman" pitchFamily="34" charset="-122"/>
                          <a:cs typeface="Times New Roman" pitchFamily="34" charset="-120"/>
                        </a:rPr>
                        <a:t>Mục 9 · Tiến độ thực hiện đề tài</a:t>
                      </a:r>
                      <a:endParaRPr lang="en-US" sz="11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15"/>
                  </a:ext>
                </a:extLst>
              </a:tr>
            </a:tbl>
          </a:graphicData>
        </a:graphic>
      </p:graphicFrame>
      <p:sp>
        <p:nvSpPr>
          <p:cNvPr id="5" name="Text 2"/>
          <p:cNvSpPr txBox="1"/>
          <p:nvPr/>
        </p:nvSpPr>
        <p:spPr>
          <a:xfrm>
            <a:off x="502920" y="6172200"/>
            <a:ext cx="11185855" cy="274320"/>
          </a:xfrm>
          <a:prstGeom prst="rect">
            <a:avLst/>
          </a:prstGeom>
          <a:noFill/>
          <a:ln/>
        </p:spPr>
        <p:txBody>
          <a:bodyPr wrap="square" lIns="0" tIns="0" rIns="0" bIns="0" rtlCol="0" anchor="ctr"/>
          <a:lstStyle/>
          <a:p>
            <a:pPr marL="0" indent="0">
              <a:buNone/>
            </a:pPr>
            <a:r>
              <a:rPr lang="en-US" sz="1000" i="1" dirty="0">
                <a:solidFill>
                  <a:srgbClr val="3D4552"/>
                </a:solidFill>
                <a:latin typeface="Times New Roman" pitchFamily="34" charset="0"/>
                <a:ea typeface="Times New Roman" pitchFamily="34" charset="-122"/>
                <a:cs typeface="Times New Roman" pitchFamily="34" charset="-120"/>
              </a:rPr>
              <a:t>Mục 10 của đề cương, Bố cục dự kiến của khóa luận, không có thành phần proposal tương ứng vì đây là yêu cầu trình bày riêng của đề cương. Sinh viên viết xong 15 thành phần của proposal gần như đã có đủ chất liệu để hoàn thành đề cương, chỉ cần sắp xếp lại đúng thứ tự 10 mục.</a:t>
            </a:r>
            <a:endParaRPr lang="en-US" sz="10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7 · Đối chiếu proposal và đề cương</a:t>
            </a:r>
            <a:endParaRPr lang="en-US" sz="1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50" b="1" dirty="0">
                <a:solidFill>
                  <a:srgbClr val="000000"/>
                </a:solidFill>
                <a:latin typeface="Times New Roman" pitchFamily="34" charset="0"/>
                <a:ea typeface="Times New Roman" pitchFamily="34" charset="-122"/>
                <a:cs typeface="Times New Roman" pitchFamily="34" charset="-120"/>
              </a:rPr>
              <a:t>Case minh họa: chuỗi nhân quả của research proposal áp trên Case A</a:t>
            </a:r>
            <a:endParaRPr lang="en-US" sz="17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969264"/>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969264"/>
            <a:ext cx="5952744" cy="310896"/>
          </a:xfrm>
          <a:prstGeom prst="rect">
            <a:avLst/>
          </a:prstGeom>
          <a:noFill/>
          <a:ln/>
        </p:spPr>
        <p:txBody>
          <a:bodyPr wrap="square" lIns="0" tIns="0" rIns="0" bIns="0" rtlCol="0" anchor="ctr"/>
          <a:lstStyle/>
          <a:p>
            <a:pPr marL="0" indent="0" algn="ctr">
              <a:buNone/>
            </a:pPr>
            <a:r>
              <a:rPr lang="en-US" sz="1050" b="1" kern="0" spc="100" dirty="0">
                <a:solidFill>
                  <a:srgbClr val="12253F"/>
                </a:solidFill>
                <a:latin typeface="Times New Roman" pitchFamily="34" charset="0"/>
                <a:ea typeface="Times New Roman" pitchFamily="34" charset="-122"/>
                <a:cs typeface="Times New Roman" pitchFamily="34" charset="-120"/>
              </a:rPr>
              <a:t>VÍ DỤ MINH HỌA SƯ PHẠM, KHÔNG PHẢI SỐ LIỆU THẬT</a:t>
            </a:r>
            <a:endParaRPr lang="en-US" sz="1050" dirty="0"/>
          </a:p>
        </p:txBody>
      </p:sp>
      <p:sp>
        <p:nvSpPr>
          <p:cNvPr id="6" name="Text 4"/>
          <p:cNvSpPr txBox="1"/>
          <p:nvPr/>
        </p:nvSpPr>
        <p:spPr>
          <a:xfrm>
            <a:off x="502920" y="1335024"/>
            <a:ext cx="11155680" cy="822960"/>
          </a:xfrm>
          <a:prstGeom prst="rect">
            <a:avLst/>
          </a:prstGeom>
          <a:noFill/>
          <a:ln/>
        </p:spPr>
        <p:txBody>
          <a:bodyPr wrap="square" lIns="0" tIns="0" rIns="0" bIns="0" rtlCol="0" anchor="t"/>
          <a:lstStyle/>
          <a:p>
            <a:pPr marL="0" indent="0">
              <a:buNone/>
            </a:pPr>
            <a:r>
              <a:rPr lang="en-US" sz="1250" dirty="0">
                <a:solidFill>
                  <a:srgbClr val="1A1A1A"/>
                </a:solidFill>
                <a:latin typeface="Times New Roman" pitchFamily="34" charset="0"/>
                <a:ea typeface="Times New Roman" pitchFamily="34" charset="-122"/>
                <a:cs typeface="Times New Roman" pitchFamily="34" charset="-120"/>
              </a:rPr>
              <a:t>Ngân hàng số: một bộ phận khách hàng vẫn chưa dùng dịch vụ dù ngân hàng đã đầu tư quảng bá. Năm bước sau cho thấy vấn đề này được chuyển hóa thành một nghiên cứu cụ thể.</a:t>
            </a:r>
            <a:endParaRPr lang="en-US" sz="1250" dirty="0"/>
          </a:p>
        </p:txBody>
      </p:sp>
      <p:sp>
        <p:nvSpPr>
          <p:cNvPr id="7" name="Shape 5"/>
          <p:cNvSpPr/>
          <p:nvPr/>
        </p:nvSpPr>
        <p:spPr>
          <a:xfrm>
            <a:off x="502920" y="2011680"/>
            <a:ext cx="2076237" cy="1325880"/>
          </a:xfrm>
          <a:prstGeom prst="roundRect">
            <a:avLst>
              <a:gd name="adj" fmla="val 4828"/>
            </a:avLst>
          </a:prstGeom>
          <a:solidFill>
            <a:srgbClr val="12253F"/>
          </a:solidFill>
          <a:ln w="19050">
            <a:solidFill>
              <a:srgbClr val="12253F"/>
            </a:solidFill>
            <a:prstDash val="solid"/>
          </a:ln>
        </p:spPr>
        <p:txBody>
          <a:bodyPr/>
          <a:lstStyle/>
          <a:p>
            <a:endParaRPr lang="en-US"/>
          </a:p>
        </p:txBody>
      </p:sp>
      <p:sp>
        <p:nvSpPr>
          <p:cNvPr id="8" name="Text 6"/>
          <p:cNvSpPr txBox="1"/>
          <p:nvPr/>
        </p:nvSpPr>
        <p:spPr>
          <a:xfrm>
            <a:off x="557784" y="2011680"/>
            <a:ext cx="1966509" cy="132588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Vấn đề</a:t>
            </a:r>
            <a:endParaRPr lang="en-US" sz="1000" dirty="0"/>
          </a:p>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Một bộ phận khách hàng chưa dùng dịch vụ ngân hàng số</a:t>
            </a:r>
            <a:endParaRPr lang="en-US" sz="1000" dirty="0"/>
          </a:p>
        </p:txBody>
      </p:sp>
      <p:sp>
        <p:nvSpPr>
          <p:cNvPr id="9" name="Shape 7"/>
          <p:cNvSpPr/>
          <p:nvPr/>
        </p:nvSpPr>
        <p:spPr>
          <a:xfrm>
            <a:off x="2617379" y="2482596"/>
            <a:ext cx="124724" cy="384048"/>
          </a:xfrm>
          <a:prstGeom prst="chevron">
            <a:avLst/>
          </a:prstGeom>
          <a:solidFill>
            <a:srgbClr val="1F5C82"/>
          </a:solidFill>
          <a:ln/>
        </p:spPr>
        <p:txBody>
          <a:bodyPr/>
          <a:lstStyle/>
          <a:p>
            <a:endParaRPr lang="en-US"/>
          </a:p>
        </p:txBody>
      </p:sp>
      <p:sp>
        <p:nvSpPr>
          <p:cNvPr id="10" name="Shape 8"/>
          <p:cNvSpPr/>
          <p:nvPr/>
        </p:nvSpPr>
        <p:spPr>
          <a:xfrm>
            <a:off x="2780325" y="2011680"/>
            <a:ext cx="2076237" cy="1325880"/>
          </a:xfrm>
          <a:prstGeom prst="roundRect">
            <a:avLst>
              <a:gd name="adj" fmla="val 4828"/>
            </a:avLst>
          </a:prstGeom>
          <a:solidFill>
            <a:srgbClr val="FFFFFF"/>
          </a:solidFill>
          <a:ln w="19050">
            <a:solidFill>
              <a:srgbClr val="12253F"/>
            </a:solidFill>
            <a:prstDash val="solid"/>
          </a:ln>
        </p:spPr>
        <p:txBody>
          <a:bodyPr/>
          <a:lstStyle/>
          <a:p>
            <a:endParaRPr lang="en-US"/>
          </a:p>
        </p:txBody>
      </p:sp>
      <p:sp>
        <p:nvSpPr>
          <p:cNvPr id="11" name="Text 9"/>
          <p:cNvSpPr txBox="1"/>
          <p:nvPr/>
        </p:nvSpPr>
        <p:spPr>
          <a:xfrm>
            <a:off x="2835189" y="2011680"/>
            <a:ext cx="1966509" cy="1325880"/>
          </a:xfrm>
          <a:prstGeom prst="rect">
            <a:avLst/>
          </a:prstGeom>
          <a:noFill/>
          <a:ln/>
        </p:spPr>
        <p:txBody>
          <a:bodyPr wrap="square" lIns="0" tIns="0" rIns="0" bIns="0" rtlCol="0" anchor="ctr"/>
          <a:lstStyle/>
          <a:p>
            <a:pPr marL="0" indent="0" algn="ctr">
              <a:buNone/>
            </a:pPr>
            <a:r>
              <a:rPr lang="en-US" sz="1000" b="1" dirty="0">
                <a:solidFill>
                  <a:srgbClr val="000000"/>
                </a:solidFill>
                <a:latin typeface="Times New Roman" pitchFamily="34" charset="0"/>
                <a:ea typeface="Times New Roman" pitchFamily="34" charset="-122"/>
                <a:cs typeface="Times New Roman" pitchFamily="34" charset="-120"/>
              </a:rPr>
              <a:t>Mục tiêu</a:t>
            </a:r>
            <a:endParaRPr lang="en-US" sz="1000" dirty="0"/>
          </a:p>
          <a:p>
            <a:pPr marL="0" indent="0" algn="ctr">
              <a:buNone/>
            </a:pPr>
            <a:r>
              <a:rPr lang="en-US" sz="1000" b="1" dirty="0">
                <a:solidFill>
                  <a:srgbClr val="000000"/>
                </a:solidFill>
                <a:latin typeface="Times New Roman" pitchFamily="34" charset="0"/>
                <a:ea typeface="Times New Roman" pitchFamily="34" charset="-122"/>
                <a:cs typeface="Times New Roman" pitchFamily="34" charset="-120"/>
              </a:rPr>
              <a:t>Xác định các yếu tố ảnh hưởng đến ý định sử dụng dịch vụ ngân hàng số</a:t>
            </a:r>
            <a:endParaRPr lang="en-US" sz="1000" dirty="0"/>
          </a:p>
        </p:txBody>
      </p:sp>
      <p:sp>
        <p:nvSpPr>
          <p:cNvPr id="12" name="Shape 10"/>
          <p:cNvSpPr/>
          <p:nvPr/>
        </p:nvSpPr>
        <p:spPr>
          <a:xfrm>
            <a:off x="4894783" y="2482596"/>
            <a:ext cx="124724" cy="384048"/>
          </a:xfrm>
          <a:prstGeom prst="chevron">
            <a:avLst/>
          </a:prstGeom>
          <a:solidFill>
            <a:srgbClr val="1F5C82"/>
          </a:solidFill>
          <a:ln/>
        </p:spPr>
        <p:txBody>
          <a:bodyPr/>
          <a:lstStyle/>
          <a:p>
            <a:endParaRPr lang="en-US"/>
          </a:p>
        </p:txBody>
      </p:sp>
      <p:sp>
        <p:nvSpPr>
          <p:cNvPr id="13" name="Shape 11"/>
          <p:cNvSpPr/>
          <p:nvPr/>
        </p:nvSpPr>
        <p:spPr>
          <a:xfrm>
            <a:off x="5057729" y="2011680"/>
            <a:ext cx="2076237" cy="1325880"/>
          </a:xfrm>
          <a:prstGeom prst="roundRect">
            <a:avLst>
              <a:gd name="adj" fmla="val 4828"/>
            </a:avLst>
          </a:prstGeom>
          <a:solidFill>
            <a:srgbClr val="12253F"/>
          </a:solidFill>
          <a:ln w="19050">
            <a:solidFill>
              <a:srgbClr val="12253F"/>
            </a:solidFill>
            <a:prstDash val="solid"/>
          </a:ln>
        </p:spPr>
        <p:txBody>
          <a:bodyPr/>
          <a:lstStyle/>
          <a:p>
            <a:endParaRPr lang="en-US"/>
          </a:p>
        </p:txBody>
      </p:sp>
      <p:sp>
        <p:nvSpPr>
          <p:cNvPr id="14" name="Text 12"/>
          <p:cNvSpPr txBox="1"/>
          <p:nvPr/>
        </p:nvSpPr>
        <p:spPr>
          <a:xfrm>
            <a:off x="5112593" y="2011680"/>
            <a:ext cx="1966509" cy="132588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Câu hỏi</a:t>
            </a:r>
            <a:endParaRPr lang="en-US" sz="1000" dirty="0"/>
          </a:p>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Yếu tố nào ảnh hưởng đến ý định sử dụng dịch vụ ngân hàng số của khách hàng cá nhân</a:t>
            </a:r>
            <a:endParaRPr lang="en-US" sz="1000" dirty="0"/>
          </a:p>
        </p:txBody>
      </p:sp>
      <p:sp>
        <p:nvSpPr>
          <p:cNvPr id="15" name="Shape 13"/>
          <p:cNvSpPr/>
          <p:nvPr/>
        </p:nvSpPr>
        <p:spPr>
          <a:xfrm>
            <a:off x="7172188" y="2482596"/>
            <a:ext cx="124724" cy="384048"/>
          </a:xfrm>
          <a:prstGeom prst="chevron">
            <a:avLst/>
          </a:prstGeom>
          <a:solidFill>
            <a:srgbClr val="1F5C82"/>
          </a:solidFill>
          <a:ln/>
        </p:spPr>
        <p:txBody>
          <a:bodyPr/>
          <a:lstStyle/>
          <a:p>
            <a:endParaRPr lang="en-US"/>
          </a:p>
        </p:txBody>
      </p:sp>
      <p:sp>
        <p:nvSpPr>
          <p:cNvPr id="16" name="Shape 14"/>
          <p:cNvSpPr/>
          <p:nvPr/>
        </p:nvSpPr>
        <p:spPr>
          <a:xfrm>
            <a:off x="7335134" y="2011680"/>
            <a:ext cx="2076237" cy="1325880"/>
          </a:xfrm>
          <a:prstGeom prst="roundRect">
            <a:avLst>
              <a:gd name="adj" fmla="val 4828"/>
            </a:avLst>
          </a:prstGeom>
          <a:solidFill>
            <a:srgbClr val="FFFFFF"/>
          </a:solidFill>
          <a:ln w="19050">
            <a:solidFill>
              <a:srgbClr val="12253F"/>
            </a:solidFill>
            <a:prstDash val="solid"/>
          </a:ln>
        </p:spPr>
        <p:txBody>
          <a:bodyPr/>
          <a:lstStyle/>
          <a:p>
            <a:endParaRPr lang="en-US"/>
          </a:p>
        </p:txBody>
      </p:sp>
      <p:sp>
        <p:nvSpPr>
          <p:cNvPr id="17" name="Text 15"/>
          <p:cNvSpPr txBox="1"/>
          <p:nvPr/>
        </p:nvSpPr>
        <p:spPr>
          <a:xfrm>
            <a:off x="7389998" y="2011680"/>
            <a:ext cx="1966509" cy="1325880"/>
          </a:xfrm>
          <a:prstGeom prst="rect">
            <a:avLst/>
          </a:prstGeom>
          <a:noFill/>
          <a:ln/>
        </p:spPr>
        <p:txBody>
          <a:bodyPr wrap="square" lIns="0" tIns="0" rIns="0" bIns="0" rtlCol="0" anchor="ctr"/>
          <a:lstStyle/>
          <a:p>
            <a:pPr marL="0" indent="0" algn="ctr">
              <a:buNone/>
            </a:pPr>
            <a:r>
              <a:rPr lang="en-US" sz="1000" b="1" dirty="0">
                <a:solidFill>
                  <a:srgbClr val="000000"/>
                </a:solidFill>
                <a:latin typeface="Times New Roman" pitchFamily="34" charset="0"/>
                <a:ea typeface="Times New Roman" pitchFamily="34" charset="-122"/>
                <a:cs typeface="Times New Roman" pitchFamily="34" charset="-120"/>
              </a:rPr>
              <a:t>Lý thuyết, mô hình</a:t>
            </a:r>
            <a:endParaRPr lang="en-US" sz="1000" dirty="0"/>
          </a:p>
          <a:p>
            <a:pPr marL="0" indent="0" algn="ctr">
              <a:buNone/>
            </a:pPr>
            <a:r>
              <a:rPr lang="en-US" sz="1000" b="1" dirty="0">
                <a:solidFill>
                  <a:srgbClr val="000000"/>
                </a:solidFill>
                <a:latin typeface="Times New Roman" pitchFamily="34" charset="0"/>
                <a:ea typeface="Times New Roman" pitchFamily="34" charset="-122"/>
                <a:cs typeface="Times New Roman" pitchFamily="34" charset="-120"/>
              </a:rPr>
              <a:t>Mô hình chấp nhận công nghệ, các yếu tố dự kiến như hữu ích, dễ dùng, tin cậy</a:t>
            </a:r>
            <a:endParaRPr lang="en-US" sz="1000" dirty="0"/>
          </a:p>
        </p:txBody>
      </p:sp>
      <p:sp>
        <p:nvSpPr>
          <p:cNvPr id="18" name="Shape 16"/>
          <p:cNvSpPr/>
          <p:nvPr/>
        </p:nvSpPr>
        <p:spPr>
          <a:xfrm>
            <a:off x="9449592" y="2482596"/>
            <a:ext cx="124724" cy="384048"/>
          </a:xfrm>
          <a:prstGeom prst="chevron">
            <a:avLst/>
          </a:prstGeom>
          <a:solidFill>
            <a:srgbClr val="1F5C82"/>
          </a:solidFill>
          <a:ln/>
        </p:spPr>
        <p:txBody>
          <a:bodyPr/>
          <a:lstStyle/>
          <a:p>
            <a:endParaRPr lang="en-US"/>
          </a:p>
        </p:txBody>
      </p:sp>
      <p:sp>
        <p:nvSpPr>
          <p:cNvPr id="19" name="Shape 17"/>
          <p:cNvSpPr/>
          <p:nvPr/>
        </p:nvSpPr>
        <p:spPr>
          <a:xfrm>
            <a:off x="9612539" y="2011680"/>
            <a:ext cx="2076237" cy="1325880"/>
          </a:xfrm>
          <a:prstGeom prst="roundRect">
            <a:avLst>
              <a:gd name="adj" fmla="val 4828"/>
            </a:avLst>
          </a:prstGeom>
          <a:solidFill>
            <a:srgbClr val="12253F"/>
          </a:solidFill>
          <a:ln w="19050">
            <a:solidFill>
              <a:srgbClr val="12253F"/>
            </a:solidFill>
            <a:prstDash val="solid"/>
          </a:ln>
        </p:spPr>
        <p:txBody>
          <a:bodyPr/>
          <a:lstStyle/>
          <a:p>
            <a:endParaRPr lang="en-US"/>
          </a:p>
        </p:txBody>
      </p:sp>
      <p:sp>
        <p:nvSpPr>
          <p:cNvPr id="20" name="Text 18"/>
          <p:cNvSpPr txBox="1"/>
          <p:nvPr/>
        </p:nvSpPr>
        <p:spPr>
          <a:xfrm>
            <a:off x="9667403" y="2011680"/>
            <a:ext cx="1966509" cy="1325880"/>
          </a:xfrm>
          <a:prstGeom prst="rect">
            <a:avLst/>
          </a:prstGeom>
          <a:noFill/>
          <a:ln/>
        </p:spPr>
        <p:txBody>
          <a:bodyPr wrap="square" lIns="0" tIns="0" rIns="0" bIns="0" rtlCol="0" anchor="ctr"/>
          <a:lstStyle/>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Phương pháp, dữ liệu</a:t>
            </a:r>
            <a:endParaRPr lang="en-US" sz="1000" dirty="0"/>
          </a:p>
          <a:p>
            <a:pPr marL="0" indent="0" algn="ctr">
              <a:buNone/>
            </a:pPr>
            <a:r>
              <a:rPr lang="en-US" sz="1000" b="1" dirty="0">
                <a:solidFill>
                  <a:srgbClr val="FFFFFF"/>
                </a:solidFill>
                <a:latin typeface="Times New Roman" pitchFamily="34" charset="0"/>
                <a:ea typeface="Times New Roman" pitchFamily="34" charset="-122"/>
                <a:cs typeface="Times New Roman" pitchFamily="34" charset="-120"/>
              </a:rPr>
              <a:t>Khảo sát bằng bảng hỏi với khách hàng cá nhân tại một ngân hàng thương mại</a:t>
            </a:r>
            <a:endParaRPr lang="en-US" sz="1000" dirty="0"/>
          </a:p>
        </p:txBody>
      </p:sp>
      <p:sp>
        <p:nvSpPr>
          <p:cNvPr id="21" name="Shape 19"/>
          <p:cNvSpPr/>
          <p:nvPr/>
        </p:nvSpPr>
        <p:spPr>
          <a:xfrm>
            <a:off x="502920" y="3566160"/>
            <a:ext cx="11185855" cy="777240"/>
          </a:xfrm>
          <a:prstGeom prst="rect">
            <a:avLst/>
          </a:prstGeom>
          <a:solidFill>
            <a:srgbClr val="F0F2F5"/>
          </a:solidFill>
          <a:ln w="9525">
            <a:solidFill>
              <a:srgbClr val="12253F"/>
            </a:solidFill>
            <a:prstDash val="solid"/>
          </a:ln>
        </p:spPr>
        <p:txBody>
          <a:bodyPr/>
          <a:lstStyle/>
          <a:p>
            <a:endParaRPr lang="en-US"/>
          </a:p>
        </p:txBody>
      </p:sp>
      <p:sp>
        <p:nvSpPr>
          <p:cNvPr id="22" name="Text 20"/>
          <p:cNvSpPr txBox="1"/>
          <p:nvPr/>
        </p:nvSpPr>
        <p:spPr>
          <a:xfrm>
            <a:off x="758952" y="3657600"/>
            <a:ext cx="10728655" cy="594360"/>
          </a:xfrm>
          <a:prstGeom prst="rect">
            <a:avLst/>
          </a:prstGeom>
          <a:noFill/>
          <a:ln/>
        </p:spPr>
        <p:txBody>
          <a:bodyPr wrap="square" lIns="0" tIns="0" rIns="0" bIns="0" rtlCol="0" anchor="ctr"/>
          <a:lstStyle/>
          <a:p>
            <a:pPr marL="0" indent="0">
              <a:buNone/>
            </a:pPr>
            <a:r>
              <a:rPr lang="en-US" sz="1250" b="1" dirty="0">
                <a:solidFill>
                  <a:srgbClr val="000000"/>
                </a:solidFill>
                <a:latin typeface="Times New Roman" pitchFamily="34" charset="0"/>
                <a:ea typeface="Times New Roman" pitchFamily="34" charset="-122"/>
                <a:cs typeface="Times New Roman" pitchFamily="34" charset="-120"/>
              </a:rPr>
              <a:t>Mỗi bước chỉ được viết ra sau khi bước trước đã rõ. Vấn đề quyết định mục tiêu, mục tiêu quyết định câu hỏi, câu hỏi quyết định lý thuyết và mô hình cần dùng, lý thuyết và mô hình quyết định phương pháp và dữ liệu cần thu thập.</a:t>
            </a:r>
            <a:endParaRPr lang="en-US" sz="1250" dirty="0"/>
          </a:p>
        </p:txBody>
      </p:sp>
      <p:sp>
        <p:nvSpPr>
          <p:cNvPr id="23" name="Text 21"/>
          <p:cNvSpPr txBox="1"/>
          <p:nvPr/>
        </p:nvSpPr>
        <p:spPr>
          <a:xfrm>
            <a:off x="502920" y="4526280"/>
            <a:ext cx="11185855" cy="274320"/>
          </a:xfrm>
          <a:prstGeom prst="rect">
            <a:avLst/>
          </a:prstGeom>
          <a:noFill/>
          <a:ln/>
        </p:spPr>
        <p:txBody>
          <a:bodyPr wrap="square" lIns="0" tIns="0" rIns="0" bIns="0" rtlCol="0" anchor="ctr"/>
          <a:lstStyle/>
          <a:p>
            <a:pPr marL="0" indent="0">
              <a:buNone/>
            </a:pPr>
            <a:r>
              <a:rPr lang="en-US" sz="1350" b="1" kern="0" spc="50" dirty="0">
                <a:solidFill>
                  <a:srgbClr val="3D4552"/>
                </a:solidFill>
                <a:latin typeface="Times New Roman" pitchFamily="34" charset="0"/>
                <a:ea typeface="Times New Roman" pitchFamily="34" charset="-122"/>
                <a:cs typeface="Times New Roman" pitchFamily="34" charset="-120"/>
              </a:rPr>
              <a:t>CASE B · TRƯỜNG TIỂU HỌC: cùng chuỗi năm bước, áp trên một đề tài khác</a:t>
            </a:r>
            <a:endParaRPr lang="en-US" sz="135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02920" y="4828032"/>
          <a:ext cx="10661904" cy="1109980"/>
        </p:xfrm>
        <a:graphic>
          <a:graphicData uri="http://schemas.openxmlformats.org/drawingml/2006/table">
            <a:tbl>
              <a:tblPr/>
              <a:tblGrid>
                <a:gridCol w="2130552">
                  <a:extLst>
                    <a:ext uri="{9D8B030D-6E8A-4147-A177-3AD203B41FA5}">
                      <a16:colId xmlns:a16="http://schemas.microsoft.com/office/drawing/2014/main" val="20000"/>
                    </a:ext>
                  </a:extLst>
                </a:gridCol>
                <a:gridCol w="2130552">
                  <a:extLst>
                    <a:ext uri="{9D8B030D-6E8A-4147-A177-3AD203B41FA5}">
                      <a16:colId xmlns:a16="http://schemas.microsoft.com/office/drawing/2014/main" val="20001"/>
                    </a:ext>
                  </a:extLst>
                </a:gridCol>
                <a:gridCol w="2130552">
                  <a:extLst>
                    <a:ext uri="{9D8B030D-6E8A-4147-A177-3AD203B41FA5}">
                      <a16:colId xmlns:a16="http://schemas.microsoft.com/office/drawing/2014/main" val="20002"/>
                    </a:ext>
                  </a:extLst>
                </a:gridCol>
                <a:gridCol w="2130552">
                  <a:extLst>
                    <a:ext uri="{9D8B030D-6E8A-4147-A177-3AD203B41FA5}">
                      <a16:colId xmlns:a16="http://schemas.microsoft.com/office/drawing/2014/main" val="20003"/>
                    </a:ext>
                  </a:extLst>
                </a:gridCol>
                <a:gridCol w="2139696">
                  <a:extLst>
                    <a:ext uri="{9D8B030D-6E8A-4147-A177-3AD203B41FA5}">
                      <a16:colId xmlns:a16="http://schemas.microsoft.com/office/drawing/2014/main" val="20004"/>
                    </a:ext>
                  </a:extLst>
                </a:gridCol>
              </a:tblGrid>
              <a:tr h="548640">
                <a:tc>
                  <a:txBody>
                    <a:bodyPr/>
                    <a:lstStyle/>
                    <a:p>
                      <a:pPr marL="0" indent="0" algn="l">
                        <a:buNone/>
                      </a:pPr>
                      <a:r>
                        <a:rPr lang="en-US" sz="950" b="1" dirty="0">
                          <a:solidFill>
                            <a:srgbClr val="FFFFFF"/>
                          </a:solidFill>
                          <a:latin typeface="Times New Roman" pitchFamily="34" charset="0"/>
                          <a:ea typeface="Times New Roman" pitchFamily="34" charset="-122"/>
                          <a:cs typeface="Times New Roman" pitchFamily="34" charset="-120"/>
                        </a:rPr>
                        <a:t>Vấn đề</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950" b="1" dirty="0">
                          <a:solidFill>
                            <a:srgbClr val="FFFFFF"/>
                          </a:solidFill>
                          <a:latin typeface="Times New Roman" pitchFamily="34" charset="0"/>
                          <a:ea typeface="Times New Roman" pitchFamily="34" charset="-122"/>
                          <a:cs typeface="Times New Roman" pitchFamily="34" charset="-120"/>
                        </a:rPr>
                        <a:t>Mục tiêu</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950" b="1" dirty="0">
                          <a:solidFill>
                            <a:srgbClr val="FFFFFF"/>
                          </a:solidFill>
                          <a:latin typeface="Times New Roman" pitchFamily="34" charset="0"/>
                          <a:ea typeface="Times New Roman" pitchFamily="34" charset="-122"/>
                          <a:cs typeface="Times New Roman" pitchFamily="34" charset="-120"/>
                        </a:rPr>
                        <a:t>Câu hỏi</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950" b="1" dirty="0">
                          <a:solidFill>
                            <a:srgbClr val="FFFFFF"/>
                          </a:solidFill>
                          <a:latin typeface="Times New Roman" pitchFamily="34" charset="0"/>
                          <a:ea typeface="Times New Roman" pitchFamily="34" charset="-122"/>
                          <a:cs typeface="Times New Roman" pitchFamily="34" charset="-120"/>
                        </a:rPr>
                        <a:t>Lý thuyết, mô hình</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950" b="1" dirty="0">
                          <a:solidFill>
                            <a:srgbClr val="FFFFFF"/>
                          </a:solidFill>
                          <a:latin typeface="Times New Roman" pitchFamily="34" charset="0"/>
                          <a:ea typeface="Times New Roman" pitchFamily="34" charset="-122"/>
                          <a:cs typeface="Times New Roman" pitchFamily="34" charset="-120"/>
                        </a:rPr>
                        <a:t>Phương pháp, dữ liệu</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48640">
                <a:tc>
                  <a:txBody>
                    <a:bodyPr/>
                    <a:lstStyle/>
                    <a:p>
                      <a:pPr marL="0" indent="0" algn="l">
                        <a:buNone/>
                      </a:pPr>
                      <a:r>
                        <a:rPr lang="en-US" sz="950" dirty="0">
                          <a:solidFill>
                            <a:srgbClr val="000000"/>
                          </a:solidFill>
                          <a:latin typeface="Times New Roman" pitchFamily="34" charset="0"/>
                          <a:ea typeface="Times New Roman" pitchFamily="34" charset="-122"/>
                          <a:cs typeface="Times New Roman" pitchFamily="34" charset="-120"/>
                        </a:rPr>
                        <a:t>Phụ huynh phàn nàn về chất lượng phục vụ hành chính tại trường</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Times New Roman" pitchFamily="34" charset="0"/>
                          <a:ea typeface="Times New Roman" pitchFamily="34" charset="-122"/>
                          <a:cs typeface="Times New Roman" pitchFamily="34" charset="-120"/>
                        </a:rPr>
                        <a:t>Xác định các yếu tố ảnh hưởng đến mức độ hài lòng của phụ huynh</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Times New Roman" pitchFamily="34" charset="0"/>
                          <a:ea typeface="Times New Roman" pitchFamily="34" charset="-122"/>
                          <a:cs typeface="Times New Roman" pitchFamily="34" charset="-120"/>
                        </a:rPr>
                        <a:t>Yếu tố nào ảnh hưởng đến mức độ hài lòng của phụ huynh với dịch vụ hành chính</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Times New Roman" pitchFamily="34" charset="0"/>
                          <a:ea typeface="Times New Roman" pitchFamily="34" charset="-122"/>
                          <a:cs typeface="Times New Roman" pitchFamily="34" charset="-120"/>
                        </a:rPr>
                        <a:t>Mô hình chất lượng dịch vụ, các yếu tố dự kiến như thái độ nhân viên, thời gian xử lý, thông tin rõ ràng</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950" dirty="0">
                          <a:solidFill>
                            <a:srgbClr val="000000"/>
                          </a:solidFill>
                          <a:latin typeface="Times New Roman" pitchFamily="34" charset="0"/>
                          <a:ea typeface="Times New Roman" pitchFamily="34" charset="-122"/>
                          <a:cs typeface="Times New Roman" pitchFamily="34" charset="-120"/>
                        </a:rPr>
                        <a:t>Khảo sát bằng bảng hỏi với phụ huynh học sinh tại một trường tiểu học</a:t>
                      </a:r>
                      <a:endParaRPr lang="en-US" sz="9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
        <p:nvSpPr>
          <p:cNvPr id="25" name="Shape 2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6" name="Text 2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IV</a:t>
            </a:r>
            <a:endParaRPr lang="en-US" sz="1000" dirty="0"/>
          </a:p>
        </p:txBody>
      </p:sp>
      <p:sp>
        <p:nvSpPr>
          <p:cNvPr id="27" name="Text 2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Chuỗi nhân quả proposal, Case A và Case B</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V</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34316" y="1328276"/>
            <a:ext cx="452409" cy="452409"/>
          </a:xfrm>
          <a:prstGeom prst="rect">
            <a:avLst/>
          </a:prstGeom>
          <a:ln w="19050">
            <a:solidFill>
              <a:srgbClr val="FFFFFF"/>
            </a:solidFill>
            <a:prstDash val="solid"/>
          </a:ln>
        </p:spPr>
        <p:txBody>
          <a:bodyPr/>
          <a:lstStyle/>
          <a:p>
            <a:endParaRPr lang="en-US"/>
          </a:p>
        </p:txBody>
      </p:sp>
      <p:sp>
        <p:nvSpPr>
          <p:cNvPr id="6" name="Shape 4"/>
          <p:cNvSpPr/>
          <p:nvPr/>
        </p:nvSpPr>
        <p:spPr>
          <a:xfrm>
            <a:off x="4160520" y="1328276"/>
            <a:ext cx="0" cy="452409"/>
          </a:xfrm>
          <a:prstGeom prst="line">
            <a:avLst/>
          </a:prstGeom>
          <a:noFill/>
          <a:ln w="16510">
            <a:solidFill>
              <a:srgbClr val="FFFFFF"/>
            </a:solidFill>
            <a:prstDash val="solid"/>
          </a:ln>
        </p:spPr>
        <p:txBody>
          <a:bodyPr/>
          <a:lstStyle/>
          <a:p>
            <a:endParaRPr lang="en-US"/>
          </a:p>
        </p:txBody>
      </p:sp>
      <p:sp>
        <p:nvSpPr>
          <p:cNvPr id="7" name="Shape 5"/>
          <p:cNvSpPr/>
          <p:nvPr/>
        </p:nvSpPr>
        <p:spPr>
          <a:xfrm>
            <a:off x="3934316" y="1554480"/>
            <a:ext cx="452409" cy="0"/>
          </a:xfrm>
          <a:prstGeom prst="line">
            <a:avLst/>
          </a:prstGeom>
          <a:noFill/>
          <a:ln w="16510">
            <a:solidFill>
              <a:srgbClr val="FFFFFF"/>
            </a:solidFill>
            <a:prstDash val="solid"/>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Đề cương khóa luận tốt nghiệp: cấu trúc 10 mục bắt buộc phải nộp trước khi viết bài</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Trước khi viết khóa luận hoàn chỉnh, sinh viên phải nộp một bản đề cương cho giảng viên hướng dẫn và khoa xét duyệt đề tài. Đề cương phải theo đúng cấu trúc 10 mục dưới đây, không phải một bản mô tả ý tưởng tự do.</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Đề cương gồm đúng những mục nào, theo thứ tự nào</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Mục nào sinh viên thường viết thiếu hoặc viết sai nhất</a:t>
            </a:r>
            <a:endParaRPr lang="en-US" sz="20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50" b="1" dirty="0">
                <a:solidFill>
                  <a:srgbClr val="000000"/>
                </a:solidFill>
                <a:latin typeface="Times New Roman" pitchFamily="34" charset="0"/>
                <a:ea typeface="Times New Roman" pitchFamily="34" charset="-122"/>
                <a:cs typeface="Times New Roman" pitchFamily="34" charset="-120"/>
              </a:rPr>
              <a:t>Trước Mục 1 của đề cương phải có đủ bốn danh mục mở đầu, kể cả khi đề cương chưa có bảng hoặc hình nào</a:t>
            </a:r>
            <a:endParaRPr lang="en-US" sz="17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234440"/>
            <a:ext cx="11155680" cy="822960"/>
          </a:xfrm>
          <a:prstGeom prst="rect">
            <a:avLst/>
          </a:prstGeom>
          <a:noFill/>
          <a:ln/>
        </p:spPr>
        <p:txBody>
          <a:bodyPr wrap="square" lIns="0" tIns="0" rIns="0" bIns="0" rtlCol="0" anchor="t"/>
          <a:lstStyle/>
          <a:p>
            <a:pPr marL="0" indent="0">
              <a:buNone/>
            </a:pPr>
            <a:r>
              <a:rPr lang="en-US" sz="1450" dirty="0">
                <a:solidFill>
                  <a:srgbClr val="1A1A1A"/>
                </a:solidFill>
                <a:latin typeface="Times New Roman" pitchFamily="34" charset="0"/>
                <a:ea typeface="Times New Roman" pitchFamily="34" charset="-122"/>
                <a:cs typeface="Times New Roman" pitchFamily="34" charset="-120"/>
              </a:rPr>
              <a:t>Bốn danh mục này là phần bắt buộc trong đề cương, đặt trước nội dung Mục 1 Giới thiệu.</a:t>
            </a:r>
            <a:endParaRPr lang="en-US" sz="145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02920" y="2103120"/>
          <a:ext cx="11183112" cy="3291840"/>
        </p:xfrm>
        <a:graphic>
          <a:graphicData uri="http://schemas.openxmlformats.org/drawingml/2006/table">
            <a:tbl>
              <a:tblPr/>
              <a:tblGrid>
                <a:gridCol w="3931920">
                  <a:extLst>
                    <a:ext uri="{9D8B030D-6E8A-4147-A177-3AD203B41FA5}">
                      <a16:colId xmlns:a16="http://schemas.microsoft.com/office/drawing/2014/main" val="20000"/>
                    </a:ext>
                  </a:extLst>
                </a:gridCol>
                <a:gridCol w="7251192">
                  <a:extLst>
                    <a:ext uri="{9D8B030D-6E8A-4147-A177-3AD203B41FA5}">
                      <a16:colId xmlns:a16="http://schemas.microsoft.com/office/drawing/2014/main" val="20001"/>
                    </a:ext>
                  </a:extLst>
                </a:gridCol>
              </a:tblGrid>
              <a:tr h="658368">
                <a:tc>
                  <a:txBody>
                    <a:bodyPr/>
                    <a:lstStyle/>
                    <a:p>
                      <a:pPr marL="0" indent="0" algn="l">
                        <a:buNone/>
                      </a:pPr>
                      <a:r>
                        <a:rPr lang="en-US" sz="1850" b="1" dirty="0">
                          <a:solidFill>
                            <a:srgbClr val="FFFFFF"/>
                          </a:solidFill>
                          <a:latin typeface="Times New Roman" pitchFamily="34" charset="0"/>
                          <a:ea typeface="Times New Roman" pitchFamily="34" charset="-122"/>
                          <a:cs typeface="Times New Roman" pitchFamily="34" charset="-120"/>
                        </a:rPr>
                        <a:t>Danh mục bắt buộc</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850" b="1" dirty="0">
                          <a:solidFill>
                            <a:srgbClr val="FFFFFF"/>
                          </a:solidFill>
                          <a:latin typeface="Times New Roman" pitchFamily="34" charset="0"/>
                          <a:ea typeface="Times New Roman" pitchFamily="34" charset="-122"/>
                          <a:cs typeface="Times New Roman" pitchFamily="34" charset="-120"/>
                        </a:rPr>
                        <a:t>Nội dung cần trình bày</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58368">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Mục lục</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Liệt kê toàn bộ mục và tiểu mục của đề cương kèm số trang</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Danh mục các từ viết tắt</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Liệt kê chữ viết tắt sẽ dùng trong đề cương, sắp xếp theo thứ tự ABC</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58368">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Danh mục các bảng</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Liệt kê tên và số thứ tự của các bảng xuất hiện trong đề cương</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Danh mục các hình</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Liệt kê tên và số thứ tự của các hình xuất hiện trong đề cương</a:t>
                      </a:r>
                      <a:endParaRPr lang="en-US" sz="18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Bốn danh mục mở đầu bắt buộc</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Mục 1 đến Mục 3 của đề cương: đặt vấn đề, tính cấp thiết và câu hỏi nghiên cứu phải nối liền một mạch</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4498848"/>
        </p:xfrm>
        <a:graphic>
          <a:graphicData uri="http://schemas.openxmlformats.org/drawingml/2006/table">
            <a:tbl>
              <a:tblPr/>
              <a:tblGrid>
                <a:gridCol w="73152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7616952">
                  <a:extLst>
                    <a:ext uri="{9D8B030D-6E8A-4147-A177-3AD203B41FA5}">
                      <a16:colId xmlns:a16="http://schemas.microsoft.com/office/drawing/2014/main" val="20002"/>
                    </a:ext>
                  </a:extLst>
                </a:gridCol>
              </a:tblGrid>
              <a:tr h="749808">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Mục</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Tên mục</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Nội dung cần viết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74980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1.1</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Đặt vấn đề</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Trình bày ngắn gọn vấn đề nghiên cứu sẽ được triển khai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980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1.2</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Tính cấp thiết của đề tài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Lý do chọn vấn đề, xét cả về mặt lý luận và thực tiễn: cấp thiết ở góc độ chính sách, học thuật hay nhu cầu xã hội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4980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2.1</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Mục tiêu tổng quát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Mục tiêu cuối cùng, chung nhất mà nghiên cứu muốn giải quyết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980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2.2</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Mục tiêu cụ thể</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Các mục tiêu nhỏ hơn cần đạt được để đạt mục tiêu tổng quát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74980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3</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Câu hỏi nghiên cứu</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Xây dựng dựa trên mục tiêu cụ thể. Thông thường một mục tiêu cụ thể ứng với một câu hỏi nghiên cứu</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02920" y="5623560"/>
            <a:ext cx="11185855" cy="640080"/>
          </a:xfrm>
          <a:prstGeom prst="rect">
            <a:avLst/>
          </a:prstGeom>
          <a:noFill/>
          <a:ln/>
        </p:spPr>
        <p:txBody>
          <a:bodyPr wrap="square" lIns="0" tIns="0" rIns="0" bIns="0" rtlCol="0" anchor="ctr"/>
          <a:lstStyle/>
          <a:p>
            <a:pPr marL="0" indent="0">
              <a:buNone/>
            </a:pPr>
            <a:r>
              <a:rPr lang="en-US" sz="1300" i="1" dirty="0">
                <a:solidFill>
                  <a:srgbClr val="3D4552"/>
                </a:solidFill>
                <a:latin typeface="Times New Roman" pitchFamily="34" charset="0"/>
                <a:ea typeface="Times New Roman" pitchFamily="34" charset="-122"/>
                <a:cs typeface="Times New Roman" pitchFamily="34" charset="-120"/>
              </a:rPr>
              <a:t>Ở Mục 1.2, đề cương có thể trình bày ngắn gọn kiến thức học thuật và khảo lược ngắn các nghiên cứu liên quan để cho thấy đề tài không trùng lặp. Phần khảo lược chi tiết được viết đầy đủ ở Mục 8, không lặp lại ở đây.</a:t>
            </a:r>
            <a:endParaRPr lang="en-US" sz="13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Mục 1 đến Mục 3 của đề cương</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Mục 4 và Mục 5: phạm vi nghiên cứu và phương pháp nghiên cứu phải trả lời được câu hỏi đã đặt ra ở Mục 3</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11185855" cy="91440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298448"/>
            <a:ext cx="10893247" cy="69494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Mục 4. Đối tượng và phạm vi nghiên cứu
</a:t>
            </a:r>
            <a:r>
              <a:rPr lang="en-US" sz="1700" dirty="0">
                <a:solidFill>
                  <a:srgbClr val="000000"/>
                </a:solidFill>
                <a:latin typeface="Times New Roman" pitchFamily="34" charset="0"/>
                <a:ea typeface="Times New Roman" pitchFamily="34" charset="-122"/>
                <a:cs typeface="Times New Roman" pitchFamily="34" charset="-120"/>
              </a:rPr>
              <a:t>Nêu rõ giới hạn về đối tượng, không gian và thời gian nghiên cứu một cách cụ thể.</a:t>
            </a:r>
            <a:endParaRPr lang="en-US" sz="1800" dirty="0"/>
          </a:p>
        </p:txBody>
      </p:sp>
      <p:sp>
        <p:nvSpPr>
          <p:cNvPr id="6" name="Text 4"/>
          <p:cNvSpPr txBox="1"/>
          <p:nvPr/>
        </p:nvSpPr>
        <p:spPr>
          <a:xfrm>
            <a:off x="502920" y="2286000"/>
            <a:ext cx="11185855" cy="320040"/>
          </a:xfrm>
          <a:prstGeom prst="rect">
            <a:avLst/>
          </a:prstGeom>
          <a:noFill/>
          <a:ln/>
        </p:spPr>
        <p:txBody>
          <a:bodyPr wrap="square" lIns="0" tIns="0" rIns="0" bIns="0" rtlCol="0" anchor="ctr"/>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Mục 5. Phương pháp nghiên cứu: bốn nội dung bắt buộc phải có</a:t>
            </a:r>
            <a:endParaRPr lang="en-US" sz="1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02920" y="2651760"/>
          <a:ext cx="11183112" cy="2651760"/>
        </p:xfrm>
        <a:graphic>
          <a:graphicData uri="http://schemas.openxmlformats.org/drawingml/2006/table">
            <a:tbl>
              <a:tblPr/>
              <a:tblGrid>
                <a:gridCol w="548640">
                  <a:extLst>
                    <a:ext uri="{9D8B030D-6E8A-4147-A177-3AD203B41FA5}">
                      <a16:colId xmlns:a16="http://schemas.microsoft.com/office/drawing/2014/main" val="20000"/>
                    </a:ext>
                  </a:extLst>
                </a:gridCol>
                <a:gridCol w="10634472">
                  <a:extLst>
                    <a:ext uri="{9D8B030D-6E8A-4147-A177-3AD203B41FA5}">
                      <a16:colId xmlns:a16="http://schemas.microsoft.com/office/drawing/2014/main" val="20001"/>
                    </a:ext>
                  </a:extLst>
                </a:gridCol>
              </a:tblGrid>
              <a:tr h="530352">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Nội dung bắt buộc</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30352">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Trình bày tính phù hợp của phương pháp đã chọn, giải thích vì sao phương pháp này trả lời được câu hỏi nghiên cứu</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0352">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Trình bày đối tượng nghiên cứu và mẫu nghiên cứu</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30352">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iii</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Mô tả các biến, cách đo lường biến, nguồn số liệu (thứ cấp hoặc sơ cấp) và cách chọn mẫu, thu thập số liệu</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0352">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iv</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Mô tả tóm tắt quy trình xử lý và phân tích số liệu, gồm cả kiểm định giả thuyết nếu có</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8" name="Text 5"/>
          <p:cNvSpPr txBox="1"/>
          <p:nvPr/>
        </p:nvSpPr>
        <p:spPr>
          <a:xfrm>
            <a:off x="502920" y="5029200"/>
            <a:ext cx="11185855" cy="365760"/>
          </a:xfrm>
          <a:prstGeom prst="rect">
            <a:avLst/>
          </a:prstGeom>
          <a:noFill/>
          <a:ln/>
        </p:spPr>
        <p:txBody>
          <a:bodyPr wrap="square" lIns="0" tIns="0" rIns="0" bIns="0" rtlCol="0" anchor="ctr"/>
          <a:lstStyle/>
          <a:p>
            <a:pPr marL="0" indent="0">
              <a:buNone/>
            </a:pPr>
            <a:r>
              <a:rPr lang="en-US" sz="1350" i="1" dirty="0">
                <a:solidFill>
                  <a:srgbClr val="3D4552"/>
                </a:solidFill>
                <a:latin typeface="Times New Roman" pitchFamily="34" charset="0"/>
                <a:ea typeface="Times New Roman" pitchFamily="34" charset="-122"/>
                <a:cs typeface="Times New Roman" pitchFamily="34" charset="-120"/>
              </a:rPr>
              <a:t>Nếu đề tài dùng mô hình, đề cương phải nêu cả mô hình lý thuyết và mô hình thực nghiệm.</a:t>
            </a:r>
            <a:endParaRPr lang="en-US" sz="1350" dirty="0"/>
          </a:p>
        </p:txBody>
      </p:sp>
      <p:sp>
        <p:nvSpPr>
          <p:cNvPr id="9"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11"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Mục 4 và Mục 5 của đề cương</a:t>
            </a:r>
            <a:endParaRPr lang="en-US" sz="1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Mục 6 và Mục 7: nội dung nghiên cứu phải bám sát mục tiêu, đóng góp của đề tài phải nêu rõ luận điểm chính</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30175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344168"/>
            <a:ext cx="5163160" cy="279806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Mục 6. Nội dung nghiên cứu
</a:t>
            </a:r>
            <a:r>
              <a:rPr lang="en-US" sz="1800" dirty="0">
                <a:solidFill>
                  <a:srgbClr val="000000"/>
                </a:solidFill>
                <a:latin typeface="Times New Roman" pitchFamily="34" charset="0"/>
                <a:ea typeface="Times New Roman" pitchFamily="34" charset="-122"/>
                <a:cs typeface="Times New Roman" pitchFamily="34" charset="-120"/>
              </a:rPr>
              <a:t>Nêu các nội dung nghiên cứu cần bám sát để đạt được các mục tiêu nghiên cứu đã nêu ở Mục 2.</a:t>
            </a:r>
            <a:endParaRPr lang="en-US" sz="1900" dirty="0"/>
          </a:p>
        </p:txBody>
      </p:sp>
      <p:sp>
        <p:nvSpPr>
          <p:cNvPr id="6" name="Shape 4"/>
          <p:cNvSpPr/>
          <p:nvPr/>
        </p:nvSpPr>
        <p:spPr>
          <a:xfrm>
            <a:off x="6233008" y="1234440"/>
            <a:ext cx="5455768" cy="301752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6379312" y="1344168"/>
            <a:ext cx="5163160" cy="279806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Mục 7. Đóng góp của đề tài
</a:t>
            </a:r>
            <a:r>
              <a:rPr lang="en-US" sz="1800" dirty="0">
                <a:solidFill>
                  <a:srgbClr val="000000"/>
                </a:solidFill>
                <a:latin typeface="Times New Roman" pitchFamily="34" charset="0"/>
                <a:ea typeface="Times New Roman" pitchFamily="34" charset="-122"/>
                <a:cs typeface="Times New Roman" pitchFamily="34" charset="-120"/>
              </a:rPr>
              <a:t>Nêu rõ luận điểm chính sẽ được chứng minh trong khóa luận. Đóng góp có thể là đóng góp học thuật giúp làm giàu tri thức trong lĩnh vực nghiên cứu, hoặc đóng góp giúp giải quyết vấn đề thực tiễn.</a:t>
            </a:r>
            <a:endParaRPr lang="en-US" sz="1900" dirty="0"/>
          </a:p>
        </p:txBody>
      </p:sp>
      <p:sp>
        <p:nvSpPr>
          <p:cNvPr id="8"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9"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10"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Mục 6 và Mục 7 của đề cương</a:t>
            </a:r>
            <a:endParaRPr lang="en-US" sz="10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Mục 8: tổng quan lĩnh vực nghiên cứu phải đạt ba tính chất, không phải liệt kê tóm tắt từng nghiên cứu</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350" dirty="0">
                <a:solidFill>
                  <a:srgbClr val="1A1A1A"/>
                </a:solidFill>
                <a:latin typeface="Times New Roman" pitchFamily="34" charset="0"/>
                <a:ea typeface="Times New Roman" pitchFamily="34" charset="-122"/>
                <a:cs typeface="Times New Roman" pitchFamily="34" charset="-120"/>
              </a:rPr>
              <a:t>Mục tiêu chính của Mục 8 là tổng hợp có phê phán các nghiên cứu liên quan, làm cơ sở cho mục tiêu và câu hỏi nghiên cứu. Nếu hướng dẫn của ngành yêu cầu chứng minh khoảng trống nghiên cứu (research gap), đây là nơi trình bày khoảng trống đó.</a:t>
            </a:r>
            <a:endParaRPr lang="en-US" sz="1350" dirty="0"/>
          </a:p>
        </p:txBody>
      </p:sp>
      <p:graphicFrame>
        <p:nvGraphicFramePr>
          <p:cNvPr id="40" name="Table 0"/>
          <p:cNvGraphicFramePr>
            <a:graphicFrameLocks noGrp="1"/>
          </p:cNvGraphicFramePr>
          <p:nvPr>
            <p:extLst>
              <p:ext uri="{D42A27DB-BD31-4B8C-83A1-F6EECF244321}">
                <p14:modId xmlns:p14="http://schemas.microsoft.com/office/powerpoint/2010/main" val="1579011935"/>
              </p:ext>
            </p:extLst>
          </p:nvPr>
        </p:nvGraphicFramePr>
        <p:xfrm>
          <a:off x="502920" y="2011680"/>
          <a:ext cx="11183112" cy="2926080"/>
        </p:xfrm>
        <a:graphic>
          <a:graphicData uri="http://schemas.openxmlformats.org/drawingml/2006/table">
            <a:tbl>
              <a:tblPr/>
              <a:tblGrid>
                <a:gridCol w="2377440">
                  <a:extLst>
                    <a:ext uri="{9D8B030D-6E8A-4147-A177-3AD203B41FA5}">
                      <a16:colId xmlns:a16="http://schemas.microsoft.com/office/drawing/2014/main" val="20000"/>
                    </a:ext>
                  </a:extLst>
                </a:gridCol>
                <a:gridCol w="8805672">
                  <a:extLst>
                    <a:ext uri="{9D8B030D-6E8A-4147-A177-3AD203B41FA5}">
                      <a16:colId xmlns:a16="http://schemas.microsoft.com/office/drawing/2014/main" val="20001"/>
                    </a:ext>
                  </a:extLst>
                </a:gridCol>
              </a:tblGrid>
              <a:tr h="731520">
                <a:tc>
                  <a:txBody>
                    <a:bodyPr/>
                    <a:lstStyle/>
                    <a:p>
                      <a:pPr marL="0" indent="0" algn="l">
                        <a:buNone/>
                      </a:pPr>
                      <a:r>
                        <a:rPr lang="en-US" sz="1650" b="1" dirty="0">
                          <a:solidFill>
                            <a:srgbClr val="FFFFFF"/>
                          </a:solidFill>
                          <a:latin typeface="Times New Roman" pitchFamily="34" charset="0"/>
                          <a:ea typeface="Times New Roman" pitchFamily="34" charset="-122"/>
                          <a:cs typeface="Times New Roman" pitchFamily="34" charset="-120"/>
                        </a:rPr>
                        <a:t>Tính chất bắt buộc</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50" b="1" dirty="0">
                          <a:solidFill>
                            <a:srgbClr val="FFFFFF"/>
                          </a:solidFill>
                          <a:latin typeface="Times New Roman" pitchFamily="34" charset="0"/>
                          <a:ea typeface="Times New Roman" pitchFamily="34" charset="-122"/>
                          <a:cs typeface="Times New Roman" pitchFamily="34" charset="-120"/>
                        </a:rPr>
                        <a:t>Yêu cầu cụ thể</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731520">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Tính toàn diện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Tổng hợp nghiên cứu điển hình cả lý thuyết và thực nghiệm, cả nghiên cứu kinh điển và nghiên cứu mới nhất, cả trong nước và ngoài nước</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31520">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Tính phê phán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Tổng hợp, so sánh, phân tích và đánh giá nghiên cứu trước có hệ thống, chỉ rõ kết quả đạt được và hạn chế, từ đó xác định khoảng trống nghiên cứu</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731520">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Tính phát triển</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50" dirty="0">
                          <a:solidFill>
                            <a:srgbClr val="000000"/>
                          </a:solidFill>
                          <a:latin typeface="Times New Roman" pitchFamily="34" charset="0"/>
                          <a:ea typeface="Times New Roman" pitchFamily="34" charset="-122"/>
                          <a:cs typeface="Times New Roman" pitchFamily="34" charset="-120"/>
                        </a:rPr>
                        <a:t>Trên cơ sở đã tổng hợp và phân tích, gợi mở những hướng cần tiếp tục nghiên cứu liên quan đến đề tài</a:t>
                      </a:r>
                      <a:endParaRPr lang="en-US" sz="16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Mục 8, ba tính chất bắt buộc</a:t>
            </a:r>
            <a:endParaRPr lang="en-US" sz="10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Mục 9 và Mục 10: tiến độ phải nêu rõ thời gian từng việc, bố cục phải trình bày cụ thể đến tiểu mục</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85855" cy="640080"/>
          </a:xfrm>
          <a:prstGeom prst="rect">
            <a:avLst/>
          </a:prstGeom>
          <a:noFill/>
          <a:ln/>
        </p:spPr>
        <p:txBody>
          <a:bodyPr wrap="square" lIns="0" tIns="0" rIns="0" bIns="0" rtlCol="0" anchor="t"/>
          <a:lstStyle/>
          <a:p>
            <a:pPr marL="0" indent="0">
              <a:buNone/>
            </a:pPr>
            <a:r>
              <a:rPr lang="en-US" sz="1650" dirty="0">
                <a:solidFill>
                  <a:srgbClr val="1A1A1A"/>
                </a:solidFill>
                <a:latin typeface="Times New Roman" pitchFamily="34" charset="0"/>
                <a:ea typeface="Times New Roman" pitchFamily="34" charset="-122"/>
                <a:cs typeface="Times New Roman" pitchFamily="34" charset="-120"/>
              </a:rPr>
              <a:t>Mục 9. Tiến độ thực hiện đề tài: trình bày việc làm cụ thể theo từng giai đoạn, theo đúng thứ tự thực hiện, có thời gian dự kiến cho từng công việc.</a:t>
            </a:r>
            <a:endParaRPr lang="en-US" sz="165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502920" y="1965960"/>
          <a:ext cx="11183112" cy="2286000"/>
        </p:xfrm>
        <a:graphic>
          <a:graphicData uri="http://schemas.openxmlformats.org/drawingml/2006/table">
            <a:tbl>
              <a:tblPr/>
              <a:tblGrid>
                <a:gridCol w="459943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457200">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Dự kiến nội dung thực hiện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Tuần 1-2</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Tuần 3-4</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Tuần 5-6</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Tuần 7-8</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457200">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Thực hiện đề cương khóa luận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Tổng quan và phương pháp</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457200">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Thu thập và xử lý số liệu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Hoàn thiện khóa luận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02920" y="4160520"/>
            <a:ext cx="11185855" cy="411480"/>
          </a:xfrm>
          <a:prstGeom prst="rect">
            <a:avLst/>
          </a:prstGeom>
          <a:noFill/>
          <a:ln/>
        </p:spPr>
        <p:txBody>
          <a:bodyPr wrap="square" lIns="0" tIns="0" rIns="0" bIns="0" rtlCol="0" anchor="ctr"/>
          <a:lstStyle/>
          <a:p>
            <a:pPr marL="0" indent="0">
              <a:buNone/>
            </a:pPr>
            <a:r>
              <a:rPr lang="en-US" sz="1200" i="1" dirty="0">
                <a:solidFill>
                  <a:srgbClr val="3D4552"/>
                </a:solidFill>
                <a:latin typeface="Times New Roman" pitchFamily="34" charset="0"/>
                <a:ea typeface="Times New Roman" pitchFamily="34" charset="-122"/>
                <a:cs typeface="Times New Roman" pitchFamily="34" charset="-120"/>
              </a:rPr>
              <a:t>Ví dụ minh họa cách chia giai đoạn theo mẫu Bảng 1 trong hướng dẫn đề cương. Số tuần và tên giai đoạn thực tế do sinh viên tự xây dựng theo đề tài của mình.</a:t>
            </a:r>
            <a:endParaRPr lang="en-US" sz="1200" dirty="0"/>
          </a:p>
        </p:txBody>
      </p:sp>
      <p:sp>
        <p:nvSpPr>
          <p:cNvPr id="7" name="Shape 4"/>
          <p:cNvSpPr/>
          <p:nvPr/>
        </p:nvSpPr>
        <p:spPr>
          <a:xfrm>
            <a:off x="502920" y="4709160"/>
            <a:ext cx="11185855" cy="1234440"/>
          </a:xfrm>
          <a:prstGeom prst="rect">
            <a:avLst/>
          </a:prstGeom>
          <a:solidFill>
            <a:srgbClr val="F0F2F5"/>
          </a:solidFill>
          <a:ln w="19050">
            <a:solidFill>
              <a:srgbClr val="12253F"/>
            </a:solidFill>
            <a:prstDash val="solid"/>
          </a:ln>
        </p:spPr>
        <p:txBody>
          <a:bodyPr/>
          <a:lstStyle/>
          <a:p>
            <a:endParaRPr lang="en-US"/>
          </a:p>
        </p:txBody>
      </p:sp>
      <p:sp>
        <p:nvSpPr>
          <p:cNvPr id="8" name="Text 5"/>
          <p:cNvSpPr txBox="1"/>
          <p:nvPr/>
        </p:nvSpPr>
        <p:spPr>
          <a:xfrm>
            <a:off x="649224" y="4818888"/>
            <a:ext cx="10893247" cy="101498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Mục 10. Bố cục dự kiến của khóa luận
</a:t>
            </a:r>
            <a:r>
              <a:rPr lang="en-US" sz="1700" dirty="0">
                <a:solidFill>
                  <a:srgbClr val="000000"/>
                </a:solidFill>
                <a:latin typeface="Times New Roman" pitchFamily="34" charset="0"/>
                <a:ea typeface="Times New Roman" pitchFamily="34" charset="-122"/>
                <a:cs typeface="Times New Roman" pitchFamily="34" charset="-120"/>
              </a:rPr>
              <a:t>Trình bày cụ thể tên các chương, nội dung từng chương và các tiểu mục. Sau Mục 10 là Tài liệu tham khảo và Phụ lục.</a:t>
            </a:r>
            <a:endParaRPr lang="en-US" sz="1800" dirty="0"/>
          </a:p>
        </p:txBody>
      </p:sp>
      <p:sp>
        <p:nvSpPr>
          <p:cNvPr id="9"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11"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6 · Mục 9 và Mục 10 của đề cương</a:t>
            </a:r>
            <a:endParaRPr lang="en-US" sz="10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Checklist tự kiểm tra đề cương trước khi trình giảng viên hướng dẫn</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990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5" name="Text 3"/>
          <p:cNvSpPr txBox="1"/>
          <p:nvPr/>
        </p:nvSpPr>
        <p:spPr>
          <a:xfrm>
            <a:off x="832104" y="1353312"/>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Đề cương có đủ bốn danh mục mở đầu và đủ 10 mục theo đúng thứ tự</a:t>
            </a:r>
            <a:endParaRPr lang="en-US" sz="1550" dirty="0"/>
          </a:p>
        </p:txBody>
      </p:sp>
      <p:sp>
        <p:nvSpPr>
          <p:cNvPr id="6" name="Shape 4"/>
          <p:cNvSpPr/>
          <p:nvPr/>
        </p:nvSpPr>
        <p:spPr>
          <a:xfrm>
            <a:off x="502920" y="196596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7" name="Text 5"/>
          <p:cNvSpPr txBox="1"/>
          <p:nvPr/>
        </p:nvSpPr>
        <p:spPr>
          <a:xfrm>
            <a:off x="832104" y="1920240"/>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Mục tiêu cụ thể ở Mục 2.2 có ứng với từng câu hỏi nghiên cứu ở Mục 3</a:t>
            </a:r>
            <a:endParaRPr lang="en-US" sz="1550" dirty="0"/>
          </a:p>
        </p:txBody>
      </p:sp>
      <p:sp>
        <p:nvSpPr>
          <p:cNvPr id="8" name="Shape 6"/>
          <p:cNvSpPr/>
          <p:nvPr/>
        </p:nvSpPr>
        <p:spPr>
          <a:xfrm>
            <a:off x="502920" y="253288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9" name="Text 7"/>
          <p:cNvSpPr txBox="1"/>
          <p:nvPr/>
        </p:nvSpPr>
        <p:spPr>
          <a:xfrm>
            <a:off x="832104" y="2487168"/>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Phương pháp nghiên cứu ở Mục 5 có đủ bốn nội dung i đến iv, trả lời được câu hỏi ở Mục 3</a:t>
            </a:r>
            <a:endParaRPr lang="en-US" sz="1550" dirty="0"/>
          </a:p>
        </p:txBody>
      </p:sp>
      <p:sp>
        <p:nvSpPr>
          <p:cNvPr id="10" name="Shape 8"/>
          <p:cNvSpPr/>
          <p:nvPr/>
        </p:nvSpPr>
        <p:spPr>
          <a:xfrm>
            <a:off x="502920" y="309981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1" name="Text 9"/>
          <p:cNvSpPr txBox="1"/>
          <p:nvPr/>
        </p:nvSpPr>
        <p:spPr>
          <a:xfrm>
            <a:off x="832104" y="3054096"/>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Tổng quan lĩnh vực nghiên cứu ở Mục 8 có đạt cả ba tính chất toàn diện, phê phán và phát triển</a:t>
            </a:r>
            <a:endParaRPr lang="en-US" sz="1550" dirty="0"/>
          </a:p>
        </p:txBody>
      </p:sp>
      <p:sp>
        <p:nvSpPr>
          <p:cNvPr id="12" name="Shape 10"/>
          <p:cNvSpPr/>
          <p:nvPr/>
        </p:nvSpPr>
        <p:spPr>
          <a:xfrm>
            <a:off x="502920" y="3666744"/>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3" name="Text 11"/>
          <p:cNvSpPr txBox="1"/>
          <p:nvPr/>
        </p:nvSpPr>
        <p:spPr>
          <a:xfrm>
            <a:off x="832104" y="3621024"/>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Tiến độ ở Mục 9 có thời gian dự kiến rõ ràng cho từng công việc</a:t>
            </a:r>
            <a:endParaRPr lang="en-US" sz="1550" dirty="0"/>
          </a:p>
        </p:txBody>
      </p:sp>
      <p:sp>
        <p:nvSpPr>
          <p:cNvPr id="14" name="Shape 12"/>
          <p:cNvSpPr/>
          <p:nvPr/>
        </p:nvSpPr>
        <p:spPr>
          <a:xfrm>
            <a:off x="502920" y="423367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5" name="Text 13"/>
          <p:cNvSpPr txBox="1"/>
          <p:nvPr/>
        </p:nvSpPr>
        <p:spPr>
          <a:xfrm>
            <a:off x="832104" y="4187952"/>
            <a:ext cx="10838383" cy="566928"/>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Bố cục dự kiến ở Mục 10 có nêu cụ thể tên chương và tiểu mục, không chỉ ghi chung chung</a:t>
            </a:r>
            <a:endParaRPr lang="en-US" sz="1550" dirty="0"/>
          </a:p>
        </p:txBody>
      </p:sp>
      <p:sp>
        <p:nvSpPr>
          <p:cNvPr id="16" name="Shape 1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7" name="Text 1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18" name="Text 1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7 · Checklist đề cương</a:t>
            </a:r>
            <a:endParaRPr lang="en-US" sz="10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Case minh họa: Case A triển khai qua bốn mục của đề cương 10 mục</a:t>
            </a:r>
            <a:endParaRPr lang="en-US" sz="1800" dirty="0"/>
          </a:p>
        </p:txBody>
      </p:sp>
      <p:sp>
        <p:nvSpPr>
          <p:cNvPr id="3" name="Shape 1"/>
          <p:cNvSpPr/>
          <p:nvPr/>
        </p:nvSpPr>
        <p:spPr>
          <a:xfrm>
            <a:off x="502920" y="781074"/>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987552"/>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987552"/>
            <a:ext cx="5952744" cy="310896"/>
          </a:xfrm>
          <a:prstGeom prst="rect">
            <a:avLst/>
          </a:prstGeom>
          <a:noFill/>
          <a:ln/>
        </p:spPr>
        <p:txBody>
          <a:bodyPr wrap="square" lIns="0" tIns="0" rIns="0" bIns="0" rtlCol="0" anchor="ctr"/>
          <a:lstStyle/>
          <a:p>
            <a:pPr marL="0" indent="0" algn="ctr">
              <a:buNone/>
            </a:pPr>
            <a:r>
              <a:rPr lang="en-US" sz="1200" b="1" kern="0" spc="100" dirty="0">
                <a:solidFill>
                  <a:srgbClr val="12253F"/>
                </a:solidFill>
                <a:latin typeface="Times New Roman" pitchFamily="34" charset="0"/>
                <a:ea typeface="Times New Roman" pitchFamily="34" charset="-122"/>
                <a:cs typeface="Times New Roman" pitchFamily="34" charset="-120"/>
              </a:rPr>
              <a:t>VÍ DỤ MINH HỌA</a:t>
            </a:r>
            <a:endParaRPr lang="en-US" sz="1200" dirty="0"/>
          </a:p>
        </p:txBody>
      </p:sp>
      <p:sp>
        <p:nvSpPr>
          <p:cNvPr id="6" name="Text 4"/>
          <p:cNvSpPr txBox="1"/>
          <p:nvPr/>
        </p:nvSpPr>
        <p:spPr>
          <a:xfrm>
            <a:off x="502920" y="1371600"/>
            <a:ext cx="11155680" cy="822960"/>
          </a:xfrm>
          <a:prstGeom prst="rect">
            <a:avLst/>
          </a:prstGeom>
          <a:noFill/>
          <a:ln/>
        </p:spPr>
        <p:txBody>
          <a:bodyPr wrap="square" lIns="0" tIns="0" rIns="0" bIns="0" rtlCol="0" anchor="t"/>
          <a:lstStyle/>
          <a:p>
            <a:pPr marL="0" indent="0">
              <a:buNone/>
            </a:pPr>
            <a:r>
              <a:rPr lang="en-US" sz="1300" dirty="0">
                <a:solidFill>
                  <a:srgbClr val="1A1A1A"/>
                </a:solidFill>
                <a:latin typeface="Times New Roman" pitchFamily="34" charset="0"/>
                <a:ea typeface="Times New Roman" pitchFamily="34" charset="-122"/>
                <a:cs typeface="Times New Roman" pitchFamily="34" charset="-120"/>
              </a:rPr>
              <a:t>Đây không phải đủ cả 10 mục. Bốn mục dưới đây cho thấy cách nội dung proposal chuyển thành lời văn thật trong đề cương nộp cho giảng viên hướng dẫn.</a:t>
            </a:r>
            <a:endParaRPr lang="en-US" sz="13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502920" y="1874520"/>
          <a:ext cx="11000232" cy="3291840"/>
        </p:xfrm>
        <a:graphic>
          <a:graphicData uri="http://schemas.openxmlformats.org/drawingml/2006/table">
            <a:tbl>
              <a:tblPr/>
              <a:tblGrid>
                <a:gridCol w="7315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616952">
                  <a:extLst>
                    <a:ext uri="{9D8B030D-6E8A-4147-A177-3AD203B41FA5}">
                      <a16:colId xmlns:a16="http://schemas.microsoft.com/office/drawing/2014/main" val="20002"/>
                    </a:ext>
                  </a:extLst>
                </a:gridCol>
              </a:tblGrid>
              <a:tr h="658368">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Mục</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Tên mục</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300" b="1" dirty="0">
                          <a:solidFill>
                            <a:srgbClr val="FFFFFF"/>
                          </a:solidFill>
                          <a:latin typeface="Times New Roman" pitchFamily="34" charset="0"/>
                          <a:ea typeface="Times New Roman" pitchFamily="34" charset="-122"/>
                          <a:cs typeface="Times New Roman" pitchFamily="34" charset="-120"/>
                        </a:rPr>
                        <a:t>Nội dung Case A · Ngân hàng số</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58368">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1.1</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Đặt vấn đề</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Một bộ phận khách hàng cá nhân vẫn chưa dùng dịch vụ ngân hàng số dù ngân hàng đã đầu tư quảng bá</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2.2</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Mục tiêu cụ thể</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Xác định và đo lường mức ảnh hưởng của các yếu tố đến ý định sử dụng dịch vụ ngân hàng số</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58368">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3</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Câu hỏi nghiên cứu</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Yếu tố nào ảnh hưởng đến ý định sử dụng dịch vụ ngân hàng số của khách hàng cá nhân tại ngân hàng này</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5</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Phương pháp nghiên cứu</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300" dirty="0">
                          <a:solidFill>
                            <a:srgbClr val="000000"/>
                          </a:solidFill>
                          <a:latin typeface="Times New Roman" pitchFamily="34" charset="0"/>
                          <a:ea typeface="Times New Roman" pitchFamily="34" charset="-122"/>
                          <a:cs typeface="Times New Roman" pitchFamily="34" charset="-120"/>
                        </a:rPr>
                        <a:t>Khảo sát bằng bảng hỏi với khách hàng cá nhân tại ngân hàng, phân tích bằng hồi quy</a:t>
                      </a:r>
                      <a:endParaRPr lang="en-US" sz="13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8" name="Shape 5"/>
          <p:cNvSpPr/>
          <p:nvPr/>
        </p:nvSpPr>
        <p:spPr>
          <a:xfrm>
            <a:off x="502920" y="5394960"/>
            <a:ext cx="11185855" cy="640080"/>
          </a:xfrm>
          <a:prstGeom prst="rect">
            <a:avLst/>
          </a:prstGeom>
          <a:solidFill>
            <a:srgbClr val="F0F2F5"/>
          </a:solidFill>
          <a:ln w="9525">
            <a:solidFill>
              <a:srgbClr val="12253F"/>
            </a:solidFill>
            <a:prstDash val="solid"/>
          </a:ln>
        </p:spPr>
        <p:txBody>
          <a:bodyPr/>
          <a:lstStyle/>
          <a:p>
            <a:endParaRPr lang="en-US"/>
          </a:p>
        </p:txBody>
      </p:sp>
      <p:sp>
        <p:nvSpPr>
          <p:cNvPr id="9" name="Text 6"/>
          <p:cNvSpPr txBox="1"/>
          <p:nvPr/>
        </p:nvSpPr>
        <p:spPr>
          <a:xfrm>
            <a:off x="758952" y="5486400"/>
            <a:ext cx="10728655" cy="457200"/>
          </a:xfrm>
          <a:prstGeom prst="rect">
            <a:avLst/>
          </a:prstGeom>
          <a:noFill/>
          <a:ln/>
        </p:spPr>
        <p:txBody>
          <a:bodyPr wrap="square" lIns="0" tIns="0" rIns="0" bIns="0" rtlCol="0" anchor="ctr"/>
          <a:lstStyle/>
          <a:p>
            <a:pPr marL="0" indent="0">
              <a:buNone/>
            </a:pPr>
            <a:r>
              <a:rPr lang="en-US" sz="1250" b="1" dirty="0">
                <a:solidFill>
                  <a:srgbClr val="000000"/>
                </a:solidFill>
                <a:latin typeface="Times New Roman" pitchFamily="34" charset="0"/>
                <a:ea typeface="Times New Roman" pitchFamily="34" charset="-122"/>
                <a:cs typeface="Times New Roman" pitchFamily="34" charset="-120"/>
              </a:rPr>
              <a:t>Bốn mục này chỉ là ví dụ điểm qua. Đề cương thật phải viết đủ bốn danh mục mở đầu và đủ 10 mục theo đúng thứ tự đã học ở các trang trước.</a:t>
            </a:r>
            <a:endParaRPr lang="en-US" sz="1250" dirty="0"/>
          </a:p>
        </p:txBody>
      </p:sp>
      <p:sp>
        <p:nvSpPr>
          <p:cNvPr id="10" name="Shape 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1" name="Text 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a:t>
            </a:r>
            <a:endParaRPr lang="en-US" sz="1000" dirty="0"/>
          </a:p>
        </p:txBody>
      </p:sp>
      <p:sp>
        <p:nvSpPr>
          <p:cNvPr id="12" name="Text 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Case A trong đề cương 10 mục</a:t>
            </a:r>
            <a:endParaRPr lang="en-US" sz="10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VI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23544" y="1371362"/>
            <a:ext cx="473952" cy="366235"/>
          </a:xfrm>
          <a:prstGeom prst="rect">
            <a:avLst/>
          </a:prstGeom>
          <a:ln w="20320">
            <a:solidFill>
              <a:srgbClr val="FFFFFF"/>
            </a:solidFill>
            <a:prstDash val="solid"/>
          </a:ln>
        </p:spPr>
        <p:txBody>
          <a:bodyPr/>
          <a:lstStyle/>
          <a:p>
            <a:endParaRPr lang="en-US"/>
          </a:p>
        </p:txBody>
      </p:sp>
      <p:sp>
        <p:nvSpPr>
          <p:cNvPr id="6" name="Shape 4"/>
          <p:cNvSpPr/>
          <p:nvPr/>
        </p:nvSpPr>
        <p:spPr>
          <a:xfrm>
            <a:off x="4160520" y="1371362"/>
            <a:ext cx="0" cy="366235"/>
          </a:xfrm>
          <a:prstGeom prst="line">
            <a:avLst/>
          </a:prstGeom>
          <a:noFill/>
          <a:ln w="16510">
            <a:solidFill>
              <a:srgbClr val="FFFFFF"/>
            </a:solidFill>
            <a:prstDash val="solid"/>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Từ đề cương đến khóa luận hoàn chỉnh: các thành phần bắt buộc phải có ngoài năm chương nội dung</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Một khóa luận hoàn chỉnh không chỉ có phần nội dung chính. Phần VI trình bày các thành phần bắt buộc còn lại: tên đề tài, tóm tắt, lời cam đoan, phần mở đầu chi tiết và phần kết luận.</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Ngoài các chương nội dung, khóa luận còn bắt buộc phải có gì</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Lời cam đoan và tóm tắt cần viết theo đúng mẫu nào</a:t>
            </a:r>
            <a:endParaRPr lang="en-US" sz="20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Đặt tên đề tài đúng cách và bốn danh mục mở đầu của khóa luận hoàn chỉnh</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11185855" cy="160020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298448"/>
            <a:ext cx="10893247" cy="1380744"/>
          </a:xfrm>
          <a:prstGeom prst="rect">
            <a:avLst/>
          </a:prstGeom>
          <a:noFill/>
          <a:ln/>
        </p:spPr>
        <p:txBody>
          <a:bodyPr wrap="square" lIns="0" tIns="0" rIns="0" bIns="0" rtlCol="0" anchor="t"/>
          <a:lstStyle/>
          <a:p>
            <a:pPr marL="0" indent="0">
              <a:buNone/>
            </a:pPr>
            <a:r>
              <a:rPr lang="en-US" sz="1850" b="1" dirty="0">
                <a:solidFill>
                  <a:srgbClr val="12253F"/>
                </a:solidFill>
                <a:latin typeface="Times New Roman" pitchFamily="34" charset="0"/>
                <a:ea typeface="Times New Roman" pitchFamily="34" charset="-122"/>
                <a:cs typeface="Times New Roman" pitchFamily="34" charset="-120"/>
              </a:rPr>
              <a:t>1.4 Tên đề tài nghiên cứu
</a:t>
            </a:r>
            <a:r>
              <a:rPr lang="en-US" sz="1750" dirty="0">
                <a:solidFill>
                  <a:srgbClr val="000000"/>
                </a:solidFill>
                <a:latin typeface="Times New Roman" pitchFamily="34" charset="0"/>
                <a:ea typeface="Times New Roman" pitchFamily="34" charset="-122"/>
                <a:cs typeface="Times New Roman" pitchFamily="34" charset="-120"/>
              </a:rPr>
              <a:t>Tên đề tài phải rõ ràng, ngắn gọn, thể hiện đúng bản chất vấn đề nghiên cứu. Nên tránh các cụm từ như “thực trạng, giải pháp, hoàn thiện” hoặc cụm từ chỉ giai đoạn như “... trong giai đoạn 2018-2023”.</a:t>
            </a:r>
            <a:endParaRPr lang="en-US" sz="1850" dirty="0"/>
          </a:p>
        </p:txBody>
      </p:sp>
      <p:sp>
        <p:nvSpPr>
          <p:cNvPr id="6" name="Text 4"/>
          <p:cNvSpPr txBox="1"/>
          <p:nvPr/>
        </p:nvSpPr>
        <p:spPr>
          <a:xfrm>
            <a:off x="502920" y="3017520"/>
            <a:ext cx="11185855" cy="320040"/>
          </a:xfrm>
          <a:prstGeom prst="rect">
            <a:avLst/>
          </a:prstGeom>
          <a:noFill/>
          <a:ln/>
        </p:spPr>
        <p:txBody>
          <a:bodyPr wrap="square" lIns="0" tIns="0" rIns="0" bIns="0" rtlCol="0" anchor="ctr"/>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Bốn danh mục mở đầu của khóa luận hoàn chỉnh (đặt trước Phần mở đầu)</a:t>
            </a:r>
            <a:endParaRPr lang="en-US" sz="1800" dirty="0"/>
          </a:p>
        </p:txBody>
      </p:sp>
      <p:sp>
        <p:nvSpPr>
          <p:cNvPr id="7" name="Shape 5"/>
          <p:cNvSpPr/>
          <p:nvPr/>
        </p:nvSpPr>
        <p:spPr>
          <a:xfrm>
            <a:off x="502920" y="3429000"/>
            <a:ext cx="2625014" cy="777240"/>
          </a:xfrm>
          <a:prstGeom prst="rect">
            <a:avLst/>
          </a:prstGeom>
          <a:solidFill>
            <a:srgbClr val="FFFFFF"/>
          </a:solidFill>
          <a:ln w="12700">
            <a:solidFill>
              <a:srgbClr val="12253F"/>
            </a:solidFill>
            <a:prstDash val="solid"/>
          </a:ln>
        </p:spPr>
        <p:txBody>
          <a:bodyPr/>
          <a:lstStyle/>
          <a:p>
            <a:endParaRPr lang="en-US"/>
          </a:p>
        </p:txBody>
      </p:sp>
      <p:sp>
        <p:nvSpPr>
          <p:cNvPr id="8" name="Text 6"/>
          <p:cNvSpPr txBox="1"/>
          <p:nvPr/>
        </p:nvSpPr>
        <p:spPr>
          <a:xfrm>
            <a:off x="612648" y="3429000"/>
            <a:ext cx="2405558" cy="777240"/>
          </a:xfrm>
          <a:prstGeom prst="rect">
            <a:avLst/>
          </a:prstGeom>
          <a:noFill/>
          <a:ln/>
        </p:spPr>
        <p:txBody>
          <a:bodyPr wrap="square" lIns="0" tIns="0" rIns="0" bIns="0" rtlCol="0" anchor="ctr"/>
          <a:lstStyle/>
          <a:p>
            <a:pPr marL="0" indent="0" algn="ctr">
              <a:buNone/>
            </a:pPr>
            <a:r>
              <a:rPr lang="en-US" sz="1700" b="1" dirty="0">
                <a:solidFill>
                  <a:srgbClr val="000000"/>
                </a:solidFill>
                <a:latin typeface="Times New Roman" pitchFamily="34" charset="0"/>
                <a:ea typeface="Times New Roman" pitchFamily="34" charset="-122"/>
                <a:cs typeface="Times New Roman" pitchFamily="34" charset="-120"/>
              </a:rPr>
              <a:t>Mục lục</a:t>
            </a:r>
            <a:endParaRPr lang="en-US" sz="1700" dirty="0"/>
          </a:p>
        </p:txBody>
      </p:sp>
      <p:sp>
        <p:nvSpPr>
          <p:cNvPr id="9" name="Shape 7"/>
          <p:cNvSpPr/>
          <p:nvPr/>
        </p:nvSpPr>
        <p:spPr>
          <a:xfrm>
            <a:off x="3356534" y="3429000"/>
            <a:ext cx="2625014" cy="777240"/>
          </a:xfrm>
          <a:prstGeom prst="rect">
            <a:avLst/>
          </a:prstGeom>
          <a:solidFill>
            <a:srgbClr val="FFFFFF"/>
          </a:solidFill>
          <a:ln w="12700">
            <a:solidFill>
              <a:srgbClr val="12253F"/>
            </a:solidFill>
            <a:prstDash val="solid"/>
          </a:ln>
        </p:spPr>
        <p:txBody>
          <a:bodyPr/>
          <a:lstStyle/>
          <a:p>
            <a:endParaRPr lang="en-US"/>
          </a:p>
        </p:txBody>
      </p:sp>
      <p:sp>
        <p:nvSpPr>
          <p:cNvPr id="10" name="Text 8"/>
          <p:cNvSpPr txBox="1"/>
          <p:nvPr/>
        </p:nvSpPr>
        <p:spPr>
          <a:xfrm>
            <a:off x="3466262" y="3429000"/>
            <a:ext cx="2405558" cy="777240"/>
          </a:xfrm>
          <a:prstGeom prst="rect">
            <a:avLst/>
          </a:prstGeom>
          <a:noFill/>
          <a:ln/>
        </p:spPr>
        <p:txBody>
          <a:bodyPr wrap="square" lIns="0" tIns="0" rIns="0" bIns="0" rtlCol="0" anchor="ctr"/>
          <a:lstStyle/>
          <a:p>
            <a:pPr marL="0" indent="0" algn="ctr">
              <a:buNone/>
            </a:pPr>
            <a:r>
              <a:rPr lang="en-US" sz="1700" b="1" dirty="0">
                <a:solidFill>
                  <a:srgbClr val="000000"/>
                </a:solidFill>
                <a:latin typeface="Times New Roman" pitchFamily="34" charset="0"/>
                <a:ea typeface="Times New Roman" pitchFamily="34" charset="-122"/>
                <a:cs typeface="Times New Roman" pitchFamily="34" charset="-120"/>
              </a:rPr>
              <a:t>Danh mục các từ viết tắt</a:t>
            </a:r>
            <a:endParaRPr lang="en-US" sz="1700" dirty="0"/>
          </a:p>
        </p:txBody>
      </p:sp>
      <p:sp>
        <p:nvSpPr>
          <p:cNvPr id="11" name="Shape 9"/>
          <p:cNvSpPr/>
          <p:nvPr/>
        </p:nvSpPr>
        <p:spPr>
          <a:xfrm>
            <a:off x="6210148" y="3429000"/>
            <a:ext cx="2625014" cy="777240"/>
          </a:xfrm>
          <a:prstGeom prst="rect">
            <a:avLst/>
          </a:prstGeom>
          <a:solidFill>
            <a:srgbClr val="FFFFFF"/>
          </a:solidFill>
          <a:ln w="12700">
            <a:solidFill>
              <a:srgbClr val="12253F"/>
            </a:solidFill>
            <a:prstDash val="solid"/>
          </a:ln>
        </p:spPr>
        <p:txBody>
          <a:bodyPr/>
          <a:lstStyle/>
          <a:p>
            <a:endParaRPr lang="en-US"/>
          </a:p>
        </p:txBody>
      </p:sp>
      <p:sp>
        <p:nvSpPr>
          <p:cNvPr id="12" name="Text 10"/>
          <p:cNvSpPr txBox="1"/>
          <p:nvPr/>
        </p:nvSpPr>
        <p:spPr>
          <a:xfrm>
            <a:off x="6319876" y="3429000"/>
            <a:ext cx="2405558" cy="777240"/>
          </a:xfrm>
          <a:prstGeom prst="rect">
            <a:avLst/>
          </a:prstGeom>
          <a:noFill/>
          <a:ln/>
        </p:spPr>
        <p:txBody>
          <a:bodyPr wrap="square" lIns="0" tIns="0" rIns="0" bIns="0" rtlCol="0" anchor="ctr"/>
          <a:lstStyle/>
          <a:p>
            <a:pPr marL="0" indent="0" algn="ctr">
              <a:buNone/>
            </a:pPr>
            <a:r>
              <a:rPr lang="en-US" sz="1700" b="1" dirty="0">
                <a:solidFill>
                  <a:srgbClr val="000000"/>
                </a:solidFill>
                <a:latin typeface="Times New Roman" pitchFamily="34" charset="0"/>
                <a:ea typeface="Times New Roman" pitchFamily="34" charset="-122"/>
                <a:cs typeface="Times New Roman" pitchFamily="34" charset="-120"/>
              </a:rPr>
              <a:t>Danh mục các bảng</a:t>
            </a:r>
            <a:endParaRPr lang="en-US" sz="1700" dirty="0"/>
          </a:p>
        </p:txBody>
      </p:sp>
      <p:sp>
        <p:nvSpPr>
          <p:cNvPr id="13" name="Shape 11"/>
          <p:cNvSpPr/>
          <p:nvPr/>
        </p:nvSpPr>
        <p:spPr>
          <a:xfrm>
            <a:off x="9063761" y="3429000"/>
            <a:ext cx="2625014" cy="777240"/>
          </a:xfrm>
          <a:prstGeom prst="rect">
            <a:avLst/>
          </a:prstGeom>
          <a:solidFill>
            <a:srgbClr val="FFFFFF"/>
          </a:solidFill>
          <a:ln w="12700">
            <a:solidFill>
              <a:srgbClr val="12253F"/>
            </a:solidFill>
            <a:prstDash val="solid"/>
          </a:ln>
        </p:spPr>
        <p:txBody>
          <a:bodyPr/>
          <a:lstStyle/>
          <a:p>
            <a:endParaRPr lang="en-US"/>
          </a:p>
        </p:txBody>
      </p:sp>
      <p:sp>
        <p:nvSpPr>
          <p:cNvPr id="14" name="Text 12"/>
          <p:cNvSpPr txBox="1"/>
          <p:nvPr/>
        </p:nvSpPr>
        <p:spPr>
          <a:xfrm>
            <a:off x="9173489" y="3429000"/>
            <a:ext cx="2405558" cy="777240"/>
          </a:xfrm>
          <a:prstGeom prst="rect">
            <a:avLst/>
          </a:prstGeom>
          <a:noFill/>
          <a:ln/>
        </p:spPr>
        <p:txBody>
          <a:bodyPr wrap="square" lIns="0" tIns="0" rIns="0" bIns="0" rtlCol="0" anchor="ctr"/>
          <a:lstStyle/>
          <a:p>
            <a:pPr marL="0" indent="0" algn="ctr">
              <a:buNone/>
            </a:pPr>
            <a:r>
              <a:rPr lang="en-US" sz="1700" b="1" dirty="0">
                <a:solidFill>
                  <a:srgbClr val="000000"/>
                </a:solidFill>
                <a:latin typeface="Times New Roman" pitchFamily="34" charset="0"/>
                <a:ea typeface="Times New Roman" pitchFamily="34" charset="-122"/>
                <a:cs typeface="Times New Roman" pitchFamily="34" charset="-120"/>
              </a:rPr>
              <a:t>Danh mục các hình</a:t>
            </a:r>
            <a:endParaRPr lang="en-US" sz="1700" dirty="0"/>
          </a:p>
        </p:txBody>
      </p:sp>
      <p:sp>
        <p:nvSpPr>
          <p:cNvPr id="15" name="Shape 1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6" name="Text 1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17" name="Text 1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Tên đề tài và danh mục mở đầu</a:t>
            </a:r>
            <a:endParaRPr lang="en-US" sz="10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Tóm tắt khoảng 300 từ viết bằng cả hai ngôn ngữ, lời cam đoan phải theo đúng mẫu thống nhất</a:t>
            </a:r>
            <a:endParaRPr lang="en-US" sz="17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85855" cy="320040"/>
          </a:xfrm>
          <a:prstGeom prst="rect">
            <a:avLst/>
          </a:prstGeom>
          <a:noFill/>
          <a:ln/>
        </p:spPr>
        <p:txBody>
          <a:bodyPr wrap="square" lIns="0" tIns="0" rIns="0" bIns="0" rtlCol="0" anchor="ctr"/>
          <a:lstStyle/>
          <a:p>
            <a:pPr marL="0" indent="0">
              <a:buNone/>
            </a:pPr>
            <a:r>
              <a:rPr lang="en-US" sz="1700" b="1" dirty="0">
                <a:solidFill>
                  <a:srgbClr val="12253F"/>
                </a:solidFill>
                <a:latin typeface="Times New Roman" pitchFamily="34" charset="0"/>
                <a:ea typeface="Times New Roman" pitchFamily="34" charset="-122"/>
                <a:cs typeface="Times New Roman" pitchFamily="34" charset="-120"/>
              </a:rPr>
              <a:t>1.5 Tóm tắt khóa luận (abstract)</a:t>
            </a:r>
            <a:endParaRPr lang="en-US" sz="1700" dirty="0"/>
          </a:p>
        </p:txBody>
      </p:sp>
      <p:sp>
        <p:nvSpPr>
          <p:cNvPr id="5" name="Shape 3"/>
          <p:cNvSpPr/>
          <p:nvPr/>
        </p:nvSpPr>
        <p:spPr>
          <a:xfrm>
            <a:off x="502920" y="1508760"/>
            <a:ext cx="11185855" cy="594360"/>
          </a:xfrm>
          <a:prstGeom prst="rect">
            <a:avLst/>
          </a:prstGeom>
          <a:solidFill>
            <a:srgbClr val="F0F2F5"/>
          </a:solidFill>
          <a:ln w="9525">
            <a:solidFill>
              <a:srgbClr val="12253F"/>
            </a:solidFill>
            <a:prstDash val="solid"/>
          </a:ln>
        </p:spPr>
        <p:txBody>
          <a:bodyPr/>
          <a:lstStyle/>
          <a:p>
            <a:endParaRPr lang="en-US"/>
          </a:p>
        </p:txBody>
      </p:sp>
      <p:sp>
        <p:nvSpPr>
          <p:cNvPr id="6" name="Text 4"/>
          <p:cNvSpPr txBox="1"/>
          <p:nvPr/>
        </p:nvSpPr>
        <p:spPr>
          <a:xfrm>
            <a:off x="758952" y="1600200"/>
            <a:ext cx="10728655" cy="411480"/>
          </a:xfrm>
          <a:prstGeom prst="rect">
            <a:avLst/>
          </a:prstGeom>
          <a:noFill/>
          <a:ln/>
        </p:spPr>
        <p:txBody>
          <a:bodyPr wrap="square" lIns="0" tIns="0" rIns="0" bIns="0" rtlCol="0" anchor="ctr"/>
          <a:lstStyle/>
          <a:p>
            <a:pPr marL="0" indent="0">
              <a:buNone/>
            </a:pPr>
            <a:r>
              <a:rPr lang="en-US" sz="1450" b="1" dirty="0">
                <a:solidFill>
                  <a:srgbClr val="000000"/>
                </a:solidFill>
                <a:latin typeface="Times New Roman" pitchFamily="34" charset="0"/>
                <a:ea typeface="Times New Roman" pitchFamily="34" charset="-122"/>
                <a:cs typeface="Times New Roman" pitchFamily="34" charset="-120"/>
              </a:rPr>
              <a:t>Dài khoảng 300 từ, thực hiện bằng cả tiếng Việt và tiếng Anh, gồm năm ý: cơ sở nghiên cứu, mục tiêu, phương pháp, kết quả, kết luận.</a:t>
            </a:r>
            <a:endParaRPr lang="en-US" sz="1450" dirty="0"/>
          </a:p>
        </p:txBody>
      </p:sp>
      <p:sp>
        <p:nvSpPr>
          <p:cNvPr id="7" name="Text 5"/>
          <p:cNvSpPr txBox="1"/>
          <p:nvPr/>
        </p:nvSpPr>
        <p:spPr>
          <a:xfrm>
            <a:off x="502920" y="2331720"/>
            <a:ext cx="11185855" cy="320040"/>
          </a:xfrm>
          <a:prstGeom prst="rect">
            <a:avLst/>
          </a:prstGeom>
          <a:noFill/>
          <a:ln/>
        </p:spPr>
        <p:txBody>
          <a:bodyPr wrap="square" lIns="0" tIns="0" rIns="0" bIns="0" rtlCol="0" anchor="ctr"/>
          <a:lstStyle/>
          <a:p>
            <a:pPr marL="0" indent="0">
              <a:buNone/>
            </a:pPr>
            <a:r>
              <a:rPr lang="en-US" sz="1700" b="1" dirty="0">
                <a:solidFill>
                  <a:srgbClr val="12253F"/>
                </a:solidFill>
                <a:latin typeface="Times New Roman" pitchFamily="34" charset="0"/>
                <a:ea typeface="Times New Roman" pitchFamily="34" charset="-122"/>
                <a:cs typeface="Times New Roman" pitchFamily="34" charset="-120"/>
              </a:rPr>
              <a:t>1.6 Lời cam đoan / Lời cảm ơn</a:t>
            </a:r>
            <a:endParaRPr lang="en-US" sz="1700" dirty="0"/>
          </a:p>
        </p:txBody>
      </p:sp>
      <p:sp>
        <p:nvSpPr>
          <p:cNvPr id="8" name="Shape 6"/>
          <p:cNvSpPr/>
          <p:nvPr/>
        </p:nvSpPr>
        <p:spPr>
          <a:xfrm>
            <a:off x="502920" y="2651760"/>
            <a:ext cx="11185855" cy="1783080"/>
          </a:xfrm>
          <a:prstGeom prst="rect">
            <a:avLst/>
          </a:prstGeom>
          <a:solidFill>
            <a:srgbClr val="F0F2F5"/>
          </a:solidFill>
          <a:ln w="19050">
            <a:solidFill>
              <a:srgbClr val="12253F"/>
            </a:solidFill>
            <a:prstDash val="solid"/>
          </a:ln>
        </p:spPr>
        <p:txBody>
          <a:bodyPr/>
          <a:lstStyle/>
          <a:p>
            <a:endParaRPr lang="en-US"/>
          </a:p>
        </p:txBody>
      </p:sp>
      <p:sp>
        <p:nvSpPr>
          <p:cNvPr id="9" name="Text 7"/>
          <p:cNvSpPr txBox="1"/>
          <p:nvPr/>
        </p:nvSpPr>
        <p:spPr>
          <a:xfrm>
            <a:off x="649224" y="2761488"/>
            <a:ext cx="10893247" cy="1563624"/>
          </a:xfrm>
          <a:prstGeom prst="rect">
            <a:avLst/>
          </a:prstGeom>
          <a:noFill/>
          <a:ln/>
        </p:spPr>
        <p:txBody>
          <a:bodyPr wrap="square" lIns="0" tIns="0" rIns="0" bIns="0" rtlCol="0" anchor="ctr"/>
          <a:lstStyle/>
          <a:p>
            <a:pPr marL="0" indent="0">
              <a:buNone/>
            </a:pPr>
            <a:r>
              <a:rPr lang="en-US" sz="1350" b="1" kern="0" spc="100" dirty="0">
                <a:solidFill>
                  <a:srgbClr val="3D4552"/>
                </a:solidFill>
                <a:latin typeface="Times New Roman" pitchFamily="34" charset="0"/>
                <a:ea typeface="Times New Roman" pitchFamily="34" charset="-122"/>
                <a:cs typeface="Times New Roman" pitchFamily="34" charset="-120"/>
              </a:rPr>
              <a:t>Mẫu lời cam đoan thống nhất
</a:t>
            </a:r>
            <a:r>
              <a:rPr lang="en-US" sz="1600" i="1" dirty="0">
                <a:solidFill>
                  <a:srgbClr val="000000"/>
                </a:solidFill>
                <a:latin typeface="Times New Roman" pitchFamily="34" charset="0"/>
                <a:ea typeface="Times New Roman" pitchFamily="34" charset="-122"/>
                <a:cs typeface="Times New Roman" pitchFamily="34" charset="-120"/>
              </a:rPr>
              <a:t>“Khóa luận này là công trình nghiên cứu riêng của tác giả, kết quả nghiên cứu là trung thực, trong đó không có các nội dung đã được công bố trước đây hoặc các nội dung do người khác thực hiện ngoại trừ các trích dẫn được dẫn nguồn đầy đủ trong khóa luận.”</a:t>
            </a:r>
            <a:endParaRPr lang="en-US" sz="1350" dirty="0"/>
          </a:p>
        </p:txBody>
      </p:sp>
      <p:sp>
        <p:nvSpPr>
          <p:cNvPr id="10" name="Text 8"/>
          <p:cNvSpPr txBox="1"/>
          <p:nvPr/>
        </p:nvSpPr>
        <p:spPr>
          <a:xfrm>
            <a:off x="502920" y="4572000"/>
            <a:ext cx="11185855" cy="685800"/>
          </a:xfrm>
          <a:prstGeom prst="rect">
            <a:avLst/>
          </a:prstGeom>
          <a:noFill/>
          <a:ln/>
        </p:spPr>
        <p:txBody>
          <a:bodyPr wrap="square" lIns="0" tIns="0" rIns="0" bIns="0" rtlCol="0" anchor="t"/>
          <a:lstStyle/>
          <a:p>
            <a:pPr marL="0" indent="0">
              <a:buNone/>
            </a:pPr>
            <a:r>
              <a:rPr lang="en-US" sz="1450" dirty="0">
                <a:solidFill>
                  <a:srgbClr val="1A1A1A"/>
                </a:solidFill>
                <a:latin typeface="Times New Roman" pitchFamily="34" charset="0"/>
                <a:ea typeface="Times New Roman" pitchFamily="34" charset="-122"/>
                <a:cs typeface="Times New Roman" pitchFamily="34" charset="-120"/>
              </a:rPr>
              <a:t>Sau lời cam đoan, tác giả có thể trình bày lời cảm ơn tới người hướng dẫn khoa học, thầy cô giáo, bạn bè và gia đình đã giúp đỡ trong suốt thời gian thực hiện khóa luận.</a:t>
            </a:r>
            <a:endParaRPr lang="en-US" sz="1450" dirty="0"/>
          </a:p>
        </p:txBody>
      </p:sp>
      <p:sp>
        <p:nvSpPr>
          <p:cNvPr id="11" name="Shape 9"/>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2" name="Text 10"/>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13" name="Text 11"/>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Tóm tắt, lời cam đoan và lời cảm ơn</a:t>
            </a:r>
            <a:endParaRPr lang="en-US" sz="10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50" b="1" dirty="0">
                <a:solidFill>
                  <a:srgbClr val="000000"/>
                </a:solidFill>
                <a:latin typeface="Times New Roman" pitchFamily="34" charset="0"/>
                <a:ea typeface="Times New Roman" pitchFamily="34" charset="-122"/>
                <a:cs typeface="Times New Roman" pitchFamily="34" charset="-120"/>
              </a:rPr>
              <a:t>Nội dung chính gồm bốn phần lớn, cấu trúc cụ thể tùy chuyên ngành và tùy câu hỏi nghiên cứu</a:t>
            </a:r>
            <a:endParaRPr lang="en-US" sz="17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350" dirty="0">
                <a:solidFill>
                  <a:srgbClr val="1A1A1A"/>
                </a:solidFill>
                <a:latin typeface="Times New Roman" pitchFamily="34" charset="0"/>
                <a:ea typeface="Times New Roman" pitchFamily="34" charset="-122"/>
                <a:cs typeface="Times New Roman" pitchFamily="34" charset="-120"/>
              </a:rPr>
              <a:t>1.7 Nội dung chính: khóa luận là sản phẩm khoa học phản ánh kết quả nghiên cứu độc lập của sinh viên. Cấu trúc chương mục tùy thuộc chuyên ngành, đề tài cụ thể và mức độ phức tạp của nghiên cứu.</a:t>
            </a:r>
            <a:endParaRPr lang="en-US" sz="135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02920" y="2331720"/>
          <a:ext cx="11183112" cy="2834640"/>
        </p:xfrm>
        <a:graphic>
          <a:graphicData uri="http://schemas.openxmlformats.org/drawingml/2006/table">
            <a:tbl>
              <a:tblPr/>
              <a:tblGrid>
                <a:gridCol w="3291840">
                  <a:extLst>
                    <a:ext uri="{9D8B030D-6E8A-4147-A177-3AD203B41FA5}">
                      <a16:colId xmlns:a16="http://schemas.microsoft.com/office/drawing/2014/main" val="20000"/>
                    </a:ext>
                  </a:extLst>
                </a:gridCol>
                <a:gridCol w="7891272">
                  <a:extLst>
                    <a:ext uri="{9D8B030D-6E8A-4147-A177-3AD203B41FA5}">
                      <a16:colId xmlns:a16="http://schemas.microsoft.com/office/drawing/2014/main" val="20001"/>
                    </a:ext>
                  </a:extLst>
                </a:gridCol>
              </a:tblGrid>
              <a:tr h="566928">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Phần / chương</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Nhiệm vụ chính</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6692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Phần mở đầu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Giới thiệu nét chính của công trình: lý do, mục tiêu, câu hỏi, đối tượng, phạm vi, phương pháp, nội dung tóm lược các chương</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Tổng quan về vấn đề nghiên cứu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Chứng minh cơ sở xây dựng mục tiêu, xác định khoảng trống nghiên cứu mà đề tài lấp đầy</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6692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Nội dung và kết quả nghiên cứu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Trình bày phương pháp, nguồn số liệu, kết quả phân tích và thảo luận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Kết luận và khuyến nghị</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Tóm lược kết quả theo từng câu hỏi, nêu hàm ý, hạn chế và khuyến nghị nghiên cứu tiếp theo</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502920" y="5623560"/>
            <a:ext cx="11185855" cy="457200"/>
          </a:xfrm>
          <a:prstGeom prst="rect">
            <a:avLst/>
          </a:prstGeom>
          <a:noFill/>
          <a:ln/>
        </p:spPr>
        <p:txBody>
          <a:bodyPr wrap="square" lIns="0" tIns="0" rIns="0" bIns="0" rtlCol="0" anchor="ctr"/>
          <a:lstStyle/>
          <a:p>
            <a:pPr marL="0" indent="0">
              <a:buNone/>
            </a:pPr>
            <a:r>
              <a:rPr lang="en-US" sz="1300" i="1" dirty="0">
                <a:solidFill>
                  <a:srgbClr val="3D4552"/>
                </a:solidFill>
                <a:latin typeface="Times New Roman" pitchFamily="34" charset="0"/>
                <a:ea typeface="Times New Roman" pitchFamily="34" charset="-122"/>
                <a:cs typeface="Times New Roman" pitchFamily="34" charset="-120"/>
              </a:rPr>
              <a:t>Cấu trúc trên chỉ mang tính gợi ý. Ví dụ, một nghiên cứu thực nghiệm thường được kết cấu thành 5 chương, Phần VII sẽ trình bày chi tiết ngay sau đây.</a:t>
            </a:r>
            <a:endParaRPr lang="en-US" sz="1300" dirty="0"/>
          </a:p>
        </p:txBody>
      </p:sp>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Bốn phần lớn của nội dung chính</a:t>
            </a:r>
            <a:endParaRPr lang="en-US" sz="10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Phần mở đầu bắt buộc phải có đủ sáu ý, xếp theo đúng thứ tự để người đọc theo dõi được mạch nghiên cứu</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3968496"/>
        </p:xfrm>
        <a:graphic>
          <a:graphicData uri="http://schemas.openxmlformats.org/drawingml/2006/table">
            <a:tbl>
              <a:tblPr/>
              <a:tblGrid>
                <a:gridCol w="45720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7525512">
                  <a:extLst>
                    <a:ext uri="{9D8B030D-6E8A-4147-A177-3AD203B41FA5}">
                      <a16:colId xmlns:a16="http://schemas.microsoft.com/office/drawing/2014/main" val="20002"/>
                    </a:ext>
                  </a:extLst>
                </a:gridCol>
              </a:tblGrid>
              <a:tr h="566928">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Ý bắt buộc</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Nội dung</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Lý do chọn đề tài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Xuất phát từ thực tiễn, có thể khảo lược ngắn gọn nghiên cứu liên quan trước đây</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ii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Mục tiêu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Mục tiêu tổng quát và mục tiêu cụ thể của đề tài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iii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Câu hỏi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Mỗi mục tiêu cụ thể thường ứng với một câu hỏi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iv</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Đối tượng và phạm vi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Làm rõ giới hạn về đối tượng, không gian và thời gian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v</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Phương pháp nghiên cứu và số liệu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Giới thiệu phương pháp và số liệu tương ứng với từng câu hỏi nghiên cứu</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vi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Nội dung tóm lược các chương</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Thể hiện rõ tính liên kết giữa các chương tiếp theo</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Sáu ý bắt buộc của phần mở đầu</a:t>
            </a:r>
            <a:endParaRPr lang="en-US" sz="10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550" b="1" dirty="0">
                <a:solidFill>
                  <a:srgbClr val="000000"/>
                </a:solidFill>
                <a:latin typeface="Times New Roman" pitchFamily="34" charset="0"/>
                <a:ea typeface="Times New Roman" pitchFamily="34" charset="-122"/>
                <a:cs typeface="Times New Roman" pitchFamily="34" charset="-120"/>
              </a:rPr>
              <a:t>Tổng quan vấn đề nghiên cứu chứng minh khoảng trống nghiên cứu, nội dung và kết quả nghiên cứu trả lời câu hỏi bằng dữ liệu thật</a:t>
            </a:r>
            <a:endParaRPr lang="en-US" sz="15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429768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344168"/>
            <a:ext cx="5163160" cy="4078224"/>
          </a:xfrm>
          <a:prstGeom prst="rect">
            <a:avLst/>
          </a:prstGeom>
          <a:noFill/>
          <a:ln/>
        </p:spPr>
        <p:txBody>
          <a:bodyPr wrap="square" lIns="0" tIns="0" rIns="0" bIns="0" rtlCol="0" anchor="t"/>
          <a:lstStyle/>
          <a:p>
            <a:pPr marL="0" indent="0">
              <a:buNone/>
            </a:pPr>
            <a:r>
              <a:rPr lang="en-US" sz="1850" b="1" dirty="0">
                <a:solidFill>
                  <a:srgbClr val="12253F"/>
                </a:solidFill>
                <a:latin typeface="Times New Roman" pitchFamily="34" charset="0"/>
                <a:ea typeface="Times New Roman" pitchFamily="34" charset="-122"/>
                <a:cs typeface="Times New Roman" pitchFamily="34" charset="-120"/>
              </a:rPr>
              <a:t>Tổng quan vấn đề nghiên cứu
</a:t>
            </a:r>
            <a:r>
              <a:rPr lang="en-US" sz="1700" dirty="0">
                <a:solidFill>
                  <a:srgbClr val="000000"/>
                </a:solidFill>
                <a:latin typeface="Times New Roman" pitchFamily="34" charset="0"/>
                <a:ea typeface="Times New Roman" pitchFamily="34" charset="-122"/>
                <a:cs typeface="Times New Roman" pitchFamily="34" charset="-120"/>
              </a:rPr>
              <a:t>Khảo lược tri thức đã có cả nền tảng lý thuyết và bằng chứng thực nghiệm, ưu tiên nghiên cứu công bố trong khoảng 5-10 năm gần nhất, để chỉ ra khoảng trống nghiên cứu mà đề tài sẽ lấp đầy. Không trình bày tóm tắt rời rạc từng nghiên cứu, phải phân tích và thảo luận có chọn lọc.</a:t>
            </a:r>
            <a:endParaRPr lang="en-US" sz="1850" dirty="0"/>
          </a:p>
        </p:txBody>
      </p:sp>
      <p:sp>
        <p:nvSpPr>
          <p:cNvPr id="6" name="Shape 4"/>
          <p:cNvSpPr/>
          <p:nvPr/>
        </p:nvSpPr>
        <p:spPr>
          <a:xfrm>
            <a:off x="6233008" y="1234440"/>
            <a:ext cx="5455768" cy="429768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6379312" y="1344168"/>
            <a:ext cx="5163160" cy="4078224"/>
          </a:xfrm>
          <a:prstGeom prst="rect">
            <a:avLst/>
          </a:prstGeom>
          <a:noFill/>
          <a:ln/>
        </p:spPr>
        <p:txBody>
          <a:bodyPr wrap="square" lIns="0" tIns="0" rIns="0" bIns="0" rtlCol="0" anchor="t"/>
          <a:lstStyle/>
          <a:p>
            <a:pPr marL="0" indent="0">
              <a:buNone/>
            </a:pPr>
            <a:r>
              <a:rPr lang="en-US" sz="1850" b="1" dirty="0">
                <a:solidFill>
                  <a:srgbClr val="12253F"/>
                </a:solidFill>
                <a:latin typeface="Times New Roman" pitchFamily="34" charset="0"/>
                <a:ea typeface="Times New Roman" pitchFamily="34" charset="-122"/>
                <a:cs typeface="Times New Roman" pitchFamily="34" charset="-120"/>
              </a:rPr>
              <a:t>Nội dung và kết quả nghiên cứu
</a:t>
            </a:r>
            <a:r>
              <a:rPr lang="en-US" sz="1700" dirty="0">
                <a:solidFill>
                  <a:srgbClr val="000000"/>
                </a:solidFill>
                <a:latin typeface="Times New Roman" pitchFamily="34" charset="0"/>
                <a:ea typeface="Times New Roman" pitchFamily="34" charset="-122"/>
                <a:cs typeface="Times New Roman" pitchFamily="34" charset="-120"/>
              </a:rPr>
              <a:t>Mục tiêu thứ nhất là chỉ rõ phương pháp và nguồn số liệu sẽ dùng để trả lời câu hỏi đã đặt ra. Mục tiêu thứ hai là trình bày kết quả phân tích số liệu, đối chiếu với kết quả của các nghiên cứu trước để làm rõ điểm mới của đề tài.</a:t>
            </a:r>
            <a:endParaRPr lang="en-US" sz="1850" dirty="0"/>
          </a:p>
        </p:txBody>
      </p:sp>
      <p:sp>
        <p:nvSpPr>
          <p:cNvPr id="8"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9"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10"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Tổng quan và nội dung nghiên cứu</a:t>
            </a:r>
            <a:endParaRPr lang="en-US" sz="10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00" b="1" dirty="0">
                <a:solidFill>
                  <a:srgbClr val="000000"/>
                </a:solidFill>
                <a:latin typeface="Times New Roman" pitchFamily="34" charset="0"/>
                <a:ea typeface="Times New Roman" pitchFamily="34" charset="-122"/>
                <a:cs typeface="Times New Roman" pitchFamily="34" charset="-120"/>
              </a:rPr>
              <a:t>Kết luận phải khớp với mục tiêu ban đầu, danh mục công trình và phụ lục chỉ có giá trị khi làm bằng chứng thật</a:t>
            </a:r>
            <a:endParaRPr lang="en-US" sz="16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11185855" cy="196596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298448"/>
            <a:ext cx="10893247" cy="1746504"/>
          </a:xfrm>
          <a:prstGeom prst="rect">
            <a:avLst/>
          </a:prstGeom>
          <a:noFill/>
          <a:ln/>
        </p:spPr>
        <p:txBody>
          <a:bodyPr wrap="square" lIns="0" tIns="0" rIns="0" bIns="0" rtlCol="0" anchor="t"/>
          <a:lstStyle/>
          <a:p>
            <a:pPr marL="0" indent="0">
              <a:buNone/>
            </a:pPr>
            <a:r>
              <a:rPr lang="en-US" sz="1700" b="1" dirty="0">
                <a:solidFill>
                  <a:srgbClr val="12253F"/>
                </a:solidFill>
                <a:latin typeface="Times New Roman" pitchFamily="34" charset="0"/>
                <a:ea typeface="Times New Roman" pitchFamily="34" charset="-122"/>
                <a:cs typeface="Times New Roman" pitchFamily="34" charset="-120"/>
              </a:rPr>
              <a:t>Kết luận và khuyến nghị / hoặc gợi ý chính sách (thuộc Mục 1.7 Nội dung chính)
</a:t>
            </a:r>
            <a:r>
              <a:rPr lang="en-US" sz="1650" dirty="0">
                <a:solidFill>
                  <a:srgbClr val="000000"/>
                </a:solidFill>
                <a:latin typeface="Times New Roman" pitchFamily="34" charset="0"/>
                <a:ea typeface="Times New Roman" pitchFamily="34" charset="-122"/>
                <a:cs typeface="Times New Roman" pitchFamily="34" charset="-120"/>
              </a:rPr>
              <a:t>Tóm lược tổng hợp mục tiêu, câu hỏi nghiên cứu, phương pháp đã áp dụng, kết quả nghiên cứu và các phát hiện, nêu rõ kết quả ứng với từng câu hỏi. Từ đó trình bày: (i) hàm ý, gợi ý chính sách và khuyến nghị; (ii) hạn chế của nghiên cứu về thời gian, chi phí, số liệu hoặc phương pháp, cùng mức độ ảnh hưởng của hạn chế đó; (iii) khuyến nghị cho nghiên cứu trong tương lai.</a:t>
            </a:r>
            <a:endParaRPr lang="en-US" sz="1700" dirty="0"/>
          </a:p>
        </p:txBody>
      </p:sp>
      <p:sp>
        <p:nvSpPr>
          <p:cNvPr id="6" name="Shape 4"/>
          <p:cNvSpPr/>
          <p:nvPr/>
        </p:nvSpPr>
        <p:spPr>
          <a:xfrm>
            <a:off x="502920" y="3383280"/>
            <a:ext cx="5455768" cy="1325880"/>
          </a:xfrm>
          <a:prstGeom prst="rect">
            <a:avLst/>
          </a:prstGeom>
          <a:solidFill>
            <a:srgbClr val="FFFFFF"/>
          </a:solidFill>
          <a:ln w="12700">
            <a:solidFill>
              <a:srgbClr val="12253F"/>
            </a:solidFill>
            <a:prstDash val="solid"/>
          </a:ln>
        </p:spPr>
        <p:txBody>
          <a:bodyPr/>
          <a:lstStyle/>
          <a:p>
            <a:endParaRPr lang="en-US"/>
          </a:p>
        </p:txBody>
      </p:sp>
      <p:sp>
        <p:nvSpPr>
          <p:cNvPr id="7" name="Text 5"/>
          <p:cNvSpPr txBox="1"/>
          <p:nvPr/>
        </p:nvSpPr>
        <p:spPr>
          <a:xfrm>
            <a:off x="649224" y="3493008"/>
            <a:ext cx="5163160" cy="1106424"/>
          </a:xfrm>
          <a:prstGeom prst="rect">
            <a:avLst/>
          </a:prstGeom>
          <a:noFill/>
          <a:ln/>
        </p:spPr>
        <p:txBody>
          <a:bodyPr wrap="square" lIns="0" tIns="0" rIns="0" bIns="0" rtlCol="0" anchor="t"/>
          <a:lstStyle/>
          <a:p>
            <a:pPr marL="0" indent="0">
              <a:buNone/>
            </a:pPr>
            <a:r>
              <a:rPr lang="en-US" sz="1650" b="1" dirty="0">
                <a:solidFill>
                  <a:srgbClr val="12253F"/>
                </a:solidFill>
                <a:latin typeface="Times New Roman" pitchFamily="34" charset="0"/>
                <a:ea typeface="Times New Roman" pitchFamily="34" charset="-122"/>
                <a:cs typeface="Times New Roman" pitchFamily="34" charset="-120"/>
              </a:rPr>
              <a:t>1.8 Danh mục công trình đã công bố
</a:t>
            </a:r>
            <a:r>
              <a:rPr lang="en-US" sz="1550" dirty="0">
                <a:solidFill>
                  <a:srgbClr val="000000"/>
                </a:solidFill>
                <a:latin typeface="Times New Roman" pitchFamily="34" charset="0"/>
                <a:ea typeface="Times New Roman" pitchFamily="34" charset="-122"/>
                <a:cs typeface="Times New Roman" pitchFamily="34" charset="-120"/>
              </a:rPr>
              <a:t>Liệt kê bài viết liên quan đã công bố hoặc công trình đã nghiệm thu, xếp theo thứ tự thời gian.</a:t>
            </a:r>
            <a:endParaRPr lang="en-US" sz="1650" dirty="0"/>
          </a:p>
        </p:txBody>
      </p:sp>
      <p:sp>
        <p:nvSpPr>
          <p:cNvPr id="8" name="Shape 6"/>
          <p:cNvSpPr/>
          <p:nvPr/>
        </p:nvSpPr>
        <p:spPr>
          <a:xfrm>
            <a:off x="6233008" y="3383280"/>
            <a:ext cx="5455768" cy="132588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6379312" y="3493008"/>
            <a:ext cx="5163160" cy="1106424"/>
          </a:xfrm>
          <a:prstGeom prst="rect">
            <a:avLst/>
          </a:prstGeom>
          <a:noFill/>
          <a:ln/>
        </p:spPr>
        <p:txBody>
          <a:bodyPr wrap="square" lIns="0" tIns="0" rIns="0" bIns="0" rtlCol="0" anchor="t"/>
          <a:lstStyle/>
          <a:p>
            <a:pPr marL="0" indent="0">
              <a:buNone/>
            </a:pPr>
            <a:r>
              <a:rPr lang="en-US" sz="1650" b="1" dirty="0">
                <a:solidFill>
                  <a:srgbClr val="12253F"/>
                </a:solidFill>
                <a:latin typeface="Times New Roman" pitchFamily="34" charset="0"/>
                <a:ea typeface="Times New Roman" pitchFamily="34" charset="-122"/>
                <a:cs typeface="Times New Roman" pitchFamily="34" charset="-120"/>
              </a:rPr>
              <a:t>1.10 Phụ lục
</a:t>
            </a:r>
            <a:r>
              <a:rPr lang="en-US" sz="1550" dirty="0">
                <a:solidFill>
                  <a:srgbClr val="000000"/>
                </a:solidFill>
                <a:latin typeface="Times New Roman" pitchFamily="34" charset="0"/>
                <a:ea typeface="Times New Roman" pitchFamily="34" charset="-122"/>
                <a:cs typeface="Times New Roman" pitchFamily="34" charset="-120"/>
              </a:rPr>
              <a:t>Bổ trợ số liệu, cách tính toán, hình ảnh, quy trình, kết xuất phần mềm thống kê hoặc bảng câu hỏi khảo sát nguyên văn.</a:t>
            </a:r>
            <a:endParaRPr lang="en-US" sz="1650" dirty="0"/>
          </a:p>
        </p:txBody>
      </p:sp>
      <p:sp>
        <p:nvSpPr>
          <p:cNvPr id="10" name="Text 8"/>
          <p:cNvSpPr txBox="1"/>
          <p:nvPr/>
        </p:nvSpPr>
        <p:spPr>
          <a:xfrm>
            <a:off x="502920" y="4892040"/>
            <a:ext cx="11185855" cy="457200"/>
          </a:xfrm>
          <a:prstGeom prst="rect">
            <a:avLst/>
          </a:prstGeom>
          <a:noFill/>
          <a:ln/>
        </p:spPr>
        <p:txBody>
          <a:bodyPr wrap="square" lIns="0" tIns="0" rIns="0" bIns="0" rtlCol="0" anchor="ctr"/>
          <a:lstStyle/>
          <a:p>
            <a:pPr marL="0" indent="0">
              <a:buNone/>
            </a:pPr>
            <a:r>
              <a:rPr lang="en-US" sz="1400" i="1" dirty="0">
                <a:solidFill>
                  <a:srgbClr val="3D4552"/>
                </a:solidFill>
                <a:latin typeface="Times New Roman" pitchFamily="34" charset="0"/>
                <a:ea typeface="Times New Roman" pitchFamily="34" charset="-122"/>
                <a:cs typeface="Times New Roman" pitchFamily="34" charset="-120"/>
              </a:rPr>
              <a:t>1.9 Tài liệu tham khảo và cách trích dẫn APA được trình bày chi tiết ở Phần VIII.</a:t>
            </a:r>
            <a:endParaRPr lang="en-US" sz="1400" dirty="0"/>
          </a:p>
        </p:txBody>
      </p:sp>
      <p:sp>
        <p:nvSpPr>
          <p:cNvPr id="11" name="Shape 9"/>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2" name="Text 10"/>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a:t>
            </a:r>
            <a:endParaRPr lang="en-US" sz="1000" dirty="0"/>
          </a:p>
        </p:txBody>
      </p:sp>
      <p:sp>
        <p:nvSpPr>
          <p:cNvPr id="13" name="Text 11"/>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6 · Kết luận, danh mục công trình, phụ lục</a:t>
            </a:r>
            <a:endParaRPr lang="en-US" sz="10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VII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12772" y="1360591"/>
            <a:ext cx="129260" cy="129260"/>
          </a:xfrm>
          <a:prstGeom prst="ellipse">
            <a:avLst/>
          </a:prstGeom>
          <a:solidFill>
            <a:srgbClr val="FFFFFF"/>
          </a:solidFill>
          <a:ln/>
        </p:spPr>
        <p:txBody>
          <a:bodyPr/>
          <a:lstStyle/>
          <a:p>
            <a:endParaRPr lang="en-US"/>
          </a:p>
        </p:txBody>
      </p:sp>
      <p:sp>
        <p:nvSpPr>
          <p:cNvPr id="6" name="Shape 4"/>
          <p:cNvSpPr/>
          <p:nvPr/>
        </p:nvSpPr>
        <p:spPr>
          <a:xfrm>
            <a:off x="4279008" y="1619110"/>
            <a:ext cx="129260" cy="129260"/>
          </a:xfrm>
          <a:prstGeom prst="ellipse">
            <a:avLst/>
          </a:prstGeom>
          <a:solidFill>
            <a:srgbClr val="FFFFFF"/>
          </a:solidFill>
          <a:ln/>
        </p:spPr>
        <p:txBody>
          <a:bodyPr/>
          <a:lstStyle/>
          <a:p>
            <a:endParaRPr lang="en-US"/>
          </a:p>
        </p:txBody>
      </p:sp>
      <p:sp>
        <p:nvSpPr>
          <p:cNvPr id="7" name="Shape 5"/>
          <p:cNvSpPr/>
          <p:nvPr/>
        </p:nvSpPr>
        <p:spPr>
          <a:xfrm>
            <a:off x="3977402" y="1425220"/>
            <a:ext cx="366235" cy="193889"/>
          </a:xfrm>
          <a:prstGeom prst="line">
            <a:avLst/>
          </a:prstGeom>
          <a:noFill/>
          <a:ln w="22860">
            <a:solidFill>
              <a:srgbClr val="FFFFFF"/>
            </a:solidFill>
            <a:prstDash val="dash"/>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Cấu trúc tổng quan của khóa luận: năm chương</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Năm chương không phải năm phần rời rạc. Chúng là năm câu hỏi nối tiếp nhau, mỗi chương trả lời một câu hỏi và chuẩn bị nền cho câu hỏi của chương sau.</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Mỗi chương có nhiệm vụ gì</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Chương này liên hệ với chương kế tiếp như thế nào</a:t>
            </a:r>
            <a:endParaRPr lang="en-US" sz="20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Sơ đồ năm chương: một mạch logic duy nhất</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463040"/>
            <a:ext cx="3545738" cy="1097280"/>
          </a:xfrm>
          <a:prstGeom prst="roundRect">
            <a:avLst>
              <a:gd name="adj" fmla="val 5833"/>
            </a:avLst>
          </a:prstGeom>
          <a:solidFill>
            <a:srgbClr val="12253F"/>
          </a:solidFill>
          <a:ln w="19050">
            <a:solidFill>
              <a:srgbClr val="12253F"/>
            </a:solidFill>
            <a:prstDash val="solid"/>
          </a:ln>
        </p:spPr>
        <p:txBody>
          <a:bodyPr/>
          <a:lstStyle/>
          <a:p>
            <a:endParaRPr lang="en-US"/>
          </a:p>
        </p:txBody>
      </p:sp>
      <p:sp>
        <p:nvSpPr>
          <p:cNvPr id="5" name="Text 3"/>
          <p:cNvSpPr txBox="1"/>
          <p:nvPr/>
        </p:nvSpPr>
        <p:spPr>
          <a:xfrm>
            <a:off x="557784" y="1463040"/>
            <a:ext cx="343601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Chương 1</a:t>
            </a:r>
            <a:endParaRPr lang="en-US" sz="1350" dirty="0"/>
          </a:p>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Vấn đề là gì</a:t>
            </a:r>
            <a:endParaRPr lang="en-US" sz="1350" dirty="0"/>
          </a:p>
        </p:txBody>
      </p:sp>
      <p:sp>
        <p:nvSpPr>
          <p:cNvPr id="6" name="Shape 4"/>
          <p:cNvSpPr/>
          <p:nvPr/>
        </p:nvSpPr>
        <p:spPr>
          <a:xfrm>
            <a:off x="4100779" y="1819656"/>
            <a:ext cx="170078" cy="384048"/>
          </a:xfrm>
          <a:prstGeom prst="chevron">
            <a:avLst/>
          </a:prstGeom>
          <a:solidFill>
            <a:srgbClr val="1F5C82"/>
          </a:solidFill>
          <a:ln/>
        </p:spPr>
        <p:txBody>
          <a:bodyPr/>
          <a:lstStyle/>
          <a:p>
            <a:endParaRPr lang="en-US"/>
          </a:p>
        </p:txBody>
      </p:sp>
      <p:sp>
        <p:nvSpPr>
          <p:cNvPr id="7" name="Shape 5"/>
          <p:cNvSpPr/>
          <p:nvPr/>
        </p:nvSpPr>
        <p:spPr>
          <a:xfrm>
            <a:off x="4322978" y="1463040"/>
            <a:ext cx="3545738" cy="1097280"/>
          </a:xfrm>
          <a:prstGeom prst="roundRect">
            <a:avLst>
              <a:gd name="adj" fmla="val 5833"/>
            </a:avLst>
          </a:prstGeom>
          <a:solidFill>
            <a:srgbClr val="12253F"/>
          </a:solidFill>
          <a:ln w="19050">
            <a:solidFill>
              <a:srgbClr val="12253F"/>
            </a:solidFill>
            <a:prstDash val="solid"/>
          </a:ln>
        </p:spPr>
        <p:txBody>
          <a:bodyPr/>
          <a:lstStyle/>
          <a:p>
            <a:endParaRPr lang="en-US"/>
          </a:p>
        </p:txBody>
      </p:sp>
      <p:sp>
        <p:nvSpPr>
          <p:cNvPr id="8" name="Text 6"/>
          <p:cNvSpPr txBox="1"/>
          <p:nvPr/>
        </p:nvSpPr>
        <p:spPr>
          <a:xfrm>
            <a:off x="4377842" y="1463040"/>
            <a:ext cx="343601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Chương 2</a:t>
            </a:r>
            <a:endParaRPr lang="en-US" sz="1350" dirty="0"/>
          </a:p>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Lý thuyết nói gì</a:t>
            </a:r>
            <a:endParaRPr lang="en-US" sz="1350" dirty="0"/>
          </a:p>
        </p:txBody>
      </p:sp>
      <p:sp>
        <p:nvSpPr>
          <p:cNvPr id="9" name="Shape 7"/>
          <p:cNvSpPr/>
          <p:nvPr/>
        </p:nvSpPr>
        <p:spPr>
          <a:xfrm>
            <a:off x="7920838" y="1819656"/>
            <a:ext cx="170078" cy="384048"/>
          </a:xfrm>
          <a:prstGeom prst="chevron">
            <a:avLst/>
          </a:prstGeom>
          <a:solidFill>
            <a:srgbClr val="1F5C82"/>
          </a:solidFill>
          <a:ln/>
        </p:spPr>
        <p:txBody>
          <a:bodyPr/>
          <a:lstStyle/>
          <a:p>
            <a:endParaRPr lang="en-US"/>
          </a:p>
        </p:txBody>
      </p:sp>
      <p:sp>
        <p:nvSpPr>
          <p:cNvPr id="10" name="Shape 8"/>
          <p:cNvSpPr/>
          <p:nvPr/>
        </p:nvSpPr>
        <p:spPr>
          <a:xfrm>
            <a:off x="8143037" y="1463040"/>
            <a:ext cx="3545738" cy="1097280"/>
          </a:xfrm>
          <a:prstGeom prst="roundRect">
            <a:avLst>
              <a:gd name="adj" fmla="val 5833"/>
            </a:avLst>
          </a:prstGeom>
          <a:solidFill>
            <a:srgbClr val="12253F"/>
          </a:solidFill>
          <a:ln w="19050">
            <a:solidFill>
              <a:srgbClr val="12253F"/>
            </a:solidFill>
            <a:prstDash val="solid"/>
          </a:ln>
        </p:spPr>
        <p:txBody>
          <a:bodyPr/>
          <a:lstStyle/>
          <a:p>
            <a:endParaRPr lang="en-US"/>
          </a:p>
        </p:txBody>
      </p:sp>
      <p:sp>
        <p:nvSpPr>
          <p:cNvPr id="11" name="Text 9"/>
          <p:cNvSpPr txBox="1"/>
          <p:nvPr/>
        </p:nvSpPr>
        <p:spPr>
          <a:xfrm>
            <a:off x="8197901" y="1463040"/>
            <a:ext cx="343601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Chương 3</a:t>
            </a:r>
            <a:endParaRPr lang="en-US" sz="1350" dirty="0"/>
          </a:p>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Thu thập dữ liệu bằng cách nào</a:t>
            </a:r>
            <a:endParaRPr lang="en-US" sz="1350" dirty="0"/>
          </a:p>
        </p:txBody>
      </p:sp>
      <p:sp>
        <p:nvSpPr>
          <p:cNvPr id="12" name="Shape 10"/>
          <p:cNvSpPr/>
          <p:nvPr/>
        </p:nvSpPr>
        <p:spPr>
          <a:xfrm>
            <a:off x="502920" y="2834640"/>
            <a:ext cx="5455768" cy="1097280"/>
          </a:xfrm>
          <a:prstGeom prst="roundRect">
            <a:avLst>
              <a:gd name="adj" fmla="val 5833"/>
            </a:avLst>
          </a:prstGeom>
          <a:solidFill>
            <a:srgbClr val="12253F"/>
          </a:solidFill>
          <a:ln w="19050">
            <a:solidFill>
              <a:srgbClr val="12253F"/>
            </a:solidFill>
            <a:prstDash val="solid"/>
          </a:ln>
        </p:spPr>
        <p:txBody>
          <a:bodyPr/>
          <a:lstStyle/>
          <a:p>
            <a:endParaRPr lang="en-US"/>
          </a:p>
        </p:txBody>
      </p:sp>
      <p:sp>
        <p:nvSpPr>
          <p:cNvPr id="13" name="Text 11"/>
          <p:cNvSpPr txBox="1"/>
          <p:nvPr/>
        </p:nvSpPr>
        <p:spPr>
          <a:xfrm>
            <a:off x="557784" y="2834640"/>
            <a:ext cx="534604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Chương 4</a:t>
            </a:r>
            <a:endParaRPr lang="en-US" sz="1350" dirty="0"/>
          </a:p>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Dữ liệu cho thấy gì</a:t>
            </a:r>
            <a:endParaRPr lang="en-US" sz="1350" dirty="0"/>
          </a:p>
        </p:txBody>
      </p:sp>
      <p:sp>
        <p:nvSpPr>
          <p:cNvPr id="14" name="Shape 12"/>
          <p:cNvSpPr/>
          <p:nvPr/>
        </p:nvSpPr>
        <p:spPr>
          <a:xfrm>
            <a:off x="6010808" y="3191256"/>
            <a:ext cx="170078" cy="384048"/>
          </a:xfrm>
          <a:prstGeom prst="chevron">
            <a:avLst/>
          </a:prstGeom>
          <a:solidFill>
            <a:srgbClr val="1F5C82"/>
          </a:solidFill>
          <a:ln/>
        </p:spPr>
        <p:txBody>
          <a:bodyPr/>
          <a:lstStyle/>
          <a:p>
            <a:endParaRPr lang="en-US"/>
          </a:p>
        </p:txBody>
      </p:sp>
      <p:sp>
        <p:nvSpPr>
          <p:cNvPr id="15" name="Shape 13"/>
          <p:cNvSpPr/>
          <p:nvPr/>
        </p:nvSpPr>
        <p:spPr>
          <a:xfrm>
            <a:off x="6233008" y="2834640"/>
            <a:ext cx="5455768" cy="1097280"/>
          </a:xfrm>
          <a:prstGeom prst="roundRect">
            <a:avLst>
              <a:gd name="adj" fmla="val 5833"/>
            </a:avLst>
          </a:prstGeom>
          <a:solidFill>
            <a:srgbClr val="12253F"/>
          </a:solidFill>
          <a:ln w="19050">
            <a:solidFill>
              <a:srgbClr val="12253F"/>
            </a:solidFill>
            <a:prstDash val="solid"/>
          </a:ln>
        </p:spPr>
        <p:txBody>
          <a:bodyPr/>
          <a:lstStyle/>
          <a:p>
            <a:endParaRPr lang="en-US"/>
          </a:p>
        </p:txBody>
      </p:sp>
      <p:sp>
        <p:nvSpPr>
          <p:cNvPr id="16" name="Text 14"/>
          <p:cNvSpPr txBox="1"/>
          <p:nvPr/>
        </p:nvSpPr>
        <p:spPr>
          <a:xfrm>
            <a:off x="6287872" y="2834640"/>
            <a:ext cx="5346040" cy="1097280"/>
          </a:xfrm>
          <a:prstGeom prst="rect">
            <a:avLst/>
          </a:prstGeom>
          <a:noFill/>
          <a:ln/>
        </p:spPr>
        <p:txBody>
          <a:bodyPr wrap="square" lIns="0" tIns="0" rIns="0" bIns="0" rtlCol="0" anchor="ctr"/>
          <a:lstStyle/>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Chương 5</a:t>
            </a:r>
            <a:endParaRPr lang="en-US" sz="1350" dirty="0"/>
          </a:p>
          <a:p>
            <a:pPr marL="0" indent="0" algn="ctr">
              <a:buNone/>
            </a:pPr>
            <a:r>
              <a:rPr lang="en-US" sz="1350" b="1" dirty="0">
                <a:solidFill>
                  <a:srgbClr val="FFFFFF"/>
                </a:solidFill>
                <a:latin typeface="Times New Roman" pitchFamily="34" charset="0"/>
                <a:ea typeface="Times New Roman" pitchFamily="34" charset="-122"/>
                <a:cs typeface="Times New Roman" pitchFamily="34" charset="-120"/>
              </a:rPr>
              <a:t>Trả lời câu hỏi ban đầu</a:t>
            </a:r>
            <a:endParaRPr lang="en-US" sz="1350" dirty="0"/>
          </a:p>
        </p:txBody>
      </p:sp>
      <p:sp>
        <p:nvSpPr>
          <p:cNvPr id="17" name="Shape 15"/>
          <p:cNvSpPr/>
          <p:nvPr/>
        </p:nvSpPr>
        <p:spPr>
          <a:xfrm>
            <a:off x="502920" y="4251960"/>
            <a:ext cx="11185855" cy="1005840"/>
          </a:xfrm>
          <a:prstGeom prst="rect">
            <a:avLst/>
          </a:prstGeom>
          <a:solidFill>
            <a:srgbClr val="F0F2F5"/>
          </a:solidFill>
          <a:ln w="9525">
            <a:solidFill>
              <a:srgbClr val="12253F"/>
            </a:solidFill>
            <a:prstDash val="solid"/>
          </a:ln>
        </p:spPr>
        <p:txBody>
          <a:bodyPr/>
          <a:lstStyle/>
          <a:p>
            <a:endParaRPr lang="en-US"/>
          </a:p>
        </p:txBody>
      </p:sp>
      <p:sp>
        <p:nvSpPr>
          <p:cNvPr id="18" name="Text 16"/>
          <p:cNvSpPr txBox="1"/>
          <p:nvPr/>
        </p:nvSpPr>
        <p:spPr>
          <a:xfrm>
            <a:off x="758952" y="4343400"/>
            <a:ext cx="10728655" cy="822960"/>
          </a:xfrm>
          <a:prstGeom prst="rect">
            <a:avLst/>
          </a:prstGeom>
          <a:noFill/>
          <a:ln/>
        </p:spPr>
        <p:txBody>
          <a:bodyPr wrap="square" lIns="0" tIns="0" rIns="0" bIns="0"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Một khóa luận yếu thường là khóa luận có năm chương viết tốt riêng lẻ nhưng không nối được với nhau. Chương 4 phải trả lời đúng câu hỏi đặt ra ở Chương 1.</a:t>
            </a:r>
            <a:endParaRPr lang="en-US" sz="1400" dirty="0"/>
          </a:p>
        </p:txBody>
      </p:sp>
      <p:sp>
        <p:nvSpPr>
          <p:cNvPr id="19" name="Text 17"/>
          <p:cNvSpPr txBox="1"/>
          <p:nvPr/>
        </p:nvSpPr>
        <p:spPr>
          <a:xfrm>
            <a:off x="502920" y="5394960"/>
            <a:ext cx="11185855" cy="411480"/>
          </a:xfrm>
          <a:prstGeom prst="rect">
            <a:avLst/>
          </a:prstGeom>
          <a:noFill/>
          <a:ln/>
        </p:spPr>
        <p:txBody>
          <a:bodyPr wrap="square" lIns="0" tIns="0" rIns="0" bIns="0" rtlCol="0" anchor="ctr"/>
          <a:lstStyle/>
          <a:p>
            <a:pPr marL="0" indent="0">
              <a:buNone/>
            </a:pPr>
            <a:r>
              <a:rPr lang="en-US" sz="1150" i="1" dirty="0">
                <a:solidFill>
                  <a:srgbClr val="3D4552"/>
                </a:solidFill>
                <a:latin typeface="Times New Roman" pitchFamily="34" charset="0"/>
                <a:ea typeface="Times New Roman" pitchFamily="34" charset="-122"/>
                <a:cs typeface="Times New Roman" pitchFamily="34" charset="-120"/>
              </a:rPr>
              <a:t>Cấu trúc năm chương ở đây là hướng dẫn minh họa mang tính định hướng học tập. Số chương thực tế cần được thống nhất với giảng viên hướng dẫn.</a:t>
            </a:r>
            <a:endParaRPr lang="en-US" sz="1150" dirty="0"/>
          </a:p>
        </p:txBody>
      </p:sp>
      <p:sp>
        <p:nvSpPr>
          <p:cNvPr id="20" name="Shape 1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1" name="Text 1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22" name="Text 2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Sơ đồ 5 chương</a:t>
            </a:r>
            <a:endParaRPr lang="en-US" sz="10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Chương 1: Vấn đề nghiên cứu là gì và vì sao cần nghiên cứu</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50749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4837176"/>
          </a:xfrm>
          <a:prstGeom prst="rect">
            <a:avLst/>
          </a:prstGeom>
          <a:noFill/>
          <a:ln/>
        </p:spPr>
        <p:txBody>
          <a:bodyPr wrap="square" lIns="0" tIns="0" rIns="0" bIns="0" rtlCol="0" anchor="t"/>
          <a:lstStyle/>
          <a:p>
            <a:pPr marL="0" indent="0">
              <a:lnSpc>
                <a:spcPct val="150000"/>
              </a:lnSpc>
              <a:buNone/>
            </a:pPr>
            <a:r>
              <a:rPr lang="en-US" sz="2000" b="1" dirty="0">
                <a:solidFill>
                  <a:srgbClr val="12253F"/>
                </a:solidFill>
                <a:latin typeface="Times New Roman" pitchFamily="34" charset="0"/>
                <a:ea typeface="Times New Roman" pitchFamily="34" charset="-122"/>
                <a:cs typeface="Times New Roman" pitchFamily="34" charset="-120"/>
              </a:rPr>
              <a:t>Câu hỏi cần trả lời: </a:t>
            </a:r>
            <a:r>
              <a:rPr lang="en-US" sz="2000" dirty="0">
                <a:solidFill>
                  <a:srgbClr val="000000"/>
                </a:solidFill>
                <a:latin typeface="Times New Roman" pitchFamily="34" charset="0"/>
                <a:ea typeface="Times New Roman" pitchFamily="34" charset="-122"/>
                <a:cs typeface="Times New Roman" pitchFamily="34" charset="-120"/>
              </a:rPr>
              <a:t>Vấn đề gì đang tồn tại, vì sao đáng để nghiên cứu
</a:t>
            </a:r>
            <a:r>
              <a:rPr lang="en-US" sz="2000" b="1" dirty="0">
                <a:solidFill>
                  <a:srgbClr val="12253F"/>
                </a:solidFill>
                <a:latin typeface="Times New Roman" pitchFamily="34" charset="0"/>
                <a:ea typeface="Times New Roman" pitchFamily="34" charset="-122"/>
                <a:cs typeface="Times New Roman" pitchFamily="34" charset="-120"/>
              </a:rPr>
              <a:t>Nội dung tổng quan: </a:t>
            </a:r>
            <a:r>
              <a:rPr lang="en-US" sz="2000" dirty="0">
                <a:solidFill>
                  <a:srgbClr val="000000"/>
                </a:solidFill>
                <a:latin typeface="Times New Roman" pitchFamily="34" charset="0"/>
                <a:ea typeface="Times New Roman" pitchFamily="34" charset="-122"/>
                <a:cs typeface="Times New Roman" pitchFamily="34" charset="-120"/>
              </a:rPr>
              <a:t>Bối cảnh, lý do chọn đề tài, mục tiêu, câu hỏi nghiên cứu, đối tượng, phạm vi
</a:t>
            </a:r>
            <a:r>
              <a:rPr lang="en-US" sz="2000" b="1" dirty="0">
                <a:solidFill>
                  <a:srgbClr val="12253F"/>
                </a:solidFill>
                <a:latin typeface="Times New Roman" pitchFamily="34" charset="0"/>
                <a:ea typeface="Times New Roman" pitchFamily="34" charset="-122"/>
                <a:cs typeface="Times New Roman" pitchFamily="34" charset="-120"/>
              </a:rPr>
              <a:t>Sản phẩm tạo ra: </a:t>
            </a:r>
            <a:r>
              <a:rPr lang="en-US" sz="2000" dirty="0">
                <a:solidFill>
                  <a:srgbClr val="000000"/>
                </a:solidFill>
                <a:latin typeface="Times New Roman" pitchFamily="34" charset="0"/>
                <a:ea typeface="Times New Roman" pitchFamily="34" charset="-122"/>
                <a:cs typeface="Times New Roman" pitchFamily="34" charset="-120"/>
              </a:rPr>
              <a:t>Một vấn đề nghiên cứu được phát biểu rõ ràng, có mục tiêu và câu hỏi cụ thể
</a:t>
            </a:r>
            <a:r>
              <a:rPr lang="en-US" sz="2000" b="1" dirty="0">
                <a:solidFill>
                  <a:srgbClr val="12253F"/>
                </a:solidFill>
                <a:latin typeface="Times New Roman" pitchFamily="34" charset="0"/>
                <a:ea typeface="Times New Roman" pitchFamily="34" charset="-122"/>
                <a:cs typeface="Times New Roman" pitchFamily="34" charset="-120"/>
              </a:rPr>
              <a:t>Liên hệ chương sau: </a:t>
            </a:r>
            <a:r>
              <a:rPr lang="en-US" sz="2000" dirty="0">
                <a:solidFill>
                  <a:srgbClr val="000000"/>
                </a:solidFill>
                <a:latin typeface="Times New Roman" pitchFamily="34" charset="0"/>
                <a:ea typeface="Times New Roman" pitchFamily="34" charset="-122"/>
                <a:cs typeface="Times New Roman" pitchFamily="34" charset="-120"/>
              </a:rPr>
              <a:t>Câu hỏi đặt ra ở đây sẽ được Chương 2 cung cấp nền lý thuyết để trả lời
</a:t>
            </a:r>
            <a:r>
              <a:rPr lang="en-US" sz="2000" b="1" dirty="0">
                <a:solidFill>
                  <a:srgbClr val="12253F"/>
                </a:solidFill>
                <a:latin typeface="Times New Roman" pitchFamily="34" charset="0"/>
                <a:ea typeface="Times New Roman" pitchFamily="34" charset="-122"/>
                <a:cs typeface="Times New Roman" pitchFamily="34" charset="-120"/>
              </a:rPr>
              <a:t>Lỗi thường gặp: </a:t>
            </a:r>
            <a:r>
              <a:rPr lang="en-US" sz="2000" dirty="0">
                <a:solidFill>
                  <a:srgbClr val="000000"/>
                </a:solidFill>
                <a:latin typeface="Times New Roman" pitchFamily="34" charset="0"/>
                <a:ea typeface="Times New Roman" pitchFamily="34" charset="-122"/>
                <a:cs typeface="Times New Roman" pitchFamily="34" charset="-120"/>
              </a:rPr>
              <a:t>Nêu vấn đề chung chung, không gắn với đối tượng và phạm vi cụ thể</a:t>
            </a:r>
            <a:endParaRPr lang="en-US" sz="2000" dirty="0"/>
          </a:p>
        </p:txBody>
      </p:sp>
      <p:sp>
        <p:nvSpPr>
          <p:cNvPr id="6"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8"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Chương 1</a:t>
            </a:r>
            <a:endParaRPr lang="en-US" sz="10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Chương 2: Lý thuyết và nghiên cứu trước giải thích vấn đề như thế nào</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50749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4837176"/>
          </a:xfrm>
          <a:prstGeom prst="rect">
            <a:avLst/>
          </a:prstGeom>
          <a:noFill/>
          <a:ln/>
        </p:spPr>
        <p:txBody>
          <a:bodyPr wrap="square" lIns="0" tIns="0" rIns="0" bIns="0" rtlCol="0" anchor="t"/>
          <a:lstStyle/>
          <a:p>
            <a:pPr marL="0" indent="0">
              <a:lnSpc>
                <a:spcPct val="200000"/>
              </a:lnSpc>
              <a:buNone/>
            </a:pPr>
            <a:r>
              <a:rPr lang="en-US" sz="2000" b="1" dirty="0">
                <a:solidFill>
                  <a:srgbClr val="12253F"/>
                </a:solidFill>
                <a:latin typeface="Times New Roman" pitchFamily="34" charset="0"/>
                <a:ea typeface="Times New Roman" pitchFamily="34" charset="-122"/>
                <a:cs typeface="Times New Roman" pitchFamily="34" charset="-120"/>
              </a:rPr>
              <a:t>Câu hỏi cần trả lời: </a:t>
            </a:r>
            <a:r>
              <a:rPr lang="en-US" sz="2000" dirty="0">
                <a:solidFill>
                  <a:srgbClr val="000000"/>
                </a:solidFill>
                <a:latin typeface="Times New Roman" pitchFamily="34" charset="0"/>
                <a:ea typeface="Times New Roman" pitchFamily="34" charset="-122"/>
                <a:cs typeface="Times New Roman" pitchFamily="34" charset="-120"/>
              </a:rPr>
              <a:t>Ai đã nghiên cứu vấn đề tương tự, họ tìm ra gì, còn thiếu gì
</a:t>
            </a:r>
            <a:r>
              <a:rPr lang="en-US" sz="2000" b="1" dirty="0">
                <a:solidFill>
                  <a:srgbClr val="12253F"/>
                </a:solidFill>
                <a:latin typeface="Times New Roman" pitchFamily="34" charset="0"/>
                <a:ea typeface="Times New Roman" pitchFamily="34" charset="-122"/>
                <a:cs typeface="Times New Roman" pitchFamily="34" charset="-120"/>
              </a:rPr>
              <a:t>Nội dung tổng quan: </a:t>
            </a:r>
            <a:r>
              <a:rPr lang="en-US" sz="2000" dirty="0">
                <a:solidFill>
                  <a:srgbClr val="000000"/>
                </a:solidFill>
                <a:latin typeface="Times New Roman" pitchFamily="34" charset="0"/>
                <a:ea typeface="Times New Roman" pitchFamily="34" charset="-122"/>
                <a:cs typeface="Times New Roman" pitchFamily="34" charset="-120"/>
              </a:rPr>
              <a:t>Cơ sở lý thuyết liên quan, tổng hợp có chọn lọc các nghiên cứu trước, xác định khoảng trống nghiên cứu
</a:t>
            </a:r>
            <a:r>
              <a:rPr lang="en-US" sz="2000" b="1" dirty="0">
                <a:solidFill>
                  <a:srgbClr val="12253F"/>
                </a:solidFill>
                <a:latin typeface="Times New Roman" pitchFamily="34" charset="0"/>
                <a:ea typeface="Times New Roman" pitchFamily="34" charset="-122"/>
                <a:cs typeface="Times New Roman" pitchFamily="34" charset="-120"/>
              </a:rPr>
              <a:t>Sản phẩm tạo ra: </a:t>
            </a:r>
            <a:r>
              <a:rPr lang="en-US" sz="2000" dirty="0">
                <a:solidFill>
                  <a:srgbClr val="000000"/>
                </a:solidFill>
                <a:latin typeface="Times New Roman" pitchFamily="34" charset="0"/>
                <a:ea typeface="Times New Roman" pitchFamily="34" charset="-122"/>
                <a:cs typeface="Times New Roman" pitchFamily="34" charset="-120"/>
              </a:rPr>
              <a:t>Khung lý thuyết và mô hình nghiên cứu dùng cho các chương sau
</a:t>
            </a:r>
            <a:r>
              <a:rPr lang="en-US" sz="2000" b="1" dirty="0">
                <a:solidFill>
                  <a:srgbClr val="12253F"/>
                </a:solidFill>
                <a:latin typeface="Times New Roman" pitchFamily="34" charset="0"/>
                <a:ea typeface="Times New Roman" pitchFamily="34" charset="-122"/>
                <a:cs typeface="Times New Roman" pitchFamily="34" charset="-120"/>
              </a:rPr>
              <a:t>Liên hệ chương sau: </a:t>
            </a:r>
            <a:r>
              <a:rPr lang="en-US" sz="2000" dirty="0">
                <a:solidFill>
                  <a:srgbClr val="000000"/>
                </a:solidFill>
                <a:latin typeface="Times New Roman" pitchFamily="34" charset="0"/>
                <a:ea typeface="Times New Roman" pitchFamily="34" charset="-122"/>
                <a:cs typeface="Times New Roman" pitchFamily="34" charset="-120"/>
              </a:rPr>
              <a:t>Mô hình ở đây quyết định phương pháp thu thập dữ liệu ở Chương 3
</a:t>
            </a:r>
            <a:r>
              <a:rPr lang="en-US" sz="2000" b="1" dirty="0">
                <a:solidFill>
                  <a:srgbClr val="12253F"/>
                </a:solidFill>
                <a:latin typeface="Times New Roman" pitchFamily="34" charset="0"/>
                <a:ea typeface="Times New Roman" pitchFamily="34" charset="-122"/>
                <a:cs typeface="Times New Roman" pitchFamily="34" charset="-120"/>
              </a:rPr>
              <a:t>Lỗi thường gặp: </a:t>
            </a:r>
            <a:r>
              <a:rPr lang="en-US" sz="2000" dirty="0">
                <a:solidFill>
                  <a:srgbClr val="000000"/>
                </a:solidFill>
                <a:latin typeface="Times New Roman" pitchFamily="34" charset="0"/>
                <a:ea typeface="Times New Roman" pitchFamily="34" charset="-122"/>
                <a:cs typeface="Times New Roman" pitchFamily="34" charset="-120"/>
              </a:rPr>
              <a:t>Liệt kê tóm tắt từng nghiên cứu riêng lẻ, không phân tích và so sánh</a:t>
            </a:r>
            <a:endParaRPr lang="en-US" sz="2000" dirty="0"/>
          </a:p>
        </p:txBody>
      </p:sp>
      <p:sp>
        <p:nvSpPr>
          <p:cNvPr id="6"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8"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Chương 2</a:t>
            </a:r>
            <a:endParaRPr lang="en-US" sz="10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Chương 3: Nghiên cứu sẽ thu thập dữ liệu bằng cách nào</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50749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4837176"/>
          </a:xfrm>
          <a:prstGeom prst="rect">
            <a:avLst/>
          </a:prstGeom>
          <a:noFill/>
          <a:ln/>
        </p:spPr>
        <p:txBody>
          <a:bodyPr wrap="square" lIns="0" tIns="0" rIns="0" bIns="0" rtlCol="0" anchor="t"/>
          <a:lstStyle/>
          <a:p>
            <a:pPr marL="0" indent="0">
              <a:lnSpc>
                <a:spcPct val="200000"/>
              </a:lnSpc>
              <a:buNone/>
            </a:pPr>
            <a:r>
              <a:rPr lang="en-US" sz="2000" b="1" dirty="0">
                <a:solidFill>
                  <a:srgbClr val="12253F"/>
                </a:solidFill>
                <a:latin typeface="Times New Roman" pitchFamily="34" charset="0"/>
                <a:ea typeface="Times New Roman" pitchFamily="34" charset="-122"/>
                <a:cs typeface="Times New Roman" pitchFamily="34" charset="-120"/>
              </a:rPr>
              <a:t>Câu hỏi cần trả lời: </a:t>
            </a:r>
            <a:r>
              <a:rPr lang="en-US" sz="2000" dirty="0">
                <a:solidFill>
                  <a:srgbClr val="000000"/>
                </a:solidFill>
                <a:latin typeface="Times New Roman" pitchFamily="34" charset="0"/>
                <a:ea typeface="Times New Roman" pitchFamily="34" charset="-122"/>
                <a:cs typeface="Times New Roman" pitchFamily="34" charset="-120"/>
              </a:rPr>
              <a:t>Dữ liệu nào cần có, thu thập bằng cách nào, phân tích bằng phương pháp nào
</a:t>
            </a:r>
            <a:r>
              <a:rPr lang="en-US" sz="2000" b="1" dirty="0">
                <a:solidFill>
                  <a:srgbClr val="12253F"/>
                </a:solidFill>
                <a:latin typeface="Times New Roman" pitchFamily="34" charset="0"/>
                <a:ea typeface="Times New Roman" pitchFamily="34" charset="-122"/>
                <a:cs typeface="Times New Roman" pitchFamily="34" charset="-120"/>
              </a:rPr>
              <a:t>Nội dung tổng quan: </a:t>
            </a:r>
            <a:r>
              <a:rPr lang="en-US" sz="2000" dirty="0">
                <a:solidFill>
                  <a:srgbClr val="000000"/>
                </a:solidFill>
                <a:latin typeface="Times New Roman" pitchFamily="34" charset="0"/>
                <a:ea typeface="Times New Roman" pitchFamily="34" charset="-122"/>
                <a:cs typeface="Times New Roman" pitchFamily="34" charset="-120"/>
              </a:rPr>
              <a:t>Phương pháp nghiên cứu, nguồn dữ liệu, cách thức thu thập, quy trình phân tích
</a:t>
            </a:r>
            <a:r>
              <a:rPr lang="en-US" sz="2000" b="1" dirty="0">
                <a:solidFill>
                  <a:srgbClr val="12253F"/>
                </a:solidFill>
                <a:latin typeface="Times New Roman" pitchFamily="34" charset="0"/>
                <a:ea typeface="Times New Roman" pitchFamily="34" charset="-122"/>
                <a:cs typeface="Times New Roman" pitchFamily="34" charset="-120"/>
              </a:rPr>
              <a:t>Sản phẩm tạo ra: </a:t>
            </a:r>
            <a:r>
              <a:rPr lang="en-US" sz="2000" dirty="0">
                <a:solidFill>
                  <a:srgbClr val="000000"/>
                </a:solidFill>
                <a:latin typeface="Times New Roman" pitchFamily="34" charset="0"/>
                <a:ea typeface="Times New Roman" pitchFamily="34" charset="-122"/>
                <a:cs typeface="Times New Roman" pitchFamily="34" charset="-120"/>
              </a:rPr>
              <a:t>Một quy trình thu thập và phân tích dữ liệu rõ ràng, có thể thực hiện được
</a:t>
            </a:r>
            <a:r>
              <a:rPr lang="en-US" sz="2000" b="1" dirty="0">
                <a:solidFill>
                  <a:srgbClr val="12253F"/>
                </a:solidFill>
                <a:latin typeface="Times New Roman" pitchFamily="34" charset="0"/>
                <a:ea typeface="Times New Roman" pitchFamily="34" charset="-122"/>
                <a:cs typeface="Times New Roman" pitchFamily="34" charset="-120"/>
              </a:rPr>
              <a:t>Liên hệ chương sau: </a:t>
            </a:r>
            <a:r>
              <a:rPr lang="en-US" sz="2000" dirty="0">
                <a:solidFill>
                  <a:srgbClr val="000000"/>
                </a:solidFill>
                <a:latin typeface="Times New Roman" pitchFamily="34" charset="0"/>
                <a:ea typeface="Times New Roman" pitchFamily="34" charset="-122"/>
                <a:cs typeface="Times New Roman" pitchFamily="34" charset="-120"/>
              </a:rPr>
              <a:t>Quy trình ở đây tạo ra dữ liệu để Chương 4 phân tích
</a:t>
            </a:r>
            <a:r>
              <a:rPr lang="en-US" sz="2000" b="1" dirty="0">
                <a:solidFill>
                  <a:srgbClr val="12253F"/>
                </a:solidFill>
                <a:latin typeface="Times New Roman" pitchFamily="34" charset="0"/>
                <a:ea typeface="Times New Roman" pitchFamily="34" charset="-122"/>
                <a:cs typeface="Times New Roman" pitchFamily="34" charset="-120"/>
              </a:rPr>
              <a:t>Lỗi thường gặp: </a:t>
            </a:r>
            <a:r>
              <a:rPr lang="en-US" sz="2000" dirty="0">
                <a:solidFill>
                  <a:srgbClr val="000000"/>
                </a:solidFill>
                <a:latin typeface="Times New Roman" pitchFamily="34" charset="0"/>
                <a:ea typeface="Times New Roman" pitchFamily="34" charset="-122"/>
                <a:cs typeface="Times New Roman" pitchFamily="34" charset="-120"/>
              </a:rPr>
              <a:t>Chọn phương pháp trước khi biết dữ liệu có tiếp cận được hay không</a:t>
            </a:r>
            <a:endParaRPr lang="en-US" sz="2000" dirty="0"/>
          </a:p>
        </p:txBody>
      </p:sp>
      <p:sp>
        <p:nvSpPr>
          <p:cNvPr id="6"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8"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Chương 3</a:t>
            </a:r>
            <a:endParaRPr lang="en-US" sz="10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Chương 4: Dữ liệu cho thấy điều gì</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50749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4837176"/>
          </a:xfrm>
          <a:prstGeom prst="rect">
            <a:avLst/>
          </a:prstGeom>
          <a:noFill/>
          <a:ln/>
        </p:spPr>
        <p:txBody>
          <a:bodyPr wrap="square" lIns="0" tIns="0" rIns="0" bIns="0" rtlCol="0" anchor="t"/>
          <a:lstStyle/>
          <a:p>
            <a:pPr marL="0" indent="0">
              <a:lnSpc>
                <a:spcPct val="200000"/>
              </a:lnSpc>
              <a:buNone/>
            </a:pPr>
            <a:r>
              <a:rPr lang="en-US" sz="2000" b="1" dirty="0">
                <a:solidFill>
                  <a:srgbClr val="12253F"/>
                </a:solidFill>
                <a:latin typeface="Times New Roman" pitchFamily="34" charset="0"/>
                <a:ea typeface="Times New Roman" pitchFamily="34" charset="-122"/>
                <a:cs typeface="Times New Roman" pitchFamily="34" charset="-120"/>
              </a:rPr>
              <a:t>Câu hỏi cần trả lời: </a:t>
            </a:r>
            <a:r>
              <a:rPr lang="en-US" sz="2000" dirty="0">
                <a:solidFill>
                  <a:srgbClr val="000000"/>
                </a:solidFill>
                <a:latin typeface="Times New Roman" pitchFamily="34" charset="0"/>
                <a:ea typeface="Times New Roman" pitchFamily="34" charset="-122"/>
                <a:cs typeface="Times New Roman" pitchFamily="34" charset="-120"/>
              </a:rPr>
              <a:t>Sau khi phân tích, dữ liệu thật sự nói lên điều gì
</a:t>
            </a:r>
            <a:r>
              <a:rPr lang="en-US" sz="2000" b="1" dirty="0">
                <a:solidFill>
                  <a:srgbClr val="12253F"/>
                </a:solidFill>
                <a:latin typeface="Times New Roman" pitchFamily="34" charset="0"/>
                <a:ea typeface="Times New Roman" pitchFamily="34" charset="-122"/>
                <a:cs typeface="Times New Roman" pitchFamily="34" charset="-120"/>
              </a:rPr>
              <a:t>Nội dung tổng quan: </a:t>
            </a:r>
            <a:r>
              <a:rPr lang="en-US" sz="2000" dirty="0">
                <a:solidFill>
                  <a:srgbClr val="000000"/>
                </a:solidFill>
                <a:latin typeface="Times New Roman" pitchFamily="34" charset="0"/>
                <a:ea typeface="Times New Roman" pitchFamily="34" charset="-122"/>
                <a:cs typeface="Times New Roman" pitchFamily="34" charset="-120"/>
              </a:rPr>
              <a:t>Kết quả phân tích, bảng biểu, so sánh với kết quả của các nghiên cứu trước
</a:t>
            </a:r>
            <a:r>
              <a:rPr lang="en-US" sz="2000" b="1" dirty="0">
                <a:solidFill>
                  <a:srgbClr val="12253F"/>
                </a:solidFill>
                <a:latin typeface="Times New Roman" pitchFamily="34" charset="0"/>
                <a:ea typeface="Times New Roman" pitchFamily="34" charset="-122"/>
                <a:cs typeface="Times New Roman" pitchFamily="34" charset="-120"/>
              </a:rPr>
              <a:t>Sản phẩm tạo ra: </a:t>
            </a:r>
            <a:r>
              <a:rPr lang="en-US" sz="2000" dirty="0">
                <a:solidFill>
                  <a:srgbClr val="000000"/>
                </a:solidFill>
                <a:latin typeface="Times New Roman" pitchFamily="34" charset="0"/>
                <a:ea typeface="Times New Roman" pitchFamily="34" charset="-122"/>
                <a:cs typeface="Times New Roman" pitchFamily="34" charset="-120"/>
              </a:rPr>
              <a:t>Kết quả nghiên cứu đã được diễn giải, không chỉ là số liệu thô
</a:t>
            </a:r>
            <a:r>
              <a:rPr lang="en-US" sz="2000" b="1" dirty="0">
                <a:solidFill>
                  <a:srgbClr val="12253F"/>
                </a:solidFill>
                <a:latin typeface="Times New Roman" pitchFamily="34" charset="0"/>
                <a:ea typeface="Times New Roman" pitchFamily="34" charset="-122"/>
                <a:cs typeface="Times New Roman" pitchFamily="34" charset="-120"/>
              </a:rPr>
              <a:t>Liên hệ chương sau: </a:t>
            </a:r>
            <a:r>
              <a:rPr lang="en-US" sz="2000" dirty="0">
                <a:solidFill>
                  <a:srgbClr val="000000"/>
                </a:solidFill>
                <a:latin typeface="Times New Roman" pitchFamily="34" charset="0"/>
                <a:ea typeface="Times New Roman" pitchFamily="34" charset="-122"/>
                <a:cs typeface="Times New Roman" pitchFamily="34" charset="-120"/>
              </a:rPr>
              <a:t>Kết quả ở đây là căn cứ để Chương 5 trả lời câu hỏi ban đầu
</a:t>
            </a:r>
            <a:r>
              <a:rPr lang="en-US" sz="2000" b="1" dirty="0">
                <a:solidFill>
                  <a:srgbClr val="12253F"/>
                </a:solidFill>
                <a:latin typeface="Times New Roman" pitchFamily="34" charset="0"/>
                <a:ea typeface="Times New Roman" pitchFamily="34" charset="-122"/>
                <a:cs typeface="Times New Roman" pitchFamily="34" charset="-120"/>
              </a:rPr>
              <a:t>Lỗi thường gặp: </a:t>
            </a:r>
            <a:r>
              <a:rPr lang="en-US" sz="2000" dirty="0">
                <a:solidFill>
                  <a:srgbClr val="000000"/>
                </a:solidFill>
                <a:latin typeface="Times New Roman" pitchFamily="34" charset="0"/>
                <a:ea typeface="Times New Roman" pitchFamily="34" charset="-122"/>
                <a:cs typeface="Times New Roman" pitchFamily="34" charset="-120"/>
              </a:rPr>
              <a:t>Chỉ trình bày bảng số liệu mà không diễn giải ý nghĩa của con số</a:t>
            </a:r>
            <a:endParaRPr lang="en-US" sz="2000" dirty="0"/>
          </a:p>
        </p:txBody>
      </p:sp>
      <p:sp>
        <p:nvSpPr>
          <p:cNvPr id="6"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8"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Chương 4</a:t>
            </a:r>
            <a:endParaRPr lang="en-US" sz="10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Chương 5: Nghiên cứu trả lời câu hỏi nghiên cứu ban đầu như thế nào</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11185855" cy="50749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704088" y="1362456"/>
            <a:ext cx="10783519" cy="4837176"/>
          </a:xfrm>
          <a:prstGeom prst="rect">
            <a:avLst/>
          </a:prstGeom>
          <a:noFill/>
          <a:ln/>
        </p:spPr>
        <p:txBody>
          <a:bodyPr wrap="square" lIns="0" tIns="0" rIns="0" bIns="0" rtlCol="0" anchor="t"/>
          <a:lstStyle/>
          <a:p>
            <a:pPr marL="0" indent="0">
              <a:lnSpc>
                <a:spcPct val="200000"/>
              </a:lnSpc>
              <a:buNone/>
            </a:pPr>
            <a:r>
              <a:rPr lang="en-US" sz="2000" b="1" dirty="0">
                <a:solidFill>
                  <a:srgbClr val="12253F"/>
                </a:solidFill>
                <a:latin typeface="Times New Roman" pitchFamily="34" charset="0"/>
                <a:ea typeface="Times New Roman" pitchFamily="34" charset="-122"/>
                <a:cs typeface="Times New Roman" pitchFamily="34" charset="-120"/>
              </a:rPr>
              <a:t>Câu hỏi cần trả lời: </a:t>
            </a:r>
            <a:r>
              <a:rPr lang="en-US" sz="2000" dirty="0">
                <a:solidFill>
                  <a:srgbClr val="000000"/>
                </a:solidFill>
                <a:latin typeface="Times New Roman" pitchFamily="34" charset="0"/>
                <a:ea typeface="Times New Roman" pitchFamily="34" charset="-122"/>
                <a:cs typeface="Times New Roman" pitchFamily="34" charset="-120"/>
              </a:rPr>
              <a:t>Nhìn lại câu hỏi đặt ra ở Chương 1, nghiên cứu này đã trả lời được gì
</a:t>
            </a:r>
            <a:r>
              <a:rPr lang="en-US" sz="2000" b="1" dirty="0">
                <a:solidFill>
                  <a:srgbClr val="12253F"/>
                </a:solidFill>
                <a:latin typeface="Times New Roman" pitchFamily="34" charset="0"/>
                <a:ea typeface="Times New Roman" pitchFamily="34" charset="-122"/>
                <a:cs typeface="Times New Roman" pitchFamily="34" charset="-120"/>
              </a:rPr>
              <a:t>Nội dung tổng quan: </a:t>
            </a:r>
            <a:r>
              <a:rPr lang="en-US" sz="2000" dirty="0">
                <a:solidFill>
                  <a:srgbClr val="000000"/>
                </a:solidFill>
                <a:latin typeface="Times New Roman" pitchFamily="34" charset="0"/>
                <a:ea typeface="Times New Roman" pitchFamily="34" charset="-122"/>
                <a:cs typeface="Times New Roman" pitchFamily="34" charset="-120"/>
              </a:rPr>
              <a:t>Kết luận theo từng câu hỏi nghiên cứu, hàm ý hoặc khuyến nghị, hạn chế, hướng nghiên cứu tiếp theo
</a:t>
            </a:r>
            <a:r>
              <a:rPr lang="en-US" sz="2000" b="1" dirty="0">
                <a:solidFill>
                  <a:srgbClr val="12253F"/>
                </a:solidFill>
                <a:latin typeface="Times New Roman" pitchFamily="34" charset="0"/>
                <a:ea typeface="Times New Roman" pitchFamily="34" charset="-122"/>
                <a:cs typeface="Times New Roman" pitchFamily="34" charset="-120"/>
              </a:rPr>
              <a:t>Sản phẩm tạo ra: </a:t>
            </a:r>
            <a:r>
              <a:rPr lang="en-US" sz="2000" dirty="0">
                <a:solidFill>
                  <a:srgbClr val="000000"/>
                </a:solidFill>
                <a:latin typeface="Times New Roman" pitchFamily="34" charset="0"/>
                <a:ea typeface="Times New Roman" pitchFamily="34" charset="-122"/>
                <a:cs typeface="Times New Roman" pitchFamily="34" charset="-120"/>
              </a:rPr>
              <a:t>Một kết luận có căn cứ, gắn chặt với mục tiêu đã đặt ra ở Chương 1
</a:t>
            </a:r>
            <a:r>
              <a:rPr lang="en-US" sz="2000" b="1" dirty="0">
                <a:solidFill>
                  <a:srgbClr val="12253F"/>
                </a:solidFill>
                <a:latin typeface="Times New Roman" pitchFamily="34" charset="0"/>
                <a:ea typeface="Times New Roman" pitchFamily="34" charset="-122"/>
                <a:cs typeface="Times New Roman" pitchFamily="34" charset="-120"/>
              </a:rPr>
              <a:t>Liên hệ chương sau: </a:t>
            </a:r>
            <a:r>
              <a:rPr lang="en-US" sz="2000" dirty="0">
                <a:solidFill>
                  <a:srgbClr val="000000"/>
                </a:solidFill>
                <a:latin typeface="Times New Roman" pitchFamily="34" charset="0"/>
                <a:ea typeface="Times New Roman" pitchFamily="34" charset="-122"/>
                <a:cs typeface="Times New Roman" pitchFamily="34" charset="-120"/>
              </a:rPr>
              <a:t>Đây là điểm khép vòng lặp logic, kết luận phải khớp với câu hỏi ban đầu
</a:t>
            </a:r>
            <a:r>
              <a:rPr lang="en-US" sz="2000" b="1" dirty="0">
                <a:solidFill>
                  <a:srgbClr val="12253F"/>
                </a:solidFill>
                <a:latin typeface="Times New Roman" pitchFamily="34" charset="0"/>
                <a:ea typeface="Times New Roman" pitchFamily="34" charset="-122"/>
                <a:cs typeface="Times New Roman" pitchFamily="34" charset="-120"/>
              </a:rPr>
              <a:t>Lỗi thường gặp: </a:t>
            </a:r>
            <a:r>
              <a:rPr lang="en-US" sz="2000" dirty="0">
                <a:solidFill>
                  <a:srgbClr val="000000"/>
                </a:solidFill>
                <a:latin typeface="Times New Roman" pitchFamily="34" charset="0"/>
                <a:ea typeface="Times New Roman" pitchFamily="34" charset="-122"/>
                <a:cs typeface="Times New Roman" pitchFamily="34" charset="-120"/>
              </a:rPr>
              <a:t>Đưa ra kết luận nằm ngoài phạm vi dữ liệu đã thu thập</a:t>
            </a:r>
            <a:endParaRPr lang="en-US" sz="2000" dirty="0"/>
          </a:p>
        </p:txBody>
      </p:sp>
      <p:sp>
        <p:nvSpPr>
          <p:cNvPr id="6"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8"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6 · Chương 5</a:t>
            </a:r>
            <a:endParaRPr lang="en-US" sz="10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Case minh họa: Case B đi qua năm chương, Chương 5 trả lời lại câu hỏi của Chương 1</a:t>
            </a:r>
            <a:endParaRPr lang="en-US" sz="1700" dirty="0"/>
          </a:p>
        </p:txBody>
      </p:sp>
      <p:sp>
        <p:nvSpPr>
          <p:cNvPr id="3" name="Shape 1"/>
          <p:cNvSpPr/>
          <p:nvPr/>
        </p:nvSpPr>
        <p:spPr>
          <a:xfrm>
            <a:off x="502920" y="77124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960120"/>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960120"/>
            <a:ext cx="5952744" cy="310896"/>
          </a:xfrm>
          <a:prstGeom prst="rect">
            <a:avLst/>
          </a:prstGeom>
          <a:noFill/>
          <a:ln/>
        </p:spPr>
        <p:txBody>
          <a:bodyPr wrap="square" lIns="0" tIns="0" rIns="0" bIns="0" rtlCol="0" anchor="ctr"/>
          <a:lstStyle/>
          <a:p>
            <a:pPr marL="0" indent="0" algn="ctr">
              <a:buNone/>
            </a:pPr>
            <a:r>
              <a:rPr lang="en-US" sz="1050" b="1" kern="0" spc="100" dirty="0">
                <a:solidFill>
                  <a:srgbClr val="12253F"/>
                </a:solidFill>
                <a:latin typeface="Times New Roman" pitchFamily="34" charset="0"/>
                <a:ea typeface="Times New Roman" pitchFamily="34" charset="-122"/>
                <a:cs typeface="Times New Roman" pitchFamily="34" charset="-120"/>
              </a:rPr>
              <a:t>VÍ DỤ MINH HỌA</a:t>
            </a:r>
            <a:endParaRPr lang="en-US" sz="1050" dirty="0"/>
          </a:p>
        </p:txBody>
      </p:sp>
      <p:sp>
        <p:nvSpPr>
          <p:cNvPr id="6" name="Text 4"/>
          <p:cNvSpPr txBox="1"/>
          <p:nvPr/>
        </p:nvSpPr>
        <p:spPr>
          <a:xfrm>
            <a:off x="502920" y="1384872"/>
            <a:ext cx="11155680" cy="457200"/>
          </a:xfrm>
          <a:prstGeom prst="rect">
            <a:avLst/>
          </a:prstGeom>
          <a:noFill/>
          <a:ln/>
        </p:spPr>
        <p:txBody>
          <a:bodyPr wrap="square" lIns="0" tIns="0" rIns="0" bIns="0" rtlCol="0" anchor="t"/>
          <a:lstStyle/>
          <a:p>
            <a:pPr marL="0" indent="0">
              <a:buNone/>
            </a:pPr>
            <a:r>
              <a:rPr lang="en-US" sz="1600" dirty="0">
                <a:solidFill>
                  <a:srgbClr val="1A1A1A"/>
                </a:solidFill>
                <a:latin typeface="Times New Roman" pitchFamily="34" charset="0"/>
                <a:ea typeface="Times New Roman" pitchFamily="34" charset="-122"/>
                <a:cs typeface="Times New Roman" pitchFamily="34" charset="-120"/>
              </a:rPr>
              <a:t>Trường tiểu học: phụ huynh phàn nàn về chất lượng phục vụ hành chính tại trường.</a:t>
            </a:r>
            <a:endParaRPr lang="en-US" sz="1600" dirty="0"/>
          </a:p>
        </p:txBody>
      </p:sp>
      <p:sp>
        <p:nvSpPr>
          <p:cNvPr id="7" name="Shape 5"/>
          <p:cNvSpPr/>
          <p:nvPr/>
        </p:nvSpPr>
        <p:spPr>
          <a:xfrm>
            <a:off x="502920" y="2103120"/>
            <a:ext cx="3545738" cy="1234440"/>
          </a:xfrm>
          <a:prstGeom prst="roundRect">
            <a:avLst>
              <a:gd name="adj" fmla="val 5185"/>
            </a:avLst>
          </a:prstGeom>
          <a:solidFill>
            <a:srgbClr val="12253F"/>
          </a:solidFill>
          <a:ln w="19050">
            <a:solidFill>
              <a:srgbClr val="12253F"/>
            </a:solidFill>
            <a:prstDash val="solid"/>
          </a:ln>
        </p:spPr>
        <p:txBody>
          <a:bodyPr/>
          <a:lstStyle/>
          <a:p>
            <a:endParaRPr lang="en-US"/>
          </a:p>
        </p:txBody>
      </p:sp>
      <p:sp>
        <p:nvSpPr>
          <p:cNvPr id="8" name="Text 6"/>
          <p:cNvSpPr txBox="1"/>
          <p:nvPr/>
        </p:nvSpPr>
        <p:spPr>
          <a:xfrm>
            <a:off x="557784" y="2103120"/>
            <a:ext cx="343601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Chương 1</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Yếu tố nào ảnh hưởng đến mức hài lòng của phụ huynh với dịch vụ hành chính</a:t>
            </a:r>
            <a:endParaRPr lang="en-US" sz="1200" dirty="0"/>
          </a:p>
        </p:txBody>
      </p:sp>
      <p:sp>
        <p:nvSpPr>
          <p:cNvPr id="9" name="Shape 7"/>
          <p:cNvSpPr/>
          <p:nvPr/>
        </p:nvSpPr>
        <p:spPr>
          <a:xfrm>
            <a:off x="4100779" y="2528316"/>
            <a:ext cx="170078" cy="384048"/>
          </a:xfrm>
          <a:prstGeom prst="chevron">
            <a:avLst/>
          </a:prstGeom>
          <a:solidFill>
            <a:srgbClr val="1F5C82"/>
          </a:solidFill>
          <a:ln/>
        </p:spPr>
        <p:txBody>
          <a:bodyPr/>
          <a:lstStyle/>
          <a:p>
            <a:endParaRPr lang="en-US"/>
          </a:p>
        </p:txBody>
      </p:sp>
      <p:sp>
        <p:nvSpPr>
          <p:cNvPr id="10" name="Shape 8"/>
          <p:cNvSpPr/>
          <p:nvPr/>
        </p:nvSpPr>
        <p:spPr>
          <a:xfrm>
            <a:off x="4322978" y="2103120"/>
            <a:ext cx="3545738" cy="1234440"/>
          </a:xfrm>
          <a:prstGeom prst="roundRect">
            <a:avLst>
              <a:gd name="adj" fmla="val 5185"/>
            </a:avLst>
          </a:prstGeom>
          <a:solidFill>
            <a:srgbClr val="12253F"/>
          </a:solidFill>
          <a:ln w="19050">
            <a:solidFill>
              <a:srgbClr val="12253F"/>
            </a:solidFill>
            <a:prstDash val="solid"/>
          </a:ln>
        </p:spPr>
        <p:txBody>
          <a:bodyPr/>
          <a:lstStyle/>
          <a:p>
            <a:endParaRPr lang="en-US"/>
          </a:p>
        </p:txBody>
      </p:sp>
      <p:sp>
        <p:nvSpPr>
          <p:cNvPr id="11" name="Text 9"/>
          <p:cNvSpPr txBox="1"/>
          <p:nvPr/>
        </p:nvSpPr>
        <p:spPr>
          <a:xfrm>
            <a:off x="4377842" y="2103120"/>
            <a:ext cx="343601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Chương 2</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Lý thuyết chất lượng dịch vụ giải thích điều gì tạo nên sự hài lòng</a:t>
            </a:r>
            <a:endParaRPr lang="en-US" sz="1200" dirty="0"/>
          </a:p>
        </p:txBody>
      </p:sp>
      <p:sp>
        <p:nvSpPr>
          <p:cNvPr id="12" name="Shape 10"/>
          <p:cNvSpPr/>
          <p:nvPr/>
        </p:nvSpPr>
        <p:spPr>
          <a:xfrm>
            <a:off x="7920838" y="2528316"/>
            <a:ext cx="170078" cy="384048"/>
          </a:xfrm>
          <a:prstGeom prst="chevron">
            <a:avLst/>
          </a:prstGeom>
          <a:solidFill>
            <a:srgbClr val="1F5C82"/>
          </a:solidFill>
          <a:ln/>
        </p:spPr>
        <p:txBody>
          <a:bodyPr/>
          <a:lstStyle/>
          <a:p>
            <a:endParaRPr lang="en-US"/>
          </a:p>
        </p:txBody>
      </p:sp>
      <p:sp>
        <p:nvSpPr>
          <p:cNvPr id="13" name="Shape 11"/>
          <p:cNvSpPr/>
          <p:nvPr/>
        </p:nvSpPr>
        <p:spPr>
          <a:xfrm>
            <a:off x="8143037" y="2103120"/>
            <a:ext cx="3545738" cy="1234440"/>
          </a:xfrm>
          <a:prstGeom prst="roundRect">
            <a:avLst>
              <a:gd name="adj" fmla="val 5185"/>
            </a:avLst>
          </a:prstGeom>
          <a:solidFill>
            <a:srgbClr val="12253F"/>
          </a:solidFill>
          <a:ln w="19050">
            <a:solidFill>
              <a:srgbClr val="12253F"/>
            </a:solidFill>
            <a:prstDash val="solid"/>
          </a:ln>
        </p:spPr>
        <p:txBody>
          <a:bodyPr/>
          <a:lstStyle/>
          <a:p>
            <a:endParaRPr lang="en-US"/>
          </a:p>
        </p:txBody>
      </p:sp>
      <p:sp>
        <p:nvSpPr>
          <p:cNvPr id="14" name="Text 12"/>
          <p:cNvSpPr txBox="1"/>
          <p:nvPr/>
        </p:nvSpPr>
        <p:spPr>
          <a:xfrm>
            <a:off x="8197901" y="2103120"/>
            <a:ext cx="343601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Chương 3</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Khảo sát phụ huynh bằng bảng hỏi như thế nào để đo được các yếu tố đó</a:t>
            </a:r>
            <a:endParaRPr lang="en-US" sz="1200" dirty="0"/>
          </a:p>
        </p:txBody>
      </p:sp>
      <p:sp>
        <p:nvSpPr>
          <p:cNvPr id="15" name="Shape 13"/>
          <p:cNvSpPr/>
          <p:nvPr/>
        </p:nvSpPr>
        <p:spPr>
          <a:xfrm>
            <a:off x="502920" y="3611880"/>
            <a:ext cx="5455768" cy="1234440"/>
          </a:xfrm>
          <a:prstGeom prst="roundRect">
            <a:avLst>
              <a:gd name="adj" fmla="val 5185"/>
            </a:avLst>
          </a:prstGeom>
          <a:solidFill>
            <a:srgbClr val="12253F"/>
          </a:solidFill>
          <a:ln w="19050">
            <a:solidFill>
              <a:srgbClr val="12253F"/>
            </a:solidFill>
            <a:prstDash val="solid"/>
          </a:ln>
        </p:spPr>
        <p:txBody>
          <a:bodyPr/>
          <a:lstStyle/>
          <a:p>
            <a:endParaRPr lang="en-US"/>
          </a:p>
        </p:txBody>
      </p:sp>
      <p:sp>
        <p:nvSpPr>
          <p:cNvPr id="16" name="Text 14"/>
          <p:cNvSpPr txBox="1"/>
          <p:nvPr/>
        </p:nvSpPr>
        <p:spPr>
          <a:xfrm>
            <a:off x="557784" y="3611880"/>
            <a:ext cx="534604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Chương 4</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Dữ liệu khảo sát cho thấy mức hài lòng hiện tại và yếu tố nào ảnh hưởng mạnh nhất</a:t>
            </a:r>
            <a:endParaRPr lang="en-US" sz="1200" dirty="0"/>
          </a:p>
        </p:txBody>
      </p:sp>
      <p:sp>
        <p:nvSpPr>
          <p:cNvPr id="17" name="Shape 15"/>
          <p:cNvSpPr/>
          <p:nvPr/>
        </p:nvSpPr>
        <p:spPr>
          <a:xfrm>
            <a:off x="6010808" y="4037076"/>
            <a:ext cx="170078" cy="384048"/>
          </a:xfrm>
          <a:prstGeom prst="chevron">
            <a:avLst/>
          </a:prstGeom>
          <a:solidFill>
            <a:srgbClr val="1F5C82"/>
          </a:solidFill>
          <a:ln/>
        </p:spPr>
        <p:txBody>
          <a:bodyPr/>
          <a:lstStyle/>
          <a:p>
            <a:endParaRPr lang="en-US"/>
          </a:p>
        </p:txBody>
      </p:sp>
      <p:sp>
        <p:nvSpPr>
          <p:cNvPr id="18" name="Shape 16"/>
          <p:cNvSpPr/>
          <p:nvPr/>
        </p:nvSpPr>
        <p:spPr>
          <a:xfrm>
            <a:off x="6233008" y="3611880"/>
            <a:ext cx="5455768" cy="1234440"/>
          </a:xfrm>
          <a:prstGeom prst="roundRect">
            <a:avLst>
              <a:gd name="adj" fmla="val 5185"/>
            </a:avLst>
          </a:prstGeom>
          <a:solidFill>
            <a:srgbClr val="12253F"/>
          </a:solidFill>
          <a:ln w="19050">
            <a:solidFill>
              <a:srgbClr val="12253F"/>
            </a:solidFill>
            <a:prstDash val="solid"/>
          </a:ln>
        </p:spPr>
        <p:txBody>
          <a:bodyPr/>
          <a:lstStyle/>
          <a:p>
            <a:endParaRPr lang="en-US"/>
          </a:p>
        </p:txBody>
      </p:sp>
      <p:sp>
        <p:nvSpPr>
          <p:cNvPr id="19" name="Text 17"/>
          <p:cNvSpPr txBox="1"/>
          <p:nvPr/>
        </p:nvSpPr>
        <p:spPr>
          <a:xfrm>
            <a:off x="6287872" y="3611880"/>
            <a:ext cx="5346040" cy="1234440"/>
          </a:xfrm>
          <a:prstGeom prst="rect">
            <a:avLst/>
          </a:prstGeom>
          <a:noFill/>
          <a:ln/>
        </p:spPr>
        <p:txBody>
          <a:bodyPr wrap="square" lIns="0" tIns="0" rIns="0" bIns="0" rtlCol="0" anchor="ctr"/>
          <a:lstStyle/>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Chương 5</a:t>
            </a:r>
            <a:endParaRPr lang="en-US" sz="1200" dirty="0"/>
          </a:p>
          <a:p>
            <a:pPr marL="0" indent="0" algn="ctr">
              <a:buNone/>
            </a:pPr>
            <a:r>
              <a:rPr lang="en-US" sz="1200" b="1" dirty="0">
                <a:solidFill>
                  <a:srgbClr val="FFFFFF"/>
                </a:solidFill>
                <a:latin typeface="Times New Roman" pitchFamily="34" charset="0"/>
                <a:ea typeface="Times New Roman" pitchFamily="34" charset="-122"/>
                <a:cs typeface="Times New Roman" pitchFamily="34" charset="-120"/>
              </a:rPr>
              <a:t>Trả lời lại câu hỏi Chương 1: yếu tố ảnh hưởng đã được xác định, kèm khuyến nghị cho trường</a:t>
            </a:r>
            <a:endParaRPr lang="en-US" sz="1200" dirty="0"/>
          </a:p>
        </p:txBody>
      </p:sp>
      <p:sp>
        <p:nvSpPr>
          <p:cNvPr id="20" name="Shape 18"/>
          <p:cNvSpPr/>
          <p:nvPr/>
        </p:nvSpPr>
        <p:spPr>
          <a:xfrm>
            <a:off x="502920" y="5074920"/>
            <a:ext cx="11185855" cy="777240"/>
          </a:xfrm>
          <a:prstGeom prst="rect">
            <a:avLst/>
          </a:prstGeom>
          <a:solidFill>
            <a:srgbClr val="F0F2F5"/>
          </a:solidFill>
          <a:ln w="9525">
            <a:solidFill>
              <a:srgbClr val="12253F"/>
            </a:solidFill>
            <a:prstDash val="solid"/>
          </a:ln>
        </p:spPr>
        <p:txBody>
          <a:bodyPr/>
          <a:lstStyle/>
          <a:p>
            <a:endParaRPr lang="en-US"/>
          </a:p>
        </p:txBody>
      </p:sp>
      <p:sp>
        <p:nvSpPr>
          <p:cNvPr id="21" name="Text 19"/>
          <p:cNvSpPr txBox="1"/>
          <p:nvPr/>
        </p:nvSpPr>
        <p:spPr>
          <a:xfrm>
            <a:off x="758952" y="5166360"/>
            <a:ext cx="10728655" cy="59436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Câu hỏi Chương 1 đặt ra là yếu tố nào ảnh hưởng đến mức hài lòng của phụ huynh. Chương 5 quay lại đúng câu hỏi đó, trả lời bằng kết quả đã phân tích ở Chương 4, không trả lời một câu hỏi khác.</a:t>
            </a:r>
            <a:endParaRPr lang="en-US" sz="1350" dirty="0"/>
          </a:p>
        </p:txBody>
      </p:sp>
      <p:sp>
        <p:nvSpPr>
          <p:cNvPr id="22" name="Shape 20"/>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3" name="Text 21"/>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a:t>
            </a:r>
            <a:endParaRPr lang="en-US" sz="1000" dirty="0"/>
          </a:p>
        </p:txBody>
      </p:sp>
      <p:sp>
        <p:nvSpPr>
          <p:cNvPr id="24" name="Text 22"/>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Case B qua năm chương</a:t>
            </a:r>
            <a:endParaRPr lang="en-US" sz="10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VIII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45087" y="1382134"/>
            <a:ext cx="161574" cy="193889"/>
          </a:xfrm>
          <a:prstGeom prst="rect">
            <a:avLst/>
          </a:prstGeom>
          <a:solidFill>
            <a:srgbClr val="FFFFFF"/>
          </a:solidFill>
          <a:ln/>
        </p:spPr>
        <p:txBody>
          <a:bodyPr/>
          <a:lstStyle/>
          <a:p>
            <a:endParaRPr lang="en-US"/>
          </a:p>
        </p:txBody>
      </p:sp>
      <p:sp>
        <p:nvSpPr>
          <p:cNvPr id="6" name="Shape 4"/>
          <p:cNvSpPr/>
          <p:nvPr/>
        </p:nvSpPr>
        <p:spPr>
          <a:xfrm>
            <a:off x="4203607" y="1382134"/>
            <a:ext cx="161574" cy="193889"/>
          </a:xfrm>
          <a:prstGeom prst="rect">
            <a:avLst/>
          </a:prstGeom>
          <a:solidFill>
            <a:srgbClr val="FFFFFF"/>
          </a:solidFill>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Trích dẫn, tài liệu tham khảo và phụ lục</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Đây là phần thể hiện tính trung thực học thuật. Core Slide 1 chỉ giới thiệu tổng quan và chuẩn trích dẫn APA, bảng tra cứu chi tiết theo từng loại tài liệu sẽ có ở Core Slide 2.</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Trích dẫn là gì, khi nào cần trích dẫn</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Phụ lục dùng để chứa nội dung nào</a:t>
            </a:r>
            <a:endParaRPr lang="en-US" sz="2000" dirty="0"/>
          </a:p>
        </p:txBody>
      </p:sp>
      <p:sp>
        <p:nvSpPr>
          <p:cNvPr id="13" name="Shape 11"/>
          <p:cNvSpPr/>
          <p:nvPr/>
        </p:nvSpPr>
        <p:spPr>
          <a:xfrm>
            <a:off x="822960" y="5605272"/>
            <a:ext cx="100584" cy="100584"/>
          </a:xfrm>
          <a:prstGeom prst="ellipse">
            <a:avLst/>
          </a:prstGeom>
          <a:solidFill>
            <a:srgbClr val="1F5C82"/>
          </a:solidFill>
          <a:ln/>
        </p:spPr>
        <p:txBody>
          <a:bodyPr/>
          <a:lstStyle/>
          <a:p>
            <a:endParaRPr lang="en-US"/>
          </a:p>
        </p:txBody>
      </p:sp>
      <p:sp>
        <p:nvSpPr>
          <p:cNvPr id="14" name="Text 12"/>
          <p:cNvSpPr txBox="1"/>
          <p:nvPr/>
        </p:nvSpPr>
        <p:spPr>
          <a:xfrm>
            <a:off x="1069848" y="5513832"/>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Chuẩn trích dẫn APA có những nguyên tắc cốt lõi nào</a:t>
            </a:r>
            <a:endParaRPr lang="en-US" sz="20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Trích dẫn là gì và vì sao phải trích dẫn</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85855" cy="594360"/>
          </a:xfrm>
          <a:prstGeom prst="rect">
            <a:avLst/>
          </a:prstGeom>
          <a:noFill/>
          <a:ln/>
        </p:spPr>
        <p:txBody>
          <a:bodyPr wrap="square" lIns="0" tIns="0" rIns="0" bIns="0" rtlCol="0" anchor="t"/>
          <a:lstStyle/>
          <a:p>
            <a:pPr marL="0" indent="0">
              <a:buNone/>
            </a:pPr>
            <a:r>
              <a:rPr lang="en-US" sz="2000" b="1" dirty="0">
                <a:solidFill>
                  <a:srgbClr val="1A1A1A"/>
                </a:solidFill>
                <a:latin typeface="Times New Roman" pitchFamily="34" charset="0"/>
                <a:ea typeface="Times New Roman" pitchFamily="34" charset="-122"/>
                <a:cs typeface="Times New Roman" pitchFamily="34" charset="-120"/>
              </a:rPr>
              <a:t>Trích dẫn</a:t>
            </a:r>
            <a:r>
              <a:rPr lang="en-US" sz="2000" dirty="0">
                <a:solidFill>
                  <a:srgbClr val="1A1A1A"/>
                </a:solidFill>
                <a:latin typeface="Times New Roman" pitchFamily="34" charset="0"/>
                <a:ea typeface="Times New Roman" pitchFamily="34" charset="-122"/>
                <a:cs typeface="Times New Roman" pitchFamily="34" charset="-120"/>
              </a:rPr>
              <a:t> là việc ghi rõ nguồn gốc của một ý kiến, số liệu, khái niệm hoặc nhận định mà sinh viên sử dụng từ tài liệu của người khác.</a:t>
            </a:r>
            <a:endParaRPr lang="en-US" sz="2000" dirty="0"/>
          </a:p>
        </p:txBody>
      </p:sp>
      <p:sp>
        <p:nvSpPr>
          <p:cNvPr id="5" name="Text 3"/>
          <p:cNvSpPr txBox="1"/>
          <p:nvPr/>
        </p:nvSpPr>
        <p:spPr>
          <a:xfrm>
            <a:off x="502920" y="1920240"/>
            <a:ext cx="5410048" cy="320040"/>
          </a:xfrm>
          <a:prstGeom prst="rect">
            <a:avLst/>
          </a:prstGeom>
          <a:noFill/>
          <a:ln/>
        </p:spPr>
        <p:txBody>
          <a:bodyPr wrap="square" lIns="0" tIns="0" rIns="0" bIns="0" rtlCol="0" anchor="ctr"/>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Khi nào cần trích dẫn</a:t>
            </a:r>
            <a:endParaRPr lang="en-US" sz="2000" dirty="0"/>
          </a:p>
        </p:txBody>
      </p:sp>
      <p:sp>
        <p:nvSpPr>
          <p:cNvPr id="6" name="Text 4"/>
          <p:cNvSpPr txBox="1"/>
          <p:nvPr/>
        </p:nvSpPr>
        <p:spPr>
          <a:xfrm>
            <a:off x="502920" y="2286000"/>
            <a:ext cx="5410048" cy="1371600"/>
          </a:xfrm>
          <a:prstGeom prst="rect">
            <a:avLst/>
          </a:prstGeom>
          <a:noFill/>
          <a:ln/>
        </p:spPr>
        <p:txBody>
          <a:bodyPr wrap="square" lIns="0" tIns="0" rIns="0" bIns="0" rtlCol="0" anchor="t"/>
          <a:lstStyle/>
          <a:p>
            <a:pPr marL="0" indent="0">
              <a:lnSpc>
                <a:spcPct val="115000"/>
              </a:lnSpc>
              <a:buNone/>
            </a:pPr>
            <a:r>
              <a:rPr lang="en-US" sz="1850" dirty="0">
                <a:solidFill>
                  <a:srgbClr val="1A1A1A"/>
                </a:solidFill>
                <a:latin typeface="Times New Roman" pitchFamily="34" charset="0"/>
                <a:ea typeface="Times New Roman" pitchFamily="34" charset="-122"/>
                <a:cs typeface="Times New Roman" pitchFamily="34" charset="-120"/>
              </a:rPr>
              <a:t>•  Khi sử dụng số liệu, dữ kiện từ nguồn khác
•  Khi sử dụng ý kiến, nhận định của tác giả khác
•  Khi sử dụng khái niệm hoặc lý thuyết đã có
•  Khi diễn giải lại nội dung bằng lời của mình</a:t>
            </a:r>
            <a:endParaRPr lang="en-US" sz="1850" dirty="0"/>
          </a:p>
        </p:txBody>
      </p:sp>
      <p:sp>
        <p:nvSpPr>
          <p:cNvPr id="7" name="Text 5"/>
          <p:cNvSpPr txBox="1"/>
          <p:nvPr/>
        </p:nvSpPr>
        <p:spPr>
          <a:xfrm>
            <a:off x="6278728" y="1920240"/>
            <a:ext cx="5410048" cy="320040"/>
          </a:xfrm>
          <a:prstGeom prst="rect">
            <a:avLst/>
          </a:prstGeom>
          <a:noFill/>
          <a:ln/>
        </p:spPr>
        <p:txBody>
          <a:bodyPr wrap="square" lIns="0" tIns="0" rIns="0" bIns="0" rtlCol="0" anchor="ctr"/>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Trực tiếp và gián tiếp</a:t>
            </a:r>
            <a:endParaRPr lang="en-US" sz="2000" dirty="0"/>
          </a:p>
        </p:txBody>
      </p:sp>
      <p:sp>
        <p:nvSpPr>
          <p:cNvPr id="8" name="Shape 6"/>
          <p:cNvSpPr/>
          <p:nvPr/>
        </p:nvSpPr>
        <p:spPr>
          <a:xfrm>
            <a:off x="6278728" y="2286000"/>
            <a:ext cx="5410048" cy="77724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6425032" y="2395728"/>
            <a:ext cx="5117440" cy="557784"/>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Trích dẫn trực tiếp: </a:t>
            </a:r>
            <a:r>
              <a:rPr lang="en-US" sz="1800" dirty="0">
                <a:solidFill>
                  <a:srgbClr val="000000"/>
                </a:solidFill>
                <a:latin typeface="Times New Roman" pitchFamily="34" charset="0"/>
                <a:ea typeface="Times New Roman" pitchFamily="34" charset="-122"/>
                <a:cs typeface="Times New Roman" pitchFamily="34" charset="-120"/>
              </a:rPr>
              <a:t>dẫn nguyên văn trong ngoặc kép, kèm số trang.</a:t>
            </a:r>
            <a:endParaRPr lang="en-US" sz="1800" dirty="0"/>
          </a:p>
        </p:txBody>
      </p:sp>
      <p:sp>
        <p:nvSpPr>
          <p:cNvPr id="10" name="Shape 8"/>
          <p:cNvSpPr/>
          <p:nvPr/>
        </p:nvSpPr>
        <p:spPr>
          <a:xfrm>
            <a:off x="6278728" y="3200400"/>
            <a:ext cx="5410048" cy="77724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6425032" y="3310128"/>
            <a:ext cx="5117440" cy="557784"/>
          </a:xfrm>
          <a:prstGeom prst="rect">
            <a:avLst/>
          </a:prstGeom>
          <a:noFill/>
          <a:ln/>
        </p:spPr>
        <p:txBody>
          <a:bodyPr wrap="square" lIns="0" tIns="0" rIns="0" bIns="0" rtlCol="0" anchor="t"/>
          <a:lstStyle/>
          <a:p>
            <a:pPr marL="0" indent="0">
              <a:buNone/>
            </a:pPr>
            <a:r>
              <a:rPr lang="en-US" sz="1800" b="1" dirty="0">
                <a:solidFill>
                  <a:srgbClr val="000000"/>
                </a:solidFill>
                <a:latin typeface="Times New Roman" pitchFamily="34" charset="0"/>
                <a:ea typeface="Times New Roman" pitchFamily="34" charset="-122"/>
                <a:cs typeface="Times New Roman" pitchFamily="34" charset="-120"/>
              </a:rPr>
              <a:t>Trích dẫn gián tiếp: </a:t>
            </a:r>
            <a:r>
              <a:rPr lang="en-US" sz="1800" dirty="0">
                <a:solidFill>
                  <a:srgbClr val="000000"/>
                </a:solidFill>
                <a:latin typeface="Times New Roman" pitchFamily="34" charset="0"/>
                <a:ea typeface="Times New Roman" pitchFamily="34" charset="-122"/>
                <a:cs typeface="Times New Roman" pitchFamily="34" charset="-120"/>
              </a:rPr>
              <a:t>viết lại ý tưởng bằng lời riêng, ghi tác giả và năm.</a:t>
            </a:r>
            <a:endParaRPr lang="en-US" sz="1800" dirty="0"/>
          </a:p>
        </p:txBody>
      </p:sp>
      <p:sp>
        <p:nvSpPr>
          <p:cNvPr id="12" name="Shape 10"/>
          <p:cNvSpPr/>
          <p:nvPr/>
        </p:nvSpPr>
        <p:spPr>
          <a:xfrm>
            <a:off x="502920" y="4160520"/>
            <a:ext cx="11185855" cy="1371600"/>
          </a:xfrm>
          <a:prstGeom prst="rect">
            <a:avLst/>
          </a:prstGeom>
          <a:solidFill>
            <a:srgbClr val="F0F2F5"/>
          </a:solidFill>
          <a:ln w="9525">
            <a:solidFill>
              <a:srgbClr val="12253F"/>
            </a:solidFill>
            <a:prstDash val="solid"/>
          </a:ln>
        </p:spPr>
        <p:txBody>
          <a:bodyPr/>
          <a:lstStyle/>
          <a:p>
            <a:endParaRPr lang="en-US"/>
          </a:p>
        </p:txBody>
      </p:sp>
      <p:sp>
        <p:nvSpPr>
          <p:cNvPr id="13" name="Text 11"/>
          <p:cNvSpPr txBox="1"/>
          <p:nvPr/>
        </p:nvSpPr>
        <p:spPr>
          <a:xfrm>
            <a:off x="758952" y="4251960"/>
            <a:ext cx="10728655" cy="1188720"/>
          </a:xfrm>
          <a:prstGeom prst="rect">
            <a:avLst/>
          </a:prstGeom>
          <a:noFill/>
          <a:ln/>
        </p:spPr>
        <p:txBody>
          <a:bodyPr wrap="square" lIns="0" tIns="0" rIns="0" bIns="0" rtlCol="0" anchor="ctr"/>
          <a:lstStyle/>
          <a:p>
            <a:pPr marL="0" indent="0">
              <a:buNone/>
            </a:pPr>
            <a:r>
              <a:rPr lang="en-US" sz="1450" b="1" dirty="0">
                <a:solidFill>
                  <a:srgbClr val="000000"/>
                </a:solidFill>
                <a:latin typeface="Times New Roman" pitchFamily="34" charset="0"/>
                <a:ea typeface="Times New Roman" pitchFamily="34" charset="-122"/>
                <a:cs typeface="Times New Roman" pitchFamily="34" charset="-120"/>
              </a:rPr>
              <a:t>Diễn giải bằng lời của mình vẫn cần ghi nguồn, vì ý tưởng gốc vẫn thuộc về tác giả ban đầu. Trích dẫn đầy đủ, rõ ràng và chính xác là điều kiện của tính trung thực học thuật.</a:t>
            </a:r>
            <a:endParaRPr lang="en-US" sz="1450" dirty="0"/>
          </a:p>
        </p:txBody>
      </p:sp>
      <p:sp>
        <p:nvSpPr>
          <p:cNvPr id="14" name="Shape 1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5" name="Text 1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VIII</a:t>
            </a:r>
            <a:endParaRPr lang="en-US" sz="1000" dirty="0"/>
          </a:p>
        </p:txBody>
      </p:sp>
      <p:sp>
        <p:nvSpPr>
          <p:cNvPr id="16" name="Text 1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Trích dẫn</a:t>
            </a:r>
            <a:endParaRPr lang="en-US" sz="10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Tài liệu tham khảo và phụ lục</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5455768" cy="320040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298448"/>
            <a:ext cx="5163160" cy="2980944"/>
          </a:xfrm>
          <a:prstGeom prst="rect">
            <a:avLst/>
          </a:prstGeom>
          <a:noFill/>
          <a:ln/>
        </p:spPr>
        <p:txBody>
          <a:bodyPr wrap="square" lIns="0" tIns="0" rIns="0" bIns="0" rtlCol="0" anchor="t"/>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Tài liệu tham khảo là gì
</a:t>
            </a:r>
            <a:r>
              <a:rPr lang="en-US" sz="1900" dirty="0">
                <a:solidFill>
                  <a:srgbClr val="000000"/>
                </a:solidFill>
                <a:latin typeface="Times New Roman" pitchFamily="34" charset="0"/>
                <a:ea typeface="Times New Roman" pitchFamily="34" charset="-122"/>
                <a:cs typeface="Times New Roman" pitchFamily="34" charset="-120"/>
              </a:rPr>
              <a:t>Danh mục liệt kê đầy đủ thông tin của tất cả tài liệu đã được trích dẫn, đặt ở cuối bài trước phần phụ lục.
</a:t>
            </a:r>
            <a:r>
              <a:rPr lang="en-US" sz="2000" b="1" dirty="0">
                <a:solidFill>
                  <a:srgbClr val="12253F"/>
                </a:solidFill>
                <a:latin typeface="Times New Roman" pitchFamily="34" charset="0"/>
                <a:ea typeface="Times New Roman" pitchFamily="34" charset="-122"/>
                <a:cs typeface="Times New Roman" pitchFamily="34" charset="-120"/>
              </a:rPr>
              <a:t>Quan hệ với trích dẫn trong bài
</a:t>
            </a:r>
            <a:r>
              <a:rPr lang="en-US" sz="1900" dirty="0">
                <a:solidFill>
                  <a:srgbClr val="000000"/>
                </a:solidFill>
                <a:latin typeface="Times New Roman" pitchFamily="34" charset="0"/>
                <a:ea typeface="Times New Roman" pitchFamily="34" charset="-122"/>
                <a:cs typeface="Times New Roman" pitchFamily="34" charset="-120"/>
              </a:rPr>
              <a:t>Mọi tài liệu được trích dẫn phải xuất hiện trong danh mục. Mọi tài liệu trong danh mục phải được trích dẫn ít nhất một lần. Hai phần này phải khớp nhau.</a:t>
            </a:r>
            <a:endParaRPr lang="en-US" sz="2000" dirty="0"/>
          </a:p>
        </p:txBody>
      </p:sp>
      <p:sp>
        <p:nvSpPr>
          <p:cNvPr id="6" name="Shape 4"/>
          <p:cNvSpPr/>
          <p:nvPr/>
        </p:nvSpPr>
        <p:spPr>
          <a:xfrm>
            <a:off x="6233008" y="1188720"/>
            <a:ext cx="5455768" cy="320040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6379312" y="1298448"/>
            <a:ext cx="5163160" cy="2980944"/>
          </a:xfrm>
          <a:prstGeom prst="rect">
            <a:avLst/>
          </a:prstGeom>
          <a:noFill/>
          <a:ln/>
        </p:spPr>
        <p:txBody>
          <a:bodyPr wrap="square" lIns="0" tIns="0" rIns="0" bIns="0" rtlCol="0" anchor="t"/>
          <a:lstStyle/>
          <a:p>
            <a:pPr marL="0" indent="0">
              <a:buNone/>
            </a:pPr>
            <a:r>
              <a:rPr lang="en-US" sz="2000" b="1" dirty="0">
                <a:solidFill>
                  <a:srgbClr val="12253F"/>
                </a:solidFill>
                <a:latin typeface="Times New Roman" pitchFamily="34" charset="0"/>
                <a:ea typeface="Times New Roman" pitchFamily="34" charset="-122"/>
                <a:cs typeface="Times New Roman" pitchFamily="34" charset="-120"/>
              </a:rPr>
              <a:t>Phụ lục là gì
</a:t>
            </a:r>
            <a:r>
              <a:rPr lang="en-US" sz="1900" dirty="0">
                <a:solidFill>
                  <a:srgbClr val="000000"/>
                </a:solidFill>
                <a:latin typeface="Times New Roman" pitchFamily="34" charset="0"/>
                <a:ea typeface="Times New Roman" pitchFamily="34" charset="-122"/>
                <a:cs typeface="Times New Roman" pitchFamily="34" charset="-120"/>
              </a:rPr>
              <a:t>Phụ lục chứa những nội dung bổ trợ hoặc cung cấp chi tiết hơn cho nội dung chính, đặt ở cuối khóa luận.
</a:t>
            </a:r>
            <a:r>
              <a:rPr lang="en-US" sz="2000" b="1" dirty="0">
                <a:solidFill>
                  <a:srgbClr val="12253F"/>
                </a:solidFill>
                <a:latin typeface="Times New Roman" pitchFamily="34" charset="0"/>
                <a:ea typeface="Times New Roman" pitchFamily="34" charset="-122"/>
                <a:cs typeface="Times New Roman" pitchFamily="34" charset="-120"/>
              </a:rPr>
              <a:t>Nội dung nên đưa vào phụ lục
</a:t>
            </a:r>
            <a:r>
              <a:rPr lang="en-US" sz="1900" dirty="0">
                <a:solidFill>
                  <a:srgbClr val="000000"/>
                </a:solidFill>
                <a:latin typeface="Times New Roman" pitchFamily="34" charset="0"/>
                <a:ea typeface="Times New Roman" pitchFamily="34" charset="-122"/>
                <a:cs typeface="Times New Roman" pitchFamily="34" charset="-120"/>
              </a:rPr>
              <a:t>•  Bảng câu hỏi khảo sát nguyên văn</a:t>
            </a:r>
            <a:endParaRPr lang="en-US" sz="2000" dirty="0"/>
          </a:p>
          <a:p>
            <a:pPr marL="0" indent="0">
              <a:buNone/>
            </a:pPr>
            <a:r>
              <a:rPr lang="en-US" sz="1900" dirty="0">
                <a:solidFill>
                  <a:srgbClr val="000000"/>
                </a:solidFill>
                <a:latin typeface="Times New Roman" pitchFamily="34" charset="0"/>
                <a:ea typeface="Times New Roman" pitchFamily="34" charset="-122"/>
                <a:cs typeface="Times New Roman" pitchFamily="34" charset="-120"/>
              </a:rPr>
              <a:t>•  Bảng số liệu chi tiết</a:t>
            </a:r>
            <a:endParaRPr lang="en-US" sz="2000" dirty="0"/>
          </a:p>
          <a:p>
            <a:pPr marL="0" indent="0">
              <a:buNone/>
            </a:pPr>
            <a:r>
              <a:rPr lang="en-US" sz="1900" dirty="0">
                <a:solidFill>
                  <a:srgbClr val="000000"/>
                </a:solidFill>
                <a:latin typeface="Times New Roman" pitchFamily="34" charset="0"/>
                <a:ea typeface="Times New Roman" pitchFamily="34" charset="-122"/>
                <a:cs typeface="Times New Roman" pitchFamily="34" charset="-120"/>
              </a:rPr>
              <a:t>•  Kết xuất từ phần mềm xử lý số liệu</a:t>
            </a:r>
            <a:endParaRPr lang="en-US" sz="2000" dirty="0"/>
          </a:p>
        </p:txBody>
      </p:sp>
      <p:sp>
        <p:nvSpPr>
          <p:cNvPr id="8" name="Shape 6"/>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9" name="Text 7"/>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VIII</a:t>
            </a:r>
            <a:endParaRPr lang="en-US" sz="1000" dirty="0"/>
          </a:p>
        </p:txBody>
      </p:sp>
      <p:sp>
        <p:nvSpPr>
          <p:cNvPr id="10" name="Text 8"/>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Tài liệu tham khảo và phụ lục</a:t>
            </a:r>
            <a:endParaRPr lang="en-US" sz="10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Ví dụ cách viết trích dẫn trực tiếp và trích dẫn gián tiếp ngay trong câu văn</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188720"/>
            <a:ext cx="11185855" cy="173736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298448"/>
            <a:ext cx="10893247" cy="151790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Trích dẫn trực tiếp, kèm số trang
</a:t>
            </a:r>
            <a:r>
              <a:rPr lang="en-US" sz="1700" i="1" dirty="0">
                <a:solidFill>
                  <a:srgbClr val="000000"/>
                </a:solidFill>
                <a:latin typeface="Times New Roman" pitchFamily="34" charset="0"/>
                <a:ea typeface="Times New Roman" pitchFamily="34" charset="-122"/>
                <a:cs typeface="Times New Roman" pitchFamily="34" charset="-120"/>
              </a:rPr>
              <a:t>Nguyễn Văn A (2010, trang 50) cho rằng “việc không dẫn nguồn thông tin đầy đủ là một thực trạng khá phổ biến trong các khóa luận của sinh viên Việt Nam”.
Hoặc: “việc không dẫn nguồn thông tin đầy đủ là một thực trạng khá phổ biến...” (Nguyễn Văn A, 2010, trang 50).</a:t>
            </a:r>
            <a:endParaRPr lang="en-US" sz="1800" dirty="0"/>
          </a:p>
        </p:txBody>
      </p:sp>
      <p:sp>
        <p:nvSpPr>
          <p:cNvPr id="6" name="Shape 4"/>
          <p:cNvSpPr/>
          <p:nvPr/>
        </p:nvSpPr>
        <p:spPr>
          <a:xfrm>
            <a:off x="502920" y="3063240"/>
            <a:ext cx="11185855" cy="173736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49224" y="3172968"/>
            <a:ext cx="10893247" cy="151790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Trích dẫn gián tiếp, không kèm số trang
</a:t>
            </a:r>
            <a:r>
              <a:rPr lang="en-US" sz="1700" i="1" dirty="0">
                <a:solidFill>
                  <a:srgbClr val="000000"/>
                </a:solidFill>
                <a:latin typeface="Times New Roman" pitchFamily="34" charset="0"/>
                <a:ea typeface="Times New Roman" pitchFamily="34" charset="-122"/>
                <a:cs typeface="Times New Roman" pitchFamily="34" charset="-120"/>
              </a:rPr>
              <a:t>Sinh viên Việt Nam thường không dẫn nguồn cho các thông tin mà họ trích dẫn trong khóa luận của mình (Nguyễn Văn A, 2010).
Hoặc: Nguyễn Văn A (2010) nêu lên thực trạng không dẫn nguồn tài liệu tham khảo một cách đầy đủ trong các khóa luận tốt nghiệp của sinh viên Việt Nam.</a:t>
            </a:r>
            <a:endParaRPr lang="en-US" sz="1800" dirty="0"/>
          </a:p>
        </p:txBody>
      </p:sp>
      <p:sp>
        <p:nvSpPr>
          <p:cNvPr id="8" name="Text 6"/>
          <p:cNvSpPr txBox="1"/>
          <p:nvPr/>
        </p:nvSpPr>
        <p:spPr>
          <a:xfrm>
            <a:off x="502920" y="4937760"/>
            <a:ext cx="11185855" cy="502920"/>
          </a:xfrm>
          <a:prstGeom prst="rect">
            <a:avLst/>
          </a:prstGeom>
          <a:noFill/>
          <a:ln/>
        </p:spPr>
        <p:txBody>
          <a:bodyPr wrap="square" lIns="0" tIns="0" rIns="0" bIns="0" rtlCol="0" anchor="ctr"/>
          <a:lstStyle/>
          <a:p>
            <a:pPr marL="0" indent="0">
              <a:buNone/>
            </a:pPr>
            <a:r>
              <a:rPr lang="en-US" sz="1400" i="1" dirty="0">
                <a:solidFill>
                  <a:srgbClr val="3D4552"/>
                </a:solidFill>
                <a:latin typeface="Times New Roman" pitchFamily="34" charset="0"/>
                <a:ea typeface="Times New Roman" pitchFamily="34" charset="-122"/>
                <a:cs typeface="Times New Roman" pitchFamily="34" charset="-120"/>
              </a:rPr>
              <a:t>Trích dẫn gián tiếp chỉ cần ghi tên tác giả và năm xuất bản, không cần số trang vì đây là ý tưởng được viết lại bằng lời riêng, không phải nguyên văn.</a:t>
            </a:r>
            <a:endParaRPr lang="en-US" sz="1400" dirty="0"/>
          </a:p>
        </p:txBody>
      </p:sp>
      <p:sp>
        <p:nvSpPr>
          <p:cNvPr id="9" name="Shape 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VIII</a:t>
            </a:r>
            <a:endParaRPr lang="en-US" sz="1000" dirty="0"/>
          </a:p>
        </p:txBody>
      </p:sp>
      <p:sp>
        <p:nvSpPr>
          <p:cNvPr id="11" name="Text 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Ví dụ trích dẫn trực tiếp và gián tiếp</a:t>
            </a:r>
            <a:endParaRPr lang="en-US" sz="10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Sáu nguyên tắc trích dẫn bắt buộc phải nhớ để tránh bị xem là đạo văn</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6187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5" name="Text 3"/>
          <p:cNvSpPr txBox="1"/>
          <p:nvPr/>
        </p:nvSpPr>
        <p:spPr>
          <a:xfrm>
            <a:off x="832104" y="1216152"/>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Mọi ý kiến, số liệu, khái niệm, nhận định trích dẫn đều phải ghi rõ tác giả và năm xuất bản</a:t>
            </a:r>
            <a:endParaRPr lang="en-US" sz="1550" dirty="0"/>
          </a:p>
        </p:txBody>
      </p:sp>
      <p:sp>
        <p:nvSpPr>
          <p:cNvPr id="6" name="Shape 4"/>
          <p:cNvSpPr/>
          <p:nvPr/>
        </p:nvSpPr>
        <p:spPr>
          <a:xfrm>
            <a:off x="502920" y="1883664"/>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7" name="Text 5"/>
          <p:cNvSpPr txBox="1"/>
          <p:nvPr/>
        </p:nvSpPr>
        <p:spPr>
          <a:xfrm>
            <a:off x="832104" y="1837944"/>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Không trích dẫn những kiến thức phổ biến mà ai cũng có thể biết</a:t>
            </a:r>
            <a:endParaRPr lang="en-US" sz="1550" dirty="0"/>
          </a:p>
        </p:txBody>
      </p:sp>
      <p:sp>
        <p:nvSpPr>
          <p:cNvPr id="8" name="Shape 6"/>
          <p:cNvSpPr/>
          <p:nvPr/>
        </p:nvSpPr>
        <p:spPr>
          <a:xfrm>
            <a:off x="502920" y="250545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9" name="Text 7"/>
          <p:cNvSpPr txBox="1"/>
          <p:nvPr/>
        </p:nvSpPr>
        <p:spPr>
          <a:xfrm>
            <a:off x="832104" y="2459736"/>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Khi trích dẫn, không ghi học hàm, học vị của tác giả</a:t>
            </a:r>
            <a:endParaRPr lang="en-US" sz="1550" dirty="0"/>
          </a:p>
        </p:txBody>
      </p:sp>
      <p:sp>
        <p:nvSpPr>
          <p:cNvPr id="10" name="Shape 8"/>
          <p:cNvSpPr/>
          <p:nvPr/>
        </p:nvSpPr>
        <p:spPr>
          <a:xfrm>
            <a:off x="502920" y="312724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1" name="Text 9"/>
          <p:cNvSpPr txBox="1"/>
          <p:nvPr/>
        </p:nvSpPr>
        <p:spPr>
          <a:xfrm>
            <a:off x="832104" y="3081528"/>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Trích dẫn tài liệu tiếng Việt của tác giả Việt Nam thì ghi đầy đủ họ và tên</a:t>
            </a:r>
            <a:endParaRPr lang="en-US" sz="1550" dirty="0"/>
          </a:p>
        </p:txBody>
      </p:sp>
      <p:sp>
        <p:nvSpPr>
          <p:cNvPr id="12" name="Shape 10"/>
          <p:cNvSpPr/>
          <p:nvPr/>
        </p:nvSpPr>
        <p:spPr>
          <a:xfrm>
            <a:off x="502920" y="374904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3" name="Text 11"/>
          <p:cNvSpPr txBox="1"/>
          <p:nvPr/>
        </p:nvSpPr>
        <p:spPr>
          <a:xfrm>
            <a:off x="832104" y="3703320"/>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Nếu không tiếp cận được tài liệu gốc mà phải trích dẫn qua một tài liệu khác, phải ghi rõ cách trích dẫn này ngay trong bài, không liệt kê tài liệu gốc vào danh mục tham khảo</a:t>
            </a:r>
            <a:endParaRPr lang="en-US" sz="1550" dirty="0"/>
          </a:p>
        </p:txBody>
      </p:sp>
      <p:sp>
        <p:nvSpPr>
          <p:cNvPr id="14" name="Shape 12"/>
          <p:cNvSpPr/>
          <p:nvPr/>
        </p:nvSpPr>
        <p:spPr>
          <a:xfrm>
            <a:off x="502920" y="43708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5" name="Text 13"/>
          <p:cNvSpPr txBox="1"/>
          <p:nvPr/>
        </p:nvSpPr>
        <p:spPr>
          <a:xfrm>
            <a:off x="832104" y="4325112"/>
            <a:ext cx="10838383" cy="621792"/>
          </a:xfrm>
          <a:prstGeom prst="rect">
            <a:avLst/>
          </a:prstGeom>
          <a:noFill/>
          <a:ln/>
        </p:spPr>
        <p:txBody>
          <a:bodyPr wrap="square" lIns="0" tIns="0" rIns="0" bIns="0" rtlCol="0" anchor="t"/>
          <a:lstStyle/>
          <a:p>
            <a:pPr marL="0" indent="0">
              <a:buNone/>
            </a:pPr>
            <a:r>
              <a:rPr lang="en-US" sz="1550" dirty="0">
                <a:solidFill>
                  <a:srgbClr val="000000"/>
                </a:solidFill>
                <a:latin typeface="Times New Roman" pitchFamily="34" charset="0"/>
                <a:ea typeface="Times New Roman" pitchFamily="34" charset="-122"/>
                <a:cs typeface="Times New Roman" pitchFamily="34" charset="-120"/>
              </a:rPr>
              <a:t>Hội đồng chấm hoặc người đọc phát hiện không dẫn nguồn minh bạch và đầy đủ thì khóa luận bị xem là có hiện tượng đạo văn</a:t>
            </a:r>
            <a:endParaRPr lang="en-US" sz="1550" dirty="0"/>
          </a:p>
        </p:txBody>
      </p:sp>
      <p:sp>
        <p:nvSpPr>
          <p:cNvPr id="16" name="Shape 1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7" name="Text 1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VIII</a:t>
            </a:r>
            <a:endParaRPr lang="en-US" sz="1000" dirty="0"/>
          </a:p>
        </p:txBody>
      </p:sp>
      <p:sp>
        <p:nvSpPr>
          <p:cNvPr id="18" name="Text 1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Nguyên tắc trích dẫn bắt buộc</a:t>
            </a:r>
            <a:endParaRPr lang="en-US" sz="10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Chuẩn trích dẫn dùng thống nhất là APA, bốn nguyên tắc cốt lõi cần nhớ</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64"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3108960"/>
        </p:xfrm>
        <a:graphic>
          <a:graphicData uri="http://schemas.openxmlformats.org/drawingml/2006/table">
            <a:tbl>
              <a:tblPr/>
              <a:tblGrid>
                <a:gridCol w="3017520">
                  <a:extLst>
                    <a:ext uri="{9D8B030D-6E8A-4147-A177-3AD203B41FA5}">
                      <a16:colId xmlns:a16="http://schemas.microsoft.com/office/drawing/2014/main" val="20000"/>
                    </a:ext>
                  </a:extLst>
                </a:gridCol>
                <a:gridCol w="8165592">
                  <a:extLst>
                    <a:ext uri="{9D8B030D-6E8A-4147-A177-3AD203B41FA5}">
                      <a16:colId xmlns:a16="http://schemas.microsoft.com/office/drawing/2014/main" val="20001"/>
                    </a:ext>
                  </a:extLst>
                </a:gridCol>
              </a:tblGrid>
              <a:tr h="621792">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Thành phần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Nguyên tắc APA</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2179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Trích dẫn trong bài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(Tên tác giả, Năm): luôn có dấu phẩy giữa tên tác giả và năm</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Từ 3 tác giả trở lên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Chỉ ghi tên tác giả đầu tiên kèm “và cộng sự”, áp dụng ngay từ lần trích dẫn đầu tiên</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2179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Tên sách, tên tạp chí trong danh mục</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In nghiêng. Tên bài báo, tên chương sách thì không in nghiêng</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Thứ tự trong danh mục</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Xếp theo thứ tự ABC tên tác giả, chia thành nhóm tiếng Việt và nhóm tiếng nước ngoài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4343400"/>
            <a:ext cx="11185855" cy="1463040"/>
          </a:xfrm>
          <a:prstGeom prst="rect">
            <a:avLst/>
          </a:prstGeom>
          <a:solidFill>
            <a:srgbClr val="F0F2F5"/>
          </a:solidFill>
          <a:ln w="9525">
            <a:solidFill>
              <a:srgbClr val="12253F"/>
            </a:solidFill>
            <a:prstDash val="solid"/>
          </a:ln>
        </p:spPr>
        <p:txBody>
          <a:bodyPr/>
          <a:lstStyle/>
          <a:p>
            <a:endParaRPr lang="en-US"/>
          </a:p>
        </p:txBody>
      </p:sp>
      <p:sp>
        <p:nvSpPr>
          <p:cNvPr id="6" name="Text 3"/>
          <p:cNvSpPr txBox="1"/>
          <p:nvPr/>
        </p:nvSpPr>
        <p:spPr>
          <a:xfrm>
            <a:off x="758952" y="4434840"/>
            <a:ext cx="10728655" cy="1280160"/>
          </a:xfrm>
          <a:prstGeom prst="rect">
            <a:avLst/>
          </a:prstGeom>
          <a:noFill/>
          <a:ln/>
        </p:spPr>
        <p:txBody>
          <a:bodyPr wrap="square" lIns="0" tIns="0" rIns="0" bIns="0" rtlCol="0" anchor="ctr"/>
          <a:lstStyle/>
          <a:p>
            <a:pPr marL="0" indent="0">
              <a:buNone/>
            </a:pPr>
            <a:r>
              <a:rPr lang="en-US" sz="1450" b="1" dirty="0">
                <a:solidFill>
                  <a:srgbClr val="000000"/>
                </a:solidFill>
                <a:latin typeface="Times New Roman" pitchFamily="34" charset="0"/>
                <a:ea typeface="Times New Roman" pitchFamily="34" charset="-122"/>
                <a:cs typeface="Times New Roman" pitchFamily="34" charset="-120"/>
              </a:rPr>
              <a:t>Bảng tra cứu cách trích dẫn APA đầy đủ theo từng loại tài liệu, sách, bài báo, website, luận văn, bài giảng, cùng ví dụ trình bày trong danh mục tham khảo, được trình bày chi tiết ở Core Slide 2. Ở đây sinh viên chỉ cần nắm bốn nguyên tắc trên để đọc hiểu và áp dụng đúng hướng khi viết đề cương.</a:t>
            </a:r>
            <a:endParaRPr lang="en-US" sz="1450" dirty="0"/>
          </a:p>
        </p:txBody>
      </p:sp>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VIII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Nguyên tắc APA cốt lõi</a:t>
            </a:r>
            <a:endParaRPr lang="en-US" sz="10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IX</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23544" y="1371362"/>
            <a:ext cx="473952" cy="366235"/>
          </a:xfrm>
          <a:prstGeom prst="rect">
            <a:avLst/>
          </a:prstGeom>
          <a:ln w="20320">
            <a:solidFill>
              <a:srgbClr val="FFFFFF"/>
            </a:solidFill>
            <a:prstDash val="solid"/>
          </a:ln>
        </p:spPr>
        <p:txBody>
          <a:bodyPr/>
          <a:lstStyle/>
          <a:p>
            <a:endParaRPr lang="en-US"/>
          </a:p>
        </p:txBody>
      </p:sp>
      <p:sp>
        <p:nvSpPr>
          <p:cNvPr id="6" name="Shape 4"/>
          <p:cNvSpPr/>
          <p:nvPr/>
        </p:nvSpPr>
        <p:spPr>
          <a:xfrm>
            <a:off x="4160520" y="1371362"/>
            <a:ext cx="0" cy="366235"/>
          </a:xfrm>
          <a:prstGeom prst="line">
            <a:avLst/>
          </a:prstGeom>
          <a:noFill/>
          <a:ln w="16510">
            <a:solidFill>
              <a:srgbClr val="FFFFFF"/>
            </a:solidFill>
            <a:prstDash val="solid"/>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Format và cách trình bày khóa luận</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Format thống nhất giúp người đọc theo dõi lập luận dễ dàng hơn. Format không thay thế được chất lượng nội dung. Core Slide 1 chỉ nêu tổng quan, chi tiết đầy đủ có ở Core Slide 2.</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Vì sao khóa luận cần format thống nhất</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Những nhóm nội dung nào cần chuẩn bị ngay từ đầu</a:t>
            </a:r>
            <a:endParaRPr lang="en-US" sz="20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Các nhóm nội dung cần chuẩn bị format</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350" dirty="0">
                <a:solidFill>
                  <a:srgbClr val="1A1A1A"/>
                </a:solidFill>
                <a:latin typeface="Times New Roman" pitchFamily="34" charset="0"/>
                <a:ea typeface="Times New Roman" pitchFamily="34" charset="-122"/>
                <a:cs typeface="Times New Roman" pitchFamily="34" charset="-120"/>
              </a:rPr>
              <a:t>Format giúp người đọc theo dõi lập luận liền mạch. Một bài nội dung tốt nhưng trình bày lộn xộn vẫn khiến người chấm khó đánh giá đúng.</a:t>
            </a:r>
            <a:endParaRPr lang="en-US" sz="1350" dirty="0"/>
          </a:p>
        </p:txBody>
      </p:sp>
      <p:sp>
        <p:nvSpPr>
          <p:cNvPr id="5" name="Shape 3"/>
          <p:cNvSpPr/>
          <p:nvPr/>
        </p:nvSpPr>
        <p:spPr>
          <a:xfrm>
            <a:off x="502920" y="2331720"/>
            <a:ext cx="2625014" cy="1234440"/>
          </a:xfrm>
          <a:prstGeom prst="rect">
            <a:avLst/>
          </a:prstGeom>
          <a:solidFill>
            <a:srgbClr val="FFFFFF"/>
          </a:solidFill>
          <a:ln w="12700">
            <a:solidFill>
              <a:srgbClr val="12253F"/>
            </a:solidFill>
            <a:prstDash val="solid"/>
          </a:ln>
        </p:spPr>
        <p:txBody>
          <a:bodyPr/>
          <a:lstStyle/>
          <a:p>
            <a:endParaRPr lang="en-US"/>
          </a:p>
        </p:txBody>
      </p:sp>
      <p:sp>
        <p:nvSpPr>
          <p:cNvPr id="6" name="Text 4"/>
          <p:cNvSpPr txBox="1"/>
          <p:nvPr/>
        </p:nvSpPr>
        <p:spPr>
          <a:xfrm>
            <a:off x="649224" y="2441448"/>
            <a:ext cx="2332406"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Văn bản
</a:t>
            </a:r>
            <a:r>
              <a:rPr lang="en-US" sz="1800" dirty="0">
                <a:solidFill>
                  <a:srgbClr val="000000"/>
                </a:solidFill>
                <a:latin typeface="Times New Roman" pitchFamily="34" charset="0"/>
                <a:ea typeface="Times New Roman" pitchFamily="34" charset="-122"/>
                <a:cs typeface="Times New Roman" pitchFamily="34" charset="-120"/>
              </a:rPr>
              <a:t>Font chữ, cỡ chữ, giãn dòng, canh lề</a:t>
            </a:r>
            <a:endParaRPr lang="en-US" sz="1900" dirty="0"/>
          </a:p>
        </p:txBody>
      </p:sp>
      <p:sp>
        <p:nvSpPr>
          <p:cNvPr id="7" name="Shape 5"/>
          <p:cNvSpPr/>
          <p:nvPr/>
        </p:nvSpPr>
        <p:spPr>
          <a:xfrm>
            <a:off x="3356534" y="2331720"/>
            <a:ext cx="2625014" cy="1234440"/>
          </a:xfrm>
          <a:prstGeom prst="rect">
            <a:avLst/>
          </a:prstGeom>
          <a:solidFill>
            <a:srgbClr val="FFFFFF"/>
          </a:solidFill>
          <a:ln w="12700">
            <a:solidFill>
              <a:srgbClr val="12253F"/>
            </a:solidFill>
            <a:prstDash val="solid"/>
          </a:ln>
        </p:spPr>
        <p:txBody>
          <a:bodyPr/>
          <a:lstStyle/>
          <a:p>
            <a:endParaRPr lang="en-US"/>
          </a:p>
        </p:txBody>
      </p:sp>
      <p:sp>
        <p:nvSpPr>
          <p:cNvPr id="8" name="Text 6"/>
          <p:cNvSpPr txBox="1"/>
          <p:nvPr/>
        </p:nvSpPr>
        <p:spPr>
          <a:xfrm>
            <a:off x="3502838" y="2441448"/>
            <a:ext cx="2332406"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Cấu trúc chương
</a:t>
            </a:r>
            <a:r>
              <a:rPr lang="en-US" sz="1800" dirty="0">
                <a:solidFill>
                  <a:srgbClr val="000000"/>
                </a:solidFill>
                <a:latin typeface="Times New Roman" pitchFamily="34" charset="0"/>
                <a:ea typeface="Times New Roman" pitchFamily="34" charset="-122"/>
                <a:cs typeface="Times New Roman" pitchFamily="34" charset="-120"/>
              </a:rPr>
              <a:t>Tiêu đề chương, đánh số mục</a:t>
            </a:r>
            <a:endParaRPr lang="en-US" sz="1900" dirty="0"/>
          </a:p>
        </p:txBody>
      </p:sp>
      <p:sp>
        <p:nvSpPr>
          <p:cNvPr id="9" name="Shape 7"/>
          <p:cNvSpPr/>
          <p:nvPr/>
        </p:nvSpPr>
        <p:spPr>
          <a:xfrm>
            <a:off x="6210148" y="2331720"/>
            <a:ext cx="2625014" cy="1234440"/>
          </a:xfrm>
          <a:prstGeom prst="rect">
            <a:avLst/>
          </a:prstGeom>
          <a:solidFill>
            <a:srgbClr val="FFFFFF"/>
          </a:solidFill>
          <a:ln w="12700">
            <a:solidFill>
              <a:srgbClr val="12253F"/>
            </a:solidFill>
            <a:prstDash val="solid"/>
          </a:ln>
        </p:spPr>
        <p:txBody>
          <a:bodyPr/>
          <a:lstStyle/>
          <a:p>
            <a:endParaRPr lang="en-US"/>
          </a:p>
        </p:txBody>
      </p:sp>
      <p:sp>
        <p:nvSpPr>
          <p:cNvPr id="10" name="Text 8"/>
          <p:cNvSpPr txBox="1"/>
          <p:nvPr/>
        </p:nvSpPr>
        <p:spPr>
          <a:xfrm>
            <a:off x="6356452" y="2441448"/>
            <a:ext cx="2332406"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Bảng và hình
</a:t>
            </a:r>
            <a:r>
              <a:rPr lang="en-US" sz="1800" dirty="0">
                <a:solidFill>
                  <a:srgbClr val="000000"/>
                </a:solidFill>
                <a:latin typeface="Times New Roman" pitchFamily="34" charset="0"/>
                <a:ea typeface="Times New Roman" pitchFamily="34" charset="-122"/>
                <a:cs typeface="Times New Roman" pitchFamily="34" charset="-120"/>
              </a:rPr>
              <a:t>Đánh số bảng, đánh số hình, ghi nguồn</a:t>
            </a:r>
            <a:endParaRPr lang="en-US" sz="1900" dirty="0"/>
          </a:p>
        </p:txBody>
      </p:sp>
      <p:sp>
        <p:nvSpPr>
          <p:cNvPr id="11" name="Shape 9"/>
          <p:cNvSpPr/>
          <p:nvPr/>
        </p:nvSpPr>
        <p:spPr>
          <a:xfrm>
            <a:off x="9063761" y="2331720"/>
            <a:ext cx="2625014" cy="1234440"/>
          </a:xfrm>
          <a:prstGeom prst="rect">
            <a:avLst/>
          </a:prstGeom>
          <a:solidFill>
            <a:srgbClr val="FFFFFF"/>
          </a:solidFill>
          <a:ln w="12700">
            <a:solidFill>
              <a:srgbClr val="12253F"/>
            </a:solidFill>
            <a:prstDash val="solid"/>
          </a:ln>
        </p:spPr>
        <p:txBody>
          <a:bodyPr/>
          <a:lstStyle/>
          <a:p>
            <a:endParaRPr lang="en-US"/>
          </a:p>
        </p:txBody>
      </p:sp>
      <p:sp>
        <p:nvSpPr>
          <p:cNvPr id="12" name="Text 10"/>
          <p:cNvSpPr txBox="1"/>
          <p:nvPr/>
        </p:nvSpPr>
        <p:spPr>
          <a:xfrm>
            <a:off x="9210065" y="2441448"/>
            <a:ext cx="2332406" cy="1014984"/>
          </a:xfrm>
          <a:prstGeom prst="rect">
            <a:avLst/>
          </a:prstGeom>
          <a:noFill/>
          <a:ln/>
        </p:spPr>
        <p:txBody>
          <a:bodyPr wrap="square" lIns="0" tIns="0" rIns="0" bIns="0" rtlCol="0" anchor="t"/>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Học thuật
</a:t>
            </a:r>
            <a:r>
              <a:rPr lang="en-US" sz="1800" dirty="0">
                <a:solidFill>
                  <a:srgbClr val="000000"/>
                </a:solidFill>
                <a:latin typeface="Times New Roman" pitchFamily="34" charset="0"/>
                <a:ea typeface="Times New Roman" pitchFamily="34" charset="-122"/>
                <a:cs typeface="Times New Roman" pitchFamily="34" charset="-120"/>
              </a:rPr>
              <a:t>Đánh số trang, trích dẫn, TLTK, phụ lục</a:t>
            </a:r>
            <a:endParaRPr lang="en-US" sz="1900" dirty="0"/>
          </a:p>
        </p:txBody>
      </p:sp>
      <p:sp>
        <p:nvSpPr>
          <p:cNvPr id="13" name="Shape 11"/>
          <p:cNvSpPr/>
          <p:nvPr/>
        </p:nvSpPr>
        <p:spPr>
          <a:xfrm>
            <a:off x="502920" y="3794760"/>
            <a:ext cx="11185855" cy="868680"/>
          </a:xfrm>
          <a:prstGeom prst="rect">
            <a:avLst/>
          </a:prstGeom>
          <a:solidFill>
            <a:srgbClr val="F0F2F5"/>
          </a:solidFill>
          <a:ln w="9525">
            <a:solidFill>
              <a:srgbClr val="12253F"/>
            </a:solidFill>
            <a:prstDash val="solid"/>
          </a:ln>
        </p:spPr>
        <p:txBody>
          <a:bodyPr/>
          <a:lstStyle/>
          <a:p>
            <a:endParaRPr lang="en-US"/>
          </a:p>
        </p:txBody>
      </p:sp>
      <p:sp>
        <p:nvSpPr>
          <p:cNvPr id="14" name="Text 12"/>
          <p:cNvSpPr txBox="1"/>
          <p:nvPr/>
        </p:nvSpPr>
        <p:spPr>
          <a:xfrm>
            <a:off x="758952" y="3886200"/>
            <a:ext cx="10728655" cy="685800"/>
          </a:xfrm>
          <a:prstGeom prst="rect">
            <a:avLst/>
          </a:prstGeom>
          <a:noFill/>
          <a:ln/>
        </p:spPr>
        <p:txBody>
          <a:bodyPr wrap="square" lIns="0" tIns="0" rIns="0" bIns="0" rtlCol="0" anchor="ctr"/>
          <a:lstStyle/>
          <a:p>
            <a:pPr marL="0" indent="0">
              <a:buNone/>
            </a:pPr>
            <a:r>
              <a:rPr lang="en-US" sz="1350" b="1" dirty="0">
                <a:solidFill>
                  <a:srgbClr val="000000"/>
                </a:solidFill>
                <a:latin typeface="Times New Roman" pitchFamily="34" charset="0"/>
                <a:ea typeface="Times New Roman" pitchFamily="34" charset="-122"/>
                <a:cs typeface="Times New Roman" pitchFamily="34" charset="-120"/>
              </a:rPr>
              <a:t>Sinh viên cần chuẩn bị format ngay từ đầu, không để đến tuần cuối. Format phải được kiểm tra song song với nội dung trong suốt quá trình viết.</a:t>
            </a:r>
            <a:endParaRPr lang="en-US" sz="1350" dirty="0"/>
          </a:p>
        </p:txBody>
      </p:sp>
      <p:sp>
        <p:nvSpPr>
          <p:cNvPr id="15" name="Shape 1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6" name="Text 1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IX</a:t>
            </a:r>
            <a:endParaRPr lang="en-US" sz="1000" dirty="0"/>
          </a:p>
        </p:txBody>
      </p:sp>
      <p:sp>
        <p:nvSpPr>
          <p:cNvPr id="17" name="Text 1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Format cần chuẩn bị</a:t>
            </a:r>
            <a:endParaRPr lang="en-US" sz="10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Chuyên đề khoảng 40 trang, khóa luận từ 50 đến không quá 70 trang: hai chuẩn số trang khác nhau cho hai loại công trình</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214884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344168"/>
            <a:ext cx="5163160" cy="19293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Chuyên đề tốt nghiệp
</a:t>
            </a:r>
            <a:r>
              <a:rPr lang="en-US" sz="1750" dirty="0">
                <a:solidFill>
                  <a:srgbClr val="000000"/>
                </a:solidFill>
                <a:latin typeface="Times New Roman" pitchFamily="34" charset="0"/>
                <a:ea typeface="Times New Roman" pitchFamily="34" charset="-122"/>
                <a:cs typeface="Times New Roman" pitchFamily="34" charset="-120"/>
              </a:rPr>
              <a:t>Độ dài khoảng 40 trang, được phép cộng thêm tối đa 15 phần trăm. Đây là mốc tham chiếu áp dụng cho chuyên đề tốt nghiệp.</a:t>
            </a:r>
            <a:endParaRPr lang="en-US" sz="1900" dirty="0"/>
          </a:p>
        </p:txBody>
      </p:sp>
      <p:sp>
        <p:nvSpPr>
          <p:cNvPr id="6" name="Shape 4"/>
          <p:cNvSpPr/>
          <p:nvPr/>
        </p:nvSpPr>
        <p:spPr>
          <a:xfrm>
            <a:off x="6233008" y="1234440"/>
            <a:ext cx="5455768" cy="214884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379312" y="1344168"/>
            <a:ext cx="5163160" cy="192938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Khóa luận tốt nghiệp
</a:t>
            </a:r>
            <a:r>
              <a:rPr lang="en-US" sz="1750" dirty="0">
                <a:solidFill>
                  <a:srgbClr val="000000"/>
                </a:solidFill>
                <a:latin typeface="Times New Roman" pitchFamily="34" charset="0"/>
                <a:ea typeface="Times New Roman" pitchFamily="34" charset="-122"/>
                <a:cs typeface="Times New Roman" pitchFamily="34" charset="-120"/>
              </a:rPr>
              <a:t>Phần nội dung chính, không kể phụ lục, có độ dày từ 50 đến không quá 70 trang.</a:t>
            </a:r>
            <a:endParaRPr lang="en-US" sz="1900" dirty="0"/>
          </a:p>
        </p:txBody>
      </p:sp>
      <p:sp>
        <p:nvSpPr>
          <p:cNvPr id="8" name="Shape 6"/>
          <p:cNvSpPr/>
          <p:nvPr/>
        </p:nvSpPr>
        <p:spPr>
          <a:xfrm>
            <a:off x="502920" y="3566160"/>
            <a:ext cx="11185855" cy="960120"/>
          </a:xfrm>
          <a:prstGeom prst="rect">
            <a:avLst/>
          </a:prstGeom>
          <a:solidFill>
            <a:srgbClr val="F0F2F5"/>
          </a:solidFill>
          <a:ln w="9525">
            <a:solidFill>
              <a:srgbClr val="12253F"/>
            </a:solidFill>
            <a:prstDash val="solid"/>
          </a:ln>
        </p:spPr>
        <p:txBody>
          <a:bodyPr/>
          <a:lstStyle/>
          <a:p>
            <a:endParaRPr lang="en-US"/>
          </a:p>
        </p:txBody>
      </p:sp>
      <p:sp>
        <p:nvSpPr>
          <p:cNvPr id="9" name="Text 7"/>
          <p:cNvSpPr txBox="1"/>
          <p:nvPr/>
        </p:nvSpPr>
        <p:spPr>
          <a:xfrm>
            <a:off x="758952" y="3657600"/>
            <a:ext cx="10728655" cy="777240"/>
          </a:xfrm>
          <a:prstGeom prst="rect">
            <a:avLst/>
          </a:prstGeom>
          <a:noFill/>
          <a:ln/>
        </p:spPr>
        <p:txBody>
          <a:bodyPr wrap="square" lIns="0" tIns="0" rIns="0" bIns="0" rtlCol="0" anchor="ctr"/>
          <a:lstStyle/>
          <a:p>
            <a:pPr marL="0" indent="0">
              <a:buNone/>
            </a:pPr>
            <a:r>
              <a:rPr lang="en-US" sz="1500" b="1" dirty="0">
                <a:solidFill>
                  <a:srgbClr val="000000"/>
                </a:solidFill>
                <a:latin typeface="Times New Roman" pitchFamily="34" charset="0"/>
                <a:ea typeface="Times New Roman" pitchFamily="34" charset="-122"/>
                <a:cs typeface="Times New Roman" pitchFamily="34" charset="-120"/>
              </a:rPr>
              <a:t>Hai loại công trình có hai chuẩn số trang khác nhau vì quy mô yêu cầu khác nhau. Sinh viên cần xác định mình đang làm chuyên đề hay khóa luận trước khi áp số trang.</a:t>
            </a:r>
            <a:endParaRPr lang="en-US" sz="1500" dirty="0"/>
          </a:p>
        </p:txBody>
      </p:sp>
      <p:sp>
        <p:nvSpPr>
          <p:cNvPr id="10" name="Text 8"/>
          <p:cNvSpPr txBox="1"/>
          <p:nvPr/>
        </p:nvSpPr>
        <p:spPr>
          <a:xfrm>
            <a:off x="502920" y="4709160"/>
            <a:ext cx="11185855" cy="640080"/>
          </a:xfrm>
          <a:prstGeom prst="rect">
            <a:avLst/>
          </a:prstGeom>
          <a:noFill/>
          <a:ln/>
        </p:spPr>
        <p:txBody>
          <a:bodyPr wrap="square" lIns="0" tIns="0" rIns="0" bIns="0" rtlCol="0" anchor="ctr"/>
          <a:lstStyle/>
          <a:p>
            <a:pPr marL="0" indent="0">
              <a:buNone/>
            </a:pPr>
            <a:r>
              <a:rPr lang="en-US" sz="1250" i="1" dirty="0">
                <a:solidFill>
                  <a:srgbClr val="3D4552"/>
                </a:solidFill>
                <a:latin typeface="Times New Roman" pitchFamily="34" charset="0"/>
                <a:ea typeface="Times New Roman" pitchFamily="34" charset="-122"/>
                <a:cs typeface="Times New Roman" pitchFamily="34" charset="-120"/>
              </a:rPr>
              <a:t>Số trang cụ thể do khoa chuyên ngành quy định, có thể khác nhau giữa các ngành. Sinh viên cần đối chiếu quy định chính thức của ngành và khoa mình đang theo học.</a:t>
            </a:r>
            <a:endParaRPr lang="en-US" sz="1250" dirty="0"/>
          </a:p>
        </p:txBody>
      </p:sp>
      <p:sp>
        <p:nvSpPr>
          <p:cNvPr id="11" name="Shape 9"/>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2" name="Text 10"/>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IX</a:t>
            </a:r>
            <a:endParaRPr lang="en-US" sz="1000" dirty="0"/>
          </a:p>
        </p:txBody>
      </p:sp>
      <p:sp>
        <p:nvSpPr>
          <p:cNvPr id="13" name="Text 11"/>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Hai chuẩn số trang</a:t>
            </a:r>
            <a:endParaRPr lang="en-US" sz="10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50" b="1" dirty="0">
                <a:solidFill>
                  <a:srgbClr val="000000"/>
                </a:solidFill>
                <a:latin typeface="Times New Roman" pitchFamily="34" charset="0"/>
                <a:ea typeface="Times New Roman" pitchFamily="34" charset="-122"/>
                <a:cs typeface="Times New Roman" pitchFamily="34" charset="-120"/>
              </a:rPr>
              <a:t>Bảy quy định soạn thảo văn bản bắt buộc: từ font chữ đến số trang</a:t>
            </a:r>
            <a:endParaRPr lang="en-US" sz="18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68"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4389120"/>
        </p:xfrm>
        <a:graphic>
          <a:graphicData uri="http://schemas.openxmlformats.org/drawingml/2006/table">
            <a:tbl>
              <a:tblPr/>
              <a:tblGrid>
                <a:gridCol w="2377440">
                  <a:extLst>
                    <a:ext uri="{9D8B030D-6E8A-4147-A177-3AD203B41FA5}">
                      <a16:colId xmlns:a16="http://schemas.microsoft.com/office/drawing/2014/main" val="20000"/>
                    </a:ext>
                  </a:extLst>
                </a:gridCol>
                <a:gridCol w="8805672">
                  <a:extLst>
                    <a:ext uri="{9D8B030D-6E8A-4147-A177-3AD203B41FA5}">
                      <a16:colId xmlns:a16="http://schemas.microsoft.com/office/drawing/2014/main" val="20001"/>
                    </a:ext>
                  </a:extLst>
                </a:gridCol>
              </a:tblGrid>
              <a:tr h="548640">
                <a:tc>
                  <a:txBody>
                    <a:bodyPr/>
                    <a:lstStyle/>
                    <a:p>
                      <a:pPr marL="0" indent="0" algn="l">
                        <a:buNone/>
                      </a:pPr>
                      <a:r>
                        <a:rPr lang="en-US" sz="1600" b="1" dirty="0">
                          <a:solidFill>
                            <a:srgbClr val="FFFFFF"/>
                          </a:solidFill>
                          <a:latin typeface="Times New Roman" pitchFamily="34" charset="0"/>
                          <a:ea typeface="Times New Roman" pitchFamily="34" charset="-122"/>
                          <a:cs typeface="Times New Roman" pitchFamily="34" charset="-120"/>
                        </a:rPr>
                        <a:t>Nội dung</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600" b="1" dirty="0">
                          <a:solidFill>
                            <a:srgbClr val="FFFFFF"/>
                          </a:solidFill>
                          <a:latin typeface="Times New Roman" pitchFamily="34" charset="0"/>
                          <a:ea typeface="Times New Roman" pitchFamily="34" charset="-122"/>
                          <a:cs typeface="Times New Roman" pitchFamily="34" charset="-120"/>
                        </a:rPr>
                        <a:t>Quy định</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Khổ giấy</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A4</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Kiểu chữ</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Times New Roman (Unicode)</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Cỡ chữ</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13pt cho văn bản thường, mật độ chữ bình thường, không nén hoặc kéo giãn khoảng cách chữ</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Cách dòng</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1,5 lines</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Canh lề</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Lề trái 3,5cm; lề phải 2cm; lề trên 3,5cm; lề dưới 3cm</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Header và footer</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1,5cm</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r h="548640">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Số trang</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600" dirty="0">
                          <a:solidFill>
                            <a:srgbClr val="000000"/>
                          </a:solidFill>
                          <a:latin typeface="Times New Roman" pitchFamily="34" charset="0"/>
                          <a:ea typeface="Times New Roman" pitchFamily="34" charset="-122"/>
                          <a:cs typeface="Times New Roman" pitchFamily="34" charset="-120"/>
                        </a:rPr>
                        <a:t>Đánh số ở giữa, phía trên đầu mỗi trang</a:t>
                      </a:r>
                      <a:endParaRPr lang="en-US" sz="16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02920" y="5349240"/>
            <a:ext cx="11185855" cy="502920"/>
          </a:xfrm>
          <a:prstGeom prst="rect">
            <a:avLst/>
          </a:prstGeom>
          <a:noFill/>
          <a:ln/>
        </p:spPr>
        <p:txBody>
          <a:bodyPr wrap="square" lIns="0" tIns="0" rIns="0" bIns="0" rtlCol="0" anchor="ctr"/>
          <a:lstStyle/>
          <a:p>
            <a:pPr marL="0" indent="0">
              <a:buNone/>
            </a:pPr>
            <a:r>
              <a:rPr lang="en-US" sz="1250" i="1" dirty="0">
                <a:solidFill>
                  <a:srgbClr val="3D4552"/>
                </a:solidFill>
                <a:latin typeface="Times New Roman" pitchFamily="34" charset="0"/>
                <a:ea typeface="Times New Roman" pitchFamily="34" charset="-122"/>
                <a:cs typeface="Times New Roman" pitchFamily="34" charset="-120"/>
              </a:rPr>
              <a:t>Bảy quy định trên áp dụng cho toàn bộ văn bản khóa luận. Cỡ chữ 13pt áp dụng cho văn bản thường, tiêu đề và đề mục có thể dùng cỡ chữ lớn hơn.</a:t>
            </a:r>
            <a:endParaRPr lang="en-US" sz="125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IX</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Quy định soạn thảo văn bản</a:t>
            </a:r>
            <a:endParaRPr lang="en-US" sz="10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Mỗi chương có tối đa bốn cấp đề mục, đánh số theo đúng vị trí chương, mục, nhóm tiểu mục và tiểu mục</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350" dirty="0">
                <a:solidFill>
                  <a:srgbClr val="1A1A1A"/>
                </a:solidFill>
                <a:latin typeface="Times New Roman" pitchFamily="34" charset="0"/>
                <a:ea typeface="Times New Roman" pitchFamily="34" charset="-122"/>
                <a:cs typeface="Times New Roman" pitchFamily="34" charset="-120"/>
              </a:rPr>
              <a:t>Chương và tiêu đề chương viết in hoa, canh giữa trang. Mỗi chương gồm số chương, tựa đề, đoạn giới thiệu chương, các đề mục và kết luận chương.</a:t>
            </a:r>
            <a:endParaRPr lang="en-US" sz="1350" dirty="0"/>
          </a:p>
        </p:txBody>
      </p:sp>
      <p:sp>
        <p:nvSpPr>
          <p:cNvPr id="5" name="Shape 3"/>
          <p:cNvSpPr/>
          <p:nvPr/>
        </p:nvSpPr>
        <p:spPr>
          <a:xfrm>
            <a:off x="502920" y="1965960"/>
            <a:ext cx="11185855" cy="1463040"/>
          </a:xfrm>
          <a:prstGeom prst="rect">
            <a:avLst/>
          </a:prstGeom>
          <a:solidFill>
            <a:srgbClr val="F0F2F5"/>
          </a:solidFill>
          <a:ln w="19050">
            <a:solidFill>
              <a:srgbClr val="12253F"/>
            </a:solidFill>
            <a:prstDash val="solid"/>
          </a:ln>
        </p:spPr>
        <p:txBody>
          <a:bodyPr/>
          <a:lstStyle/>
          <a:p>
            <a:endParaRPr lang="en-US"/>
          </a:p>
        </p:txBody>
      </p:sp>
      <p:sp>
        <p:nvSpPr>
          <p:cNvPr id="6" name="Text 4"/>
          <p:cNvSpPr txBox="1"/>
          <p:nvPr/>
        </p:nvSpPr>
        <p:spPr>
          <a:xfrm>
            <a:off x="649224" y="2075688"/>
            <a:ext cx="10893247" cy="1243584"/>
          </a:xfrm>
          <a:prstGeom prst="rect">
            <a:avLst/>
          </a:prstGeom>
          <a:noFill/>
          <a:ln/>
        </p:spPr>
        <p:txBody>
          <a:bodyPr wrap="square" lIns="0" tIns="0" rIns="0" bIns="0" rtlCol="0" anchor="ctr"/>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Ví dụ cách đọc một đề mục 4 cấp: 3.2.3.1
</a:t>
            </a:r>
            <a:r>
              <a:rPr lang="en-US" sz="1850" dirty="0">
                <a:solidFill>
                  <a:srgbClr val="000000"/>
                </a:solidFill>
                <a:latin typeface="Times New Roman" pitchFamily="34" charset="0"/>
                <a:ea typeface="Times New Roman" pitchFamily="34" charset="-122"/>
                <a:cs typeface="Times New Roman" pitchFamily="34" charset="-120"/>
              </a:rPr>
              <a:t>Chương 3  •  Mục 2  •  Nhóm tiểu mục 3  •  Tiểu mục 1</a:t>
            </a:r>
            <a:endParaRPr lang="en-US" sz="1900" dirty="0"/>
          </a:p>
        </p:txBody>
      </p:sp>
      <p:sp>
        <p:nvSpPr>
          <p:cNvPr id="7" name="Shape 5"/>
          <p:cNvSpPr/>
          <p:nvPr/>
        </p:nvSpPr>
        <p:spPr>
          <a:xfrm>
            <a:off x="502920" y="3657600"/>
            <a:ext cx="11185855" cy="1463040"/>
          </a:xfrm>
          <a:prstGeom prst="rect">
            <a:avLst/>
          </a:prstGeom>
          <a:solidFill>
            <a:srgbClr val="F0F2F5"/>
          </a:solidFill>
          <a:ln w="9525">
            <a:solidFill>
              <a:srgbClr val="12253F"/>
            </a:solidFill>
            <a:prstDash val="solid"/>
          </a:ln>
        </p:spPr>
        <p:txBody>
          <a:bodyPr/>
          <a:lstStyle/>
          <a:p>
            <a:endParaRPr lang="en-US"/>
          </a:p>
        </p:txBody>
      </p:sp>
      <p:sp>
        <p:nvSpPr>
          <p:cNvPr id="8" name="Text 6"/>
          <p:cNvSpPr txBox="1"/>
          <p:nvPr/>
        </p:nvSpPr>
        <p:spPr>
          <a:xfrm>
            <a:off x="758952" y="3749040"/>
            <a:ext cx="10728655" cy="1280160"/>
          </a:xfrm>
          <a:prstGeom prst="rect">
            <a:avLst/>
          </a:prstGeom>
          <a:noFill/>
          <a:ln/>
        </p:spPr>
        <p:txBody>
          <a:bodyPr wrap="square" lIns="0" tIns="0" rIns="0" bIns="0" rtlCol="0" anchor="ctr"/>
          <a:lstStyle/>
          <a:p>
            <a:pPr marL="0" indent="0">
              <a:buNone/>
            </a:pPr>
            <a:r>
              <a:rPr lang="en-US" sz="1550" b="1" dirty="0">
                <a:solidFill>
                  <a:srgbClr val="000000"/>
                </a:solidFill>
                <a:latin typeface="Times New Roman" pitchFamily="34" charset="0"/>
                <a:ea typeface="Times New Roman" pitchFamily="34" charset="-122"/>
                <a:cs typeface="Times New Roman" pitchFamily="34" charset="-120"/>
              </a:rPr>
              <a:t>Nguyên tắc bắt buộc: trong mỗi cấp đề mục, nếu không có từ hai đề mục con trở lên thì không được chia và đánh số đề mục con. Nói cách khác, không thể có đề mục 1.1.1 mà lại thiếu đề mục 1.1.2 đi kèm.</a:t>
            </a:r>
            <a:endParaRPr lang="en-US" sz="1550" dirty="0"/>
          </a:p>
        </p:txBody>
      </p:sp>
      <p:sp>
        <p:nvSpPr>
          <p:cNvPr id="9" name="Text 7"/>
          <p:cNvSpPr txBox="1"/>
          <p:nvPr/>
        </p:nvSpPr>
        <p:spPr>
          <a:xfrm>
            <a:off x="502920" y="5349240"/>
            <a:ext cx="11185855" cy="502920"/>
          </a:xfrm>
          <a:prstGeom prst="rect">
            <a:avLst/>
          </a:prstGeom>
          <a:noFill/>
          <a:ln/>
        </p:spPr>
        <p:txBody>
          <a:bodyPr wrap="square" lIns="0" tIns="0" rIns="0" bIns="0" rtlCol="0" anchor="ctr"/>
          <a:lstStyle/>
          <a:p>
            <a:pPr marL="0" indent="0">
              <a:buNone/>
            </a:pPr>
            <a:r>
              <a:rPr lang="en-US" sz="1300" i="1" dirty="0">
                <a:solidFill>
                  <a:srgbClr val="3D4552"/>
                </a:solidFill>
                <a:latin typeface="Times New Roman" pitchFamily="34" charset="0"/>
                <a:ea typeface="Times New Roman" pitchFamily="34" charset="-122"/>
                <a:cs typeface="Times New Roman" pitchFamily="34" charset="-120"/>
              </a:rPr>
              <a:t>Kết luận chương phải tóm lược ý chính của chương và dẫn vào chương sau, không lặp lại nguyên văn những gì đã viết trong phần giới thiệu chương.</a:t>
            </a:r>
            <a:endParaRPr lang="en-US" sz="1300" dirty="0"/>
          </a:p>
        </p:txBody>
      </p:sp>
      <p:sp>
        <p:nvSpPr>
          <p:cNvPr id="10" name="Shape 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1" name="Text 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IX</a:t>
            </a:r>
            <a:endParaRPr lang="en-US" sz="1000" dirty="0"/>
          </a:p>
        </p:txBody>
      </p:sp>
      <p:sp>
        <p:nvSpPr>
          <p:cNvPr id="12" name="Text 1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Cấu trúc chương và đề mục 4 cấp</a:t>
            </a:r>
            <a:endParaRPr lang="en-US" sz="10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Bảng biểu, hình vẽ, công thức và chữ viết tắt cũng có quy định trình bày riêng</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25880"/>
            <a:ext cx="2625014" cy="1737360"/>
          </a:xfrm>
          <a:prstGeom prst="rect">
            <a:avLst/>
          </a:prstGeom>
          <a:solidFill>
            <a:srgbClr val="FFFFFF"/>
          </a:solidFill>
          <a:ln w="12700">
            <a:solidFill>
              <a:srgbClr val="12253F"/>
            </a:solidFill>
            <a:prstDash val="solid"/>
          </a:ln>
        </p:spPr>
        <p:txBody>
          <a:bodyPr/>
          <a:lstStyle/>
          <a:p>
            <a:endParaRPr lang="en-US"/>
          </a:p>
        </p:txBody>
      </p:sp>
      <p:sp>
        <p:nvSpPr>
          <p:cNvPr id="5" name="Text 3"/>
          <p:cNvSpPr txBox="1"/>
          <p:nvPr/>
        </p:nvSpPr>
        <p:spPr>
          <a:xfrm>
            <a:off x="649224" y="1435608"/>
            <a:ext cx="2332406" cy="1517904"/>
          </a:xfrm>
          <a:prstGeom prst="rect">
            <a:avLst/>
          </a:prstGeom>
          <a:noFill/>
          <a:ln/>
        </p:spPr>
        <p:txBody>
          <a:bodyPr wrap="square" lIns="0" tIns="0" rIns="0" bIns="0" rtlCol="0" anchor="t"/>
          <a:lstStyle/>
          <a:p>
            <a:pPr marL="0" indent="0">
              <a:buNone/>
            </a:pPr>
            <a:r>
              <a:rPr lang="en-US" sz="1700" b="1" dirty="0">
                <a:solidFill>
                  <a:srgbClr val="000000"/>
                </a:solidFill>
                <a:latin typeface="Times New Roman" pitchFamily="34" charset="0"/>
                <a:ea typeface="Times New Roman" pitchFamily="34" charset="-122"/>
                <a:cs typeface="Times New Roman" pitchFamily="34" charset="-120"/>
              </a:rPr>
              <a:t>Bảng và hình
</a:t>
            </a:r>
            <a:r>
              <a:rPr lang="en-US" sz="1500" dirty="0">
                <a:solidFill>
                  <a:srgbClr val="000000"/>
                </a:solidFill>
                <a:latin typeface="Times New Roman" pitchFamily="34" charset="0"/>
                <a:ea typeface="Times New Roman" pitchFamily="34" charset="-122"/>
                <a:cs typeface="Times New Roman" pitchFamily="34" charset="-120"/>
              </a:rPr>
              <a:t>Đánh số theo chương, tựa bảng đặt trên, tựa hình đặt dưới, ghi rõ nguồn</a:t>
            </a:r>
            <a:endParaRPr lang="en-US" sz="1700" dirty="0"/>
          </a:p>
        </p:txBody>
      </p:sp>
      <p:sp>
        <p:nvSpPr>
          <p:cNvPr id="6" name="Shape 4"/>
          <p:cNvSpPr/>
          <p:nvPr/>
        </p:nvSpPr>
        <p:spPr>
          <a:xfrm>
            <a:off x="3356534" y="1325880"/>
            <a:ext cx="2625014" cy="1737360"/>
          </a:xfrm>
          <a:prstGeom prst="rect">
            <a:avLst/>
          </a:prstGeom>
          <a:solidFill>
            <a:srgbClr val="FFFFFF"/>
          </a:solidFill>
          <a:ln w="12700">
            <a:solidFill>
              <a:srgbClr val="12253F"/>
            </a:solidFill>
            <a:prstDash val="solid"/>
          </a:ln>
        </p:spPr>
        <p:txBody>
          <a:bodyPr/>
          <a:lstStyle/>
          <a:p>
            <a:endParaRPr lang="en-US"/>
          </a:p>
        </p:txBody>
      </p:sp>
      <p:sp>
        <p:nvSpPr>
          <p:cNvPr id="7" name="Text 5"/>
          <p:cNvSpPr txBox="1"/>
          <p:nvPr/>
        </p:nvSpPr>
        <p:spPr>
          <a:xfrm>
            <a:off x="3502838" y="1435608"/>
            <a:ext cx="2332406" cy="1517904"/>
          </a:xfrm>
          <a:prstGeom prst="rect">
            <a:avLst/>
          </a:prstGeom>
          <a:noFill/>
          <a:ln/>
        </p:spPr>
        <p:txBody>
          <a:bodyPr wrap="square" lIns="0" tIns="0" rIns="0" bIns="0" rtlCol="0" anchor="t"/>
          <a:lstStyle/>
          <a:p>
            <a:pPr marL="0" indent="0">
              <a:buNone/>
            </a:pPr>
            <a:r>
              <a:rPr lang="en-US" sz="1700" b="1" dirty="0">
                <a:solidFill>
                  <a:srgbClr val="000000"/>
                </a:solidFill>
                <a:latin typeface="Times New Roman" pitchFamily="34" charset="0"/>
                <a:ea typeface="Times New Roman" pitchFamily="34" charset="-122"/>
                <a:cs typeface="Times New Roman" pitchFamily="34" charset="-120"/>
              </a:rPr>
              <a:t>Công thức toán học
</a:t>
            </a:r>
            <a:r>
              <a:rPr lang="en-US" sz="1500" dirty="0">
                <a:solidFill>
                  <a:srgbClr val="000000"/>
                </a:solidFill>
                <a:latin typeface="Times New Roman" pitchFamily="34" charset="0"/>
                <a:ea typeface="Times New Roman" pitchFamily="34" charset="-122"/>
                <a:cs typeface="Times New Roman" pitchFamily="34" charset="-120"/>
              </a:rPr>
              <a:t>Đánh số theo chương, đặt ở lề phải, giải thích đầy đủ ký hiệu</a:t>
            </a:r>
            <a:endParaRPr lang="en-US" sz="1700" dirty="0"/>
          </a:p>
        </p:txBody>
      </p:sp>
      <p:sp>
        <p:nvSpPr>
          <p:cNvPr id="8" name="Shape 6"/>
          <p:cNvSpPr/>
          <p:nvPr/>
        </p:nvSpPr>
        <p:spPr>
          <a:xfrm>
            <a:off x="6210148" y="1325880"/>
            <a:ext cx="2625014" cy="173736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6356452" y="1435608"/>
            <a:ext cx="2332406" cy="1517904"/>
          </a:xfrm>
          <a:prstGeom prst="rect">
            <a:avLst/>
          </a:prstGeom>
          <a:noFill/>
          <a:ln/>
        </p:spPr>
        <p:txBody>
          <a:bodyPr wrap="square" lIns="0" tIns="0" rIns="0" bIns="0" rtlCol="0" anchor="t"/>
          <a:lstStyle/>
          <a:p>
            <a:pPr marL="0" indent="0">
              <a:buNone/>
            </a:pPr>
            <a:r>
              <a:rPr lang="en-US" sz="1700" b="1" dirty="0">
                <a:solidFill>
                  <a:srgbClr val="000000"/>
                </a:solidFill>
                <a:latin typeface="Times New Roman" pitchFamily="34" charset="0"/>
                <a:ea typeface="Times New Roman" pitchFamily="34" charset="-122"/>
                <a:cs typeface="Times New Roman" pitchFamily="34" charset="-120"/>
              </a:rPr>
              <a:t>Chú thích cuối trang
</a:t>
            </a:r>
            <a:r>
              <a:rPr lang="en-US" sz="1500" dirty="0">
                <a:solidFill>
                  <a:srgbClr val="000000"/>
                </a:solidFill>
                <a:latin typeface="Times New Roman" pitchFamily="34" charset="0"/>
                <a:ea typeface="Times New Roman" pitchFamily="34" charset="-122"/>
                <a:cs typeface="Times New Roman" pitchFamily="34" charset="-120"/>
              </a:rPr>
              <a:t>Dùng khi thông tin phụ làm loãng mạch văn nếu viết ngay trong đoạn</a:t>
            </a:r>
            <a:endParaRPr lang="en-US" sz="1700" dirty="0"/>
          </a:p>
        </p:txBody>
      </p:sp>
      <p:sp>
        <p:nvSpPr>
          <p:cNvPr id="10" name="Shape 8"/>
          <p:cNvSpPr/>
          <p:nvPr/>
        </p:nvSpPr>
        <p:spPr>
          <a:xfrm>
            <a:off x="9063761" y="1325880"/>
            <a:ext cx="2625014" cy="173736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9210065" y="1435608"/>
            <a:ext cx="2332406" cy="1517904"/>
          </a:xfrm>
          <a:prstGeom prst="rect">
            <a:avLst/>
          </a:prstGeom>
          <a:noFill/>
          <a:ln/>
        </p:spPr>
        <p:txBody>
          <a:bodyPr wrap="square" lIns="0" tIns="0" rIns="0" bIns="0" rtlCol="0" anchor="t"/>
          <a:lstStyle/>
          <a:p>
            <a:pPr marL="0" indent="0">
              <a:buNone/>
            </a:pPr>
            <a:r>
              <a:rPr lang="en-US" sz="1700" b="1" dirty="0">
                <a:solidFill>
                  <a:srgbClr val="000000"/>
                </a:solidFill>
                <a:latin typeface="Times New Roman" pitchFamily="34" charset="0"/>
                <a:ea typeface="Times New Roman" pitchFamily="34" charset="-122"/>
                <a:cs typeface="Times New Roman" pitchFamily="34" charset="-120"/>
              </a:rPr>
              <a:t>Chữ viết tắt
</a:t>
            </a:r>
            <a:r>
              <a:rPr lang="en-US" sz="1500" dirty="0">
                <a:solidFill>
                  <a:srgbClr val="000000"/>
                </a:solidFill>
                <a:latin typeface="Times New Roman" pitchFamily="34" charset="0"/>
                <a:ea typeface="Times New Roman" pitchFamily="34" charset="-122"/>
                <a:cs typeface="Times New Roman" pitchFamily="34" charset="-120"/>
              </a:rPr>
              <a:t>Viết đầy đủ kèm chữ viết tắt ở lần đầu, có danh mục riêng ở đầu bài</a:t>
            </a:r>
            <a:endParaRPr lang="en-US" sz="1700" dirty="0"/>
          </a:p>
        </p:txBody>
      </p:sp>
      <p:sp>
        <p:nvSpPr>
          <p:cNvPr id="13" name="Text 11"/>
          <p:cNvSpPr txBox="1"/>
          <p:nvPr/>
        </p:nvSpPr>
        <p:spPr>
          <a:xfrm>
            <a:off x="465724" y="3507375"/>
            <a:ext cx="4955362" cy="2075674"/>
          </a:xfrm>
          <a:prstGeom prst="rect">
            <a:avLst/>
          </a:prstGeom>
          <a:noFill/>
          <a:ln/>
        </p:spPr>
        <p:txBody>
          <a:bodyPr wrap="square" lIns="0" tIns="0" rIns="0" bIns="0" rtlCol="0" anchor="ctr"/>
          <a:lstStyle/>
          <a:p>
            <a:pPr marL="0" indent="0">
              <a:lnSpc>
                <a:spcPct val="200000"/>
              </a:lnSpc>
              <a:buNone/>
            </a:pPr>
            <a:r>
              <a:rPr lang="en-US" sz="1450" b="1" dirty="0">
                <a:solidFill>
                  <a:srgbClr val="000000"/>
                </a:solidFill>
                <a:latin typeface="Times New Roman" pitchFamily="34" charset="0"/>
                <a:ea typeface="Times New Roman" pitchFamily="34" charset="-122"/>
                <a:cs typeface="Times New Roman" pitchFamily="34" charset="-120"/>
              </a:rPr>
              <a:t>Đây là những chi tiết dễ bị sinh viên bỏ qua nhưng lại dễ bị người chấm phát hiện sai ngay từ lần đọc đầu tiên. Quy tắc đánh số cụ thể, ví dụ minh họa và cách nhắc đến bảng hoặc hình trong câu văn được trình bày chi tiết ở Core Slide 2.</a:t>
            </a:r>
            <a:endParaRPr lang="en-US" sz="1450" dirty="0"/>
          </a:p>
        </p:txBody>
      </p:sp>
      <p:sp>
        <p:nvSpPr>
          <p:cNvPr id="14" name="Shape 1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5" name="Text 1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IX</a:t>
            </a:r>
            <a:endParaRPr lang="en-US" sz="1000" dirty="0"/>
          </a:p>
        </p:txBody>
      </p:sp>
      <p:sp>
        <p:nvSpPr>
          <p:cNvPr id="16" name="Text 1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Bảng, hình, công thức, viết tắt</a:t>
            </a:r>
            <a:endParaRPr lang="en-US" sz="1000" dirty="0"/>
          </a:p>
        </p:txBody>
      </p:sp>
      <p:pic>
        <p:nvPicPr>
          <p:cNvPr id="18" name="Picture 17" descr="A paper with text and images&#10;&#10;AI-generated content may be incorrect.">
            <a:extLst>
              <a:ext uri="{FF2B5EF4-FFF2-40B4-BE49-F238E27FC236}">
                <a16:creationId xmlns:a16="http://schemas.microsoft.com/office/drawing/2014/main" id="{9473BA0C-3FAA-8327-02CA-A3EF48131431}"/>
              </a:ext>
            </a:extLst>
          </p:cNvPr>
          <p:cNvPicPr>
            <a:picLocks noChangeAspect="1"/>
          </p:cNvPicPr>
          <p:nvPr/>
        </p:nvPicPr>
        <p:blipFill>
          <a:blip r:embed="rId3"/>
          <a:srcRect l="14864" t="43761" r="9569" b="4751"/>
          <a:stretch>
            <a:fillRect/>
          </a:stretch>
        </p:blipFill>
        <p:spPr>
          <a:xfrm>
            <a:off x="6474637" y="3429000"/>
            <a:ext cx="5334153" cy="3125849"/>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X</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34316" y="1328276"/>
            <a:ext cx="452409" cy="452409"/>
          </a:xfrm>
          <a:prstGeom prst="rect">
            <a:avLst/>
          </a:prstGeom>
          <a:ln w="19050">
            <a:solidFill>
              <a:srgbClr val="FFFFFF"/>
            </a:solidFill>
            <a:prstDash val="solid"/>
          </a:ln>
        </p:spPr>
        <p:txBody>
          <a:bodyPr/>
          <a:lstStyle/>
          <a:p>
            <a:endParaRPr lang="en-US"/>
          </a:p>
        </p:txBody>
      </p:sp>
      <p:sp>
        <p:nvSpPr>
          <p:cNvPr id="6" name="Shape 4"/>
          <p:cNvSpPr/>
          <p:nvPr/>
        </p:nvSpPr>
        <p:spPr>
          <a:xfrm>
            <a:off x="4160520" y="1328276"/>
            <a:ext cx="0" cy="452409"/>
          </a:xfrm>
          <a:prstGeom prst="line">
            <a:avLst/>
          </a:prstGeom>
          <a:noFill/>
          <a:ln w="16510">
            <a:solidFill>
              <a:srgbClr val="FFFFFF"/>
            </a:solidFill>
            <a:prstDash val="solid"/>
          </a:ln>
        </p:spPr>
        <p:txBody>
          <a:bodyPr/>
          <a:lstStyle/>
          <a:p>
            <a:endParaRPr lang="en-US"/>
          </a:p>
        </p:txBody>
      </p:sp>
      <p:sp>
        <p:nvSpPr>
          <p:cNvPr id="7" name="Shape 5"/>
          <p:cNvSpPr/>
          <p:nvPr/>
        </p:nvSpPr>
        <p:spPr>
          <a:xfrm>
            <a:off x="3934316" y="1554480"/>
            <a:ext cx="452409" cy="0"/>
          </a:xfrm>
          <a:prstGeom prst="line">
            <a:avLst/>
          </a:prstGeom>
          <a:noFill/>
          <a:ln w="16510">
            <a:solidFill>
              <a:srgbClr val="FFFFFF"/>
            </a:solidFill>
            <a:prstDash val="solid"/>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Quy trình thực hiện từ lúc đăng ký đề tài đến lúc nộp bài hoàn chỉnh</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Phần X trình bày một quy trình thực hiện minh họa, dùng để sinh viên hình dung trình tự các bước thực tế. Khoa hoặc ngành cụ thể có thể quy định quy trình chi tiết khác với ví dụ này.</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Quy trình gồm những bước nào, ai chịu trách nhiệm từng bước</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Sinh viên cần chuẩn bị gì trước khi nộp bài hoàn chỉnh</a:t>
            </a:r>
            <a:endParaRPr lang="en-US" sz="20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50" b="1" dirty="0">
                <a:solidFill>
                  <a:srgbClr val="000000"/>
                </a:solidFill>
                <a:latin typeface="Times New Roman" pitchFamily="34" charset="0"/>
                <a:ea typeface="Times New Roman" pitchFamily="34" charset="-122"/>
                <a:cs typeface="Times New Roman" pitchFamily="34" charset="-120"/>
              </a:rPr>
              <a:t>Bảy bước của quy trình, Bước 1 đến Bước 4: từ đăng ký đề tài đến viết và chỉnh sửa bản thảo</a:t>
            </a:r>
            <a:endParaRPr lang="en-US" sz="17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72"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4480560"/>
        </p:xfrm>
        <a:graphic>
          <a:graphicData uri="http://schemas.openxmlformats.org/drawingml/2006/table">
            <a:tbl>
              <a:tblPr/>
              <a:tblGrid>
                <a:gridCol w="64008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7891272">
                  <a:extLst>
                    <a:ext uri="{9D8B030D-6E8A-4147-A177-3AD203B41FA5}">
                      <a16:colId xmlns:a16="http://schemas.microsoft.com/office/drawing/2014/main" val="20002"/>
                    </a:ext>
                  </a:extLst>
                </a:gridCol>
              </a:tblGrid>
              <a:tr h="896112">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Bước</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Ai thực hiện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Nội dung chính</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896112">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1</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Tham khảo tài liệu hướng dẫn, trao đổi với GVHD để tìm đề tài phù hợp, xác định phạm vi và quy mô nghiên cứu</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96112">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2</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Giảng viên hướng dẫn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Đọc đề tài sinh viên đăng ký, góp ý tên đề tài và hướng nghiên cứu để đảm bảo tính khả thi</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896112">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3</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Tiến hành nghiên cứu lý thuyết, tổng hợp cơ sở lý luận và các nghiên cứu trước, xây dựng đề cương chi tiết, thu thập số liệu</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96112">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4</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và GVHD</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viết bản thảo từng phần, GVHD góp ý, sinh viên chỉnh sửa theo góp ý để đảm bảo chất lượng</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02920" y="5623560"/>
            <a:ext cx="11185855" cy="457200"/>
          </a:xfrm>
          <a:prstGeom prst="rect">
            <a:avLst/>
          </a:prstGeom>
          <a:noFill/>
          <a:ln/>
        </p:spPr>
        <p:txBody>
          <a:bodyPr wrap="square" lIns="0" tIns="0" rIns="0" bIns="0" rtlCol="0" anchor="ctr"/>
          <a:lstStyle/>
          <a:p>
            <a:pPr marL="0" indent="0">
              <a:buNone/>
            </a:pPr>
            <a:r>
              <a:rPr lang="en-US" sz="1200" i="1" dirty="0">
                <a:solidFill>
                  <a:srgbClr val="3D4552"/>
                </a:solidFill>
                <a:latin typeface="Times New Roman" pitchFamily="34" charset="0"/>
                <a:ea typeface="Times New Roman" pitchFamily="34" charset="-122"/>
                <a:cs typeface="Times New Roman" pitchFamily="34" charset="-120"/>
              </a:rPr>
              <a:t>Đây là quy trình minh họa. Số bước và tên gọi cụ thể có thể khác nhau giữa các khoa nhưng trình tự đăng ký, góp ý, viết, chỉnh sửa là logic chung.</a:t>
            </a:r>
            <a:endParaRPr lang="en-US" sz="12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Quy trình, bước 1 đến 4</a:t>
            </a:r>
            <a:endParaRPr lang="en-US" sz="10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50" b="1" dirty="0">
                <a:solidFill>
                  <a:srgbClr val="000000"/>
                </a:solidFill>
                <a:latin typeface="Times New Roman" pitchFamily="34" charset="0"/>
                <a:ea typeface="Times New Roman" pitchFamily="34" charset="-122"/>
                <a:cs typeface="Times New Roman" pitchFamily="34" charset="-120"/>
              </a:rPr>
              <a:t>Ba bước cuối: nộp bài hoàn chỉnh, tổ chức chấm và chỉnh sửa theo yêu cầu hội đồng</a:t>
            </a:r>
            <a:endParaRPr lang="en-US" sz="17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73"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4937760"/>
        </p:xfrm>
        <a:graphic>
          <a:graphicData uri="http://schemas.openxmlformats.org/drawingml/2006/table">
            <a:tbl>
              <a:tblPr/>
              <a:tblGrid>
                <a:gridCol w="64008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7799832">
                  <a:extLst>
                    <a:ext uri="{9D8B030D-6E8A-4147-A177-3AD203B41FA5}">
                      <a16:colId xmlns:a16="http://schemas.microsoft.com/office/drawing/2014/main" val="20002"/>
                    </a:ext>
                  </a:extLst>
                </a:gridCol>
              </a:tblGrid>
              <a:tr h="1234440">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Bước</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Ai thực hiện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Nội dung chính</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1234440">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5</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đơn vị thực tập, khoa</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trình bày và in bài theo đúng hình thức, số lượng quy định. Đơn vị thực tập xác nhận và nhận xét tinh thần làm việc. Khoa thu nhận bài</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234440">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6</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Khoa, tổ chấm, hội đồng</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Khoa phân công tổ chấm hoặc thành lập hội đồng. Giảng viên hướng dẫn và các giảng viên khác chấm điểm theo phiếu chấm quy định</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1234440">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7</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khoa</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Sinh viên chỉnh sửa theo yêu cầu của hội đồng, in nộp bản cuối cùng. Khoa tổng kết điểm, trả điểm và lưu trữ theo quy định</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Quy trình, bước 5 đến 7</a:t>
            </a:r>
            <a:endParaRPr lang="en-US" sz="10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Ai chấm bài và hội đồng gồm bao nhiêu người: hai cách tổ chức khác nhau cho chuyên đề và khóa luận</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329184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344168"/>
            <a:ext cx="5163160" cy="3072384"/>
          </a:xfrm>
          <a:prstGeom prst="rect">
            <a:avLst/>
          </a:prstGeom>
          <a:noFill/>
          <a:ln/>
        </p:spPr>
        <p:txBody>
          <a:bodyPr wrap="square" lIns="0" tIns="0" rIns="0" bIns="0" rtlCol="0" anchor="t"/>
          <a:lstStyle/>
          <a:p>
            <a:pPr marL="0" indent="0">
              <a:buNone/>
            </a:pPr>
            <a:r>
              <a:rPr lang="en-US" sz="1850" b="1" dirty="0">
                <a:solidFill>
                  <a:srgbClr val="12253F"/>
                </a:solidFill>
                <a:latin typeface="Times New Roman" pitchFamily="34" charset="0"/>
                <a:ea typeface="Times New Roman" pitchFamily="34" charset="-122"/>
                <a:cs typeface="Times New Roman" pitchFamily="34" charset="-120"/>
              </a:rPr>
              <a:t>Chuyên đề tốt nghiệp
</a:t>
            </a:r>
            <a:r>
              <a:rPr lang="en-US" sz="1700" dirty="0">
                <a:solidFill>
                  <a:srgbClr val="000000"/>
                </a:solidFill>
                <a:latin typeface="Times New Roman" pitchFamily="34" charset="0"/>
                <a:ea typeface="Times New Roman" pitchFamily="34" charset="-122"/>
                <a:cs typeface="Times New Roman" pitchFamily="34" charset="-120"/>
              </a:rPr>
              <a:t>Giảng viên hướng dẫn cùng với một giảng viên khác do khoa phân công cùng chấm điểm. Điểm đánh giá là trung bình cộng của hai giảng viên, tính theo thang điểm 10, làm tròn đến một chữ số thập phân.</a:t>
            </a:r>
            <a:endParaRPr lang="en-US" sz="1850" dirty="0"/>
          </a:p>
        </p:txBody>
      </p:sp>
      <p:sp>
        <p:nvSpPr>
          <p:cNvPr id="6" name="Shape 4"/>
          <p:cNvSpPr/>
          <p:nvPr/>
        </p:nvSpPr>
        <p:spPr>
          <a:xfrm>
            <a:off x="6233008" y="1234440"/>
            <a:ext cx="5455768" cy="329184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379312" y="1344168"/>
            <a:ext cx="5163160" cy="3072384"/>
          </a:xfrm>
          <a:prstGeom prst="rect">
            <a:avLst/>
          </a:prstGeom>
          <a:noFill/>
          <a:ln/>
        </p:spPr>
        <p:txBody>
          <a:bodyPr wrap="square" lIns="0" tIns="0" rIns="0" bIns="0" rtlCol="0" anchor="t"/>
          <a:lstStyle/>
          <a:p>
            <a:pPr marL="0" indent="0">
              <a:buNone/>
            </a:pPr>
            <a:r>
              <a:rPr lang="en-US" sz="1850" b="1" dirty="0">
                <a:solidFill>
                  <a:srgbClr val="12253F"/>
                </a:solidFill>
                <a:latin typeface="Times New Roman" pitchFamily="34" charset="0"/>
                <a:ea typeface="Times New Roman" pitchFamily="34" charset="-122"/>
                <a:cs typeface="Times New Roman" pitchFamily="34" charset="-120"/>
              </a:rPr>
              <a:t>Khóa luận tốt nghiệp
</a:t>
            </a:r>
            <a:r>
              <a:rPr lang="en-US" sz="1700" dirty="0">
                <a:solidFill>
                  <a:srgbClr val="000000"/>
                </a:solidFill>
                <a:latin typeface="Times New Roman" pitchFamily="34" charset="0"/>
                <a:ea typeface="Times New Roman" pitchFamily="34" charset="-122"/>
                <a:cs typeface="Times New Roman" pitchFamily="34" charset="-120"/>
              </a:rPr>
              <a:t>Sinh viên trình bày trước hội đồng đánh giá. Hội đồng có 3 thành viên, giảng viên hướng dẫn là một thành viên nhưng không phải chủ tịch hội đồng. Điểm là trung bình cộng của các thành viên hội đồng.</a:t>
            </a:r>
            <a:endParaRPr lang="en-US" sz="1850" dirty="0"/>
          </a:p>
        </p:txBody>
      </p:sp>
      <p:sp>
        <p:nvSpPr>
          <p:cNvPr id="8" name="Text 6"/>
          <p:cNvSpPr txBox="1"/>
          <p:nvPr/>
        </p:nvSpPr>
        <p:spPr>
          <a:xfrm>
            <a:off x="502920" y="4709160"/>
            <a:ext cx="11185855" cy="640080"/>
          </a:xfrm>
          <a:prstGeom prst="rect">
            <a:avLst/>
          </a:prstGeom>
          <a:noFill/>
          <a:ln/>
        </p:spPr>
        <p:txBody>
          <a:bodyPr wrap="square" lIns="0" tIns="0" rIns="0" bIns="0" rtlCol="0" anchor="ctr"/>
          <a:lstStyle/>
          <a:p>
            <a:pPr marL="0" indent="0">
              <a:buNone/>
            </a:pPr>
            <a:r>
              <a:rPr lang="en-US" sz="1300" i="1" dirty="0">
                <a:solidFill>
                  <a:srgbClr val="3D4552"/>
                </a:solidFill>
                <a:latin typeface="Times New Roman" pitchFamily="34" charset="0"/>
                <a:ea typeface="Times New Roman" pitchFamily="34" charset="-122"/>
                <a:cs typeface="Times New Roman" pitchFamily="34" charset="-120"/>
              </a:rPr>
              <a:t>Đây là cách tổ chức chấm điểm minh họa. Số lượng thành viên hội đồng và cách phân công chấm cụ thể do từng khoa quy định.</a:t>
            </a:r>
            <a:endParaRPr lang="en-US" sz="1300" dirty="0"/>
          </a:p>
        </p:txBody>
      </p:sp>
      <p:sp>
        <p:nvSpPr>
          <p:cNvPr id="9" name="Shape 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a:t>
            </a:r>
            <a:endParaRPr lang="en-US" sz="1000" dirty="0"/>
          </a:p>
        </p:txBody>
      </p:sp>
      <p:sp>
        <p:nvSpPr>
          <p:cNvPr id="11" name="Text 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Tổ chức chấm điểm</a:t>
            </a:r>
            <a:endParaRPr lang="en-US" sz="100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XI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55859" y="1382134"/>
            <a:ext cx="409322" cy="107716"/>
          </a:xfrm>
          <a:prstGeom prst="chevron">
            <a:avLst/>
          </a:prstGeom>
          <a:ln w="17780">
            <a:solidFill>
              <a:srgbClr val="FFFFFF"/>
            </a:solidFill>
            <a:prstDash val="solid"/>
          </a:ln>
        </p:spPr>
        <p:txBody>
          <a:bodyPr/>
          <a:lstStyle/>
          <a:p>
            <a:endParaRPr lang="en-US"/>
          </a:p>
        </p:txBody>
      </p:sp>
      <p:sp>
        <p:nvSpPr>
          <p:cNvPr id="6" name="Shape 4"/>
          <p:cNvSpPr/>
          <p:nvPr/>
        </p:nvSpPr>
        <p:spPr>
          <a:xfrm>
            <a:off x="3955859" y="1500622"/>
            <a:ext cx="409322" cy="107716"/>
          </a:xfrm>
          <a:prstGeom prst="chevron">
            <a:avLst/>
          </a:prstGeom>
          <a:ln w="17780">
            <a:solidFill>
              <a:srgbClr val="FFFFFF"/>
            </a:solidFill>
            <a:prstDash val="solid"/>
          </a:ln>
        </p:spPr>
        <p:txBody>
          <a:bodyPr/>
          <a:lstStyle/>
          <a:p>
            <a:endParaRPr lang="en-US"/>
          </a:p>
        </p:txBody>
      </p:sp>
      <p:sp>
        <p:nvSpPr>
          <p:cNvPr id="7" name="Shape 5"/>
          <p:cNvSpPr/>
          <p:nvPr/>
        </p:nvSpPr>
        <p:spPr>
          <a:xfrm>
            <a:off x="3955859" y="1619110"/>
            <a:ext cx="409322" cy="107716"/>
          </a:xfrm>
          <a:prstGeom prst="chevron">
            <a:avLst/>
          </a:prstGeom>
          <a:ln w="17780">
            <a:solidFill>
              <a:srgbClr val="FFFFFF"/>
            </a:solidFill>
            <a:prstDash val="solid"/>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Tiêu chí chấm điểm chuyên đề và khóa luận tốt nghiệp</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Sinh viên cần biết trước người chấm sẽ nhìn vào đâu để đánh giá bài. Phần này trình bày một khung tiêu chí thống nhất, đi từ cách tính điểm cụ thể đến chuẩn chất lượng cần hướng tới.</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Một bài đạt yêu cầu cần thể hiện điều gì</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Bằng chứng cho từng tiêu chí nằm ở đâu trong bài</a:t>
            </a:r>
            <a:endParaRPr lang="en-US" sz="200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Nguyên tắc chấm điểm cần nắm trước</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160020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344168"/>
            <a:ext cx="5163160" cy="13807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Bài không được chấm chỉ dựa trên số trang
</a:t>
            </a:r>
            <a:r>
              <a:rPr lang="en-US" sz="1800" dirty="0">
                <a:solidFill>
                  <a:srgbClr val="000000"/>
                </a:solidFill>
                <a:latin typeface="Times New Roman" pitchFamily="34" charset="0"/>
                <a:ea typeface="Times New Roman" pitchFamily="34" charset="-122"/>
                <a:cs typeface="Times New Roman" pitchFamily="34" charset="-120"/>
              </a:rPr>
              <a:t>Số trang đúng chuẩn theo Phần IX, Mục 2 chỉ là điều kiện cần. Bài dài nhưng thiếu liên kết không được xem là bài tốt.</a:t>
            </a:r>
            <a:endParaRPr lang="en-US" sz="1900" dirty="0"/>
          </a:p>
        </p:txBody>
      </p:sp>
      <p:sp>
        <p:nvSpPr>
          <p:cNvPr id="6" name="Shape 4"/>
          <p:cNvSpPr/>
          <p:nvPr/>
        </p:nvSpPr>
        <p:spPr>
          <a:xfrm>
            <a:off x="6233008" y="1234440"/>
            <a:ext cx="5455768" cy="160020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379312" y="1344168"/>
            <a:ext cx="5163160" cy="13807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TLTK và phụ lục phục vụ tính minh chứng
</a:t>
            </a:r>
            <a:r>
              <a:rPr lang="en-US" sz="1800" dirty="0">
                <a:solidFill>
                  <a:srgbClr val="000000"/>
                </a:solidFill>
                <a:latin typeface="Times New Roman" pitchFamily="34" charset="0"/>
                <a:ea typeface="Times New Roman" pitchFamily="34" charset="-122"/>
                <a:cs typeface="Times New Roman" pitchFamily="34" charset="-120"/>
              </a:rPr>
              <a:t>Danh mục tham khảo và phụ lục chỉ có giá trị khi thật sự làm bằng chứng cho các lập luận trong nội dung chính.</a:t>
            </a:r>
            <a:endParaRPr lang="en-US" sz="1900" dirty="0"/>
          </a:p>
        </p:txBody>
      </p:sp>
      <p:sp>
        <p:nvSpPr>
          <p:cNvPr id="8" name="Shape 6"/>
          <p:cNvSpPr/>
          <p:nvPr/>
        </p:nvSpPr>
        <p:spPr>
          <a:xfrm>
            <a:off x="502920" y="3108960"/>
            <a:ext cx="11185855" cy="1463040"/>
          </a:xfrm>
          <a:prstGeom prst="rect">
            <a:avLst/>
          </a:prstGeom>
          <a:solidFill>
            <a:srgbClr val="F0F2F5"/>
          </a:solidFill>
          <a:ln w="9525">
            <a:solidFill>
              <a:srgbClr val="12253F"/>
            </a:solidFill>
            <a:prstDash val="solid"/>
          </a:ln>
        </p:spPr>
        <p:txBody>
          <a:bodyPr/>
          <a:lstStyle/>
          <a:p>
            <a:endParaRPr lang="en-US"/>
          </a:p>
        </p:txBody>
      </p:sp>
      <p:sp>
        <p:nvSpPr>
          <p:cNvPr id="9" name="Text 7"/>
          <p:cNvSpPr txBox="1"/>
          <p:nvPr/>
        </p:nvSpPr>
        <p:spPr>
          <a:xfrm>
            <a:off x="758952" y="3200400"/>
            <a:ext cx="10728655" cy="1280160"/>
          </a:xfrm>
          <a:prstGeom prst="rect">
            <a:avLst/>
          </a:prstGeom>
          <a:noFill/>
          <a:ln/>
        </p:spPr>
        <p:txBody>
          <a:bodyPr wrap="square" lIns="0" tIns="0" rIns="0" bIns="0"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Khung tiêu chí trong Phần XI đi theo ba lớp, từ cụ thể đến tổng quát. Mục 2 và Mục 3 là khung điểm số theo từng phần bài viết và phần trình bày. Mục 4 là chuẩn chất lượng cần hướng tới ở mức cao. Mục 6 và Mục 7 là tám nhóm tiêu chí tổng quan dùng để tự kiểm tra trước khi nộp bài, bảng tiêu chí chi tiết hơn có ở Core Slide 2.</a:t>
            </a:r>
            <a:endParaRPr lang="en-US" sz="1400" dirty="0"/>
          </a:p>
        </p:txBody>
      </p:sp>
      <p:sp>
        <p:nvSpPr>
          <p:cNvPr id="10" name="Shape 8"/>
          <p:cNvSpPr/>
          <p:nvPr/>
        </p:nvSpPr>
        <p:spPr>
          <a:xfrm>
            <a:off x="502920" y="4709160"/>
            <a:ext cx="11185855" cy="137160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649224" y="4818888"/>
            <a:ext cx="10893247" cy="1152144"/>
          </a:xfrm>
          <a:prstGeom prst="rect">
            <a:avLst/>
          </a:prstGeom>
          <a:noFill/>
          <a:ln/>
        </p:spPr>
        <p:txBody>
          <a:bodyPr wrap="square" lIns="0" tIns="0" rIns="0" bIns="0" rtlCol="0" anchor="t"/>
          <a:lstStyle/>
          <a:p>
            <a:pPr marL="0" indent="0">
              <a:buNone/>
            </a:pPr>
            <a:r>
              <a:rPr lang="en-US" sz="1700" b="1" dirty="0">
                <a:solidFill>
                  <a:srgbClr val="12253F"/>
                </a:solidFill>
                <a:latin typeface="Times New Roman" pitchFamily="34" charset="0"/>
                <a:ea typeface="Times New Roman" pitchFamily="34" charset="-122"/>
                <a:cs typeface="Times New Roman" pitchFamily="34" charset="-120"/>
              </a:rPr>
              <a:t>Duyệt proposal khác với chấm điểm khóa luận cuối kỳ
</a:t>
            </a:r>
            <a:r>
              <a:rPr lang="en-US" sz="1550" dirty="0">
                <a:solidFill>
                  <a:srgbClr val="000000"/>
                </a:solidFill>
                <a:latin typeface="Times New Roman" pitchFamily="34" charset="0"/>
                <a:ea typeface="Times New Roman" pitchFamily="34" charset="-122"/>
                <a:cs typeface="Times New Roman" pitchFamily="34" charset="-120"/>
              </a:rPr>
              <a:t>Duyệt proposal ở Phần IV chỉ xác nhận đề tài khả thi, đủ điều kiện để bắt đầu viết, do giảng viên hướng dẫn thực hiện trong quá trình làm bài. Khung tiêu chí ở Phần XI dùng để chấm điểm bài hoàn chỉnh nộp vào cuối kỳ, thường do hội đồng chấm thực hiện. Qua được vòng duyệt proposal không có nghĩa là chắc chắn đạt điểm cao ở vòng chấm cuối kỳ.</a:t>
            </a:r>
            <a:endParaRPr lang="en-US" sz="1700" dirty="0"/>
          </a:p>
        </p:txBody>
      </p:sp>
      <p:sp>
        <p:nvSpPr>
          <p:cNvPr id="12" name="Shape 10"/>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3" name="Text 11"/>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14" name="Text 12"/>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Nguyên tắc chấm điểm</a:t>
            </a:r>
            <a:endParaRPr lang="en-US" sz="10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50" b="1" dirty="0">
                <a:solidFill>
                  <a:srgbClr val="000000"/>
                </a:solidFill>
                <a:latin typeface="Times New Roman" pitchFamily="34" charset="0"/>
                <a:ea typeface="Times New Roman" pitchFamily="34" charset="-122"/>
                <a:cs typeface="Times New Roman" pitchFamily="34" charset="-120"/>
              </a:rPr>
              <a:t>Khung điểm theo thang 10: bảy phần của bài viết, mỗi phần một mức điểm riêng</a:t>
            </a:r>
            <a:endParaRPr lang="en-US" sz="165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77" name="Table 0"/>
          <p:cNvGraphicFramePr>
            <a:graphicFrameLocks noGrp="1"/>
          </p:cNvGraphicFramePr>
          <p:nvPr>
            <p:extLst>
              <p:ext uri="{D42A27DB-BD31-4B8C-83A1-F6EECF244321}">
                <p14:modId xmlns:p14="http://schemas.microsoft.com/office/powerpoint/2010/main" val="1579011935"/>
              </p:ext>
            </p:extLst>
          </p:nvPr>
        </p:nvGraphicFramePr>
        <p:xfrm>
          <a:off x="502920" y="1737360"/>
          <a:ext cx="11183112" cy="3950208"/>
        </p:xfrm>
        <a:graphic>
          <a:graphicData uri="http://schemas.openxmlformats.org/drawingml/2006/table">
            <a:tbl>
              <a:tblPr/>
              <a:tblGrid>
                <a:gridCol w="10085832">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tblGrid>
              <a:tr h="438912">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Phần bài viết được chấm</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50" b="1" dirty="0">
                          <a:solidFill>
                            <a:srgbClr val="FFFFFF"/>
                          </a:solidFill>
                          <a:latin typeface="Times New Roman" pitchFamily="34" charset="0"/>
                          <a:ea typeface="Times New Roman" pitchFamily="34" charset="-122"/>
                          <a:cs typeface="Times New Roman" pitchFamily="34" charset="-120"/>
                        </a:rPr>
                        <a:t>Điểm</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Hình thức trình bày đúng quy định, văn phong mạch lạc, đủ độ dài, đủ tài liệu tham khảo</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1.0</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Phần mở đầu: sự cần thiết của đề tài, mục tiêu, phương pháp, đối tượng, phạm vi, kết cấu đề tài</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1.5</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Cơ sở lý luận liên quan đến đối tượng nghiên cứu, trình bày đầy đủ và súc tích</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2.0</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Phân tích vấn đề thực tiễn, phát hiện bất hợp lý và lý giải nguyên nhân hạn chế</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3.5</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Đề xuất kiến nghị phù hợp</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1.0</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Kết luận: tóm tắt những gì bài viết đã trình bày</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0.5</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6"/>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Điểm thưởng thành tích nghiên cứu khoa học</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0.5</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8912">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Tổng điểm</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10.0</a:t>
                      </a:r>
                      <a:endParaRPr lang="en-US" sz="14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8"/>
                  </a:ext>
                </a:extLst>
              </a:tr>
            </a:tbl>
          </a:graphicData>
        </a:graphic>
      </p:graphicFrame>
      <p:sp>
        <p:nvSpPr>
          <p:cNvPr id="5" name="Text 2"/>
          <p:cNvSpPr txBox="1"/>
          <p:nvPr/>
        </p:nvSpPr>
        <p:spPr>
          <a:xfrm>
            <a:off x="502920" y="5623560"/>
            <a:ext cx="11185855" cy="502920"/>
          </a:xfrm>
          <a:prstGeom prst="rect">
            <a:avLst/>
          </a:prstGeom>
          <a:noFill/>
          <a:ln/>
        </p:spPr>
        <p:txBody>
          <a:bodyPr wrap="square" lIns="0" tIns="0" rIns="0" bIns="0" rtlCol="0" anchor="ctr"/>
          <a:lstStyle/>
          <a:p>
            <a:pPr marL="0" indent="0">
              <a:buNone/>
            </a:pPr>
            <a:r>
              <a:rPr lang="en-US" sz="1200" i="1" dirty="0">
                <a:solidFill>
                  <a:srgbClr val="3D4552"/>
                </a:solidFill>
                <a:latin typeface="Times New Roman" pitchFamily="34" charset="0"/>
                <a:ea typeface="Times New Roman" pitchFamily="34" charset="-122"/>
                <a:cs typeface="Times New Roman" pitchFamily="34" charset="-120"/>
              </a:rPr>
              <a:t>Khung điểm cụ thể do khoa chuyên ngành quy định, có thể khác nhau giữa các ngành. Cơ cấu điểm ở trên cho thấy trọng số lớn nhất luôn nằm ở phần phân tích vấn đề thực tiễn, không nằm ở hình thức trình bày.</a:t>
            </a:r>
            <a:endParaRPr lang="en-US" sz="12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Khung điểm theo bảy phần bài viết</a:t>
            </a:r>
            <a:endParaRPr lang="en-US" sz="10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00" b="1" dirty="0">
                <a:solidFill>
                  <a:srgbClr val="000000"/>
                </a:solidFill>
                <a:latin typeface="Times New Roman" pitchFamily="34" charset="0"/>
                <a:ea typeface="Times New Roman" pitchFamily="34" charset="-122"/>
                <a:cs typeface="Times New Roman" pitchFamily="34" charset="-120"/>
              </a:rPr>
              <a:t>Đối với khóa luận có bảo vệ trước hội đồng, điểm cuối cùng gồm hai phần: bài viết và phần trình bày</a:t>
            </a:r>
            <a:endParaRPr lang="en-US" sz="16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80160"/>
            <a:ext cx="5455768" cy="1828800"/>
          </a:xfrm>
          <a:prstGeom prst="rect">
            <a:avLst/>
          </a:prstGeom>
          <a:solidFill>
            <a:srgbClr val="F0F2F5"/>
          </a:solidFill>
          <a:ln w="19050">
            <a:solidFill>
              <a:srgbClr val="12253F"/>
            </a:solidFill>
            <a:prstDash val="solid"/>
          </a:ln>
        </p:spPr>
        <p:txBody>
          <a:bodyPr/>
          <a:lstStyle/>
          <a:p>
            <a:endParaRPr lang="en-US"/>
          </a:p>
        </p:txBody>
      </p:sp>
      <p:sp>
        <p:nvSpPr>
          <p:cNvPr id="5" name="Text 3"/>
          <p:cNvSpPr txBox="1"/>
          <p:nvPr/>
        </p:nvSpPr>
        <p:spPr>
          <a:xfrm>
            <a:off x="649224" y="1389888"/>
            <a:ext cx="5163160" cy="16093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Phần bài viết
</a:t>
            </a:r>
            <a:r>
              <a:rPr lang="en-US" sz="1750" dirty="0">
                <a:solidFill>
                  <a:srgbClr val="000000"/>
                </a:solidFill>
                <a:latin typeface="Times New Roman" pitchFamily="34" charset="0"/>
                <a:ea typeface="Times New Roman" pitchFamily="34" charset="-122"/>
                <a:cs typeface="Times New Roman" pitchFamily="34" charset="-120"/>
              </a:rPr>
              <a:t>Chiếm tỉ trọng lớn hơn trong điểm cuối cùng. Đây là toàn bộ nội dung được chấm theo khung bảy phần ở Mục 2.</a:t>
            </a:r>
            <a:endParaRPr lang="en-US" sz="1900" dirty="0"/>
          </a:p>
        </p:txBody>
      </p:sp>
      <p:sp>
        <p:nvSpPr>
          <p:cNvPr id="6" name="Shape 4"/>
          <p:cNvSpPr/>
          <p:nvPr/>
        </p:nvSpPr>
        <p:spPr>
          <a:xfrm>
            <a:off x="6233008" y="1280160"/>
            <a:ext cx="5455768" cy="1828800"/>
          </a:xfrm>
          <a:prstGeom prst="rect">
            <a:avLst/>
          </a:prstGeom>
          <a:solidFill>
            <a:srgbClr val="F0F2F5"/>
          </a:solidFill>
          <a:ln w="19050">
            <a:solidFill>
              <a:srgbClr val="12253F"/>
            </a:solidFill>
            <a:prstDash val="solid"/>
          </a:ln>
        </p:spPr>
        <p:txBody>
          <a:bodyPr/>
          <a:lstStyle/>
          <a:p>
            <a:endParaRPr lang="en-US"/>
          </a:p>
        </p:txBody>
      </p:sp>
      <p:sp>
        <p:nvSpPr>
          <p:cNvPr id="7" name="Text 5"/>
          <p:cNvSpPr txBox="1"/>
          <p:nvPr/>
        </p:nvSpPr>
        <p:spPr>
          <a:xfrm>
            <a:off x="6379312" y="1389888"/>
            <a:ext cx="5163160" cy="160934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Phần trình bày và trả lời câu hỏi
</a:t>
            </a:r>
            <a:r>
              <a:rPr lang="en-US" sz="1750" dirty="0">
                <a:solidFill>
                  <a:srgbClr val="000000"/>
                </a:solidFill>
                <a:latin typeface="Times New Roman" pitchFamily="34" charset="0"/>
                <a:ea typeface="Times New Roman" pitchFamily="34" charset="-122"/>
                <a:cs typeface="Times New Roman" pitchFamily="34" charset="-120"/>
              </a:rPr>
              <a:t>Chiếm tỉ trọng nhỏ hơn nhưng có ảnh hưởng thật đến điểm cuối cùng, không phải hình thức.</a:t>
            </a:r>
            <a:endParaRPr lang="en-US" sz="1900" dirty="0"/>
          </a:p>
        </p:txBody>
      </p:sp>
      <p:sp>
        <p:nvSpPr>
          <p:cNvPr id="8" name="Shape 6"/>
          <p:cNvSpPr/>
          <p:nvPr/>
        </p:nvSpPr>
        <p:spPr>
          <a:xfrm>
            <a:off x="502920" y="3429000"/>
            <a:ext cx="11185855" cy="1371600"/>
          </a:xfrm>
          <a:prstGeom prst="rect">
            <a:avLst/>
          </a:prstGeom>
          <a:solidFill>
            <a:srgbClr val="F0F2F5"/>
          </a:solidFill>
          <a:ln w="9525">
            <a:solidFill>
              <a:srgbClr val="12253F"/>
            </a:solidFill>
            <a:prstDash val="solid"/>
          </a:ln>
        </p:spPr>
        <p:txBody>
          <a:bodyPr/>
          <a:lstStyle/>
          <a:p>
            <a:endParaRPr lang="en-US"/>
          </a:p>
        </p:txBody>
      </p:sp>
      <p:sp>
        <p:nvSpPr>
          <p:cNvPr id="9" name="Text 7"/>
          <p:cNvSpPr txBox="1"/>
          <p:nvPr/>
        </p:nvSpPr>
        <p:spPr>
          <a:xfrm>
            <a:off x="758952" y="3520440"/>
            <a:ext cx="10728655" cy="1188720"/>
          </a:xfrm>
          <a:prstGeom prst="rect">
            <a:avLst/>
          </a:prstGeom>
          <a:noFill/>
          <a:ln/>
        </p:spPr>
        <p:txBody>
          <a:bodyPr wrap="square" lIns="0" tIns="0" rIns="0" bIns="0" rtlCol="0" anchor="ctr"/>
          <a:lstStyle/>
          <a:p>
            <a:pPr marL="0" indent="0">
              <a:buNone/>
            </a:pPr>
            <a:r>
              <a:rPr lang="en-US" sz="1500" b="1" dirty="0">
                <a:solidFill>
                  <a:srgbClr val="000000"/>
                </a:solidFill>
                <a:latin typeface="Times New Roman" pitchFamily="34" charset="0"/>
                <a:ea typeface="Times New Roman" pitchFamily="34" charset="-122"/>
                <a:cs typeface="Times New Roman" pitchFamily="34" charset="-120"/>
              </a:rPr>
              <a:t>Nói cách khác, viết xong bài chưa phải là hoàn tất công việc. Sinh viên cần chuẩn bị phần trình bày và trả lời câu hỏi kỹ như chuẩn bị nội dung viết, vì đây là phần điểm riêng, cộng thêm vào điểm bài viết chứ không phải phần phụ.</a:t>
            </a:r>
            <a:endParaRPr lang="en-US" sz="1500" dirty="0"/>
          </a:p>
        </p:txBody>
      </p:sp>
      <p:sp>
        <p:nvSpPr>
          <p:cNvPr id="10" name="Text 8"/>
          <p:cNvSpPr txBox="1"/>
          <p:nvPr/>
        </p:nvSpPr>
        <p:spPr>
          <a:xfrm>
            <a:off x="502920" y="5120640"/>
            <a:ext cx="11185855" cy="457200"/>
          </a:xfrm>
          <a:prstGeom prst="rect">
            <a:avLst/>
          </a:prstGeom>
          <a:noFill/>
          <a:ln/>
        </p:spPr>
        <p:txBody>
          <a:bodyPr wrap="square" lIns="0" tIns="0" rIns="0" bIns="0" rtlCol="0" anchor="ctr"/>
          <a:lstStyle/>
          <a:p>
            <a:pPr marL="0" indent="0">
              <a:buNone/>
            </a:pPr>
            <a:r>
              <a:rPr lang="en-US" sz="1250" i="1" dirty="0">
                <a:solidFill>
                  <a:srgbClr val="3D4552"/>
                </a:solidFill>
                <a:latin typeface="Times New Roman" pitchFamily="34" charset="0"/>
                <a:ea typeface="Times New Roman" pitchFamily="34" charset="-122"/>
                <a:cs typeface="Times New Roman" pitchFamily="34" charset="-120"/>
              </a:rPr>
              <a:t>Cách chia tỉ trọng cụ thể giữa hai phần này do từng khoa hoặc từng hội đồng quy định.</a:t>
            </a:r>
            <a:endParaRPr lang="en-US" sz="1250" dirty="0"/>
          </a:p>
        </p:txBody>
      </p:sp>
      <p:sp>
        <p:nvSpPr>
          <p:cNvPr id="11" name="Shape 9"/>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2" name="Text 10"/>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13" name="Text 11"/>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Hai phần điểm: bài viết và trình bày</a:t>
            </a:r>
            <a:endParaRPr lang="en-US" sz="100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600" b="1" dirty="0">
                <a:solidFill>
                  <a:srgbClr val="000000"/>
                </a:solidFill>
                <a:latin typeface="Times New Roman" pitchFamily="34" charset="0"/>
                <a:ea typeface="Times New Roman" pitchFamily="34" charset="-122"/>
                <a:cs typeface="Times New Roman" pitchFamily="34" charset="-120"/>
              </a:rPr>
              <a:t>Chuẩn chất lượng ở mức cao: bài viết cần thể hiện điều gì để không chỉ đạt mà còn được đánh giá tốt</a:t>
            </a:r>
            <a:endParaRPr lang="en-US" sz="16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5455768" cy="3246120"/>
          </a:xfrm>
          <a:prstGeom prst="rect">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49224" y="1344168"/>
            <a:ext cx="5163160" cy="302666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Ở phần bài viết
</a:t>
            </a:r>
            <a:r>
              <a:rPr lang="en-US" sz="1550" dirty="0">
                <a:solidFill>
                  <a:srgbClr val="000000"/>
                </a:solidFill>
                <a:latin typeface="Times New Roman" pitchFamily="34" charset="0"/>
                <a:ea typeface="Times New Roman" pitchFamily="34" charset="-122"/>
                <a:cs typeface="Times New Roman" pitchFamily="34" charset="-120"/>
              </a:rPr>
              <a:t>• Có đóng góp mới, dù nhỏ, về mặt lý luận hoặc thực tiễn, không chỉ lặp lại nghiên cứu trước
• Bố cục hợp lý, rõ ràng, mạch lạc, đúng cấu trúc chương mục đã quy định
• Văn phong khoa học, khách quan, không dùng lối viết cảm tính
• Hầu như không còn lỗi trình bày hoặc lỗi chính tả khi nộp bản cuối</a:t>
            </a:r>
            <a:endParaRPr lang="en-US" sz="1800" dirty="0"/>
          </a:p>
        </p:txBody>
      </p:sp>
      <p:sp>
        <p:nvSpPr>
          <p:cNvPr id="6" name="Shape 4"/>
          <p:cNvSpPr/>
          <p:nvPr/>
        </p:nvSpPr>
        <p:spPr>
          <a:xfrm>
            <a:off x="6233008" y="1234440"/>
            <a:ext cx="5455768" cy="3246120"/>
          </a:xfrm>
          <a:prstGeom prst="rect">
            <a:avLst/>
          </a:prstGeom>
          <a:solidFill>
            <a:srgbClr val="FFFFFF"/>
          </a:solidFill>
          <a:ln w="19050">
            <a:solidFill>
              <a:srgbClr val="12253F"/>
            </a:solidFill>
            <a:prstDash val="solid"/>
          </a:ln>
        </p:spPr>
        <p:txBody>
          <a:bodyPr/>
          <a:lstStyle/>
          <a:p>
            <a:endParaRPr lang="en-US"/>
          </a:p>
        </p:txBody>
      </p:sp>
      <p:sp>
        <p:nvSpPr>
          <p:cNvPr id="7" name="Text 5"/>
          <p:cNvSpPr txBox="1"/>
          <p:nvPr/>
        </p:nvSpPr>
        <p:spPr>
          <a:xfrm>
            <a:off x="6379312" y="1344168"/>
            <a:ext cx="5163160" cy="3026664"/>
          </a:xfrm>
          <a:prstGeom prst="rect">
            <a:avLst/>
          </a:prstGeom>
          <a:noFill/>
          <a:ln/>
        </p:spPr>
        <p:txBody>
          <a:bodyPr wrap="square" lIns="0" tIns="0" rIns="0" bIns="0" rtlCol="0" anchor="t"/>
          <a:lstStyle/>
          <a:p>
            <a:pPr marL="0" indent="0">
              <a:buNone/>
            </a:pPr>
            <a:r>
              <a:rPr lang="en-US" sz="1800" b="1" dirty="0">
                <a:solidFill>
                  <a:srgbClr val="12253F"/>
                </a:solidFill>
                <a:latin typeface="Times New Roman" pitchFamily="34" charset="0"/>
                <a:ea typeface="Times New Roman" pitchFamily="34" charset="-122"/>
                <a:cs typeface="Times New Roman" pitchFamily="34" charset="-120"/>
              </a:rPr>
              <a:t>Ở phần trình bày và bảo vệ
</a:t>
            </a:r>
            <a:r>
              <a:rPr lang="en-US" sz="1550" dirty="0">
                <a:solidFill>
                  <a:srgbClr val="000000"/>
                </a:solidFill>
                <a:latin typeface="Times New Roman" pitchFamily="34" charset="0"/>
                <a:ea typeface="Times New Roman" pitchFamily="34" charset="-122"/>
                <a:cs typeface="Times New Roman" pitchFamily="34" charset="-120"/>
              </a:rPr>
              <a:t>• Hiểu biết rộng và chắc về lý thuyết cũng như phương pháp nghiên cứu đã dùng, không học thuộc để đọc lại
• Trình bày chủ động, rõ ràng, mạch lạc, đúng thời gian quy định
• Trả lời đầy đủ và thuyết phục các câu hỏi của hội đồng, không né tránh câu khó</a:t>
            </a:r>
            <a:endParaRPr lang="en-US" sz="1800" dirty="0"/>
          </a:p>
        </p:txBody>
      </p:sp>
      <p:sp>
        <p:nvSpPr>
          <p:cNvPr id="8" name="Text 6"/>
          <p:cNvSpPr txBox="1"/>
          <p:nvPr/>
        </p:nvSpPr>
        <p:spPr>
          <a:xfrm>
            <a:off x="502920" y="4709160"/>
            <a:ext cx="11185855" cy="640080"/>
          </a:xfrm>
          <a:prstGeom prst="rect">
            <a:avLst/>
          </a:prstGeom>
          <a:noFill/>
          <a:ln/>
        </p:spPr>
        <p:txBody>
          <a:bodyPr wrap="square" lIns="0" tIns="0" rIns="0" bIns="0" rtlCol="0" anchor="ctr"/>
          <a:lstStyle/>
          <a:p>
            <a:pPr marL="0" indent="0">
              <a:buNone/>
            </a:pPr>
            <a:r>
              <a:rPr lang="en-US" sz="1300" i="1" dirty="0">
                <a:solidFill>
                  <a:srgbClr val="3D4552"/>
                </a:solidFill>
                <a:latin typeface="Times New Roman" pitchFamily="34" charset="0"/>
                <a:ea typeface="Times New Roman" pitchFamily="34" charset="-122"/>
                <a:cs typeface="Times New Roman" pitchFamily="34" charset="-120"/>
              </a:rPr>
              <a:t>Đây là chuẩn của nhóm điểm cao nhất. Sinh viên nên lấy đây làm mục tiêu để hướng tới ngay từ khi bắt đầu viết, không chỉ đọc lại khi gần nộp bài.</a:t>
            </a:r>
            <a:endParaRPr lang="en-US" sz="1300" dirty="0"/>
          </a:p>
        </p:txBody>
      </p:sp>
      <p:sp>
        <p:nvSpPr>
          <p:cNvPr id="9" name="Shape 7"/>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0" name="Text 8"/>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11" name="Text 9"/>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Chuẩn chất lượng ở mức cao</a:t>
            </a:r>
            <a:endParaRPr lang="en-US" sz="10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Cách tính điểm cuối cùng, thời hạn công bố kết quả và hệ quả nếu bị điểm F hoặc F+</a:t>
            </a:r>
            <a:endParaRPr lang="en-US" sz="17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80"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3950208"/>
        </p:xfrm>
        <a:graphic>
          <a:graphicData uri="http://schemas.openxmlformats.org/drawingml/2006/table">
            <a:tbl>
              <a:tblPr/>
              <a:tblGrid>
                <a:gridCol w="3200400">
                  <a:extLst>
                    <a:ext uri="{9D8B030D-6E8A-4147-A177-3AD203B41FA5}">
                      <a16:colId xmlns:a16="http://schemas.microsoft.com/office/drawing/2014/main" val="20000"/>
                    </a:ext>
                  </a:extLst>
                </a:gridCol>
                <a:gridCol w="7982712">
                  <a:extLst>
                    <a:ext uri="{9D8B030D-6E8A-4147-A177-3AD203B41FA5}">
                      <a16:colId xmlns:a16="http://schemas.microsoft.com/office/drawing/2014/main" val="20001"/>
                    </a:ext>
                  </a:extLst>
                </a:gridCol>
              </a:tblGrid>
              <a:tr h="658368">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Nội dung</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50" b="1" dirty="0">
                          <a:solidFill>
                            <a:srgbClr val="FFFFFF"/>
                          </a:solidFill>
                          <a:latin typeface="Times New Roman" pitchFamily="34" charset="0"/>
                          <a:ea typeface="Times New Roman" pitchFamily="34" charset="-122"/>
                          <a:cs typeface="Times New Roman" pitchFamily="34" charset="-120"/>
                        </a:rPr>
                        <a:t>Quy định</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5836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Thang điểm</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Thang điểm 10, làm tròn đến một chữ số thập phân</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Trọng số</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Điểm học phần chuyên đề hoặc khóa luận tính 100 phần trăm, đưa vào điểm trung bình chung tích lũy toàn khóa</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5836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Thời hạn công bố (chuyên đề)</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Chậm nhất 2 tuần kể từ ngày kết thúc nộp báo cáo theo thông báo</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Nơi nộp kết quả (khóa luận)</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Nộp về phòng đào tạo ngay sau mỗi buổi bảo vệ</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658368">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Nếu bị điểm F hoặc F+</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50" dirty="0">
                          <a:solidFill>
                            <a:srgbClr val="000000"/>
                          </a:solidFill>
                          <a:latin typeface="Times New Roman" pitchFamily="34" charset="0"/>
                          <a:ea typeface="Times New Roman" pitchFamily="34" charset="-122"/>
                          <a:cs typeface="Times New Roman" pitchFamily="34" charset="-120"/>
                        </a:rPr>
                        <a:t>Sinh viên phải đăng ký thực hiện lại học phần chuyên đề hoặc khóa luận tốt nghiệp</a:t>
                      </a:r>
                      <a:endParaRPr lang="en-US" sz="155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02920" y="5349240"/>
            <a:ext cx="11185855" cy="365760"/>
          </a:xfrm>
          <a:prstGeom prst="rect">
            <a:avLst/>
          </a:prstGeom>
          <a:noFill/>
          <a:ln/>
        </p:spPr>
        <p:txBody>
          <a:bodyPr wrap="square" lIns="0" tIns="0" rIns="0" bIns="0" rtlCol="0" anchor="ctr"/>
          <a:lstStyle/>
          <a:p>
            <a:pPr marL="0" indent="0">
              <a:buNone/>
            </a:pPr>
            <a:r>
              <a:rPr lang="en-US" sz="1200" i="1" dirty="0">
                <a:solidFill>
                  <a:srgbClr val="3D4552"/>
                </a:solidFill>
                <a:latin typeface="Times New Roman" pitchFamily="34" charset="0"/>
                <a:ea typeface="Times New Roman" pitchFamily="34" charset="-122"/>
                <a:cs typeface="Times New Roman" pitchFamily="34" charset="-120"/>
              </a:rPr>
              <a:t>Mốc thời gian và cách xử lý điểm F, F+ cụ thể do từng khoa quy định. Sinh viên cần xác nhận lại mốc thời gian chính xác với giảng viên hướng dẫn hoặc khoa quản lý ngành của mình.</a:t>
            </a:r>
            <a:endParaRPr lang="en-US" sz="120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5 · Cách tính điểm và hệ quả</a:t>
            </a:r>
            <a:endParaRPr lang="en-US" sz="10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Tám nhóm tiêu chí tự kiểm tra trước khi nộp bài, nhìn theo mạch từ Chương 1 đến Chương 5</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81"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4800600"/>
        </p:xfrm>
        <a:graphic>
          <a:graphicData uri="http://schemas.openxmlformats.org/drawingml/2006/table">
            <a:tbl>
              <a:tblPr/>
              <a:tblGrid>
                <a:gridCol w="24688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960120">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Tiêu chí</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Người chấm cần thấy gì</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Bằng chứng ở đâu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Cách tự kiểm tra</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9601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Đề tài, mục tiêu và proposal</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Đề tài khả thi, vấn đề rõ, ba yếu tố vấn đề, mục tiêu, câu hỏi nhất quán với nhau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Chương 1, đề cương đã nộp</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Đối chiếu checklist Phần III Mục 5 và sơ đồ liên kết Phần IV</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01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Cơ sở lý thuyết và mô hình</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Lý thuyết phù hợp trực tiếp với vấn đề, mô hình phản ánh đúng quan hệ giữa các yếu tố</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Chương 2, đầu Chương 3</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Tự hỏi mỗi lý thuyết, mỗi yếu tố trong mô hình có phục vụ trực tiếp câu hỏi nghiên cứu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9601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Phương pháp, đối tượng và dữ liệu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Phương pháp đúng với câu hỏi nghiên cứu, nêu rõ ai được khảo sát, dữ liệu lấy từ đâu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Chương 3</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Kiểm tra phương pháp có trả lời được câu hỏi đã đặt ra hay không</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960120">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Tính trung thực và kết luận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Dữ liệu xử lý đúng như mô tả, kết luận chỉ nằm trong phạm vi dữ liệu cho phép nói</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Chương 3, Chương 4, Chương 5</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Đối chiếu từng câu kết luận có dẫn chứng dữ liệu hỗ trợ</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6 · Bốn nhóm tiêu chí đầu, từ đề tài đến kết luận</a:t>
            </a:r>
            <a:endParaRPr lang="en-US" sz="10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Bốn nhóm tiêu chí còn lại, từ cách diễn giải kết quả đến khả năng bảo vệ quyết định nghiên cứu</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82"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1183112" cy="4206240"/>
        </p:xfrm>
        <a:graphic>
          <a:graphicData uri="http://schemas.openxmlformats.org/drawingml/2006/table">
            <a:tbl>
              <a:tblPr/>
              <a:tblGrid>
                <a:gridCol w="246888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3227832">
                  <a:extLst>
                    <a:ext uri="{9D8B030D-6E8A-4147-A177-3AD203B41FA5}">
                      <a16:colId xmlns:a16="http://schemas.microsoft.com/office/drawing/2014/main" val="20003"/>
                    </a:ext>
                  </a:extLst>
                </a:gridCol>
              </a:tblGrid>
              <a:tr h="841248">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Tiêu chí</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Người chấm cần thấy gì</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Bằng chứng ở đâu</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400" b="1" dirty="0">
                          <a:solidFill>
                            <a:srgbClr val="FFFFFF"/>
                          </a:solidFill>
                          <a:latin typeface="Times New Roman" pitchFamily="34" charset="0"/>
                          <a:ea typeface="Times New Roman" pitchFamily="34" charset="-122"/>
                          <a:cs typeface="Times New Roman" pitchFamily="34" charset="-120"/>
                        </a:rPr>
                        <a:t>Cách tự kiểm tra</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84124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Khả năng diễn giải kết quả</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Không chỉ trình bày số liệu, giải thích được ý nghĩa và nêu hạn chế trung thực</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Chương 4, Chương 5</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Đọc từng bảng, kiểm tra có đoạn giải thích ý nghĩa kèm theo</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Trích dẫn và văn phong học thuật</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Trích dẫn đầy đủ khớp danh mục TLTK, câu văn rõ ràng khách quan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Toàn bài, danh mục TLTK</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Đối chiếu từng trích dẫn trong bài với danh mục</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84124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Format và tiến độ thực hiện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Font, canh lề, đánh số, trích dẫn nhất quán, đủ báo cáo tiến độ 8 tuần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Toàn bài, hồ sơ báo cáo tiến độ</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Rà lại toàn bài một lượt riêng chỉ để kiểm tra format</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Khả năng giải thích quyết định</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Giải thích được vì sao chọn đề tài, phương pháp, mô hình như vậy</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Toàn bài, buổi trình bày nếu có</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400" dirty="0">
                          <a:solidFill>
                            <a:srgbClr val="000000"/>
                          </a:solidFill>
                          <a:latin typeface="Times New Roman" pitchFamily="34" charset="0"/>
                          <a:ea typeface="Times New Roman" pitchFamily="34" charset="-122"/>
                          <a:cs typeface="Times New Roman" pitchFamily="34" charset="-120"/>
                        </a:rPr>
                        <a:t>Tự đặt câu hỏi vì sao cho từng quyết định lớn</a:t>
                      </a:r>
                      <a:endParaRPr lang="en-US" sz="14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Text 2"/>
          <p:cNvSpPr txBox="1"/>
          <p:nvPr/>
        </p:nvSpPr>
        <p:spPr>
          <a:xfrm>
            <a:off x="502920" y="5715000"/>
            <a:ext cx="11185855" cy="621792"/>
          </a:xfrm>
          <a:prstGeom prst="rect">
            <a:avLst/>
          </a:prstGeom>
          <a:noFill/>
          <a:ln/>
        </p:spPr>
        <p:txBody>
          <a:bodyPr wrap="square" lIns="0" tIns="0" rIns="0" bIns="0" rtlCol="0" anchor="ctr"/>
          <a:lstStyle/>
          <a:p>
            <a:pPr marL="0" indent="0">
              <a:buNone/>
            </a:pPr>
            <a:r>
              <a:rPr lang="en-US" sz="1250" i="1" dirty="0">
                <a:solidFill>
                  <a:srgbClr val="3D4552"/>
                </a:solidFill>
                <a:latin typeface="Times New Roman" pitchFamily="34" charset="0"/>
                <a:ea typeface="Times New Roman" pitchFamily="34" charset="-122"/>
                <a:cs typeface="Times New Roman" pitchFamily="34" charset="-120"/>
              </a:rPr>
              <a:t>Đây là khung tham chiếu ở mức tổng quan để tự kiểm tra. Bảng tiêu chí chi tiết theo từng nội dung nhỏ hơn, kèm ví dụ đạt và chưa đạt, được trình bày đầy đủ ở Core Slide 2. Không tự tạo trọng số điểm chính thức nếu chưa có rubric đã được xác minh.</a:t>
            </a:r>
            <a:endParaRPr lang="en-US" sz="1250" dirty="0"/>
          </a:p>
        </p:txBody>
      </p:sp>
      <p:sp>
        <p:nvSpPr>
          <p:cNvPr id="6" name="Shape 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7" name="Text 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8" name="Text 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7 · Bốn nhóm tiêu chí sau, từ diễn giải đến bảo vệ</a:t>
            </a:r>
            <a:endParaRPr lang="en-US" sz="10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Case minh họa: Case A tự kiểm tra qua ba trong tám nhóm tiêu chí</a:t>
            </a:r>
            <a:endParaRPr lang="en-US" sz="1800" dirty="0"/>
          </a:p>
        </p:txBody>
      </p:sp>
      <p:sp>
        <p:nvSpPr>
          <p:cNvPr id="3" name="Shape 1"/>
          <p:cNvSpPr/>
          <p:nvPr/>
        </p:nvSpPr>
        <p:spPr>
          <a:xfrm>
            <a:off x="502920" y="817733"/>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987552"/>
            <a:ext cx="5952744" cy="310896"/>
          </a:xfrm>
          <a:prstGeom prst="roundRect">
            <a:avLst>
              <a:gd name="adj" fmla="val 50000"/>
            </a:avLst>
          </a:prstGeom>
          <a:solidFill>
            <a:srgbClr val="FFFFFF"/>
          </a:solidFill>
          <a:ln w="15875">
            <a:solidFill>
              <a:srgbClr val="12253F"/>
            </a:solidFill>
            <a:prstDash val="solid"/>
          </a:ln>
        </p:spPr>
        <p:txBody>
          <a:bodyPr/>
          <a:lstStyle/>
          <a:p>
            <a:endParaRPr lang="en-US"/>
          </a:p>
        </p:txBody>
      </p:sp>
      <p:sp>
        <p:nvSpPr>
          <p:cNvPr id="5" name="Text 3"/>
          <p:cNvSpPr txBox="1"/>
          <p:nvPr/>
        </p:nvSpPr>
        <p:spPr>
          <a:xfrm>
            <a:off x="502920" y="987552"/>
            <a:ext cx="5952744" cy="310896"/>
          </a:xfrm>
          <a:prstGeom prst="rect">
            <a:avLst/>
          </a:prstGeom>
          <a:noFill/>
          <a:ln/>
        </p:spPr>
        <p:txBody>
          <a:bodyPr wrap="square" lIns="0" tIns="0" rIns="0" bIns="0" rtlCol="0" anchor="ctr"/>
          <a:lstStyle/>
          <a:p>
            <a:pPr marL="0" indent="0" algn="ctr">
              <a:buNone/>
            </a:pPr>
            <a:r>
              <a:rPr lang="en-US" sz="1400" b="1" kern="0" spc="100" dirty="0">
                <a:solidFill>
                  <a:srgbClr val="12253F"/>
                </a:solidFill>
                <a:latin typeface="Times New Roman" pitchFamily="34" charset="0"/>
                <a:ea typeface="Times New Roman" pitchFamily="34" charset="-122"/>
                <a:cs typeface="Times New Roman" pitchFamily="34" charset="-120"/>
              </a:rPr>
              <a:t>VÍ DỤ MINH HỌA</a:t>
            </a:r>
            <a:endParaRPr lang="en-US" sz="1400" dirty="0"/>
          </a:p>
        </p:txBody>
      </p:sp>
      <p:sp>
        <p:nvSpPr>
          <p:cNvPr id="6" name="Text 4"/>
          <p:cNvSpPr txBox="1"/>
          <p:nvPr/>
        </p:nvSpPr>
        <p:spPr>
          <a:xfrm>
            <a:off x="502920" y="1645919"/>
            <a:ext cx="11155680" cy="420625"/>
          </a:xfrm>
          <a:prstGeom prst="rect">
            <a:avLst/>
          </a:prstGeom>
          <a:noFill/>
          <a:ln/>
        </p:spPr>
        <p:txBody>
          <a:bodyPr wrap="square" lIns="0" tIns="0" rIns="0" bIns="0" rtlCol="0" anchor="t"/>
          <a:lstStyle/>
          <a:p>
            <a:pPr marL="0" indent="0">
              <a:buNone/>
            </a:pPr>
            <a:r>
              <a:rPr lang="en-US" sz="1350" dirty="0">
                <a:solidFill>
                  <a:srgbClr val="1A1A1A"/>
                </a:solidFill>
                <a:latin typeface="Times New Roman" pitchFamily="34" charset="0"/>
                <a:ea typeface="Times New Roman" pitchFamily="34" charset="-122"/>
                <a:cs typeface="Times New Roman" pitchFamily="34" charset="-120"/>
              </a:rPr>
              <a:t>Ngân hàng số: đây là cách một bài dùng Case A tự đối chiếu với ba nhóm tiêu chí đã học ở Mục 6 và Mục 7, trước khi nộp bài.</a:t>
            </a:r>
            <a:endParaRPr lang="en-US" sz="1350" dirty="0"/>
          </a:p>
        </p:txBody>
      </p:sp>
      <p:sp>
        <p:nvSpPr>
          <p:cNvPr id="7" name="Shape 5"/>
          <p:cNvSpPr/>
          <p:nvPr/>
        </p:nvSpPr>
        <p:spPr>
          <a:xfrm>
            <a:off x="502920" y="240487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8" name="Text 6"/>
          <p:cNvSpPr txBox="1"/>
          <p:nvPr/>
        </p:nvSpPr>
        <p:spPr>
          <a:xfrm>
            <a:off x="832104" y="2359152"/>
            <a:ext cx="10838383" cy="1005840"/>
          </a:xfrm>
          <a:prstGeom prst="rect">
            <a:avLst/>
          </a:prstGeom>
          <a:noFill/>
          <a:ln/>
        </p:spPr>
        <p:txBody>
          <a:bodyPr wrap="square" lIns="0" tIns="0" rIns="0" bIns="0" rtlCol="0" anchor="t"/>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Nhóm 1, đề tài và proposal: đề tài nêu rõ vấn đề khách hàng chưa dùng dịch vụ ngân hàng số, mục tiêu và câu hỏi nhất quán với nhau</a:t>
            </a:r>
            <a:endParaRPr lang="en-US" sz="1700" dirty="0"/>
          </a:p>
        </p:txBody>
      </p:sp>
      <p:sp>
        <p:nvSpPr>
          <p:cNvPr id="9" name="Shape 7"/>
          <p:cNvSpPr/>
          <p:nvPr/>
        </p:nvSpPr>
        <p:spPr>
          <a:xfrm>
            <a:off x="502920" y="341071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0" name="Text 8"/>
          <p:cNvSpPr txBox="1"/>
          <p:nvPr/>
        </p:nvSpPr>
        <p:spPr>
          <a:xfrm>
            <a:off x="832104" y="3364992"/>
            <a:ext cx="10838383" cy="1005840"/>
          </a:xfrm>
          <a:prstGeom prst="rect">
            <a:avLst/>
          </a:prstGeom>
          <a:noFill/>
          <a:ln/>
        </p:spPr>
        <p:txBody>
          <a:bodyPr wrap="square" lIns="0" tIns="0" rIns="0" bIns="0" rtlCol="0" anchor="t"/>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Nhóm 4, tính trung thực và kết luận: kết luận chỉ nêu các yếu tố có bằng chứng từ dữ liệu khảo sát thật, không suy rộng ngoài mẫu đã thu thập</a:t>
            </a:r>
            <a:endParaRPr lang="en-US" sz="1700" dirty="0"/>
          </a:p>
        </p:txBody>
      </p:sp>
      <p:sp>
        <p:nvSpPr>
          <p:cNvPr id="11" name="Shape 9"/>
          <p:cNvSpPr/>
          <p:nvPr/>
        </p:nvSpPr>
        <p:spPr>
          <a:xfrm>
            <a:off x="502920" y="441655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2" name="Text 10"/>
          <p:cNvSpPr txBox="1"/>
          <p:nvPr/>
        </p:nvSpPr>
        <p:spPr>
          <a:xfrm>
            <a:off x="832104" y="4370832"/>
            <a:ext cx="10838383" cy="1005840"/>
          </a:xfrm>
          <a:prstGeom prst="rect">
            <a:avLst/>
          </a:prstGeom>
          <a:noFill/>
          <a:ln/>
        </p:spPr>
        <p:txBody>
          <a:bodyPr wrap="square" lIns="0" tIns="0" rIns="0" bIns="0" rtlCol="0" anchor="t"/>
          <a:lstStyle/>
          <a:p>
            <a:pPr marL="0" indent="0">
              <a:buNone/>
            </a:pPr>
            <a:r>
              <a:rPr lang="en-US" sz="1700" dirty="0">
                <a:solidFill>
                  <a:srgbClr val="000000"/>
                </a:solidFill>
                <a:latin typeface="Times New Roman" pitchFamily="34" charset="0"/>
                <a:ea typeface="Times New Roman" pitchFamily="34" charset="-122"/>
                <a:cs typeface="Times New Roman" pitchFamily="34" charset="-120"/>
              </a:rPr>
              <a:t>Nhóm 5, khả năng diễn giải kết quả: mỗi bảng hồi quy đều có đoạn giải thích ý nghĩa, không chỉ trình bày số liệu thô</a:t>
            </a:r>
            <a:endParaRPr lang="en-US" sz="1700" dirty="0"/>
          </a:p>
        </p:txBody>
      </p:sp>
      <p:sp>
        <p:nvSpPr>
          <p:cNvPr id="13" name="Shape 11"/>
          <p:cNvSpPr/>
          <p:nvPr/>
        </p:nvSpPr>
        <p:spPr>
          <a:xfrm>
            <a:off x="502920" y="5623560"/>
            <a:ext cx="11185855" cy="621792"/>
          </a:xfrm>
          <a:prstGeom prst="rect">
            <a:avLst/>
          </a:prstGeom>
          <a:solidFill>
            <a:srgbClr val="F0F2F5"/>
          </a:solidFill>
          <a:ln w="9525">
            <a:solidFill>
              <a:srgbClr val="12253F"/>
            </a:solidFill>
            <a:prstDash val="solid"/>
          </a:ln>
        </p:spPr>
        <p:txBody>
          <a:bodyPr/>
          <a:lstStyle/>
          <a:p>
            <a:endParaRPr lang="en-US"/>
          </a:p>
        </p:txBody>
      </p:sp>
      <p:sp>
        <p:nvSpPr>
          <p:cNvPr id="14" name="Text 12"/>
          <p:cNvSpPr txBox="1"/>
          <p:nvPr/>
        </p:nvSpPr>
        <p:spPr>
          <a:xfrm>
            <a:off x="758952" y="5715000"/>
            <a:ext cx="10728655" cy="438912"/>
          </a:xfrm>
          <a:prstGeom prst="rect">
            <a:avLst/>
          </a:prstGeom>
          <a:noFill/>
          <a:ln/>
        </p:spPr>
        <p:txBody>
          <a:bodyPr wrap="square" lIns="0" tIns="0" rIns="0" bIns="0" rtlCol="0" anchor="ctr"/>
          <a:lstStyle/>
          <a:p>
            <a:pPr marL="0" indent="0">
              <a:buNone/>
            </a:pPr>
            <a:r>
              <a:rPr lang="en-US" sz="1250" b="1" dirty="0">
                <a:solidFill>
                  <a:srgbClr val="000000"/>
                </a:solidFill>
                <a:latin typeface="Times New Roman" pitchFamily="34" charset="0"/>
                <a:ea typeface="Times New Roman" pitchFamily="34" charset="-122"/>
                <a:cs typeface="Times New Roman" pitchFamily="34" charset="-120"/>
              </a:rPr>
              <a:t>Ba nhóm trên chỉ là ví dụ điểm qua. Bài thật cần tự kiểm tra đủ cả tám nhóm tiêu chí ở Mục 6 và Mục 7 trước khi nộp.</a:t>
            </a:r>
            <a:endParaRPr lang="en-US" sz="1250" dirty="0"/>
          </a:p>
        </p:txBody>
      </p:sp>
      <p:sp>
        <p:nvSpPr>
          <p:cNvPr id="15" name="Shape 13"/>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6" name="Text 14"/>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a:t>
            </a:r>
            <a:endParaRPr lang="en-US" sz="1000" dirty="0"/>
          </a:p>
        </p:txBody>
      </p:sp>
      <p:sp>
        <p:nvSpPr>
          <p:cNvPr id="17" name="Text 15"/>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Case minh họa · Case A tự kiểm tra tiêu chí</a:t>
            </a:r>
            <a:endParaRPr lang="en-US" sz="100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XII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12772" y="1360591"/>
            <a:ext cx="129260" cy="129260"/>
          </a:xfrm>
          <a:prstGeom prst="ellipse">
            <a:avLst/>
          </a:prstGeom>
          <a:solidFill>
            <a:srgbClr val="FFFFFF"/>
          </a:solidFill>
          <a:ln/>
        </p:spPr>
        <p:txBody>
          <a:bodyPr/>
          <a:lstStyle/>
          <a:p>
            <a:endParaRPr lang="en-US"/>
          </a:p>
        </p:txBody>
      </p:sp>
      <p:sp>
        <p:nvSpPr>
          <p:cNvPr id="6" name="Shape 4"/>
          <p:cNvSpPr/>
          <p:nvPr/>
        </p:nvSpPr>
        <p:spPr>
          <a:xfrm>
            <a:off x="4279008" y="1619110"/>
            <a:ext cx="129260" cy="129260"/>
          </a:xfrm>
          <a:prstGeom prst="ellipse">
            <a:avLst/>
          </a:prstGeom>
          <a:solidFill>
            <a:srgbClr val="FFFFFF"/>
          </a:solidFill>
          <a:ln/>
        </p:spPr>
        <p:txBody>
          <a:bodyPr/>
          <a:lstStyle/>
          <a:p>
            <a:endParaRPr lang="en-US"/>
          </a:p>
        </p:txBody>
      </p:sp>
      <p:sp>
        <p:nvSpPr>
          <p:cNvPr id="7" name="Shape 5"/>
          <p:cNvSpPr/>
          <p:nvPr/>
        </p:nvSpPr>
        <p:spPr>
          <a:xfrm>
            <a:off x="3977402" y="1425220"/>
            <a:ext cx="366235" cy="193889"/>
          </a:xfrm>
          <a:prstGeom prst="line">
            <a:avLst/>
          </a:prstGeom>
          <a:noFill/>
          <a:ln w="22860">
            <a:solidFill>
              <a:srgbClr val="FFFFFF"/>
            </a:solidFill>
            <a:prstDash val="dash"/>
          </a:ln>
        </p:spPr>
        <p:txBody>
          <a:bodyPr/>
          <a:lstStyle/>
          <a:p>
            <a:endParaRPr lang="en-US"/>
          </a:p>
        </p:txBody>
      </p:sp>
      <p:sp>
        <p:nvSpPr>
          <p:cNvPr id="8" name="Text 6"/>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Báo cáo tiến độ hằng tuần</a:t>
            </a:r>
            <a:endParaRPr lang="en-US" sz="3200" dirty="0"/>
          </a:p>
        </p:txBody>
      </p:sp>
      <p:sp>
        <p:nvSpPr>
          <p:cNvPr id="9" name="Text 7"/>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Trong 8 tuần, mỗi tuần sinh viên nộp một báo cáo tiến độ ngắn gọn. Báo cáo chỉ tập trung vào tiến độ thực tế.</a:t>
            </a:r>
            <a:endParaRPr lang="en-US" sz="2000" dirty="0"/>
          </a:p>
        </p:txBody>
      </p:sp>
      <p:sp>
        <p:nvSpPr>
          <p:cNvPr id="10" name="Shape 8"/>
          <p:cNvSpPr/>
          <p:nvPr/>
        </p:nvSpPr>
        <p:spPr>
          <a:xfrm>
            <a:off x="822960" y="4800600"/>
            <a:ext cx="100584" cy="100584"/>
          </a:xfrm>
          <a:prstGeom prst="ellipse">
            <a:avLst/>
          </a:prstGeom>
          <a:solidFill>
            <a:srgbClr val="1F5C82"/>
          </a:solidFill>
          <a:ln/>
        </p:spPr>
        <p:txBody>
          <a:bodyPr/>
          <a:lstStyle/>
          <a:p>
            <a:endParaRPr lang="en-US"/>
          </a:p>
        </p:txBody>
      </p:sp>
      <p:sp>
        <p:nvSpPr>
          <p:cNvPr id="11" name="Text 9"/>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Báo cáo tiến độ cần thể hiện những gì</a:t>
            </a:r>
            <a:endParaRPr lang="en-US" sz="2000" dirty="0"/>
          </a:p>
        </p:txBody>
      </p:sp>
      <p:sp>
        <p:nvSpPr>
          <p:cNvPr id="12" name="Shape 10"/>
          <p:cNvSpPr/>
          <p:nvPr/>
        </p:nvSpPr>
        <p:spPr>
          <a:xfrm>
            <a:off x="822960" y="5202936"/>
            <a:ext cx="100584" cy="100584"/>
          </a:xfrm>
          <a:prstGeom prst="ellipse">
            <a:avLst/>
          </a:prstGeom>
          <a:solidFill>
            <a:srgbClr val="1F5C82"/>
          </a:solidFill>
          <a:ln/>
        </p:spPr>
        <p:txBody>
          <a:bodyPr/>
          <a:lstStyle/>
          <a:p>
            <a:endParaRPr lang="en-US"/>
          </a:p>
        </p:txBody>
      </p:sp>
      <p:sp>
        <p:nvSpPr>
          <p:cNvPr id="13" name="Text 11"/>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Bằng chứng tiến độ là những loại sản phẩm nào</a:t>
            </a:r>
            <a:endParaRPr lang="en-US" sz="200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Mẫu báo cáo tiến độ hằng tuần: bốn mục đầu</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85"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0607040" cy="3429000"/>
        </p:xfrm>
        <a:graphic>
          <a:graphicData uri="http://schemas.openxmlformats.org/drawingml/2006/table">
            <a:tbl>
              <a:tblPr/>
              <a:tblGrid>
                <a:gridCol w="292608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685800">
                <a:tc>
                  <a:txBody>
                    <a:bodyPr/>
                    <a:lstStyle/>
                    <a:p>
                      <a:pPr marL="0" indent="0" algn="l">
                        <a:buNone/>
                      </a:pPr>
                      <a:r>
                        <a:rPr lang="en-US" sz="2000" b="1" dirty="0">
                          <a:solidFill>
                            <a:srgbClr val="FFFFFF"/>
                          </a:solidFill>
                          <a:latin typeface="Times New Roman" pitchFamily="34" charset="0"/>
                          <a:ea typeface="Times New Roman" pitchFamily="34" charset="-122"/>
                          <a:cs typeface="Times New Roman" pitchFamily="34" charset="-120"/>
                        </a:rPr>
                        <a:t>Mục</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2000" b="1" dirty="0">
                          <a:solidFill>
                            <a:srgbClr val="FFFFFF"/>
                          </a:solidFill>
                          <a:latin typeface="Times New Roman" pitchFamily="34" charset="0"/>
                          <a:ea typeface="Times New Roman" pitchFamily="34" charset="-122"/>
                          <a:cs typeface="Times New Roman" pitchFamily="34" charset="-120"/>
                        </a:rPr>
                        <a:t>Nội dung cần ghi</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8580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Tuần số</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Ghi rõ đang ở tuần thứ mấy trong 8 tuần</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8580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Mục tiêu của tuần</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Mục tiêu cụ thể theo timeline</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8580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Việc đã hoàn thành</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Liệt kê việc đã làm xong trong tuần</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85800">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Sản phẩm đã tạo ra</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2000" dirty="0">
                          <a:solidFill>
                            <a:srgbClr val="000000"/>
                          </a:solidFill>
                          <a:latin typeface="Times New Roman" pitchFamily="34" charset="0"/>
                          <a:ea typeface="Times New Roman" pitchFamily="34" charset="-122"/>
                          <a:cs typeface="Times New Roman" pitchFamily="34" charset="-120"/>
                        </a:rPr>
                        <a:t>Tên cụ thể của sản phẩm bắt buộc</a:t>
                      </a:r>
                      <a:endParaRPr lang="en-US" sz="20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Mẫu báo cáo tiến độ, bốn mục đầu</a:t>
            </a:r>
            <a:endParaRPr lang="en-US" sz="10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Mẫu báo cáo tiến độ hằng tuần: năm mục còn lại</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86" name="Table 0"/>
          <p:cNvGraphicFramePr>
            <a:graphicFrameLocks noGrp="1"/>
          </p:cNvGraphicFramePr>
          <p:nvPr>
            <p:extLst>
              <p:ext uri="{D42A27DB-BD31-4B8C-83A1-F6EECF244321}">
                <p14:modId xmlns:p14="http://schemas.microsoft.com/office/powerpoint/2010/main" val="1579011935"/>
              </p:ext>
            </p:extLst>
          </p:nvPr>
        </p:nvGraphicFramePr>
        <p:xfrm>
          <a:off x="502920" y="1188720"/>
          <a:ext cx="10607040" cy="3730752"/>
        </p:xfrm>
        <a:graphic>
          <a:graphicData uri="http://schemas.openxmlformats.org/drawingml/2006/table">
            <a:tbl>
              <a:tblPr/>
              <a:tblGrid>
                <a:gridCol w="2926080">
                  <a:extLst>
                    <a:ext uri="{9D8B030D-6E8A-4147-A177-3AD203B41FA5}">
                      <a16:colId xmlns:a16="http://schemas.microsoft.com/office/drawing/2014/main" val="20000"/>
                    </a:ext>
                  </a:extLst>
                </a:gridCol>
                <a:gridCol w="7680960">
                  <a:extLst>
                    <a:ext uri="{9D8B030D-6E8A-4147-A177-3AD203B41FA5}">
                      <a16:colId xmlns:a16="http://schemas.microsoft.com/office/drawing/2014/main" val="20001"/>
                    </a:ext>
                  </a:extLst>
                </a:gridCol>
              </a:tblGrid>
              <a:tr h="621792">
                <a:tc>
                  <a:txBody>
                    <a:bodyP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Mục</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900" b="1" dirty="0">
                          <a:solidFill>
                            <a:srgbClr val="FFFFFF"/>
                          </a:solidFill>
                          <a:latin typeface="Times New Roman" pitchFamily="34" charset="0"/>
                          <a:ea typeface="Times New Roman" pitchFamily="34" charset="-122"/>
                          <a:cs typeface="Times New Roman" pitchFamily="34" charset="-120"/>
                        </a:rPr>
                        <a:t>Nội dung cần ghi</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21792">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Bằng chứng của sản phẩm</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Đính kèm file hoặc đoạn trích thể hiện sản phẩm có thật</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1792">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Việc đang thực hiện</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Những việc chưa hoàn thành, đang làm dở</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21792">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Vấn đề đang gặp phải</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Khó khăn cụ thể đang cản trở tiến độ</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1792">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Việc cần điều chỉnh</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Thay đổi cần thực hiện để bắt kịp tiến độ</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r h="621792">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Mục tiêu tuần kế tiếp</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900" dirty="0">
                          <a:solidFill>
                            <a:srgbClr val="000000"/>
                          </a:solidFill>
                          <a:latin typeface="Times New Roman" pitchFamily="34" charset="0"/>
                          <a:ea typeface="Times New Roman" pitchFamily="34" charset="-122"/>
                          <a:cs typeface="Times New Roman" pitchFamily="34" charset="-120"/>
                        </a:rPr>
                        <a:t>Mục tiêu dự kiến cho tuần sau, theo đúng timeline</a:t>
                      </a:r>
                      <a:endParaRPr lang="en-US" sz="19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5" name="Shape 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6" name="Text 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a:t>
            </a:r>
            <a:endParaRPr lang="en-US" sz="1000" dirty="0"/>
          </a:p>
        </p:txBody>
      </p:sp>
      <p:sp>
        <p:nvSpPr>
          <p:cNvPr id="7" name="Text 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Mẫu báo cáo tiến độ, năm mục còn lại</a:t>
            </a:r>
            <a:endParaRPr lang="en-US" sz="10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Các loại bằng chứng có thể đính kèm</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71600"/>
            <a:ext cx="3576218" cy="777240"/>
          </a:xfrm>
          <a:prstGeom prst="rect">
            <a:avLst/>
          </a:prstGeom>
          <a:solidFill>
            <a:srgbClr val="FFFFFF"/>
          </a:solidFill>
          <a:ln w="12700">
            <a:solidFill>
              <a:srgbClr val="12253F"/>
            </a:solidFill>
            <a:prstDash val="solid"/>
          </a:ln>
        </p:spPr>
        <p:txBody>
          <a:bodyPr/>
          <a:lstStyle/>
          <a:p>
            <a:endParaRPr lang="en-US"/>
          </a:p>
        </p:txBody>
      </p:sp>
      <p:sp>
        <p:nvSpPr>
          <p:cNvPr id="5" name="Text 3"/>
          <p:cNvSpPr txBox="1"/>
          <p:nvPr/>
        </p:nvSpPr>
        <p:spPr>
          <a:xfrm>
            <a:off x="640080" y="13716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đoạn bản thảo đã viết</a:t>
            </a:r>
            <a:endParaRPr lang="en-US" sz="1850" dirty="0"/>
          </a:p>
        </p:txBody>
      </p:sp>
      <p:sp>
        <p:nvSpPr>
          <p:cNvPr id="6" name="Shape 4"/>
          <p:cNvSpPr/>
          <p:nvPr/>
        </p:nvSpPr>
        <p:spPr>
          <a:xfrm>
            <a:off x="4307738" y="1371600"/>
            <a:ext cx="3576218" cy="777240"/>
          </a:xfrm>
          <a:prstGeom prst="rect">
            <a:avLst/>
          </a:prstGeom>
          <a:solidFill>
            <a:srgbClr val="FFFFFF"/>
          </a:solidFill>
          <a:ln w="12700">
            <a:solidFill>
              <a:srgbClr val="12253F"/>
            </a:solidFill>
            <a:prstDash val="solid"/>
          </a:ln>
        </p:spPr>
        <p:txBody>
          <a:bodyPr/>
          <a:lstStyle/>
          <a:p>
            <a:endParaRPr lang="en-US"/>
          </a:p>
        </p:txBody>
      </p:sp>
      <p:sp>
        <p:nvSpPr>
          <p:cNvPr id="7" name="Text 5"/>
          <p:cNvSpPr txBox="1"/>
          <p:nvPr/>
        </p:nvSpPr>
        <p:spPr>
          <a:xfrm>
            <a:off x="4444898" y="13716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bảng tổng hợp tài liệu</a:t>
            </a:r>
            <a:endParaRPr lang="en-US" sz="1850" dirty="0"/>
          </a:p>
        </p:txBody>
      </p:sp>
      <p:sp>
        <p:nvSpPr>
          <p:cNvPr id="8" name="Shape 6"/>
          <p:cNvSpPr/>
          <p:nvPr/>
        </p:nvSpPr>
        <p:spPr>
          <a:xfrm>
            <a:off x="8112557" y="1371600"/>
            <a:ext cx="3576218" cy="77724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8249717" y="13716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sơ đồ mô hình nghiên cứu</a:t>
            </a:r>
            <a:endParaRPr lang="en-US" sz="1850" dirty="0"/>
          </a:p>
        </p:txBody>
      </p:sp>
      <p:sp>
        <p:nvSpPr>
          <p:cNvPr id="10" name="Shape 8"/>
          <p:cNvSpPr/>
          <p:nvPr/>
        </p:nvSpPr>
        <p:spPr>
          <a:xfrm>
            <a:off x="502920" y="2286000"/>
            <a:ext cx="3576218" cy="77724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640080" y="22860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phần của research proposal</a:t>
            </a:r>
            <a:endParaRPr lang="en-US" sz="1850" dirty="0"/>
          </a:p>
        </p:txBody>
      </p:sp>
      <p:sp>
        <p:nvSpPr>
          <p:cNvPr id="12" name="Shape 10"/>
          <p:cNvSpPr/>
          <p:nvPr/>
        </p:nvSpPr>
        <p:spPr>
          <a:xfrm>
            <a:off x="4307738" y="2286000"/>
            <a:ext cx="3576218" cy="777240"/>
          </a:xfrm>
          <a:prstGeom prst="rect">
            <a:avLst/>
          </a:prstGeom>
          <a:solidFill>
            <a:srgbClr val="FFFFFF"/>
          </a:solidFill>
          <a:ln w="12700">
            <a:solidFill>
              <a:srgbClr val="12253F"/>
            </a:solidFill>
            <a:prstDash val="solid"/>
          </a:ln>
        </p:spPr>
        <p:txBody>
          <a:bodyPr/>
          <a:lstStyle/>
          <a:p>
            <a:endParaRPr lang="en-US"/>
          </a:p>
        </p:txBody>
      </p:sp>
      <p:sp>
        <p:nvSpPr>
          <p:cNvPr id="13" name="Text 11"/>
          <p:cNvSpPr txBox="1"/>
          <p:nvPr/>
        </p:nvSpPr>
        <p:spPr>
          <a:xfrm>
            <a:off x="4444898" y="22860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bảng trích dẫn đã tổng hợp</a:t>
            </a:r>
            <a:endParaRPr lang="en-US" sz="1850" dirty="0"/>
          </a:p>
        </p:txBody>
      </p:sp>
      <p:sp>
        <p:nvSpPr>
          <p:cNvPr id="14" name="Shape 12"/>
          <p:cNvSpPr/>
          <p:nvPr/>
        </p:nvSpPr>
        <p:spPr>
          <a:xfrm>
            <a:off x="8112557" y="2286000"/>
            <a:ext cx="3576218" cy="777240"/>
          </a:xfrm>
          <a:prstGeom prst="rect">
            <a:avLst/>
          </a:prstGeom>
          <a:solidFill>
            <a:srgbClr val="FFFFFF"/>
          </a:solidFill>
          <a:ln w="12700">
            <a:solidFill>
              <a:srgbClr val="12253F"/>
            </a:solidFill>
            <a:prstDash val="solid"/>
          </a:ln>
        </p:spPr>
        <p:txBody>
          <a:bodyPr/>
          <a:lstStyle/>
          <a:p>
            <a:endParaRPr lang="en-US"/>
          </a:p>
        </p:txBody>
      </p:sp>
      <p:sp>
        <p:nvSpPr>
          <p:cNvPr id="15" name="Text 13"/>
          <p:cNvSpPr txBox="1"/>
          <p:nvPr/>
        </p:nvSpPr>
        <p:spPr>
          <a:xfrm>
            <a:off x="8249717" y="22860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bảng kiểm tra format</a:t>
            </a:r>
            <a:endParaRPr lang="en-US" sz="1850" dirty="0"/>
          </a:p>
        </p:txBody>
      </p:sp>
      <p:sp>
        <p:nvSpPr>
          <p:cNvPr id="16" name="Shape 14"/>
          <p:cNvSpPr/>
          <p:nvPr/>
        </p:nvSpPr>
        <p:spPr>
          <a:xfrm>
            <a:off x="502920" y="3200400"/>
            <a:ext cx="3576218" cy="777240"/>
          </a:xfrm>
          <a:prstGeom prst="rect">
            <a:avLst/>
          </a:prstGeom>
          <a:solidFill>
            <a:srgbClr val="FFFFFF"/>
          </a:solidFill>
          <a:ln w="12700">
            <a:solidFill>
              <a:srgbClr val="12253F"/>
            </a:solidFill>
            <a:prstDash val="solid"/>
          </a:ln>
        </p:spPr>
        <p:txBody>
          <a:bodyPr/>
          <a:lstStyle/>
          <a:p>
            <a:endParaRPr lang="en-US"/>
          </a:p>
        </p:txBody>
      </p:sp>
      <p:sp>
        <p:nvSpPr>
          <p:cNvPr id="17" name="Text 15"/>
          <p:cNvSpPr txBox="1"/>
          <p:nvPr/>
        </p:nvSpPr>
        <p:spPr>
          <a:xfrm>
            <a:off x="640080" y="32004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phần bảng hỏi khảo sát</a:t>
            </a:r>
            <a:endParaRPr lang="en-US" sz="1850" dirty="0"/>
          </a:p>
        </p:txBody>
      </p:sp>
      <p:sp>
        <p:nvSpPr>
          <p:cNvPr id="18" name="Shape 16"/>
          <p:cNvSpPr/>
          <p:nvPr/>
        </p:nvSpPr>
        <p:spPr>
          <a:xfrm>
            <a:off x="4307738" y="3200400"/>
            <a:ext cx="3576218" cy="777240"/>
          </a:xfrm>
          <a:prstGeom prst="rect">
            <a:avLst/>
          </a:prstGeom>
          <a:solidFill>
            <a:srgbClr val="FFFFFF"/>
          </a:solidFill>
          <a:ln w="12700">
            <a:solidFill>
              <a:srgbClr val="12253F"/>
            </a:solidFill>
            <a:prstDash val="solid"/>
          </a:ln>
        </p:spPr>
        <p:txBody>
          <a:bodyPr/>
          <a:lstStyle/>
          <a:p>
            <a:endParaRPr lang="en-US"/>
          </a:p>
        </p:txBody>
      </p:sp>
      <p:sp>
        <p:nvSpPr>
          <p:cNvPr id="19" name="Text 17"/>
          <p:cNvSpPr txBox="1"/>
          <p:nvPr/>
        </p:nvSpPr>
        <p:spPr>
          <a:xfrm>
            <a:off x="4444898" y="32004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bảng theo dõi dữ liệu</a:t>
            </a:r>
            <a:endParaRPr lang="en-US" sz="1850" dirty="0"/>
          </a:p>
        </p:txBody>
      </p:sp>
      <p:sp>
        <p:nvSpPr>
          <p:cNvPr id="20" name="Shape 18"/>
          <p:cNvSpPr/>
          <p:nvPr/>
        </p:nvSpPr>
        <p:spPr>
          <a:xfrm>
            <a:off x="8112557" y="3200400"/>
            <a:ext cx="3576218" cy="777240"/>
          </a:xfrm>
          <a:prstGeom prst="rect">
            <a:avLst/>
          </a:prstGeom>
          <a:solidFill>
            <a:srgbClr val="FFFFFF"/>
          </a:solidFill>
          <a:ln w="12700">
            <a:solidFill>
              <a:srgbClr val="12253F"/>
            </a:solidFill>
            <a:prstDash val="solid"/>
          </a:ln>
        </p:spPr>
        <p:txBody>
          <a:bodyPr/>
          <a:lstStyle/>
          <a:p>
            <a:endParaRPr lang="en-US"/>
          </a:p>
        </p:txBody>
      </p:sp>
      <p:sp>
        <p:nvSpPr>
          <p:cNvPr id="21" name="Text 19"/>
          <p:cNvSpPr txBox="1"/>
          <p:nvPr/>
        </p:nvSpPr>
        <p:spPr>
          <a:xfrm>
            <a:off x="8249717" y="3200400"/>
            <a:ext cx="3301898" cy="77724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Một checklist đã hoàn thành</a:t>
            </a:r>
            <a:endParaRPr lang="en-US" sz="1850" dirty="0"/>
          </a:p>
        </p:txBody>
      </p:sp>
      <p:sp>
        <p:nvSpPr>
          <p:cNvPr id="22" name="Shape 20"/>
          <p:cNvSpPr/>
          <p:nvPr/>
        </p:nvSpPr>
        <p:spPr>
          <a:xfrm>
            <a:off x="502920" y="4434840"/>
            <a:ext cx="11185855" cy="1325880"/>
          </a:xfrm>
          <a:prstGeom prst="rect">
            <a:avLst/>
          </a:prstGeom>
          <a:solidFill>
            <a:srgbClr val="F0F2F5"/>
          </a:solidFill>
          <a:ln w="9525">
            <a:solidFill>
              <a:srgbClr val="12253F"/>
            </a:solidFill>
            <a:prstDash val="solid"/>
          </a:ln>
        </p:spPr>
        <p:txBody>
          <a:bodyPr/>
          <a:lstStyle/>
          <a:p>
            <a:endParaRPr lang="en-US"/>
          </a:p>
        </p:txBody>
      </p:sp>
      <p:sp>
        <p:nvSpPr>
          <p:cNvPr id="23" name="Text 21"/>
          <p:cNvSpPr txBox="1"/>
          <p:nvPr/>
        </p:nvSpPr>
        <p:spPr>
          <a:xfrm>
            <a:off x="758952" y="4526280"/>
            <a:ext cx="10728655" cy="1143000"/>
          </a:xfrm>
          <a:prstGeom prst="rect">
            <a:avLst/>
          </a:prstGeom>
          <a:noFill/>
          <a:ln/>
        </p:spPr>
        <p:txBody>
          <a:bodyPr wrap="square" lIns="0" tIns="0" rIns="0" bIns="0" rtlCol="0" anchor="ctr"/>
          <a:lstStyle/>
          <a:p>
            <a:pPr marL="0" indent="0">
              <a:buNone/>
            </a:pPr>
            <a:r>
              <a:rPr lang="en-US" sz="1650" b="1" dirty="0">
                <a:solidFill>
                  <a:srgbClr val="000000"/>
                </a:solidFill>
                <a:latin typeface="Times New Roman" pitchFamily="34" charset="0"/>
                <a:ea typeface="Times New Roman" pitchFamily="34" charset="-122"/>
                <a:cs typeface="Times New Roman" pitchFamily="34" charset="-120"/>
              </a:rPr>
              <a:t>Mỗi tuần đều có một mốc kiểm tra tiến độ. Nếu chậm so với mốc, báo cáo phải chỉ rõ phần nào cần điều chỉnh ngay.</a:t>
            </a:r>
            <a:endParaRPr lang="en-US" sz="1650" dirty="0"/>
          </a:p>
        </p:txBody>
      </p:sp>
      <p:sp>
        <p:nvSpPr>
          <p:cNvPr id="24" name="Shape 2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5" name="Text 2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a:t>
            </a:r>
            <a:endParaRPr lang="en-US" sz="1000" dirty="0"/>
          </a:p>
        </p:txBody>
      </p:sp>
      <p:sp>
        <p:nvSpPr>
          <p:cNvPr id="26" name="Text 2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Bằng chứng tiến độ</a:t>
            </a:r>
            <a:endParaRPr lang="en-US" sz="10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XIII</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3988174" y="1565252"/>
            <a:ext cx="129260" cy="140031"/>
          </a:xfrm>
          <a:prstGeom prst="line">
            <a:avLst/>
          </a:prstGeom>
          <a:noFill/>
          <a:ln w="30480">
            <a:solidFill>
              <a:srgbClr val="FFFFFF"/>
            </a:solidFill>
            <a:prstDash val="solid"/>
          </a:ln>
        </p:spPr>
        <p:txBody>
          <a:bodyPr/>
          <a:lstStyle/>
          <a:p>
            <a:endParaRPr lang="en-US"/>
          </a:p>
        </p:txBody>
      </p:sp>
      <p:sp>
        <p:nvSpPr>
          <p:cNvPr id="6" name="Shape 4"/>
          <p:cNvSpPr/>
          <p:nvPr/>
        </p:nvSpPr>
        <p:spPr>
          <a:xfrm>
            <a:off x="4117433" y="1705283"/>
            <a:ext cx="247748" cy="0"/>
          </a:xfrm>
          <a:prstGeom prst="line">
            <a:avLst/>
          </a:prstGeom>
          <a:noFill/>
          <a:ln w="30480">
            <a:solidFill>
              <a:srgbClr val="FFFFFF"/>
            </a:solidFill>
            <a:prstDash val="solid"/>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Timeline thực tế trong 8 tuần</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Đây là kế hoạch học tập tham khảo cho quỹ thời gian 8 tuần, không phải mốc bắt buộc áp dụng cho mọi lớp hay mọi chương trình. Phần này trình bày timeline bằng sơ đồ, bảng chi tiết và critical path.</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Việc nào bắt buộc làm trước, việc nào làm song song được</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Mốc nào cần ưu tiên giữ đúng tiến độ nhất, và nên làm gì nếu bị trễ</a:t>
            </a:r>
            <a:endParaRPr lang="en-US" sz="20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2000" b="1" dirty="0">
                <a:solidFill>
                  <a:srgbClr val="000000"/>
                </a:solidFill>
                <a:latin typeface="Times New Roman" pitchFamily="34" charset="0"/>
                <a:ea typeface="Times New Roman" pitchFamily="34" charset="-122"/>
                <a:cs typeface="Times New Roman" pitchFamily="34" charset="-120"/>
              </a:rPr>
              <a:t>Sơ đồ trực quan 8 tuần</a:t>
            </a:r>
            <a:endParaRPr lang="en-US" sz="20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2659304" cy="1051560"/>
          </a:xfrm>
          <a:prstGeom prst="roundRect">
            <a:avLst>
              <a:gd name="adj" fmla="val 5217"/>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612648" y="1307592"/>
            <a:ext cx="2439848" cy="292608"/>
          </a:xfrm>
          <a:prstGeom prst="rect">
            <a:avLst/>
          </a:prstGeom>
          <a:noFill/>
          <a:ln/>
        </p:spPr>
        <p:txBody>
          <a:bodyPr wrap="square" lIns="0" tIns="0" rIns="0" bIns="0" rtlCol="0" anchor="ctr"/>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Tuần 1</a:t>
            </a:r>
            <a:endParaRPr lang="en-US" sz="1900" dirty="0"/>
          </a:p>
        </p:txBody>
      </p:sp>
      <p:sp>
        <p:nvSpPr>
          <p:cNvPr id="6" name="Text 4"/>
          <p:cNvSpPr txBox="1"/>
          <p:nvPr/>
        </p:nvSpPr>
        <p:spPr>
          <a:xfrm>
            <a:off x="612648" y="1600200"/>
            <a:ext cx="2439848" cy="640080"/>
          </a:xfrm>
          <a:prstGeom prst="rect">
            <a:avLst/>
          </a:prstGeom>
          <a:noFill/>
          <a:ln/>
        </p:spPr>
        <p:txBody>
          <a:bodyPr wrap="square" lIns="0" tIns="0" rIns="0" bIns="0" rtlCol="0" anchor="t"/>
          <a:lstStyle/>
          <a:p>
            <a:pPr marL="0" indent="0">
              <a:buNone/>
            </a:pPr>
            <a:r>
              <a:rPr lang="en-US" sz="1050" dirty="0">
                <a:solidFill>
                  <a:srgbClr val="1A1A1A"/>
                </a:solidFill>
                <a:latin typeface="Times New Roman" pitchFamily="34" charset="0"/>
                <a:ea typeface="Times New Roman" pitchFamily="34" charset="-122"/>
                <a:cs typeface="Times New Roman" pitchFamily="34" charset="-120"/>
              </a:rPr>
              <a:t>Nhận diện vấn đề, sàng lọc đề tài</a:t>
            </a:r>
            <a:endParaRPr lang="en-US" sz="1050" dirty="0"/>
          </a:p>
        </p:txBody>
      </p:sp>
      <p:sp>
        <p:nvSpPr>
          <p:cNvPr id="7" name="Shape 5"/>
          <p:cNvSpPr/>
          <p:nvPr/>
        </p:nvSpPr>
        <p:spPr>
          <a:xfrm>
            <a:off x="3345104" y="1234440"/>
            <a:ext cx="2659304" cy="1051560"/>
          </a:xfrm>
          <a:prstGeom prst="roundRect">
            <a:avLst>
              <a:gd name="adj" fmla="val 5217"/>
            </a:avLst>
          </a:prstGeom>
          <a:solidFill>
            <a:srgbClr val="12253F"/>
          </a:solidFill>
          <a:ln w="19050">
            <a:solidFill>
              <a:srgbClr val="12253F"/>
            </a:solidFill>
            <a:prstDash val="solid"/>
          </a:ln>
        </p:spPr>
        <p:txBody>
          <a:bodyPr/>
          <a:lstStyle/>
          <a:p>
            <a:endParaRPr lang="en-US"/>
          </a:p>
        </p:txBody>
      </p:sp>
      <p:sp>
        <p:nvSpPr>
          <p:cNvPr id="8" name="Text 6"/>
          <p:cNvSpPr txBox="1"/>
          <p:nvPr/>
        </p:nvSpPr>
        <p:spPr>
          <a:xfrm>
            <a:off x="3454832" y="1307592"/>
            <a:ext cx="2439848" cy="292608"/>
          </a:xfrm>
          <a:prstGeom prst="rect">
            <a:avLst/>
          </a:prstGeom>
          <a:noFill/>
          <a:ln/>
        </p:spPr>
        <p:txBody>
          <a:bodyPr wrap="square" lIns="0" tIns="0" rIns="0" bIns="0" rtlCol="0" anchor="ctr"/>
          <a:lstStyle/>
          <a:p>
            <a:pPr marL="0" indent="0">
              <a:buNone/>
            </a:pPr>
            <a:r>
              <a:rPr lang="en-US" sz="1900" b="1" dirty="0">
                <a:solidFill>
                  <a:srgbClr val="FFFFFF"/>
                </a:solidFill>
                <a:latin typeface="Times New Roman" pitchFamily="34" charset="0"/>
                <a:ea typeface="Times New Roman" pitchFamily="34" charset="-122"/>
                <a:cs typeface="Times New Roman" pitchFamily="34" charset="-120"/>
              </a:rPr>
              <a:t>Tuần 2</a:t>
            </a:r>
            <a:endParaRPr lang="en-US" sz="1900" dirty="0"/>
          </a:p>
        </p:txBody>
      </p:sp>
      <p:sp>
        <p:nvSpPr>
          <p:cNvPr id="9" name="Text 7"/>
          <p:cNvSpPr txBox="1"/>
          <p:nvPr/>
        </p:nvSpPr>
        <p:spPr>
          <a:xfrm>
            <a:off x="3454832" y="1600200"/>
            <a:ext cx="2439848" cy="640080"/>
          </a:xfrm>
          <a:prstGeom prst="rect">
            <a:avLst/>
          </a:prstGeom>
          <a:noFill/>
          <a:ln/>
        </p:spPr>
        <p:txBody>
          <a:bodyPr wrap="square" lIns="0" tIns="0" rIns="0" bIns="0" rtlCol="0" anchor="t"/>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Chốt đề tài, proposal chi tiết</a:t>
            </a:r>
            <a:endParaRPr lang="en-US" sz="1050" dirty="0"/>
          </a:p>
        </p:txBody>
      </p:sp>
      <p:sp>
        <p:nvSpPr>
          <p:cNvPr id="10" name="Shape 8"/>
          <p:cNvSpPr/>
          <p:nvPr/>
        </p:nvSpPr>
        <p:spPr>
          <a:xfrm>
            <a:off x="6187288" y="1234440"/>
            <a:ext cx="2659304" cy="1051560"/>
          </a:xfrm>
          <a:prstGeom prst="roundRect">
            <a:avLst>
              <a:gd name="adj" fmla="val 5217"/>
            </a:avLst>
          </a:prstGeom>
          <a:solidFill>
            <a:srgbClr val="FFFFFF"/>
          </a:solidFill>
          <a:ln w="19050">
            <a:solidFill>
              <a:srgbClr val="12253F"/>
            </a:solidFill>
            <a:prstDash val="solid"/>
          </a:ln>
        </p:spPr>
        <p:txBody>
          <a:bodyPr/>
          <a:lstStyle/>
          <a:p>
            <a:endParaRPr lang="en-US"/>
          </a:p>
        </p:txBody>
      </p:sp>
      <p:sp>
        <p:nvSpPr>
          <p:cNvPr id="11" name="Text 9"/>
          <p:cNvSpPr txBox="1"/>
          <p:nvPr/>
        </p:nvSpPr>
        <p:spPr>
          <a:xfrm>
            <a:off x="6297016" y="1307592"/>
            <a:ext cx="2439848" cy="292608"/>
          </a:xfrm>
          <a:prstGeom prst="rect">
            <a:avLst/>
          </a:prstGeom>
          <a:noFill/>
          <a:ln/>
        </p:spPr>
        <p:txBody>
          <a:bodyPr wrap="square" lIns="0" tIns="0" rIns="0" bIns="0" rtlCol="0" anchor="ctr"/>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Tuần 3</a:t>
            </a:r>
            <a:endParaRPr lang="en-US" sz="1900" dirty="0"/>
          </a:p>
        </p:txBody>
      </p:sp>
      <p:sp>
        <p:nvSpPr>
          <p:cNvPr id="12" name="Text 10"/>
          <p:cNvSpPr txBox="1"/>
          <p:nvPr/>
        </p:nvSpPr>
        <p:spPr>
          <a:xfrm>
            <a:off x="6297016" y="1600200"/>
            <a:ext cx="2439848" cy="640080"/>
          </a:xfrm>
          <a:prstGeom prst="rect">
            <a:avLst/>
          </a:prstGeom>
          <a:noFill/>
          <a:ln/>
        </p:spPr>
        <p:txBody>
          <a:bodyPr wrap="square" lIns="0" tIns="0" rIns="0" bIns="0" rtlCol="0" anchor="t"/>
          <a:lstStyle/>
          <a:p>
            <a:pPr marL="0" indent="0">
              <a:buNone/>
            </a:pPr>
            <a:r>
              <a:rPr lang="en-US" sz="1050" dirty="0">
                <a:solidFill>
                  <a:srgbClr val="1A1A1A"/>
                </a:solidFill>
                <a:latin typeface="Times New Roman" pitchFamily="34" charset="0"/>
                <a:ea typeface="Times New Roman" pitchFamily="34" charset="-122"/>
                <a:cs typeface="Times New Roman" pitchFamily="34" charset="-120"/>
              </a:rPr>
              <a:t>Hoàn thiện Chương 1, tìm tài liệu nền</a:t>
            </a:r>
            <a:endParaRPr lang="en-US" sz="1050" dirty="0"/>
          </a:p>
        </p:txBody>
      </p:sp>
      <p:sp>
        <p:nvSpPr>
          <p:cNvPr id="13" name="Shape 11"/>
          <p:cNvSpPr/>
          <p:nvPr/>
        </p:nvSpPr>
        <p:spPr>
          <a:xfrm>
            <a:off x="9029471" y="1234440"/>
            <a:ext cx="2659304" cy="1051560"/>
          </a:xfrm>
          <a:prstGeom prst="roundRect">
            <a:avLst>
              <a:gd name="adj" fmla="val 5217"/>
            </a:avLst>
          </a:prstGeom>
          <a:solidFill>
            <a:srgbClr val="FFFFFF"/>
          </a:solidFill>
          <a:ln w="19050">
            <a:solidFill>
              <a:srgbClr val="12253F"/>
            </a:solidFill>
            <a:prstDash val="solid"/>
          </a:ln>
        </p:spPr>
        <p:txBody>
          <a:bodyPr/>
          <a:lstStyle/>
          <a:p>
            <a:endParaRPr lang="en-US"/>
          </a:p>
        </p:txBody>
      </p:sp>
      <p:sp>
        <p:nvSpPr>
          <p:cNvPr id="14" name="Text 12"/>
          <p:cNvSpPr txBox="1"/>
          <p:nvPr/>
        </p:nvSpPr>
        <p:spPr>
          <a:xfrm>
            <a:off x="9139199" y="1307592"/>
            <a:ext cx="2439848" cy="292608"/>
          </a:xfrm>
          <a:prstGeom prst="rect">
            <a:avLst/>
          </a:prstGeom>
          <a:noFill/>
          <a:ln/>
        </p:spPr>
        <p:txBody>
          <a:bodyPr wrap="square" lIns="0" tIns="0" rIns="0" bIns="0" rtlCol="0" anchor="ctr"/>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Tuần 4</a:t>
            </a:r>
            <a:endParaRPr lang="en-US" sz="1900" dirty="0"/>
          </a:p>
        </p:txBody>
      </p:sp>
      <p:sp>
        <p:nvSpPr>
          <p:cNvPr id="15" name="Text 13"/>
          <p:cNvSpPr txBox="1"/>
          <p:nvPr/>
        </p:nvSpPr>
        <p:spPr>
          <a:xfrm>
            <a:off x="9139199" y="1600200"/>
            <a:ext cx="2439848" cy="640080"/>
          </a:xfrm>
          <a:prstGeom prst="rect">
            <a:avLst/>
          </a:prstGeom>
          <a:noFill/>
          <a:ln/>
        </p:spPr>
        <p:txBody>
          <a:bodyPr wrap="square" lIns="0" tIns="0" rIns="0" bIns="0" rtlCol="0" anchor="t"/>
          <a:lstStyle/>
          <a:p>
            <a:pPr marL="0" indent="0">
              <a:buNone/>
            </a:pPr>
            <a:r>
              <a:rPr lang="en-US" sz="1050" dirty="0">
                <a:solidFill>
                  <a:srgbClr val="1A1A1A"/>
                </a:solidFill>
                <a:latin typeface="Times New Roman" pitchFamily="34" charset="0"/>
                <a:ea typeface="Times New Roman" pitchFamily="34" charset="-122"/>
                <a:cs typeface="Times New Roman" pitchFamily="34" charset="-120"/>
              </a:rPr>
              <a:t>Hoàn thiện Chương 2, xây mô hình</a:t>
            </a:r>
            <a:endParaRPr lang="en-US" sz="1050" dirty="0"/>
          </a:p>
        </p:txBody>
      </p:sp>
      <p:sp>
        <p:nvSpPr>
          <p:cNvPr id="16" name="Shape 14"/>
          <p:cNvSpPr/>
          <p:nvPr/>
        </p:nvSpPr>
        <p:spPr>
          <a:xfrm>
            <a:off x="502920" y="2423160"/>
            <a:ext cx="2659304" cy="1051560"/>
          </a:xfrm>
          <a:prstGeom prst="roundRect">
            <a:avLst>
              <a:gd name="adj" fmla="val 5217"/>
            </a:avLst>
          </a:prstGeom>
          <a:solidFill>
            <a:srgbClr val="12253F"/>
          </a:solidFill>
          <a:ln w="19050">
            <a:solidFill>
              <a:srgbClr val="12253F"/>
            </a:solidFill>
            <a:prstDash val="solid"/>
          </a:ln>
        </p:spPr>
        <p:txBody>
          <a:bodyPr/>
          <a:lstStyle/>
          <a:p>
            <a:endParaRPr lang="en-US"/>
          </a:p>
        </p:txBody>
      </p:sp>
      <p:sp>
        <p:nvSpPr>
          <p:cNvPr id="17" name="Text 15"/>
          <p:cNvSpPr txBox="1"/>
          <p:nvPr/>
        </p:nvSpPr>
        <p:spPr>
          <a:xfrm>
            <a:off x="612648" y="2496312"/>
            <a:ext cx="2439848" cy="292608"/>
          </a:xfrm>
          <a:prstGeom prst="rect">
            <a:avLst/>
          </a:prstGeom>
          <a:noFill/>
          <a:ln/>
        </p:spPr>
        <p:txBody>
          <a:bodyPr wrap="square" lIns="0" tIns="0" rIns="0" bIns="0" rtlCol="0" anchor="ctr"/>
          <a:lstStyle/>
          <a:p>
            <a:pPr marL="0" indent="0">
              <a:buNone/>
            </a:pPr>
            <a:r>
              <a:rPr lang="en-US" sz="1900" b="1" dirty="0">
                <a:solidFill>
                  <a:srgbClr val="FFFFFF"/>
                </a:solidFill>
                <a:latin typeface="Times New Roman" pitchFamily="34" charset="0"/>
                <a:ea typeface="Times New Roman" pitchFamily="34" charset="-122"/>
                <a:cs typeface="Times New Roman" pitchFamily="34" charset="-120"/>
              </a:rPr>
              <a:t>Tuần 5</a:t>
            </a:r>
            <a:endParaRPr lang="en-US" sz="1900" dirty="0"/>
          </a:p>
        </p:txBody>
      </p:sp>
      <p:sp>
        <p:nvSpPr>
          <p:cNvPr id="18" name="Text 16"/>
          <p:cNvSpPr txBox="1"/>
          <p:nvPr/>
        </p:nvSpPr>
        <p:spPr>
          <a:xfrm>
            <a:off x="612648" y="2788920"/>
            <a:ext cx="2439848" cy="640080"/>
          </a:xfrm>
          <a:prstGeom prst="rect">
            <a:avLst/>
          </a:prstGeom>
          <a:noFill/>
          <a:ln/>
        </p:spPr>
        <p:txBody>
          <a:bodyPr wrap="square" lIns="0" tIns="0" rIns="0" bIns="0" rtlCol="0" anchor="t"/>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Chốt Chương 3, hoàn thiện công cụ thu thập dữ liệu</a:t>
            </a:r>
            <a:endParaRPr lang="en-US" sz="1050" dirty="0"/>
          </a:p>
        </p:txBody>
      </p:sp>
      <p:sp>
        <p:nvSpPr>
          <p:cNvPr id="19" name="Shape 17"/>
          <p:cNvSpPr/>
          <p:nvPr/>
        </p:nvSpPr>
        <p:spPr>
          <a:xfrm>
            <a:off x="3345104" y="2423160"/>
            <a:ext cx="2659304" cy="1051560"/>
          </a:xfrm>
          <a:prstGeom prst="roundRect">
            <a:avLst>
              <a:gd name="adj" fmla="val 5217"/>
            </a:avLst>
          </a:prstGeom>
          <a:solidFill>
            <a:srgbClr val="12253F"/>
          </a:solidFill>
          <a:ln w="19050">
            <a:solidFill>
              <a:srgbClr val="12253F"/>
            </a:solidFill>
            <a:prstDash val="solid"/>
          </a:ln>
        </p:spPr>
        <p:txBody>
          <a:bodyPr/>
          <a:lstStyle/>
          <a:p>
            <a:endParaRPr lang="en-US"/>
          </a:p>
        </p:txBody>
      </p:sp>
      <p:sp>
        <p:nvSpPr>
          <p:cNvPr id="20" name="Text 18"/>
          <p:cNvSpPr txBox="1"/>
          <p:nvPr/>
        </p:nvSpPr>
        <p:spPr>
          <a:xfrm>
            <a:off x="3454832" y="2496312"/>
            <a:ext cx="2439848" cy="292608"/>
          </a:xfrm>
          <a:prstGeom prst="rect">
            <a:avLst/>
          </a:prstGeom>
          <a:noFill/>
          <a:ln/>
        </p:spPr>
        <p:txBody>
          <a:bodyPr wrap="square" lIns="0" tIns="0" rIns="0" bIns="0" rtlCol="0" anchor="ctr"/>
          <a:lstStyle/>
          <a:p>
            <a:pPr marL="0" indent="0">
              <a:buNone/>
            </a:pPr>
            <a:r>
              <a:rPr lang="en-US" sz="1900" b="1" dirty="0">
                <a:solidFill>
                  <a:srgbClr val="FFFFFF"/>
                </a:solidFill>
                <a:latin typeface="Times New Roman" pitchFamily="34" charset="0"/>
                <a:ea typeface="Times New Roman" pitchFamily="34" charset="-122"/>
                <a:cs typeface="Times New Roman" pitchFamily="34" charset="-120"/>
              </a:rPr>
              <a:t>Tuần 6</a:t>
            </a:r>
            <a:endParaRPr lang="en-US" sz="1900" dirty="0"/>
          </a:p>
        </p:txBody>
      </p:sp>
      <p:sp>
        <p:nvSpPr>
          <p:cNvPr id="21" name="Text 19"/>
          <p:cNvSpPr txBox="1"/>
          <p:nvPr/>
        </p:nvSpPr>
        <p:spPr>
          <a:xfrm>
            <a:off x="3454832" y="2788920"/>
            <a:ext cx="2439848" cy="640080"/>
          </a:xfrm>
          <a:prstGeom prst="rect">
            <a:avLst/>
          </a:prstGeom>
          <a:noFill/>
          <a:ln/>
        </p:spPr>
        <p:txBody>
          <a:bodyPr wrap="square" lIns="0" tIns="0" rIns="0" bIns="0" rtlCol="0" anchor="t"/>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Thu thập dữ liệu thật, làm sạch</a:t>
            </a:r>
            <a:endParaRPr lang="en-US" sz="1050" dirty="0"/>
          </a:p>
        </p:txBody>
      </p:sp>
      <p:sp>
        <p:nvSpPr>
          <p:cNvPr id="22" name="Shape 20"/>
          <p:cNvSpPr/>
          <p:nvPr/>
        </p:nvSpPr>
        <p:spPr>
          <a:xfrm>
            <a:off x="6187288" y="2423160"/>
            <a:ext cx="2659304" cy="1051560"/>
          </a:xfrm>
          <a:prstGeom prst="roundRect">
            <a:avLst>
              <a:gd name="adj" fmla="val 5217"/>
            </a:avLst>
          </a:prstGeom>
          <a:solidFill>
            <a:srgbClr val="FFFFFF"/>
          </a:solidFill>
          <a:ln w="19050">
            <a:solidFill>
              <a:srgbClr val="12253F"/>
            </a:solidFill>
            <a:prstDash val="solid"/>
          </a:ln>
        </p:spPr>
        <p:txBody>
          <a:bodyPr/>
          <a:lstStyle/>
          <a:p>
            <a:endParaRPr lang="en-US"/>
          </a:p>
        </p:txBody>
      </p:sp>
      <p:sp>
        <p:nvSpPr>
          <p:cNvPr id="23" name="Text 21"/>
          <p:cNvSpPr txBox="1"/>
          <p:nvPr/>
        </p:nvSpPr>
        <p:spPr>
          <a:xfrm>
            <a:off x="6297016" y="2496312"/>
            <a:ext cx="2439848" cy="292608"/>
          </a:xfrm>
          <a:prstGeom prst="rect">
            <a:avLst/>
          </a:prstGeom>
          <a:noFill/>
          <a:ln/>
        </p:spPr>
        <p:txBody>
          <a:bodyPr wrap="square" lIns="0" tIns="0" rIns="0" bIns="0" rtlCol="0" anchor="ctr"/>
          <a:lstStyle/>
          <a:p>
            <a:pPr marL="0" indent="0">
              <a:buNone/>
            </a:pPr>
            <a:r>
              <a:rPr lang="en-US" sz="1900" b="1" dirty="0">
                <a:solidFill>
                  <a:srgbClr val="000000"/>
                </a:solidFill>
                <a:latin typeface="Times New Roman" pitchFamily="34" charset="0"/>
                <a:ea typeface="Times New Roman" pitchFamily="34" charset="-122"/>
                <a:cs typeface="Times New Roman" pitchFamily="34" charset="-120"/>
              </a:rPr>
              <a:t>Tuần 7</a:t>
            </a:r>
            <a:endParaRPr lang="en-US" sz="1900" dirty="0"/>
          </a:p>
        </p:txBody>
      </p:sp>
      <p:sp>
        <p:nvSpPr>
          <p:cNvPr id="24" name="Text 22"/>
          <p:cNvSpPr txBox="1"/>
          <p:nvPr/>
        </p:nvSpPr>
        <p:spPr>
          <a:xfrm>
            <a:off x="6297016" y="2788920"/>
            <a:ext cx="2439848" cy="640080"/>
          </a:xfrm>
          <a:prstGeom prst="rect">
            <a:avLst/>
          </a:prstGeom>
          <a:noFill/>
          <a:ln/>
        </p:spPr>
        <p:txBody>
          <a:bodyPr wrap="square" lIns="0" tIns="0" rIns="0" bIns="0" rtlCol="0" anchor="t"/>
          <a:lstStyle/>
          <a:p>
            <a:pPr marL="0" indent="0">
              <a:buNone/>
            </a:pPr>
            <a:r>
              <a:rPr lang="en-US" sz="1050" dirty="0">
                <a:solidFill>
                  <a:srgbClr val="1A1A1A"/>
                </a:solidFill>
                <a:latin typeface="Times New Roman" pitchFamily="34" charset="0"/>
                <a:ea typeface="Times New Roman" pitchFamily="34" charset="-122"/>
                <a:cs typeface="Times New Roman" pitchFamily="34" charset="-120"/>
              </a:rPr>
              <a:t>Xử lý dữ liệu, viết Chương 4</a:t>
            </a:r>
            <a:endParaRPr lang="en-US" sz="1050" dirty="0"/>
          </a:p>
        </p:txBody>
      </p:sp>
      <p:sp>
        <p:nvSpPr>
          <p:cNvPr id="25" name="Shape 23"/>
          <p:cNvSpPr/>
          <p:nvPr/>
        </p:nvSpPr>
        <p:spPr>
          <a:xfrm>
            <a:off x="9029471" y="2423160"/>
            <a:ext cx="2659304" cy="1051560"/>
          </a:xfrm>
          <a:prstGeom prst="roundRect">
            <a:avLst>
              <a:gd name="adj" fmla="val 5217"/>
            </a:avLst>
          </a:prstGeom>
          <a:solidFill>
            <a:srgbClr val="12253F"/>
          </a:solidFill>
          <a:ln w="19050">
            <a:solidFill>
              <a:srgbClr val="12253F"/>
            </a:solidFill>
            <a:prstDash val="solid"/>
          </a:ln>
        </p:spPr>
        <p:txBody>
          <a:bodyPr/>
          <a:lstStyle/>
          <a:p>
            <a:endParaRPr lang="en-US"/>
          </a:p>
        </p:txBody>
      </p:sp>
      <p:sp>
        <p:nvSpPr>
          <p:cNvPr id="26" name="Text 24"/>
          <p:cNvSpPr txBox="1"/>
          <p:nvPr/>
        </p:nvSpPr>
        <p:spPr>
          <a:xfrm>
            <a:off x="9139199" y="2496312"/>
            <a:ext cx="2439848" cy="292608"/>
          </a:xfrm>
          <a:prstGeom prst="rect">
            <a:avLst/>
          </a:prstGeom>
          <a:noFill/>
          <a:ln/>
        </p:spPr>
        <p:txBody>
          <a:bodyPr wrap="square" lIns="0" tIns="0" rIns="0" bIns="0" rtlCol="0" anchor="ctr"/>
          <a:lstStyle/>
          <a:p>
            <a:pPr marL="0" indent="0">
              <a:buNone/>
            </a:pPr>
            <a:r>
              <a:rPr lang="en-US" sz="1900" b="1" dirty="0">
                <a:solidFill>
                  <a:srgbClr val="FFFFFF"/>
                </a:solidFill>
                <a:latin typeface="Times New Roman" pitchFamily="34" charset="0"/>
                <a:ea typeface="Times New Roman" pitchFamily="34" charset="-122"/>
                <a:cs typeface="Times New Roman" pitchFamily="34" charset="-120"/>
              </a:rPr>
              <a:t>Tuần 8</a:t>
            </a:r>
            <a:endParaRPr lang="en-US" sz="1900" dirty="0"/>
          </a:p>
        </p:txBody>
      </p:sp>
      <p:sp>
        <p:nvSpPr>
          <p:cNvPr id="27" name="Text 25"/>
          <p:cNvSpPr txBox="1"/>
          <p:nvPr/>
        </p:nvSpPr>
        <p:spPr>
          <a:xfrm>
            <a:off x="9139199" y="2788920"/>
            <a:ext cx="2439848" cy="640080"/>
          </a:xfrm>
          <a:prstGeom prst="rect">
            <a:avLst/>
          </a:prstGeom>
          <a:noFill/>
          <a:ln/>
        </p:spPr>
        <p:txBody>
          <a:bodyPr wrap="square" lIns="0" tIns="0" rIns="0" bIns="0" rtlCol="0" anchor="t"/>
          <a:lstStyle/>
          <a:p>
            <a:pPr marL="0" indent="0">
              <a:buNone/>
            </a:pPr>
            <a:r>
              <a:rPr lang="en-US" sz="1050" dirty="0">
                <a:solidFill>
                  <a:srgbClr val="FFFFFF"/>
                </a:solidFill>
                <a:latin typeface="Times New Roman" pitchFamily="34" charset="0"/>
                <a:ea typeface="Times New Roman" pitchFamily="34" charset="-122"/>
                <a:cs typeface="Times New Roman" pitchFamily="34" charset="-120"/>
              </a:rPr>
              <a:t>Viết Chương 5, rà soát, bản thảo cuối</a:t>
            </a:r>
            <a:endParaRPr lang="en-US" sz="1050" dirty="0"/>
          </a:p>
        </p:txBody>
      </p:sp>
      <p:sp>
        <p:nvSpPr>
          <p:cNvPr id="28" name="Text 26"/>
          <p:cNvSpPr txBox="1"/>
          <p:nvPr/>
        </p:nvSpPr>
        <p:spPr>
          <a:xfrm>
            <a:off x="502920" y="3611880"/>
            <a:ext cx="11185855" cy="320040"/>
          </a:xfrm>
          <a:prstGeom prst="rect">
            <a:avLst/>
          </a:prstGeom>
          <a:noFill/>
          <a:ln/>
        </p:spPr>
        <p:txBody>
          <a:bodyPr wrap="square" lIns="0" tIns="0" rIns="0" bIns="0" rtlCol="0" anchor="ctr"/>
          <a:lstStyle/>
          <a:p>
            <a:pPr marL="0" indent="0">
              <a:buNone/>
            </a:pPr>
            <a:r>
              <a:rPr lang="en-US" sz="1150" i="1" dirty="0">
                <a:solidFill>
                  <a:srgbClr val="3D4552"/>
                </a:solidFill>
                <a:latin typeface="Times New Roman" pitchFamily="34" charset="0"/>
                <a:ea typeface="Times New Roman" pitchFamily="34" charset="-122"/>
                <a:cs typeface="Times New Roman" pitchFamily="34" charset="-120"/>
              </a:rPr>
              <a:t>Ô màu navy đánh dấu tuần chứa mốc kiểm soát bắt buộc, không được phép trễ tiến độ.</a:t>
            </a:r>
            <a:endParaRPr lang="en-US" sz="1150" dirty="0"/>
          </a:p>
        </p:txBody>
      </p:sp>
      <p:sp>
        <p:nvSpPr>
          <p:cNvPr id="29" name="Shape 27"/>
          <p:cNvSpPr/>
          <p:nvPr/>
        </p:nvSpPr>
        <p:spPr>
          <a:xfrm>
            <a:off x="502920" y="4069080"/>
            <a:ext cx="5455768" cy="2011680"/>
          </a:xfrm>
          <a:prstGeom prst="rect">
            <a:avLst/>
          </a:prstGeom>
          <a:solidFill>
            <a:srgbClr val="FFFFFF"/>
          </a:solidFill>
          <a:ln w="19050">
            <a:solidFill>
              <a:srgbClr val="12253F"/>
            </a:solidFill>
            <a:prstDash val="solid"/>
          </a:ln>
        </p:spPr>
        <p:txBody>
          <a:bodyPr/>
          <a:lstStyle/>
          <a:p>
            <a:endParaRPr lang="en-US"/>
          </a:p>
        </p:txBody>
      </p:sp>
      <p:sp>
        <p:nvSpPr>
          <p:cNvPr id="30" name="Text 28"/>
          <p:cNvSpPr txBox="1"/>
          <p:nvPr/>
        </p:nvSpPr>
        <p:spPr>
          <a:xfrm>
            <a:off x="649224" y="4178808"/>
            <a:ext cx="5163160" cy="179222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Nhịp độ chung của 8 tuần
</a:t>
            </a:r>
            <a:r>
              <a:rPr lang="en-US" sz="1800" dirty="0">
                <a:solidFill>
                  <a:srgbClr val="000000"/>
                </a:solidFill>
                <a:latin typeface="Times New Roman" pitchFamily="34" charset="0"/>
                <a:ea typeface="Times New Roman" pitchFamily="34" charset="-122"/>
                <a:cs typeface="Times New Roman" pitchFamily="34" charset="-120"/>
              </a:rPr>
              <a:t>Bốn tuần đầu tập trung vào tư duy và nền tảng. Bốn tuần sau chuyển sang thu thập và xử lý dữ liệu, hoàn thiện các chương còn lại.</a:t>
            </a:r>
            <a:endParaRPr lang="en-US" sz="1900" dirty="0"/>
          </a:p>
        </p:txBody>
      </p:sp>
      <p:sp>
        <p:nvSpPr>
          <p:cNvPr id="31" name="Shape 29"/>
          <p:cNvSpPr/>
          <p:nvPr/>
        </p:nvSpPr>
        <p:spPr>
          <a:xfrm>
            <a:off x="6233008" y="4069080"/>
            <a:ext cx="5455768" cy="2011680"/>
          </a:xfrm>
          <a:prstGeom prst="rect">
            <a:avLst/>
          </a:prstGeom>
          <a:solidFill>
            <a:srgbClr val="FFFFFF"/>
          </a:solidFill>
          <a:ln w="19050">
            <a:solidFill>
              <a:srgbClr val="12253F"/>
            </a:solidFill>
            <a:prstDash val="solid"/>
          </a:ln>
        </p:spPr>
        <p:txBody>
          <a:bodyPr/>
          <a:lstStyle/>
          <a:p>
            <a:endParaRPr lang="en-US"/>
          </a:p>
        </p:txBody>
      </p:sp>
      <p:sp>
        <p:nvSpPr>
          <p:cNvPr id="32" name="Text 30"/>
          <p:cNvSpPr txBox="1"/>
          <p:nvPr/>
        </p:nvSpPr>
        <p:spPr>
          <a:xfrm>
            <a:off x="6379312" y="4178808"/>
            <a:ext cx="5163160" cy="1792224"/>
          </a:xfrm>
          <a:prstGeom prst="rect">
            <a:avLst/>
          </a:prstGeom>
          <a:noFill/>
          <a:ln/>
        </p:spPr>
        <p:txBody>
          <a:bodyPr wrap="square" lIns="0" tIns="0" rIns="0" bIns="0" rtlCol="0" anchor="t"/>
          <a:lstStyle/>
          <a:p>
            <a:pPr marL="0" indent="0">
              <a:buNone/>
            </a:pPr>
            <a:r>
              <a:rPr lang="en-US" sz="1900" b="1" dirty="0">
                <a:solidFill>
                  <a:srgbClr val="12253F"/>
                </a:solidFill>
                <a:latin typeface="Times New Roman" pitchFamily="34" charset="0"/>
                <a:ea typeface="Times New Roman" pitchFamily="34" charset="-122"/>
                <a:cs typeface="Times New Roman" pitchFamily="34" charset="-120"/>
              </a:rPr>
              <a:t>Vì sao là kế hoạch nén
</a:t>
            </a:r>
            <a:r>
              <a:rPr lang="en-US" sz="1800" dirty="0">
                <a:solidFill>
                  <a:srgbClr val="000000"/>
                </a:solidFill>
                <a:latin typeface="Times New Roman" pitchFamily="34" charset="0"/>
                <a:ea typeface="Times New Roman" pitchFamily="34" charset="-122"/>
                <a:cs typeface="Times New Roman" pitchFamily="34" charset="-120"/>
              </a:rPr>
              <a:t>8 tuần đòi hỏi nhiều việc phải làm song song thay vì tuần tự. Mục 2 trình bày sản phẩm bắt buộc theo từng cặp tuần, kế hoạch chi tiết từng tuần riêng lẻ có ở Core Slide 2.</a:t>
            </a:r>
            <a:endParaRPr lang="en-US" sz="1900" dirty="0"/>
          </a:p>
        </p:txBody>
      </p:sp>
      <p:sp>
        <p:nvSpPr>
          <p:cNvPr id="33" name="Shape 31"/>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34" name="Text 32"/>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XIII</a:t>
            </a:r>
            <a:endParaRPr lang="en-US" sz="1000" dirty="0"/>
          </a:p>
        </p:txBody>
      </p:sp>
      <p:sp>
        <p:nvSpPr>
          <p:cNvPr id="35" name="Text 33"/>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Sơ đồ 8 tuần</a:t>
            </a:r>
            <a:endParaRPr lang="en-US" sz="10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Mỗi tuần đều có sản phẩm bắt buộc riêng, dùng để tự kiểm tra có đang đúng tiến độ</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graphicFrame>
        <p:nvGraphicFramePr>
          <p:cNvPr id="90" name="Table 0"/>
          <p:cNvGraphicFramePr>
            <a:graphicFrameLocks noGrp="1"/>
          </p:cNvGraphicFramePr>
          <p:nvPr>
            <p:extLst>
              <p:ext uri="{D42A27DB-BD31-4B8C-83A1-F6EECF244321}">
                <p14:modId xmlns:p14="http://schemas.microsoft.com/office/powerpoint/2010/main" val="1579011935"/>
              </p:ext>
            </p:extLst>
          </p:nvPr>
        </p:nvGraphicFramePr>
        <p:xfrm>
          <a:off x="502920" y="1234440"/>
          <a:ext cx="11183112" cy="3291840"/>
        </p:xfrm>
        <a:graphic>
          <a:graphicData uri="http://schemas.openxmlformats.org/drawingml/2006/table">
            <a:tbl>
              <a:tblPr/>
              <a:tblGrid>
                <a:gridCol w="1554480">
                  <a:extLst>
                    <a:ext uri="{9D8B030D-6E8A-4147-A177-3AD203B41FA5}">
                      <a16:colId xmlns:a16="http://schemas.microsoft.com/office/drawing/2014/main" val="20000"/>
                    </a:ext>
                  </a:extLst>
                </a:gridCol>
                <a:gridCol w="9628632">
                  <a:extLst>
                    <a:ext uri="{9D8B030D-6E8A-4147-A177-3AD203B41FA5}">
                      <a16:colId xmlns:a16="http://schemas.microsoft.com/office/drawing/2014/main" val="20001"/>
                    </a:ext>
                  </a:extLst>
                </a:gridCol>
              </a:tblGrid>
              <a:tr h="658368">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Tuần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tc>
                  <a:txBody>
                    <a:bodyPr/>
                    <a:lstStyle/>
                    <a:p>
                      <a:pPr marL="0" indent="0" algn="l">
                        <a:buNone/>
                      </a:pPr>
                      <a:r>
                        <a:rPr lang="en-US" sz="1500" b="1" dirty="0">
                          <a:solidFill>
                            <a:srgbClr val="FFFFFF"/>
                          </a:solidFill>
                          <a:latin typeface="Times New Roman" pitchFamily="34" charset="0"/>
                          <a:ea typeface="Times New Roman" pitchFamily="34" charset="-122"/>
                          <a:cs typeface="Times New Roman" pitchFamily="34" charset="-120"/>
                        </a:rPr>
                        <a:t>Sản phẩm bắt buộc phải có khi kết thúc tuần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12253F"/>
                    </a:solidFill>
                  </a:tcPr>
                </a:tc>
                <a:extLst>
                  <a:ext uri="{0D108BD9-81ED-4DB2-BD59-A6C34878D82A}">
                    <a16:rowId xmlns:a16="http://schemas.microsoft.com/office/drawing/2014/main" val="10000"/>
                  </a:ext>
                </a:extLst>
              </a:tr>
              <a:tr h="658368">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1 - 2</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Đề tài đã chốt, research proposal chi tiết được GVHD xác nhận</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58368">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3 - 4</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Bản thảo Chương 1 hoàn chỉnh, bản thảo Chương 2 kèm sơ đồ mô hình</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2"/>
                  </a:ext>
                </a:extLst>
              </a:tr>
              <a:tr h="658368">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5 - 6</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Chương 3 đã chốt, công cụ thu thập dữ liệu đã kiểm tra thử, bộ dữ liệu thô đã thu thập</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58368">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7 - 8</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tc>
                  <a:txBody>
                    <a:bodyPr/>
                    <a:lstStyle/>
                    <a:p>
                      <a:pPr marL="0" indent="0" algn="l">
                        <a:buNone/>
                      </a:pPr>
                      <a:r>
                        <a:rPr lang="en-US" sz="1500" dirty="0">
                          <a:solidFill>
                            <a:srgbClr val="000000"/>
                          </a:solidFill>
                          <a:latin typeface="Times New Roman" pitchFamily="34" charset="0"/>
                          <a:ea typeface="Times New Roman" pitchFamily="34" charset="-122"/>
                          <a:cs typeface="Times New Roman" pitchFamily="34" charset="-120"/>
                        </a:rPr>
                        <a:t>Chương 4 với kết quả đã diễn giải, Chương 5, bản thảo cuối sẵn sàng nộp</a:t>
                      </a:r>
                      <a:endParaRPr lang="en-US" sz="1500" dirty="0">
                        <a:latin typeface="Times New Roman" charset="0"/>
                        <a:ea typeface="Times New Roman" charset="0"/>
                        <a:cs typeface="Times New Roman" charset="0"/>
                      </a:endParaRPr>
                    </a:p>
                  </a:txBody>
                  <a:tcPr marL="88900" marR="88900" marT="63500" marB="63500" anchor="ctr">
                    <a:lnL w="9525" cap="flat" cmpd="sng" algn="ctr">
                      <a:solidFill>
                        <a:srgbClr val="C7CCD6"/>
                      </a:solidFill>
                      <a:prstDash val="solid"/>
                      <a:round/>
                      <a:headEnd type="none" w="med" len="med"/>
                      <a:tailEnd type="none" w="med" len="med"/>
                    </a:lnL>
                    <a:lnR w="9525" cap="flat" cmpd="sng" algn="ctr">
                      <a:solidFill>
                        <a:srgbClr val="C7CCD6"/>
                      </a:solidFill>
                      <a:prstDash val="solid"/>
                      <a:round/>
                      <a:headEnd type="none" w="med" len="med"/>
                      <a:tailEnd type="none" w="med" len="med"/>
                    </a:lnR>
                    <a:lnT w="9525" cap="flat" cmpd="sng" algn="ctr">
                      <a:solidFill>
                        <a:srgbClr val="C7CCD6"/>
                      </a:solidFill>
                      <a:prstDash val="solid"/>
                      <a:round/>
                      <a:headEnd type="none" w="med" len="med"/>
                      <a:tailEnd type="none" w="med" len="med"/>
                    </a:lnT>
                    <a:lnB w="9525" cap="flat" cmpd="sng" algn="ctr">
                      <a:solidFill>
                        <a:srgbClr val="C7CCD6"/>
                      </a:solidFill>
                      <a:prstDash val="solid"/>
                      <a:round/>
                      <a:headEnd type="none" w="med" len="med"/>
                      <a:tailEnd type="none" w="med" len="med"/>
                    </a:lnB>
                    <a:solidFill>
                      <a:srgbClr val="F5F6F8"/>
                    </a:solidFill>
                  </a:tcPr>
                </a:tc>
                <a:extLst>
                  <a:ext uri="{0D108BD9-81ED-4DB2-BD59-A6C34878D82A}">
                    <a16:rowId xmlns:a16="http://schemas.microsoft.com/office/drawing/2014/main" val="10004"/>
                  </a:ext>
                </a:extLst>
              </a:tr>
            </a:tbl>
          </a:graphicData>
        </a:graphic>
      </p:graphicFrame>
      <p:sp>
        <p:nvSpPr>
          <p:cNvPr id="5" name="Shape 2"/>
          <p:cNvSpPr/>
          <p:nvPr/>
        </p:nvSpPr>
        <p:spPr>
          <a:xfrm>
            <a:off x="502920" y="4617720"/>
            <a:ext cx="11185855" cy="1371600"/>
          </a:xfrm>
          <a:prstGeom prst="rect">
            <a:avLst/>
          </a:prstGeom>
          <a:solidFill>
            <a:srgbClr val="F0F2F5"/>
          </a:solidFill>
          <a:ln w="9525">
            <a:solidFill>
              <a:srgbClr val="12253F"/>
            </a:solidFill>
            <a:prstDash val="solid"/>
          </a:ln>
        </p:spPr>
        <p:txBody>
          <a:bodyPr/>
          <a:lstStyle/>
          <a:p>
            <a:endParaRPr lang="en-US"/>
          </a:p>
        </p:txBody>
      </p:sp>
      <p:sp>
        <p:nvSpPr>
          <p:cNvPr id="6" name="Text 3"/>
          <p:cNvSpPr txBox="1"/>
          <p:nvPr/>
        </p:nvSpPr>
        <p:spPr>
          <a:xfrm>
            <a:off x="758952" y="4709160"/>
            <a:ext cx="10728655" cy="1188720"/>
          </a:xfrm>
          <a:prstGeom prst="rect">
            <a:avLst/>
          </a:prstGeom>
          <a:noFill/>
          <a:ln/>
        </p:spPr>
        <p:txBody>
          <a:bodyPr wrap="square" lIns="0" tIns="0" rIns="0" bIns="0" rtlCol="0" anchor="ctr"/>
          <a:lstStyle/>
          <a:p>
            <a:pPr marL="0" indent="0">
              <a:buNone/>
            </a:pPr>
            <a:r>
              <a:rPr lang="en-US" sz="1450" b="1" dirty="0">
                <a:solidFill>
                  <a:srgbClr val="000000"/>
                </a:solidFill>
                <a:latin typeface="Times New Roman" pitchFamily="34" charset="0"/>
                <a:ea typeface="Times New Roman" pitchFamily="34" charset="-122"/>
                <a:cs typeface="Times New Roman" pitchFamily="34" charset="-120"/>
              </a:rPr>
              <a:t>Mỗi tuần còn có việc phải làm trước, việc có thể làm song song và rủi ro cụ thể nếu chậm. Bảng chi tiết đọc theo từng tuần riêng lẻ, dùng để lập kế hoạch làm việc hằng ngày, được trình bày đầy đủ ở Core Slide 2.</a:t>
            </a:r>
            <a:endParaRPr lang="en-US" sz="1450" dirty="0"/>
          </a:p>
        </p:txBody>
      </p:sp>
      <p:sp>
        <p:nvSpPr>
          <p:cNvPr id="7" name="Shape 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8" name="Text 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XIII</a:t>
            </a:r>
            <a:endParaRPr lang="en-US" sz="1000" dirty="0"/>
          </a:p>
        </p:txBody>
      </p:sp>
      <p:sp>
        <p:nvSpPr>
          <p:cNvPr id="9" name="Text 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Sản phẩm bắt buộc theo từng cặp tuần</a:t>
            </a:r>
            <a:endParaRPr lang="en-US" sz="10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900" b="1" dirty="0">
                <a:solidFill>
                  <a:srgbClr val="000000"/>
                </a:solidFill>
                <a:latin typeface="Times New Roman" pitchFamily="34" charset="0"/>
                <a:ea typeface="Times New Roman" pitchFamily="34" charset="-122"/>
                <a:cs typeface="Times New Roman" pitchFamily="34" charset="-120"/>
              </a:rPr>
              <a:t>Critical path: chuỗi công việc cần ưu tiên giữ đúng tiến độ</a:t>
            </a:r>
            <a:endParaRPr lang="en-US" sz="19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Text 2"/>
          <p:cNvSpPr txBox="1"/>
          <p:nvPr/>
        </p:nvSpPr>
        <p:spPr>
          <a:xfrm>
            <a:off x="502920" y="1188720"/>
            <a:ext cx="11155680" cy="822960"/>
          </a:xfrm>
          <a:prstGeom prst="rect">
            <a:avLst/>
          </a:prstGeom>
          <a:noFill/>
          <a:ln/>
        </p:spPr>
        <p:txBody>
          <a:bodyPr wrap="square" lIns="0" tIns="0" rIns="0" bIns="0" rtlCol="0" anchor="t"/>
          <a:lstStyle/>
          <a:p>
            <a:pPr marL="0" indent="0">
              <a:buNone/>
            </a:pPr>
            <a:r>
              <a:rPr lang="en-US" sz="1400" dirty="0">
                <a:solidFill>
                  <a:srgbClr val="1A1A1A"/>
                </a:solidFill>
                <a:latin typeface="Times New Roman" pitchFamily="34" charset="0"/>
                <a:ea typeface="Times New Roman" pitchFamily="34" charset="-122"/>
                <a:cs typeface="Times New Roman" pitchFamily="34" charset="-120"/>
              </a:rPr>
              <a:t>Critical path là chuỗi công việc nối tiếp, việc sau chỉ bắt đầu khi việc trước đã hoàn thành. Trễ một mắt xích sẽ kéo trễ toàn bộ khóa luận.</a:t>
            </a:r>
            <a:endParaRPr lang="en-US" sz="1400" dirty="0"/>
          </a:p>
        </p:txBody>
      </p:sp>
      <p:sp>
        <p:nvSpPr>
          <p:cNvPr id="5" name="Shape 3"/>
          <p:cNvSpPr/>
          <p:nvPr/>
        </p:nvSpPr>
        <p:spPr>
          <a:xfrm>
            <a:off x="502920" y="2011680"/>
            <a:ext cx="2604440" cy="960120"/>
          </a:xfrm>
          <a:prstGeom prst="roundRect">
            <a:avLst>
              <a:gd name="adj" fmla="val 6667"/>
            </a:avLst>
          </a:prstGeom>
          <a:solidFill>
            <a:srgbClr val="12253F"/>
          </a:solidFill>
          <a:ln w="19050">
            <a:solidFill>
              <a:srgbClr val="12253F"/>
            </a:solidFill>
            <a:prstDash val="solid"/>
          </a:ln>
        </p:spPr>
        <p:txBody>
          <a:bodyPr/>
          <a:lstStyle/>
          <a:p>
            <a:endParaRPr lang="en-US"/>
          </a:p>
        </p:txBody>
      </p:sp>
      <p:sp>
        <p:nvSpPr>
          <p:cNvPr id="6" name="Text 4"/>
          <p:cNvSpPr txBox="1"/>
          <p:nvPr/>
        </p:nvSpPr>
        <p:spPr>
          <a:xfrm>
            <a:off x="557784" y="2011680"/>
            <a:ext cx="2494712"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Đề tài</a:t>
            </a:r>
            <a:endParaRPr lang="en-US" sz="1300" dirty="0"/>
          </a:p>
        </p:txBody>
      </p:sp>
      <p:sp>
        <p:nvSpPr>
          <p:cNvPr id="7" name="Shape 5"/>
          <p:cNvSpPr/>
          <p:nvPr/>
        </p:nvSpPr>
        <p:spPr>
          <a:xfrm>
            <a:off x="3156006" y="2299716"/>
            <a:ext cx="158740" cy="384048"/>
          </a:xfrm>
          <a:prstGeom prst="chevron">
            <a:avLst/>
          </a:prstGeom>
          <a:solidFill>
            <a:srgbClr val="1F5C82"/>
          </a:solidFill>
          <a:ln/>
        </p:spPr>
        <p:txBody>
          <a:bodyPr/>
          <a:lstStyle/>
          <a:p>
            <a:endParaRPr lang="en-US"/>
          </a:p>
        </p:txBody>
      </p:sp>
      <p:sp>
        <p:nvSpPr>
          <p:cNvPr id="8" name="Shape 6"/>
          <p:cNvSpPr/>
          <p:nvPr/>
        </p:nvSpPr>
        <p:spPr>
          <a:xfrm>
            <a:off x="3363392" y="2011680"/>
            <a:ext cx="2604440" cy="960120"/>
          </a:xfrm>
          <a:prstGeom prst="roundRect">
            <a:avLst>
              <a:gd name="adj" fmla="val 6667"/>
            </a:avLst>
          </a:prstGeom>
          <a:solidFill>
            <a:srgbClr val="12253F"/>
          </a:solidFill>
          <a:ln w="19050">
            <a:solidFill>
              <a:srgbClr val="12253F"/>
            </a:solidFill>
            <a:prstDash val="solid"/>
          </a:ln>
        </p:spPr>
        <p:txBody>
          <a:bodyPr/>
          <a:lstStyle/>
          <a:p>
            <a:endParaRPr lang="en-US"/>
          </a:p>
        </p:txBody>
      </p:sp>
      <p:sp>
        <p:nvSpPr>
          <p:cNvPr id="9" name="Text 7"/>
          <p:cNvSpPr txBox="1"/>
          <p:nvPr/>
        </p:nvSpPr>
        <p:spPr>
          <a:xfrm>
            <a:off x="3418256" y="2011680"/>
            <a:ext cx="2494712"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Research proposal</a:t>
            </a:r>
            <a:endParaRPr lang="en-US" sz="1300" dirty="0"/>
          </a:p>
        </p:txBody>
      </p:sp>
      <p:sp>
        <p:nvSpPr>
          <p:cNvPr id="10" name="Shape 8"/>
          <p:cNvSpPr/>
          <p:nvPr/>
        </p:nvSpPr>
        <p:spPr>
          <a:xfrm>
            <a:off x="6016478" y="2299716"/>
            <a:ext cx="158740" cy="384048"/>
          </a:xfrm>
          <a:prstGeom prst="chevron">
            <a:avLst/>
          </a:prstGeom>
          <a:solidFill>
            <a:srgbClr val="1F5C82"/>
          </a:solidFill>
          <a:ln/>
        </p:spPr>
        <p:txBody>
          <a:bodyPr/>
          <a:lstStyle/>
          <a:p>
            <a:endParaRPr lang="en-US"/>
          </a:p>
        </p:txBody>
      </p:sp>
      <p:sp>
        <p:nvSpPr>
          <p:cNvPr id="11" name="Shape 9"/>
          <p:cNvSpPr/>
          <p:nvPr/>
        </p:nvSpPr>
        <p:spPr>
          <a:xfrm>
            <a:off x="6223864" y="2011680"/>
            <a:ext cx="2604440" cy="960120"/>
          </a:xfrm>
          <a:prstGeom prst="roundRect">
            <a:avLst>
              <a:gd name="adj" fmla="val 6667"/>
            </a:avLst>
          </a:prstGeom>
          <a:solidFill>
            <a:srgbClr val="FFFFFF"/>
          </a:solidFill>
          <a:ln w="19050">
            <a:solidFill>
              <a:srgbClr val="12253F"/>
            </a:solidFill>
            <a:prstDash val="solid"/>
          </a:ln>
        </p:spPr>
        <p:txBody>
          <a:bodyPr/>
          <a:lstStyle/>
          <a:p>
            <a:endParaRPr lang="en-US"/>
          </a:p>
        </p:txBody>
      </p:sp>
      <p:sp>
        <p:nvSpPr>
          <p:cNvPr id="12" name="Text 10"/>
          <p:cNvSpPr txBox="1"/>
          <p:nvPr/>
        </p:nvSpPr>
        <p:spPr>
          <a:xfrm>
            <a:off x="6278728" y="2011680"/>
            <a:ext cx="2494712" cy="96012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Chương 1</a:t>
            </a:r>
            <a:endParaRPr lang="en-US" sz="1300" dirty="0"/>
          </a:p>
        </p:txBody>
      </p:sp>
      <p:sp>
        <p:nvSpPr>
          <p:cNvPr id="13" name="Shape 11"/>
          <p:cNvSpPr/>
          <p:nvPr/>
        </p:nvSpPr>
        <p:spPr>
          <a:xfrm>
            <a:off x="8876949" y="2299716"/>
            <a:ext cx="158740" cy="384048"/>
          </a:xfrm>
          <a:prstGeom prst="chevron">
            <a:avLst/>
          </a:prstGeom>
          <a:solidFill>
            <a:srgbClr val="1F5C82"/>
          </a:solidFill>
          <a:ln/>
        </p:spPr>
        <p:txBody>
          <a:bodyPr/>
          <a:lstStyle/>
          <a:p>
            <a:endParaRPr lang="en-US"/>
          </a:p>
        </p:txBody>
      </p:sp>
      <p:sp>
        <p:nvSpPr>
          <p:cNvPr id="14" name="Shape 12"/>
          <p:cNvSpPr/>
          <p:nvPr/>
        </p:nvSpPr>
        <p:spPr>
          <a:xfrm>
            <a:off x="9084335" y="2011680"/>
            <a:ext cx="2604440" cy="960120"/>
          </a:xfrm>
          <a:prstGeom prst="roundRect">
            <a:avLst>
              <a:gd name="adj" fmla="val 6667"/>
            </a:avLst>
          </a:prstGeom>
          <a:solidFill>
            <a:srgbClr val="FFFFFF"/>
          </a:solidFill>
          <a:ln w="19050">
            <a:solidFill>
              <a:srgbClr val="12253F"/>
            </a:solidFill>
            <a:prstDash val="solid"/>
          </a:ln>
        </p:spPr>
        <p:txBody>
          <a:bodyPr/>
          <a:lstStyle/>
          <a:p>
            <a:endParaRPr lang="en-US"/>
          </a:p>
        </p:txBody>
      </p:sp>
      <p:sp>
        <p:nvSpPr>
          <p:cNvPr id="15" name="Text 13"/>
          <p:cNvSpPr txBox="1"/>
          <p:nvPr/>
        </p:nvSpPr>
        <p:spPr>
          <a:xfrm>
            <a:off x="9139199" y="2011680"/>
            <a:ext cx="2494712" cy="96012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Chương 2</a:t>
            </a:r>
            <a:endParaRPr lang="en-US" sz="1300" dirty="0"/>
          </a:p>
        </p:txBody>
      </p:sp>
      <p:sp>
        <p:nvSpPr>
          <p:cNvPr id="16" name="Shape 14"/>
          <p:cNvSpPr/>
          <p:nvPr/>
        </p:nvSpPr>
        <p:spPr>
          <a:xfrm>
            <a:off x="502920" y="3200400"/>
            <a:ext cx="2604440" cy="960120"/>
          </a:xfrm>
          <a:prstGeom prst="roundRect">
            <a:avLst>
              <a:gd name="adj" fmla="val 6667"/>
            </a:avLst>
          </a:prstGeom>
          <a:solidFill>
            <a:srgbClr val="FFFFFF"/>
          </a:solidFill>
          <a:ln w="19050">
            <a:solidFill>
              <a:srgbClr val="12253F"/>
            </a:solidFill>
            <a:prstDash val="solid"/>
          </a:ln>
        </p:spPr>
        <p:txBody>
          <a:bodyPr/>
          <a:lstStyle/>
          <a:p>
            <a:endParaRPr lang="en-US"/>
          </a:p>
        </p:txBody>
      </p:sp>
      <p:sp>
        <p:nvSpPr>
          <p:cNvPr id="17" name="Text 15"/>
          <p:cNvSpPr txBox="1"/>
          <p:nvPr/>
        </p:nvSpPr>
        <p:spPr>
          <a:xfrm>
            <a:off x="557784" y="3200400"/>
            <a:ext cx="2494712" cy="96012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Chương 3</a:t>
            </a:r>
            <a:endParaRPr lang="en-US" sz="1300" dirty="0"/>
          </a:p>
        </p:txBody>
      </p:sp>
      <p:sp>
        <p:nvSpPr>
          <p:cNvPr id="18" name="Shape 16"/>
          <p:cNvSpPr/>
          <p:nvPr/>
        </p:nvSpPr>
        <p:spPr>
          <a:xfrm>
            <a:off x="3156006" y="3488436"/>
            <a:ext cx="158740" cy="384048"/>
          </a:xfrm>
          <a:prstGeom prst="chevron">
            <a:avLst/>
          </a:prstGeom>
          <a:solidFill>
            <a:srgbClr val="1F5C82"/>
          </a:solidFill>
          <a:ln/>
        </p:spPr>
        <p:txBody>
          <a:bodyPr/>
          <a:lstStyle/>
          <a:p>
            <a:endParaRPr lang="en-US"/>
          </a:p>
        </p:txBody>
      </p:sp>
      <p:sp>
        <p:nvSpPr>
          <p:cNvPr id="19" name="Shape 17"/>
          <p:cNvSpPr/>
          <p:nvPr/>
        </p:nvSpPr>
        <p:spPr>
          <a:xfrm>
            <a:off x="3363392" y="3200400"/>
            <a:ext cx="2604440" cy="960120"/>
          </a:xfrm>
          <a:prstGeom prst="roundRect">
            <a:avLst>
              <a:gd name="adj" fmla="val 6667"/>
            </a:avLst>
          </a:prstGeom>
          <a:solidFill>
            <a:srgbClr val="12253F"/>
          </a:solidFill>
          <a:ln w="19050">
            <a:solidFill>
              <a:srgbClr val="12253F"/>
            </a:solidFill>
            <a:prstDash val="solid"/>
          </a:ln>
        </p:spPr>
        <p:txBody>
          <a:bodyPr/>
          <a:lstStyle/>
          <a:p>
            <a:endParaRPr lang="en-US"/>
          </a:p>
        </p:txBody>
      </p:sp>
      <p:sp>
        <p:nvSpPr>
          <p:cNvPr id="20" name="Text 18"/>
          <p:cNvSpPr txBox="1"/>
          <p:nvPr/>
        </p:nvSpPr>
        <p:spPr>
          <a:xfrm>
            <a:off x="3418256" y="3200400"/>
            <a:ext cx="2494712"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Công cụ thu thập dữ liệu</a:t>
            </a:r>
            <a:endParaRPr lang="en-US" sz="1300" dirty="0"/>
          </a:p>
        </p:txBody>
      </p:sp>
      <p:sp>
        <p:nvSpPr>
          <p:cNvPr id="21" name="Shape 19"/>
          <p:cNvSpPr/>
          <p:nvPr/>
        </p:nvSpPr>
        <p:spPr>
          <a:xfrm>
            <a:off x="6016478" y="3488436"/>
            <a:ext cx="158740" cy="384048"/>
          </a:xfrm>
          <a:prstGeom prst="chevron">
            <a:avLst/>
          </a:prstGeom>
          <a:solidFill>
            <a:srgbClr val="1F5C82"/>
          </a:solidFill>
          <a:ln/>
        </p:spPr>
        <p:txBody>
          <a:bodyPr/>
          <a:lstStyle/>
          <a:p>
            <a:endParaRPr lang="en-US"/>
          </a:p>
        </p:txBody>
      </p:sp>
      <p:sp>
        <p:nvSpPr>
          <p:cNvPr id="22" name="Shape 20"/>
          <p:cNvSpPr/>
          <p:nvPr/>
        </p:nvSpPr>
        <p:spPr>
          <a:xfrm>
            <a:off x="6223864" y="3200400"/>
            <a:ext cx="2604440" cy="960120"/>
          </a:xfrm>
          <a:prstGeom prst="roundRect">
            <a:avLst>
              <a:gd name="adj" fmla="val 6667"/>
            </a:avLst>
          </a:prstGeom>
          <a:solidFill>
            <a:srgbClr val="12253F"/>
          </a:solidFill>
          <a:ln w="19050">
            <a:solidFill>
              <a:srgbClr val="12253F"/>
            </a:solidFill>
            <a:prstDash val="solid"/>
          </a:ln>
        </p:spPr>
        <p:txBody>
          <a:bodyPr/>
          <a:lstStyle/>
          <a:p>
            <a:endParaRPr lang="en-US"/>
          </a:p>
        </p:txBody>
      </p:sp>
      <p:sp>
        <p:nvSpPr>
          <p:cNvPr id="23" name="Text 21"/>
          <p:cNvSpPr txBox="1"/>
          <p:nvPr/>
        </p:nvSpPr>
        <p:spPr>
          <a:xfrm>
            <a:off x="6278728" y="3200400"/>
            <a:ext cx="2494712" cy="96012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Dữ liệu thật</a:t>
            </a:r>
            <a:endParaRPr lang="en-US" sz="1300" dirty="0"/>
          </a:p>
        </p:txBody>
      </p:sp>
      <p:sp>
        <p:nvSpPr>
          <p:cNvPr id="24" name="Shape 22"/>
          <p:cNvSpPr/>
          <p:nvPr/>
        </p:nvSpPr>
        <p:spPr>
          <a:xfrm>
            <a:off x="8876949" y="3488436"/>
            <a:ext cx="158740" cy="384048"/>
          </a:xfrm>
          <a:prstGeom prst="chevron">
            <a:avLst/>
          </a:prstGeom>
          <a:solidFill>
            <a:srgbClr val="1F5C82"/>
          </a:solidFill>
          <a:ln/>
        </p:spPr>
        <p:txBody>
          <a:bodyPr/>
          <a:lstStyle/>
          <a:p>
            <a:endParaRPr lang="en-US"/>
          </a:p>
        </p:txBody>
      </p:sp>
      <p:sp>
        <p:nvSpPr>
          <p:cNvPr id="25" name="Shape 23"/>
          <p:cNvSpPr/>
          <p:nvPr/>
        </p:nvSpPr>
        <p:spPr>
          <a:xfrm>
            <a:off x="9084335" y="3200400"/>
            <a:ext cx="2604440" cy="960120"/>
          </a:xfrm>
          <a:prstGeom prst="roundRect">
            <a:avLst>
              <a:gd name="adj" fmla="val 6667"/>
            </a:avLst>
          </a:prstGeom>
          <a:solidFill>
            <a:srgbClr val="FFFFFF"/>
          </a:solidFill>
          <a:ln w="19050">
            <a:solidFill>
              <a:srgbClr val="12253F"/>
            </a:solidFill>
            <a:prstDash val="solid"/>
          </a:ln>
        </p:spPr>
        <p:txBody>
          <a:bodyPr/>
          <a:lstStyle/>
          <a:p>
            <a:endParaRPr lang="en-US"/>
          </a:p>
        </p:txBody>
      </p:sp>
      <p:sp>
        <p:nvSpPr>
          <p:cNvPr id="26" name="Text 24"/>
          <p:cNvSpPr txBox="1"/>
          <p:nvPr/>
        </p:nvSpPr>
        <p:spPr>
          <a:xfrm>
            <a:off x="9139199" y="3200400"/>
            <a:ext cx="2494712" cy="96012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Phân tích</a:t>
            </a:r>
            <a:endParaRPr lang="en-US" sz="1300" dirty="0"/>
          </a:p>
        </p:txBody>
      </p:sp>
      <p:sp>
        <p:nvSpPr>
          <p:cNvPr id="27" name="Shape 25"/>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8" name="Text 26"/>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XIII</a:t>
            </a:r>
            <a:endParaRPr lang="en-US" sz="1000" dirty="0"/>
          </a:p>
        </p:txBody>
      </p:sp>
      <p:sp>
        <p:nvSpPr>
          <p:cNvPr id="29" name="Text 27"/>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Sơ đồ critical path</a:t>
            </a:r>
            <a:endParaRPr lang="en-US" sz="100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Sáu mốc cần ưu tiên giữ đúng tiến độ trên critical path</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34440"/>
            <a:ext cx="3557930" cy="914400"/>
          </a:xfrm>
          <a:prstGeom prst="roundRect">
            <a:avLst>
              <a:gd name="adj" fmla="val 7000"/>
            </a:avLst>
          </a:prstGeom>
          <a:solidFill>
            <a:srgbClr val="FFFFFF"/>
          </a:solidFill>
          <a:ln w="19050">
            <a:solidFill>
              <a:srgbClr val="12253F"/>
            </a:solidFill>
            <a:prstDash val="solid"/>
          </a:ln>
        </p:spPr>
        <p:txBody>
          <a:bodyPr/>
          <a:lstStyle/>
          <a:p>
            <a:endParaRPr lang="en-US"/>
          </a:p>
        </p:txBody>
      </p:sp>
      <p:sp>
        <p:nvSpPr>
          <p:cNvPr id="5" name="Text 3"/>
          <p:cNvSpPr txBox="1"/>
          <p:nvPr/>
        </p:nvSpPr>
        <p:spPr>
          <a:xfrm>
            <a:off x="557784" y="1234440"/>
            <a:ext cx="3448202" cy="91440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Chương 4</a:t>
            </a:r>
            <a:endParaRPr lang="en-US" sz="1300" dirty="0"/>
          </a:p>
        </p:txBody>
      </p:sp>
      <p:sp>
        <p:nvSpPr>
          <p:cNvPr id="6" name="Shape 4"/>
          <p:cNvSpPr/>
          <p:nvPr/>
        </p:nvSpPr>
        <p:spPr>
          <a:xfrm>
            <a:off x="4109496" y="1508760"/>
            <a:ext cx="158740" cy="365760"/>
          </a:xfrm>
          <a:prstGeom prst="chevron">
            <a:avLst/>
          </a:prstGeom>
          <a:solidFill>
            <a:srgbClr val="1F5C82"/>
          </a:solidFill>
          <a:ln/>
        </p:spPr>
        <p:txBody>
          <a:bodyPr/>
          <a:lstStyle/>
          <a:p>
            <a:endParaRPr lang="en-US"/>
          </a:p>
        </p:txBody>
      </p:sp>
      <p:sp>
        <p:nvSpPr>
          <p:cNvPr id="7" name="Shape 5"/>
          <p:cNvSpPr/>
          <p:nvPr/>
        </p:nvSpPr>
        <p:spPr>
          <a:xfrm>
            <a:off x="4316882" y="1234440"/>
            <a:ext cx="3557930" cy="914400"/>
          </a:xfrm>
          <a:prstGeom prst="roundRect">
            <a:avLst>
              <a:gd name="adj" fmla="val 7000"/>
            </a:avLst>
          </a:prstGeom>
          <a:solidFill>
            <a:srgbClr val="FFFFFF"/>
          </a:solidFill>
          <a:ln w="19050">
            <a:solidFill>
              <a:srgbClr val="12253F"/>
            </a:solidFill>
            <a:prstDash val="solid"/>
          </a:ln>
        </p:spPr>
        <p:txBody>
          <a:bodyPr/>
          <a:lstStyle/>
          <a:p>
            <a:endParaRPr lang="en-US"/>
          </a:p>
        </p:txBody>
      </p:sp>
      <p:sp>
        <p:nvSpPr>
          <p:cNvPr id="8" name="Text 6"/>
          <p:cNvSpPr txBox="1"/>
          <p:nvPr/>
        </p:nvSpPr>
        <p:spPr>
          <a:xfrm>
            <a:off x="4371746" y="1234440"/>
            <a:ext cx="3448202" cy="914400"/>
          </a:xfrm>
          <a:prstGeom prst="rect">
            <a:avLst/>
          </a:prstGeom>
          <a:noFill/>
          <a:ln/>
        </p:spPr>
        <p:txBody>
          <a:bodyPr wrap="square" lIns="0" tIns="0" rIns="0" bIns="0" rtlCol="0" anchor="ctr"/>
          <a:lstStyle/>
          <a:p>
            <a:pPr marL="0" indent="0" algn="ctr">
              <a:buNone/>
            </a:pPr>
            <a:r>
              <a:rPr lang="en-US" sz="1300" b="1" dirty="0">
                <a:solidFill>
                  <a:srgbClr val="000000"/>
                </a:solidFill>
                <a:latin typeface="Times New Roman" pitchFamily="34" charset="0"/>
                <a:ea typeface="Times New Roman" pitchFamily="34" charset="-122"/>
                <a:cs typeface="Times New Roman" pitchFamily="34" charset="-120"/>
              </a:rPr>
              <a:t>Chương 5</a:t>
            </a:r>
            <a:endParaRPr lang="en-US" sz="1300" dirty="0"/>
          </a:p>
        </p:txBody>
      </p:sp>
      <p:sp>
        <p:nvSpPr>
          <p:cNvPr id="9" name="Shape 7"/>
          <p:cNvSpPr/>
          <p:nvPr/>
        </p:nvSpPr>
        <p:spPr>
          <a:xfrm>
            <a:off x="7923459" y="1508760"/>
            <a:ext cx="158740" cy="365760"/>
          </a:xfrm>
          <a:prstGeom prst="chevron">
            <a:avLst/>
          </a:prstGeom>
          <a:solidFill>
            <a:srgbClr val="1F5C82"/>
          </a:solidFill>
          <a:ln/>
        </p:spPr>
        <p:txBody>
          <a:bodyPr/>
          <a:lstStyle/>
          <a:p>
            <a:endParaRPr lang="en-US"/>
          </a:p>
        </p:txBody>
      </p:sp>
      <p:sp>
        <p:nvSpPr>
          <p:cNvPr id="10" name="Shape 8"/>
          <p:cNvSpPr/>
          <p:nvPr/>
        </p:nvSpPr>
        <p:spPr>
          <a:xfrm>
            <a:off x="8130845" y="1234440"/>
            <a:ext cx="3557930" cy="914400"/>
          </a:xfrm>
          <a:prstGeom prst="roundRect">
            <a:avLst>
              <a:gd name="adj" fmla="val 7000"/>
            </a:avLst>
          </a:prstGeom>
          <a:solidFill>
            <a:srgbClr val="12253F"/>
          </a:solidFill>
          <a:ln w="19050">
            <a:solidFill>
              <a:srgbClr val="12253F"/>
            </a:solidFill>
            <a:prstDash val="solid"/>
          </a:ln>
        </p:spPr>
        <p:txBody>
          <a:bodyPr/>
          <a:lstStyle/>
          <a:p>
            <a:endParaRPr lang="en-US"/>
          </a:p>
        </p:txBody>
      </p:sp>
      <p:sp>
        <p:nvSpPr>
          <p:cNvPr id="11" name="Text 9"/>
          <p:cNvSpPr txBox="1"/>
          <p:nvPr/>
        </p:nvSpPr>
        <p:spPr>
          <a:xfrm>
            <a:off x="8185709" y="1234440"/>
            <a:ext cx="3448202" cy="914400"/>
          </a:xfrm>
          <a:prstGeom prst="rect">
            <a:avLst/>
          </a:prstGeom>
          <a:noFill/>
          <a:ln/>
        </p:spPr>
        <p:txBody>
          <a:bodyPr wrap="square" lIns="0" tIns="0" rIns="0" bIns="0" rtlCol="0" anchor="ctr"/>
          <a:lstStyle/>
          <a:p>
            <a:pPr marL="0" indent="0" algn="ctr">
              <a:buNone/>
            </a:pPr>
            <a:r>
              <a:rPr lang="en-US" sz="1300" b="1" dirty="0">
                <a:solidFill>
                  <a:srgbClr val="FFFFFF"/>
                </a:solidFill>
                <a:latin typeface="Times New Roman" pitchFamily="34" charset="0"/>
                <a:ea typeface="Times New Roman" pitchFamily="34" charset="-122"/>
                <a:cs typeface="Times New Roman" pitchFamily="34" charset="-120"/>
              </a:rPr>
              <a:t>Rà soát và nộp bài</a:t>
            </a:r>
            <a:endParaRPr lang="en-US" sz="1300" dirty="0"/>
          </a:p>
        </p:txBody>
      </p:sp>
      <p:sp>
        <p:nvSpPr>
          <p:cNvPr id="12" name="Shape 10"/>
          <p:cNvSpPr/>
          <p:nvPr/>
        </p:nvSpPr>
        <p:spPr>
          <a:xfrm>
            <a:off x="502920" y="2423160"/>
            <a:ext cx="5455768" cy="548640"/>
          </a:xfrm>
          <a:prstGeom prst="rect">
            <a:avLst/>
          </a:prstGeom>
          <a:solidFill>
            <a:srgbClr val="FFFFFF"/>
          </a:solidFill>
          <a:ln w="25400">
            <a:solidFill>
              <a:srgbClr val="12253F"/>
            </a:solidFill>
            <a:prstDash val="solid"/>
          </a:ln>
        </p:spPr>
        <p:txBody>
          <a:bodyPr/>
          <a:lstStyle/>
          <a:p>
            <a:endParaRPr lang="en-US"/>
          </a:p>
        </p:txBody>
      </p:sp>
      <p:sp>
        <p:nvSpPr>
          <p:cNvPr id="13" name="Text 11"/>
          <p:cNvSpPr txBox="1"/>
          <p:nvPr/>
        </p:nvSpPr>
        <p:spPr>
          <a:xfrm>
            <a:off x="640080" y="24231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1. Chốt đề tài</a:t>
            </a:r>
            <a:endParaRPr lang="en-US" sz="1900" dirty="0"/>
          </a:p>
        </p:txBody>
      </p:sp>
      <p:sp>
        <p:nvSpPr>
          <p:cNvPr id="14" name="Shape 12"/>
          <p:cNvSpPr/>
          <p:nvPr/>
        </p:nvSpPr>
        <p:spPr>
          <a:xfrm>
            <a:off x="6233008" y="2423160"/>
            <a:ext cx="5455768" cy="548640"/>
          </a:xfrm>
          <a:prstGeom prst="rect">
            <a:avLst/>
          </a:prstGeom>
          <a:solidFill>
            <a:srgbClr val="FFFFFF"/>
          </a:solidFill>
          <a:ln w="25400">
            <a:solidFill>
              <a:srgbClr val="12253F"/>
            </a:solidFill>
            <a:prstDash val="solid"/>
          </a:ln>
        </p:spPr>
        <p:txBody>
          <a:bodyPr/>
          <a:lstStyle/>
          <a:p>
            <a:endParaRPr lang="en-US"/>
          </a:p>
        </p:txBody>
      </p:sp>
      <p:sp>
        <p:nvSpPr>
          <p:cNvPr id="15" name="Text 13"/>
          <p:cNvSpPr txBox="1"/>
          <p:nvPr/>
        </p:nvSpPr>
        <p:spPr>
          <a:xfrm>
            <a:off x="6370168" y="24231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2. Hoàn thiện research proposal</a:t>
            </a:r>
            <a:endParaRPr lang="en-US" sz="1900" dirty="0"/>
          </a:p>
        </p:txBody>
      </p:sp>
      <p:sp>
        <p:nvSpPr>
          <p:cNvPr id="16" name="Shape 14"/>
          <p:cNvSpPr/>
          <p:nvPr/>
        </p:nvSpPr>
        <p:spPr>
          <a:xfrm>
            <a:off x="502920" y="3108960"/>
            <a:ext cx="5455768" cy="548640"/>
          </a:xfrm>
          <a:prstGeom prst="rect">
            <a:avLst/>
          </a:prstGeom>
          <a:solidFill>
            <a:srgbClr val="FFFFFF"/>
          </a:solidFill>
          <a:ln w="25400">
            <a:solidFill>
              <a:srgbClr val="12253F"/>
            </a:solidFill>
            <a:prstDash val="solid"/>
          </a:ln>
        </p:spPr>
        <p:txBody>
          <a:bodyPr/>
          <a:lstStyle/>
          <a:p>
            <a:endParaRPr lang="en-US"/>
          </a:p>
        </p:txBody>
      </p:sp>
      <p:sp>
        <p:nvSpPr>
          <p:cNvPr id="17" name="Text 15"/>
          <p:cNvSpPr txBox="1"/>
          <p:nvPr/>
        </p:nvSpPr>
        <p:spPr>
          <a:xfrm>
            <a:off x="640080" y="31089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3. Hoàn thiện công cụ thu thập dữ liệu</a:t>
            </a:r>
            <a:endParaRPr lang="en-US" sz="1900" dirty="0"/>
          </a:p>
        </p:txBody>
      </p:sp>
      <p:sp>
        <p:nvSpPr>
          <p:cNvPr id="18" name="Shape 16"/>
          <p:cNvSpPr/>
          <p:nvPr/>
        </p:nvSpPr>
        <p:spPr>
          <a:xfrm>
            <a:off x="6233008" y="3108960"/>
            <a:ext cx="5455768" cy="548640"/>
          </a:xfrm>
          <a:prstGeom prst="rect">
            <a:avLst/>
          </a:prstGeom>
          <a:solidFill>
            <a:srgbClr val="FFFFFF"/>
          </a:solidFill>
          <a:ln w="25400">
            <a:solidFill>
              <a:srgbClr val="12253F"/>
            </a:solidFill>
            <a:prstDash val="solid"/>
          </a:ln>
        </p:spPr>
        <p:txBody>
          <a:bodyPr/>
          <a:lstStyle/>
          <a:p>
            <a:endParaRPr lang="en-US"/>
          </a:p>
        </p:txBody>
      </p:sp>
      <p:sp>
        <p:nvSpPr>
          <p:cNvPr id="19" name="Text 17"/>
          <p:cNvSpPr txBox="1"/>
          <p:nvPr/>
        </p:nvSpPr>
        <p:spPr>
          <a:xfrm>
            <a:off x="6370168" y="31089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4. Bắt đầu thu thập dữ liệu</a:t>
            </a:r>
            <a:endParaRPr lang="en-US" sz="1900" dirty="0"/>
          </a:p>
        </p:txBody>
      </p:sp>
      <p:sp>
        <p:nvSpPr>
          <p:cNvPr id="20" name="Shape 18"/>
          <p:cNvSpPr/>
          <p:nvPr/>
        </p:nvSpPr>
        <p:spPr>
          <a:xfrm>
            <a:off x="502920" y="3794760"/>
            <a:ext cx="5455768" cy="548640"/>
          </a:xfrm>
          <a:prstGeom prst="rect">
            <a:avLst/>
          </a:prstGeom>
          <a:solidFill>
            <a:srgbClr val="FFFFFF"/>
          </a:solidFill>
          <a:ln w="25400">
            <a:solidFill>
              <a:srgbClr val="12253F"/>
            </a:solidFill>
            <a:prstDash val="solid"/>
          </a:ln>
        </p:spPr>
        <p:txBody>
          <a:bodyPr/>
          <a:lstStyle/>
          <a:p>
            <a:endParaRPr lang="en-US"/>
          </a:p>
        </p:txBody>
      </p:sp>
      <p:sp>
        <p:nvSpPr>
          <p:cNvPr id="21" name="Text 19"/>
          <p:cNvSpPr txBox="1"/>
          <p:nvPr/>
        </p:nvSpPr>
        <p:spPr>
          <a:xfrm>
            <a:off x="640080" y="37947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5. Hoàn tất dữ liệu hợp lệ</a:t>
            </a:r>
            <a:endParaRPr lang="en-US" sz="1900" dirty="0"/>
          </a:p>
        </p:txBody>
      </p:sp>
      <p:sp>
        <p:nvSpPr>
          <p:cNvPr id="22" name="Shape 20"/>
          <p:cNvSpPr/>
          <p:nvPr/>
        </p:nvSpPr>
        <p:spPr>
          <a:xfrm>
            <a:off x="6233008" y="3794760"/>
            <a:ext cx="5455768" cy="548640"/>
          </a:xfrm>
          <a:prstGeom prst="rect">
            <a:avLst/>
          </a:prstGeom>
          <a:solidFill>
            <a:srgbClr val="FFFFFF"/>
          </a:solidFill>
          <a:ln w="25400">
            <a:solidFill>
              <a:srgbClr val="12253F"/>
            </a:solidFill>
            <a:prstDash val="solid"/>
          </a:ln>
        </p:spPr>
        <p:txBody>
          <a:bodyPr/>
          <a:lstStyle/>
          <a:p>
            <a:endParaRPr lang="en-US"/>
          </a:p>
        </p:txBody>
      </p:sp>
      <p:sp>
        <p:nvSpPr>
          <p:cNvPr id="23" name="Text 21"/>
          <p:cNvSpPr txBox="1"/>
          <p:nvPr/>
        </p:nvSpPr>
        <p:spPr>
          <a:xfrm>
            <a:off x="6370168" y="3794760"/>
            <a:ext cx="5181448" cy="548640"/>
          </a:xfrm>
          <a:prstGeom prst="rect">
            <a:avLst/>
          </a:prstGeom>
          <a:noFill/>
          <a:ln/>
        </p:spPr>
        <p:txBody>
          <a:bodyPr wrap="square" lIns="0" tIns="0" rIns="0" bIns="0" rtlCol="0" anchor="ctr"/>
          <a:lstStyle/>
          <a:p>
            <a:pPr marL="0" indent="0" algn="l">
              <a:buNone/>
            </a:pPr>
            <a:r>
              <a:rPr lang="en-US" sz="1900" b="1" dirty="0">
                <a:solidFill>
                  <a:srgbClr val="000000"/>
                </a:solidFill>
                <a:latin typeface="Times New Roman" pitchFamily="34" charset="0"/>
                <a:ea typeface="Times New Roman" pitchFamily="34" charset="-122"/>
                <a:cs typeface="Times New Roman" pitchFamily="34" charset="-120"/>
              </a:rPr>
              <a:t>6. Hoàn thiện bản thảo cuối</a:t>
            </a:r>
            <a:endParaRPr lang="en-US" sz="1900" dirty="0"/>
          </a:p>
        </p:txBody>
      </p:sp>
      <p:sp>
        <p:nvSpPr>
          <p:cNvPr id="24" name="Shape 22"/>
          <p:cNvSpPr/>
          <p:nvPr/>
        </p:nvSpPr>
        <p:spPr>
          <a:xfrm>
            <a:off x="502920" y="4663440"/>
            <a:ext cx="11185855" cy="1234440"/>
          </a:xfrm>
          <a:prstGeom prst="rect">
            <a:avLst/>
          </a:prstGeom>
          <a:solidFill>
            <a:srgbClr val="F0F2F5"/>
          </a:solidFill>
          <a:ln w="9525">
            <a:solidFill>
              <a:srgbClr val="12253F"/>
            </a:solidFill>
            <a:prstDash val="solid"/>
          </a:ln>
        </p:spPr>
        <p:txBody>
          <a:bodyPr/>
          <a:lstStyle/>
          <a:p>
            <a:endParaRPr lang="en-US"/>
          </a:p>
        </p:txBody>
      </p:sp>
      <p:sp>
        <p:nvSpPr>
          <p:cNvPr id="25" name="Text 23"/>
          <p:cNvSpPr txBox="1"/>
          <p:nvPr/>
        </p:nvSpPr>
        <p:spPr>
          <a:xfrm>
            <a:off x="758952" y="4754880"/>
            <a:ext cx="10728655" cy="1051560"/>
          </a:xfrm>
          <a:prstGeom prst="rect">
            <a:avLst/>
          </a:prstGeom>
          <a:noFill/>
          <a:ln/>
        </p:spPr>
        <p:txBody>
          <a:bodyPr wrap="square" lIns="0" tIns="0" rIns="0" bIns="0" rtlCol="0" anchor="ctr"/>
          <a:lstStyle/>
          <a:p>
            <a:pPr marL="0" indent="0">
              <a:buNone/>
            </a:pPr>
            <a:r>
              <a:rPr lang="en-US" sz="1400" b="1" dirty="0">
                <a:solidFill>
                  <a:srgbClr val="000000"/>
                </a:solidFill>
                <a:latin typeface="Times New Roman" pitchFamily="34" charset="0"/>
                <a:ea typeface="Times New Roman" pitchFamily="34" charset="-122"/>
                <a:cs typeface="Times New Roman" pitchFamily="34" charset="-120"/>
              </a:rPr>
              <a:t>Nếu một trong sáu mốc này bị trễ, hệ quả là toàn bộ các bước phía sau trên critical path cũng bị đẩy lùi theo. Ngay khi nhận ra khả năng bị trễ, sinh viên báo cho giảng viên hướng dẫn sớm nhất có thể để cùng điều chỉnh kế hoạch những tuần còn lại, không tự ý im lặng hoặc dồn việc vào tuần cuối.</a:t>
            </a:r>
            <a:endParaRPr lang="en-US" sz="1400" dirty="0"/>
          </a:p>
        </p:txBody>
      </p:sp>
      <p:sp>
        <p:nvSpPr>
          <p:cNvPr id="26" name="Shape 2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7" name="Text 2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XIII</a:t>
            </a:r>
            <a:endParaRPr lang="en-US" sz="1000" dirty="0"/>
          </a:p>
        </p:txBody>
      </p:sp>
      <p:sp>
        <p:nvSpPr>
          <p:cNvPr id="28" name="Text 2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Sáu mốc cần ưu tiên tiến độ</a:t>
            </a:r>
            <a:endParaRPr lang="en-US" sz="100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02920" y="777240"/>
            <a:ext cx="82296" cy="5257800"/>
          </a:xfrm>
          <a:prstGeom prst="rect">
            <a:avLst/>
          </a:prstGeom>
          <a:solidFill>
            <a:srgbClr val="1F5C82"/>
          </a:solidFill>
          <a:ln/>
        </p:spPr>
        <p:txBody>
          <a:bodyPr/>
          <a:lstStyle/>
          <a:p>
            <a:endParaRPr lang="en-US"/>
          </a:p>
        </p:txBody>
      </p:sp>
      <p:sp>
        <p:nvSpPr>
          <p:cNvPr id="3" name="Text 1"/>
          <p:cNvSpPr txBox="1"/>
          <p:nvPr/>
        </p:nvSpPr>
        <p:spPr>
          <a:xfrm>
            <a:off x="822960" y="777240"/>
            <a:ext cx="2743200" cy="1737360"/>
          </a:xfrm>
          <a:prstGeom prst="rect">
            <a:avLst/>
          </a:prstGeom>
          <a:noFill/>
          <a:ln/>
        </p:spPr>
        <p:txBody>
          <a:bodyPr wrap="square" lIns="0" tIns="0" rIns="0" bIns="0" rtlCol="0" anchor="ctr"/>
          <a:lstStyle/>
          <a:p>
            <a:pPr marL="0" indent="0">
              <a:buNone/>
            </a:pPr>
            <a:r>
              <a:rPr lang="en-US" sz="10800" b="1" dirty="0">
                <a:solidFill>
                  <a:srgbClr val="000000"/>
                </a:solidFill>
                <a:latin typeface="Times New Roman" pitchFamily="34" charset="0"/>
                <a:ea typeface="Times New Roman" pitchFamily="34" charset="-122"/>
                <a:cs typeface="Times New Roman" pitchFamily="34" charset="-120"/>
              </a:rPr>
              <a:t>XIV</a:t>
            </a:r>
            <a:endParaRPr lang="en-US" sz="10800" dirty="0"/>
          </a:p>
        </p:txBody>
      </p:sp>
      <p:sp>
        <p:nvSpPr>
          <p:cNvPr id="4" name="Shape 2"/>
          <p:cNvSpPr/>
          <p:nvPr/>
        </p:nvSpPr>
        <p:spPr>
          <a:xfrm>
            <a:off x="3726180" y="1120140"/>
            <a:ext cx="868680" cy="868680"/>
          </a:xfrm>
          <a:prstGeom prst="ellipse">
            <a:avLst/>
          </a:prstGeom>
          <a:solidFill>
            <a:srgbClr val="12253F"/>
          </a:solidFill>
          <a:ln/>
        </p:spPr>
        <p:txBody>
          <a:bodyPr/>
          <a:lstStyle/>
          <a:p>
            <a:endParaRPr lang="en-US"/>
          </a:p>
        </p:txBody>
      </p:sp>
      <p:sp>
        <p:nvSpPr>
          <p:cNvPr id="5" name="Shape 3"/>
          <p:cNvSpPr/>
          <p:nvPr/>
        </p:nvSpPr>
        <p:spPr>
          <a:xfrm>
            <a:off x="4009717" y="1285189"/>
            <a:ext cx="0" cy="538582"/>
          </a:xfrm>
          <a:prstGeom prst="line">
            <a:avLst/>
          </a:prstGeom>
          <a:noFill/>
          <a:ln w="25400">
            <a:solidFill>
              <a:srgbClr val="FFFFFF"/>
            </a:solidFill>
            <a:prstDash val="solid"/>
          </a:ln>
        </p:spPr>
        <p:txBody>
          <a:bodyPr/>
          <a:lstStyle/>
          <a:p>
            <a:endParaRPr lang="en-US"/>
          </a:p>
        </p:txBody>
      </p:sp>
      <p:sp>
        <p:nvSpPr>
          <p:cNvPr id="6" name="Shape 4"/>
          <p:cNvSpPr/>
          <p:nvPr/>
        </p:nvSpPr>
        <p:spPr>
          <a:xfrm>
            <a:off x="4009717" y="1285189"/>
            <a:ext cx="296220" cy="193889"/>
          </a:xfrm>
          <a:prstGeom prst="rect">
            <a:avLst/>
          </a:prstGeom>
          <a:solidFill>
            <a:srgbClr val="FFFFFF"/>
          </a:solidFill>
          <a:ln/>
        </p:spPr>
        <p:txBody>
          <a:bodyPr/>
          <a:lstStyle/>
          <a:p>
            <a:endParaRPr lang="en-US"/>
          </a:p>
        </p:txBody>
      </p:sp>
      <p:sp>
        <p:nvSpPr>
          <p:cNvPr id="7" name="Text 5"/>
          <p:cNvSpPr txBox="1"/>
          <p:nvPr/>
        </p:nvSpPr>
        <p:spPr>
          <a:xfrm>
            <a:off x="822960" y="2514600"/>
            <a:ext cx="10287000" cy="1051560"/>
          </a:xfrm>
          <a:prstGeom prst="rect">
            <a:avLst/>
          </a:prstGeom>
          <a:noFill/>
          <a:ln/>
        </p:spPr>
        <p:txBody>
          <a:bodyPr wrap="square" lIns="0" tIns="0" rIns="0" bIns="0" rtlCol="0" anchor="t"/>
          <a:lstStyle/>
          <a:p>
            <a:pPr marL="0" indent="0">
              <a:buNone/>
            </a:pPr>
            <a:r>
              <a:rPr lang="en-US" sz="3200" b="1" dirty="0">
                <a:solidFill>
                  <a:srgbClr val="000000"/>
                </a:solidFill>
                <a:latin typeface="Times New Roman" pitchFamily="34" charset="0"/>
                <a:ea typeface="Times New Roman" pitchFamily="34" charset="-122"/>
                <a:cs typeface="Times New Roman" pitchFamily="34" charset="-120"/>
              </a:rPr>
              <a:t>Phạm vi của Core Slide 1 và bước tiếp theo</a:t>
            </a:r>
            <a:endParaRPr lang="en-US" sz="3200" dirty="0"/>
          </a:p>
        </p:txBody>
      </p:sp>
      <p:sp>
        <p:nvSpPr>
          <p:cNvPr id="8" name="Text 6"/>
          <p:cNvSpPr txBox="1"/>
          <p:nvPr/>
        </p:nvSpPr>
        <p:spPr>
          <a:xfrm>
            <a:off x="822960" y="3611880"/>
            <a:ext cx="9921240" cy="960120"/>
          </a:xfrm>
          <a:prstGeom prst="rect">
            <a:avLst/>
          </a:prstGeom>
          <a:noFill/>
          <a:ln/>
        </p:spPr>
        <p:txBody>
          <a:bodyPr wrap="square" lIns="0" tIns="0" rIns="0" bIns="0" rtlCol="0" anchor="t"/>
          <a:lstStyle/>
          <a:p>
            <a:pPr marL="0" indent="0">
              <a:buNone/>
            </a:pPr>
            <a:r>
              <a:rPr lang="en-US" sz="2000" dirty="0">
                <a:solidFill>
                  <a:srgbClr val="1A1A1A"/>
                </a:solidFill>
                <a:latin typeface="Times New Roman" pitchFamily="34" charset="0"/>
                <a:ea typeface="Times New Roman" pitchFamily="34" charset="-122"/>
                <a:cs typeface="Times New Roman" pitchFamily="34" charset="-120"/>
              </a:rPr>
              <a:t>Core Slide 1 cho bức tranh toàn cảnh. Những kỹ năng thực hành chi tiết được để dành cho Core Slide 2 và các tài liệu Word chuyên sâu.</a:t>
            </a:r>
            <a:endParaRPr lang="en-US" sz="2000" dirty="0"/>
          </a:p>
        </p:txBody>
      </p:sp>
      <p:sp>
        <p:nvSpPr>
          <p:cNvPr id="9" name="Shape 7"/>
          <p:cNvSpPr/>
          <p:nvPr/>
        </p:nvSpPr>
        <p:spPr>
          <a:xfrm>
            <a:off x="822960" y="4800600"/>
            <a:ext cx="100584" cy="100584"/>
          </a:xfrm>
          <a:prstGeom prst="ellipse">
            <a:avLst/>
          </a:prstGeom>
          <a:solidFill>
            <a:srgbClr val="1F5C82"/>
          </a:solidFill>
          <a:ln/>
        </p:spPr>
        <p:txBody>
          <a:bodyPr/>
          <a:lstStyle/>
          <a:p>
            <a:endParaRPr lang="en-US"/>
          </a:p>
        </p:txBody>
      </p:sp>
      <p:sp>
        <p:nvSpPr>
          <p:cNvPr id="10" name="Text 8"/>
          <p:cNvSpPr txBox="1"/>
          <p:nvPr/>
        </p:nvSpPr>
        <p:spPr>
          <a:xfrm>
            <a:off x="1069848" y="4709160"/>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Core Slide 1 dừng lại ở đâu</a:t>
            </a:r>
            <a:endParaRPr lang="en-US" sz="2000" dirty="0"/>
          </a:p>
        </p:txBody>
      </p:sp>
      <p:sp>
        <p:nvSpPr>
          <p:cNvPr id="11" name="Shape 9"/>
          <p:cNvSpPr/>
          <p:nvPr/>
        </p:nvSpPr>
        <p:spPr>
          <a:xfrm>
            <a:off x="822960" y="5202936"/>
            <a:ext cx="100584" cy="100584"/>
          </a:xfrm>
          <a:prstGeom prst="ellipse">
            <a:avLst/>
          </a:prstGeom>
          <a:solidFill>
            <a:srgbClr val="1F5C82"/>
          </a:solidFill>
          <a:ln/>
        </p:spPr>
        <p:txBody>
          <a:bodyPr/>
          <a:lstStyle/>
          <a:p>
            <a:endParaRPr lang="en-US"/>
          </a:p>
        </p:txBody>
      </p:sp>
      <p:sp>
        <p:nvSpPr>
          <p:cNvPr id="12" name="Text 10"/>
          <p:cNvSpPr txBox="1"/>
          <p:nvPr/>
        </p:nvSpPr>
        <p:spPr>
          <a:xfrm>
            <a:off x="1069848" y="5111496"/>
            <a:ext cx="9692640" cy="384048"/>
          </a:xfrm>
          <a:prstGeom prst="rect">
            <a:avLst/>
          </a:prstGeom>
          <a:noFill/>
          <a:ln/>
        </p:spPr>
        <p:txBody>
          <a:bodyPr wrap="square" lIns="0" tIns="0" rIns="0" bIns="0" rtlCol="0" anchor="ctr"/>
          <a:lstStyle/>
          <a:p>
            <a:pPr marL="0" indent="0">
              <a:buNone/>
            </a:pPr>
            <a:r>
              <a:rPr lang="en-US" sz="2000" b="1" dirty="0">
                <a:solidFill>
                  <a:srgbClr val="000000"/>
                </a:solidFill>
                <a:latin typeface="Times New Roman" pitchFamily="34" charset="0"/>
                <a:ea typeface="Times New Roman" pitchFamily="34" charset="-122"/>
                <a:cs typeface="Times New Roman" pitchFamily="34" charset="-120"/>
              </a:rPr>
              <a:t>Những kỹ năng nào sẽ học ở tài liệu tiếp theo</a:t>
            </a:r>
            <a:endParaRPr lang="en-US" sz="200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Mười nội dung chuyên sâu chưa học ở Core Slide 1</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280160"/>
            <a:ext cx="3576218" cy="777240"/>
          </a:xfrm>
          <a:prstGeom prst="rect">
            <a:avLst/>
          </a:prstGeom>
          <a:solidFill>
            <a:srgbClr val="FFFFFF"/>
          </a:solidFill>
          <a:ln w="12700">
            <a:solidFill>
              <a:srgbClr val="12253F"/>
            </a:solidFill>
            <a:prstDash val="solid"/>
          </a:ln>
        </p:spPr>
        <p:txBody>
          <a:bodyPr/>
          <a:lstStyle/>
          <a:p>
            <a:endParaRPr lang="en-US"/>
          </a:p>
        </p:txBody>
      </p:sp>
      <p:sp>
        <p:nvSpPr>
          <p:cNvPr id="5" name="Text 3"/>
          <p:cNvSpPr txBox="1"/>
          <p:nvPr/>
        </p:nvSpPr>
        <p:spPr>
          <a:xfrm>
            <a:off x="640080" y="128016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Công thức thống kê</a:t>
            </a:r>
            <a:endParaRPr lang="en-US" sz="1450" dirty="0"/>
          </a:p>
        </p:txBody>
      </p:sp>
      <p:sp>
        <p:nvSpPr>
          <p:cNvPr id="6" name="Shape 4"/>
          <p:cNvSpPr/>
          <p:nvPr/>
        </p:nvSpPr>
        <p:spPr>
          <a:xfrm>
            <a:off x="4307738" y="1280160"/>
            <a:ext cx="3576218" cy="777240"/>
          </a:xfrm>
          <a:prstGeom prst="rect">
            <a:avLst/>
          </a:prstGeom>
          <a:solidFill>
            <a:srgbClr val="FFFFFF"/>
          </a:solidFill>
          <a:ln w="12700">
            <a:solidFill>
              <a:srgbClr val="12253F"/>
            </a:solidFill>
            <a:prstDash val="solid"/>
          </a:ln>
        </p:spPr>
        <p:txBody>
          <a:bodyPr/>
          <a:lstStyle/>
          <a:p>
            <a:endParaRPr lang="en-US"/>
          </a:p>
        </p:txBody>
      </p:sp>
      <p:sp>
        <p:nvSpPr>
          <p:cNvPr id="7" name="Text 5"/>
          <p:cNvSpPr txBox="1"/>
          <p:nvPr/>
        </p:nvSpPr>
        <p:spPr>
          <a:xfrm>
            <a:off x="4444898" y="128016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Thao tác phần mềm xử lý số liệu</a:t>
            </a:r>
            <a:endParaRPr lang="en-US" sz="1450" dirty="0"/>
          </a:p>
        </p:txBody>
      </p:sp>
      <p:sp>
        <p:nvSpPr>
          <p:cNvPr id="8" name="Shape 6"/>
          <p:cNvSpPr/>
          <p:nvPr/>
        </p:nvSpPr>
        <p:spPr>
          <a:xfrm>
            <a:off x="8112557" y="1280160"/>
            <a:ext cx="3576218" cy="77724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8249717" y="128016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Hồi quy</a:t>
            </a:r>
            <a:endParaRPr lang="en-US" sz="1450" dirty="0"/>
          </a:p>
        </p:txBody>
      </p:sp>
      <p:sp>
        <p:nvSpPr>
          <p:cNvPr id="10" name="Shape 8"/>
          <p:cNvSpPr/>
          <p:nvPr/>
        </p:nvSpPr>
        <p:spPr>
          <a:xfrm>
            <a:off x="502920" y="2148840"/>
            <a:ext cx="3576218" cy="77724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640080" y="214884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Kiểm định độ tin cậy thang đo</a:t>
            </a:r>
            <a:endParaRPr lang="en-US" sz="1450" dirty="0"/>
          </a:p>
        </p:txBody>
      </p:sp>
      <p:sp>
        <p:nvSpPr>
          <p:cNvPr id="12" name="Shape 10"/>
          <p:cNvSpPr/>
          <p:nvPr/>
        </p:nvSpPr>
        <p:spPr>
          <a:xfrm>
            <a:off x="4307738" y="2148840"/>
            <a:ext cx="3576218" cy="777240"/>
          </a:xfrm>
          <a:prstGeom prst="rect">
            <a:avLst/>
          </a:prstGeom>
          <a:solidFill>
            <a:srgbClr val="FFFFFF"/>
          </a:solidFill>
          <a:ln w="12700">
            <a:solidFill>
              <a:srgbClr val="12253F"/>
            </a:solidFill>
            <a:prstDash val="solid"/>
          </a:ln>
        </p:spPr>
        <p:txBody>
          <a:bodyPr/>
          <a:lstStyle/>
          <a:p>
            <a:endParaRPr lang="en-US"/>
          </a:p>
        </p:txBody>
      </p:sp>
      <p:sp>
        <p:nvSpPr>
          <p:cNvPr id="13" name="Text 11"/>
          <p:cNvSpPr txBox="1"/>
          <p:nvPr/>
        </p:nvSpPr>
        <p:spPr>
          <a:xfrm>
            <a:off x="4444898" y="214884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Thiết kế bảng hỏi chi tiết</a:t>
            </a:r>
            <a:endParaRPr lang="en-US" sz="1450" dirty="0"/>
          </a:p>
        </p:txBody>
      </p:sp>
      <p:sp>
        <p:nvSpPr>
          <p:cNvPr id="14" name="Shape 12"/>
          <p:cNvSpPr/>
          <p:nvPr/>
        </p:nvSpPr>
        <p:spPr>
          <a:xfrm>
            <a:off x="8112557" y="2148840"/>
            <a:ext cx="3576218" cy="777240"/>
          </a:xfrm>
          <a:prstGeom prst="rect">
            <a:avLst/>
          </a:prstGeom>
          <a:solidFill>
            <a:srgbClr val="FFFFFF"/>
          </a:solidFill>
          <a:ln w="12700">
            <a:solidFill>
              <a:srgbClr val="12253F"/>
            </a:solidFill>
            <a:prstDash val="solid"/>
          </a:ln>
        </p:spPr>
        <p:txBody>
          <a:bodyPr/>
          <a:lstStyle/>
          <a:p>
            <a:endParaRPr lang="en-US"/>
          </a:p>
        </p:txBody>
      </p:sp>
      <p:sp>
        <p:nvSpPr>
          <p:cNvPr id="15" name="Text 13"/>
          <p:cNvSpPr txBox="1"/>
          <p:nvPr/>
        </p:nvSpPr>
        <p:spPr>
          <a:xfrm>
            <a:off x="8249717" y="214884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Cách đọc bài báo khoa học</a:t>
            </a:r>
            <a:endParaRPr lang="en-US" sz="1450" dirty="0"/>
          </a:p>
        </p:txBody>
      </p:sp>
      <p:sp>
        <p:nvSpPr>
          <p:cNvPr id="16" name="Shape 14"/>
          <p:cNvSpPr/>
          <p:nvPr/>
        </p:nvSpPr>
        <p:spPr>
          <a:xfrm>
            <a:off x="502920" y="3017520"/>
            <a:ext cx="3576218" cy="777240"/>
          </a:xfrm>
          <a:prstGeom prst="rect">
            <a:avLst/>
          </a:prstGeom>
          <a:solidFill>
            <a:srgbClr val="FFFFFF"/>
          </a:solidFill>
          <a:ln w="12700">
            <a:solidFill>
              <a:srgbClr val="12253F"/>
            </a:solidFill>
            <a:prstDash val="solid"/>
          </a:ln>
        </p:spPr>
        <p:txBody>
          <a:bodyPr/>
          <a:lstStyle/>
          <a:p>
            <a:endParaRPr lang="en-US"/>
          </a:p>
        </p:txBody>
      </p:sp>
      <p:sp>
        <p:nvSpPr>
          <p:cNvPr id="17" name="Text 15"/>
          <p:cNvSpPr txBox="1"/>
          <p:nvPr/>
        </p:nvSpPr>
        <p:spPr>
          <a:xfrm>
            <a:off x="640080" y="301752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Bảng tra cứu APA đầy đủ theo từng loại tài liệu</a:t>
            </a:r>
            <a:endParaRPr lang="en-US" sz="1450" dirty="0"/>
          </a:p>
        </p:txBody>
      </p:sp>
      <p:sp>
        <p:nvSpPr>
          <p:cNvPr id="18" name="Shape 16"/>
          <p:cNvSpPr/>
          <p:nvPr/>
        </p:nvSpPr>
        <p:spPr>
          <a:xfrm>
            <a:off x="4307738" y="3017520"/>
            <a:ext cx="3576218" cy="777240"/>
          </a:xfrm>
          <a:prstGeom prst="rect">
            <a:avLst/>
          </a:prstGeom>
          <a:solidFill>
            <a:srgbClr val="FFFFFF"/>
          </a:solidFill>
          <a:ln w="12700">
            <a:solidFill>
              <a:srgbClr val="12253F"/>
            </a:solidFill>
            <a:prstDash val="solid"/>
          </a:ln>
        </p:spPr>
        <p:txBody>
          <a:bodyPr/>
          <a:lstStyle/>
          <a:p>
            <a:endParaRPr lang="en-US"/>
          </a:p>
        </p:txBody>
      </p:sp>
      <p:sp>
        <p:nvSpPr>
          <p:cNvPr id="19" name="Text 17"/>
          <p:cNvSpPr txBox="1"/>
          <p:nvPr/>
        </p:nvSpPr>
        <p:spPr>
          <a:xfrm>
            <a:off x="4444898" y="301752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Quy định trình bày chi tiết bảng, hình và công thức</a:t>
            </a:r>
            <a:endParaRPr lang="en-US" sz="1450" dirty="0"/>
          </a:p>
        </p:txBody>
      </p:sp>
      <p:sp>
        <p:nvSpPr>
          <p:cNvPr id="20" name="Shape 18"/>
          <p:cNvSpPr/>
          <p:nvPr/>
        </p:nvSpPr>
        <p:spPr>
          <a:xfrm>
            <a:off x="8112557" y="3017520"/>
            <a:ext cx="3576218" cy="777240"/>
          </a:xfrm>
          <a:prstGeom prst="rect">
            <a:avLst/>
          </a:prstGeom>
          <a:solidFill>
            <a:srgbClr val="FFFFFF"/>
          </a:solidFill>
          <a:ln w="12700">
            <a:solidFill>
              <a:srgbClr val="12253F"/>
            </a:solidFill>
            <a:prstDash val="solid"/>
          </a:ln>
        </p:spPr>
        <p:txBody>
          <a:bodyPr/>
          <a:lstStyle/>
          <a:p>
            <a:endParaRPr lang="en-US"/>
          </a:p>
        </p:txBody>
      </p:sp>
      <p:sp>
        <p:nvSpPr>
          <p:cNvPr id="21" name="Text 19"/>
          <p:cNvSpPr txBox="1"/>
          <p:nvPr/>
        </p:nvSpPr>
        <p:spPr>
          <a:xfrm>
            <a:off x="8249717" y="301752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Mười tiêu chí chấm điểm chi tiết theo từng nội dung</a:t>
            </a:r>
            <a:endParaRPr lang="en-US" sz="1450" dirty="0"/>
          </a:p>
        </p:txBody>
      </p:sp>
      <p:sp>
        <p:nvSpPr>
          <p:cNvPr id="22" name="Shape 20"/>
          <p:cNvSpPr/>
          <p:nvPr/>
        </p:nvSpPr>
        <p:spPr>
          <a:xfrm>
            <a:off x="502920" y="3886200"/>
            <a:ext cx="3576218" cy="777240"/>
          </a:xfrm>
          <a:prstGeom prst="rect">
            <a:avLst/>
          </a:prstGeom>
          <a:solidFill>
            <a:srgbClr val="FFFFFF"/>
          </a:solidFill>
          <a:ln w="12700">
            <a:solidFill>
              <a:srgbClr val="12253F"/>
            </a:solidFill>
            <a:prstDash val="solid"/>
          </a:ln>
        </p:spPr>
        <p:txBody>
          <a:bodyPr/>
          <a:lstStyle/>
          <a:p>
            <a:endParaRPr lang="en-US"/>
          </a:p>
        </p:txBody>
      </p:sp>
      <p:sp>
        <p:nvSpPr>
          <p:cNvPr id="23" name="Text 21"/>
          <p:cNvSpPr txBox="1"/>
          <p:nvPr/>
        </p:nvSpPr>
        <p:spPr>
          <a:xfrm>
            <a:off x="640080" y="3886200"/>
            <a:ext cx="3301898" cy="777240"/>
          </a:xfrm>
          <a:prstGeom prst="rect">
            <a:avLst/>
          </a:prstGeom>
          <a:noFill/>
          <a:ln/>
        </p:spPr>
        <p:txBody>
          <a:bodyPr wrap="square" lIns="0" tIns="0" rIns="0" bIns="0" rtlCol="0" anchor="ctr"/>
          <a:lstStyle/>
          <a:p>
            <a:pPr marL="0" indent="0" algn="l">
              <a:buNone/>
            </a:pPr>
            <a:r>
              <a:rPr lang="en-US" sz="1450" dirty="0">
                <a:solidFill>
                  <a:srgbClr val="000000"/>
                </a:solidFill>
                <a:latin typeface="Times New Roman" pitchFamily="34" charset="0"/>
                <a:ea typeface="Times New Roman" pitchFamily="34" charset="-122"/>
                <a:cs typeface="Times New Roman" pitchFamily="34" charset="-120"/>
              </a:rPr>
              <a:t>Kế hoạch chi tiết từng tuần trong 8 tuần</a:t>
            </a:r>
            <a:endParaRPr lang="en-US" sz="1450" dirty="0"/>
          </a:p>
        </p:txBody>
      </p:sp>
      <p:sp>
        <p:nvSpPr>
          <p:cNvPr id="24" name="Shape 2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25" name="Text 2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XIV</a:t>
            </a:r>
            <a:endParaRPr lang="en-US" sz="1000" dirty="0"/>
          </a:p>
        </p:txBody>
      </p:sp>
      <p:sp>
        <p:nvSpPr>
          <p:cNvPr id="26" name="Text 2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Ranh giới phạm vi, nhóm kỹ thuật</a:t>
            </a:r>
            <a:endParaRPr lang="en-US" sz="100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Năm kỹ năng thực hành sẽ học ở Core Slide 2</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71600"/>
            <a:ext cx="3576218" cy="731520"/>
          </a:xfrm>
          <a:prstGeom prst="rect">
            <a:avLst/>
          </a:prstGeom>
          <a:solidFill>
            <a:srgbClr val="FFFFFF"/>
          </a:solidFill>
          <a:ln w="12700">
            <a:solidFill>
              <a:srgbClr val="12253F"/>
            </a:solidFill>
            <a:prstDash val="solid"/>
          </a:ln>
        </p:spPr>
        <p:txBody>
          <a:bodyPr/>
          <a:lstStyle/>
          <a:p>
            <a:endParaRPr lang="en-US"/>
          </a:p>
        </p:txBody>
      </p:sp>
      <p:sp>
        <p:nvSpPr>
          <p:cNvPr id="5" name="Text 3"/>
          <p:cNvSpPr txBox="1"/>
          <p:nvPr/>
        </p:nvSpPr>
        <p:spPr>
          <a:xfrm>
            <a:off x="640080" y="1371600"/>
            <a:ext cx="3301898" cy="73152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Cách viết từng đoạn văn học thuật</a:t>
            </a:r>
            <a:endParaRPr lang="en-US" sz="1850" dirty="0"/>
          </a:p>
        </p:txBody>
      </p:sp>
      <p:sp>
        <p:nvSpPr>
          <p:cNvPr id="6" name="Shape 4"/>
          <p:cNvSpPr/>
          <p:nvPr/>
        </p:nvSpPr>
        <p:spPr>
          <a:xfrm>
            <a:off x="4307738" y="1371600"/>
            <a:ext cx="3576218" cy="731520"/>
          </a:xfrm>
          <a:prstGeom prst="rect">
            <a:avLst/>
          </a:prstGeom>
          <a:solidFill>
            <a:srgbClr val="FFFFFF"/>
          </a:solidFill>
          <a:ln w="12700">
            <a:solidFill>
              <a:srgbClr val="12253F"/>
            </a:solidFill>
            <a:prstDash val="solid"/>
          </a:ln>
        </p:spPr>
        <p:txBody>
          <a:bodyPr/>
          <a:lstStyle/>
          <a:p>
            <a:endParaRPr lang="en-US"/>
          </a:p>
        </p:txBody>
      </p:sp>
      <p:sp>
        <p:nvSpPr>
          <p:cNvPr id="7" name="Text 5"/>
          <p:cNvSpPr txBox="1"/>
          <p:nvPr/>
        </p:nvSpPr>
        <p:spPr>
          <a:xfrm>
            <a:off x="4444898" y="1371600"/>
            <a:ext cx="3301898" cy="73152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Cách làm sạch dữ liệu</a:t>
            </a:r>
            <a:endParaRPr lang="en-US" sz="1850" dirty="0"/>
          </a:p>
        </p:txBody>
      </p:sp>
      <p:sp>
        <p:nvSpPr>
          <p:cNvPr id="8" name="Shape 6"/>
          <p:cNvSpPr/>
          <p:nvPr/>
        </p:nvSpPr>
        <p:spPr>
          <a:xfrm>
            <a:off x="8112557" y="1371600"/>
            <a:ext cx="3576218" cy="731520"/>
          </a:xfrm>
          <a:prstGeom prst="rect">
            <a:avLst/>
          </a:prstGeom>
          <a:solidFill>
            <a:srgbClr val="FFFFFF"/>
          </a:solidFill>
          <a:ln w="12700">
            <a:solidFill>
              <a:srgbClr val="12253F"/>
            </a:solidFill>
            <a:prstDash val="solid"/>
          </a:ln>
        </p:spPr>
        <p:txBody>
          <a:bodyPr/>
          <a:lstStyle/>
          <a:p>
            <a:endParaRPr lang="en-US"/>
          </a:p>
        </p:txBody>
      </p:sp>
      <p:sp>
        <p:nvSpPr>
          <p:cNvPr id="9" name="Text 7"/>
          <p:cNvSpPr txBox="1"/>
          <p:nvPr/>
        </p:nvSpPr>
        <p:spPr>
          <a:xfrm>
            <a:off x="8249717" y="1371600"/>
            <a:ext cx="3301898" cy="73152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Cách diễn giải bảng kết quả</a:t>
            </a:r>
            <a:endParaRPr lang="en-US" sz="1850" dirty="0"/>
          </a:p>
        </p:txBody>
      </p:sp>
      <p:sp>
        <p:nvSpPr>
          <p:cNvPr id="10" name="Shape 8"/>
          <p:cNvSpPr/>
          <p:nvPr/>
        </p:nvSpPr>
        <p:spPr>
          <a:xfrm>
            <a:off x="502920" y="2240280"/>
            <a:ext cx="3576218" cy="731520"/>
          </a:xfrm>
          <a:prstGeom prst="rect">
            <a:avLst/>
          </a:prstGeom>
          <a:solidFill>
            <a:srgbClr val="FFFFFF"/>
          </a:solidFill>
          <a:ln w="12700">
            <a:solidFill>
              <a:srgbClr val="12253F"/>
            </a:solidFill>
            <a:prstDash val="solid"/>
          </a:ln>
        </p:spPr>
        <p:txBody>
          <a:bodyPr/>
          <a:lstStyle/>
          <a:p>
            <a:endParaRPr lang="en-US"/>
          </a:p>
        </p:txBody>
      </p:sp>
      <p:sp>
        <p:nvSpPr>
          <p:cNvPr id="11" name="Text 9"/>
          <p:cNvSpPr txBox="1"/>
          <p:nvPr/>
        </p:nvSpPr>
        <p:spPr>
          <a:xfrm>
            <a:off x="640080" y="2240280"/>
            <a:ext cx="3301898" cy="73152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Kỹ năng tìm kiếm tài liệu</a:t>
            </a:r>
            <a:endParaRPr lang="en-US" sz="1850" dirty="0"/>
          </a:p>
        </p:txBody>
      </p:sp>
      <p:sp>
        <p:nvSpPr>
          <p:cNvPr id="12" name="Shape 10"/>
          <p:cNvSpPr/>
          <p:nvPr/>
        </p:nvSpPr>
        <p:spPr>
          <a:xfrm>
            <a:off x="4307738" y="2240280"/>
            <a:ext cx="3576218" cy="731520"/>
          </a:xfrm>
          <a:prstGeom prst="rect">
            <a:avLst/>
          </a:prstGeom>
          <a:solidFill>
            <a:srgbClr val="FFFFFF"/>
          </a:solidFill>
          <a:ln w="12700">
            <a:solidFill>
              <a:srgbClr val="12253F"/>
            </a:solidFill>
            <a:prstDash val="solid"/>
          </a:ln>
        </p:spPr>
        <p:txBody>
          <a:bodyPr/>
          <a:lstStyle/>
          <a:p>
            <a:endParaRPr lang="en-US"/>
          </a:p>
        </p:txBody>
      </p:sp>
      <p:sp>
        <p:nvSpPr>
          <p:cNvPr id="13" name="Text 11"/>
          <p:cNvSpPr txBox="1"/>
          <p:nvPr/>
        </p:nvSpPr>
        <p:spPr>
          <a:xfrm>
            <a:off x="4444898" y="2240280"/>
            <a:ext cx="3301898" cy="731520"/>
          </a:xfrm>
          <a:prstGeom prst="rect">
            <a:avLst/>
          </a:prstGeom>
          <a:noFill/>
          <a:ln/>
        </p:spPr>
        <p:txBody>
          <a:bodyPr wrap="square" lIns="0" tIns="0" rIns="0" bIns="0" rtlCol="0" anchor="ctr"/>
          <a:lstStyle/>
          <a:p>
            <a:pPr marL="0" indent="0" algn="l">
              <a:buNone/>
            </a:pPr>
            <a:r>
              <a:rPr lang="en-US" sz="1850" dirty="0">
                <a:solidFill>
                  <a:srgbClr val="000000"/>
                </a:solidFill>
                <a:latin typeface="Times New Roman" pitchFamily="34" charset="0"/>
                <a:ea typeface="Times New Roman" pitchFamily="34" charset="-122"/>
                <a:cs typeface="Times New Roman" pitchFamily="34" charset="-120"/>
              </a:rPr>
              <a:t>Kỹ năng trình bày và bảo vệ</a:t>
            </a:r>
            <a:endParaRPr lang="en-US" sz="1850" dirty="0"/>
          </a:p>
        </p:txBody>
      </p:sp>
      <p:sp>
        <p:nvSpPr>
          <p:cNvPr id="14" name="Shape 12"/>
          <p:cNvSpPr/>
          <p:nvPr/>
        </p:nvSpPr>
        <p:spPr>
          <a:xfrm>
            <a:off x="8112557" y="2240280"/>
            <a:ext cx="3576218" cy="731520"/>
          </a:xfrm>
          <a:prstGeom prst="rect">
            <a:avLst/>
          </a:prstGeom>
          <a:solidFill>
            <a:srgbClr val="F0F2F5"/>
          </a:solidFill>
          <a:ln w="19050">
            <a:solidFill>
              <a:srgbClr val="12253F"/>
            </a:solidFill>
            <a:prstDash val="solid"/>
          </a:ln>
        </p:spPr>
        <p:txBody>
          <a:bodyPr/>
          <a:lstStyle/>
          <a:p>
            <a:endParaRPr lang="en-US"/>
          </a:p>
        </p:txBody>
      </p:sp>
      <p:sp>
        <p:nvSpPr>
          <p:cNvPr id="15" name="Text 13"/>
          <p:cNvSpPr txBox="1"/>
          <p:nvPr/>
        </p:nvSpPr>
        <p:spPr>
          <a:xfrm>
            <a:off x="8249717" y="2240280"/>
            <a:ext cx="3301898" cy="731520"/>
          </a:xfrm>
          <a:prstGeom prst="rect">
            <a:avLst/>
          </a:prstGeom>
          <a:noFill/>
          <a:ln/>
        </p:spPr>
        <p:txBody>
          <a:bodyPr wrap="square" lIns="0" tIns="0" rIns="0" bIns="0" rtlCol="0" anchor="ctr"/>
          <a:lstStyle/>
          <a:p>
            <a:pPr marL="0" indent="0" algn="l">
              <a:buNone/>
            </a:pPr>
            <a:r>
              <a:rPr lang="en-US" sz="1850" b="1" dirty="0">
                <a:solidFill>
                  <a:srgbClr val="12253F"/>
                </a:solidFill>
                <a:latin typeface="Times New Roman" pitchFamily="34" charset="0"/>
                <a:ea typeface="Times New Roman" pitchFamily="34" charset="-122"/>
                <a:cs typeface="Times New Roman" pitchFamily="34" charset="-120"/>
              </a:rPr>
              <a:t>Tất cả sẽ có ở Core Slide 2</a:t>
            </a:r>
            <a:endParaRPr lang="en-US" sz="1850" dirty="0"/>
          </a:p>
        </p:txBody>
      </p:sp>
      <p:sp>
        <p:nvSpPr>
          <p:cNvPr id="16" name="Shape 14"/>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7" name="Text 15"/>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XIV</a:t>
            </a:r>
            <a:endParaRPr lang="en-US" sz="1000" dirty="0"/>
          </a:p>
        </p:txBody>
      </p:sp>
      <p:sp>
        <p:nvSpPr>
          <p:cNvPr id="18" name="Text 16"/>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Ranh giới phạm vi, nhóm kỹ năng</a:t>
            </a:r>
            <a:endParaRPr lang="en-US" sz="10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Checklist tự kiểm tra: bốn câu hỏi đầu</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990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5" name="Text 3"/>
          <p:cNvSpPr txBox="1"/>
          <p:nvPr/>
        </p:nvSpPr>
        <p:spPr>
          <a:xfrm>
            <a:off x="832104" y="1353312"/>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phân biệt được chuyên đề tốt nghiệp và khóa luận tốt nghiệp</a:t>
            </a:r>
            <a:endParaRPr lang="en-US" sz="1600" dirty="0"/>
          </a:p>
        </p:txBody>
      </p:sp>
      <p:sp>
        <p:nvSpPr>
          <p:cNvPr id="6" name="Shape 4"/>
          <p:cNvSpPr/>
          <p:nvPr/>
        </p:nvSpPr>
        <p:spPr>
          <a:xfrm>
            <a:off x="502920" y="196596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7" name="Text 5"/>
          <p:cNvSpPr txBox="1"/>
          <p:nvPr/>
        </p:nvSpPr>
        <p:spPr>
          <a:xfrm>
            <a:off x="832104" y="1920240"/>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phân biệt được quan sát, nhận định cá nhân, vấn đề nghiên cứu và kết luận nghiên cứu</a:t>
            </a:r>
            <a:endParaRPr lang="en-US" sz="1600" dirty="0"/>
          </a:p>
        </p:txBody>
      </p:sp>
      <p:sp>
        <p:nvSpPr>
          <p:cNvPr id="8" name="Shape 6"/>
          <p:cNvSpPr/>
          <p:nvPr/>
        </p:nvSpPr>
        <p:spPr>
          <a:xfrm>
            <a:off x="502920" y="253288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9" name="Text 7"/>
          <p:cNvSpPr txBox="1"/>
          <p:nvPr/>
        </p:nvSpPr>
        <p:spPr>
          <a:xfrm>
            <a:off x="832104" y="2487168"/>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có thể tự kiểm tra một đề tài có an toàn hay không bằng checklist 6 câu hỏi</a:t>
            </a:r>
            <a:endParaRPr lang="en-US" sz="1600" dirty="0"/>
          </a:p>
        </p:txBody>
      </p:sp>
      <p:sp>
        <p:nvSpPr>
          <p:cNvPr id="10" name="Shape 8"/>
          <p:cNvSpPr/>
          <p:nvPr/>
        </p:nvSpPr>
        <p:spPr>
          <a:xfrm>
            <a:off x="502920" y="309981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1" name="Text 9"/>
          <p:cNvSpPr txBox="1"/>
          <p:nvPr/>
        </p:nvSpPr>
        <p:spPr>
          <a:xfrm>
            <a:off x="832104" y="3054096"/>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hiểu vì sao research proposal phải hoàn thành trước khi viết khóa luận</a:t>
            </a:r>
            <a:endParaRPr lang="en-US" sz="1600" dirty="0"/>
          </a:p>
        </p:txBody>
      </p:sp>
      <p:sp>
        <p:nvSpPr>
          <p:cNvPr id="12" name="Shape 10"/>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3" name="Text 11"/>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XV</a:t>
            </a:r>
            <a:endParaRPr lang="en-US" sz="1000" dirty="0"/>
          </a:p>
        </p:txBody>
      </p:sp>
      <p:sp>
        <p:nvSpPr>
          <p:cNvPr id="14" name="Text 12"/>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1 · Checklist, bốn câu hỏi đầu</a:t>
            </a:r>
            <a:endParaRPr lang="en-US" sz="100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800" b="1" dirty="0">
                <a:solidFill>
                  <a:srgbClr val="000000"/>
                </a:solidFill>
                <a:latin typeface="Times New Roman" pitchFamily="34" charset="0"/>
                <a:ea typeface="Times New Roman" pitchFamily="34" charset="-122"/>
                <a:cs typeface="Times New Roman" pitchFamily="34" charset="-120"/>
              </a:rPr>
              <a:t>Checklist tự kiểm tra: bốn câu hỏi tiếp theo</a:t>
            </a:r>
            <a:endParaRPr lang="en-US" sz="18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990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5" name="Text 3"/>
          <p:cNvSpPr txBox="1"/>
          <p:nvPr/>
        </p:nvSpPr>
        <p:spPr>
          <a:xfrm>
            <a:off x="832104" y="1353312"/>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nêu được mục đích, câu hỏi cần trả lời và sản phẩm của cả 5 chương</a:t>
            </a:r>
            <a:endParaRPr lang="en-US" sz="1600" dirty="0"/>
          </a:p>
        </p:txBody>
      </p:sp>
      <p:sp>
        <p:nvSpPr>
          <p:cNvPr id="6" name="Shape 4"/>
          <p:cNvSpPr/>
          <p:nvPr/>
        </p:nvSpPr>
        <p:spPr>
          <a:xfrm>
            <a:off x="502920" y="196596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7" name="Text 5"/>
          <p:cNvSpPr txBox="1"/>
          <p:nvPr/>
        </p:nvSpPr>
        <p:spPr>
          <a:xfrm>
            <a:off x="832104" y="1920240"/>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hiểu sự khác nhau giữa trích dẫn trực tiếp và trích dẫn gián tiếp</a:t>
            </a:r>
            <a:endParaRPr lang="en-US" sz="1600" dirty="0"/>
          </a:p>
        </p:txBody>
      </p:sp>
      <p:sp>
        <p:nvSpPr>
          <p:cNvPr id="8" name="Shape 6"/>
          <p:cNvSpPr/>
          <p:nvPr/>
        </p:nvSpPr>
        <p:spPr>
          <a:xfrm>
            <a:off x="502920" y="253288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9" name="Text 7"/>
          <p:cNvSpPr txBox="1"/>
          <p:nvPr/>
        </p:nvSpPr>
        <p:spPr>
          <a:xfrm>
            <a:off x="832104" y="2487168"/>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biết các tiêu chí chính mà bài của mình sẽ được đánh giá</a:t>
            </a:r>
            <a:endParaRPr lang="en-US" sz="1600" dirty="0"/>
          </a:p>
        </p:txBody>
      </p:sp>
      <p:sp>
        <p:nvSpPr>
          <p:cNvPr id="10" name="Shape 8"/>
          <p:cNvSpPr/>
          <p:nvPr/>
        </p:nvSpPr>
        <p:spPr>
          <a:xfrm>
            <a:off x="502920" y="309981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1" name="Text 9"/>
          <p:cNvSpPr txBox="1"/>
          <p:nvPr/>
        </p:nvSpPr>
        <p:spPr>
          <a:xfrm>
            <a:off x="832104" y="3054096"/>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biết chính xác việc cần làm và sản phẩm cần nộp trong tuần đầu tiên</a:t>
            </a:r>
            <a:endParaRPr lang="en-US" sz="1600" dirty="0"/>
          </a:p>
        </p:txBody>
      </p:sp>
      <p:sp>
        <p:nvSpPr>
          <p:cNvPr id="12" name="Shape 10"/>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3" name="Text 11"/>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XV</a:t>
            </a:r>
            <a:endParaRPr lang="en-US" sz="1000" dirty="0"/>
          </a:p>
        </p:txBody>
      </p:sp>
      <p:sp>
        <p:nvSpPr>
          <p:cNvPr id="14" name="Text 12"/>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2 · Checklist, bốn câu hỏi tiếp theo</a:t>
            </a:r>
            <a:endParaRPr lang="en-US" sz="10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292608"/>
            <a:ext cx="11185855" cy="868680"/>
          </a:xfrm>
          <a:prstGeom prst="rect">
            <a:avLst/>
          </a:prstGeom>
          <a:noFill/>
          <a:ln/>
        </p:spPr>
        <p:txBody>
          <a:bodyPr wrap="square" lIns="0" tIns="0" rIns="0" bIns="0" rtlCol="0" anchor="t"/>
          <a:lstStyle/>
          <a:p>
            <a:pPr marL="0" indent="0">
              <a:lnSpc>
                <a:spcPct val="104000"/>
              </a:lnSpc>
              <a:buNone/>
            </a:pPr>
            <a:r>
              <a:rPr lang="en-US" sz="1700" b="1" dirty="0">
                <a:solidFill>
                  <a:srgbClr val="000000"/>
                </a:solidFill>
                <a:latin typeface="Times New Roman" pitchFamily="34" charset="0"/>
                <a:ea typeface="Times New Roman" pitchFamily="34" charset="-122"/>
                <a:cs typeface="Times New Roman" pitchFamily="34" charset="-120"/>
              </a:rPr>
              <a:t>Checklist tự kiểm tra: bốn câu hỏi về đề cương, trích dẫn, format và quy trình nộp bài</a:t>
            </a:r>
            <a:endParaRPr lang="en-US" sz="1700" dirty="0"/>
          </a:p>
        </p:txBody>
      </p:sp>
      <p:sp>
        <p:nvSpPr>
          <p:cNvPr id="3" name="Shape 1"/>
          <p:cNvSpPr/>
          <p:nvPr/>
        </p:nvSpPr>
        <p:spPr>
          <a:xfrm>
            <a:off x="502920" y="987552"/>
            <a:ext cx="11185855" cy="0"/>
          </a:xfrm>
          <a:prstGeom prst="line">
            <a:avLst/>
          </a:prstGeom>
          <a:noFill/>
          <a:ln w="25400">
            <a:solidFill>
              <a:srgbClr val="12253F"/>
            </a:solidFill>
            <a:prstDash val="solid"/>
          </a:ln>
        </p:spPr>
        <p:txBody>
          <a:bodyPr/>
          <a:lstStyle/>
          <a:p>
            <a:endParaRPr lang="en-US"/>
          </a:p>
        </p:txBody>
      </p:sp>
      <p:sp>
        <p:nvSpPr>
          <p:cNvPr id="4" name="Shape 2"/>
          <p:cNvSpPr/>
          <p:nvPr/>
        </p:nvSpPr>
        <p:spPr>
          <a:xfrm>
            <a:off x="502920" y="1399032"/>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5" name="Text 3"/>
          <p:cNvSpPr txBox="1"/>
          <p:nvPr/>
        </p:nvSpPr>
        <p:spPr>
          <a:xfrm>
            <a:off x="832104" y="1353312"/>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biết đề cương gồm đúng 10 mục theo thứ tự nào và mục nào tôi hay viết thiếu nhất</a:t>
            </a:r>
            <a:endParaRPr lang="en-US" sz="1600" dirty="0"/>
          </a:p>
        </p:txBody>
      </p:sp>
      <p:sp>
        <p:nvSpPr>
          <p:cNvPr id="6" name="Shape 4"/>
          <p:cNvSpPr/>
          <p:nvPr/>
        </p:nvSpPr>
        <p:spPr>
          <a:xfrm>
            <a:off x="502920" y="1965960"/>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7" name="Text 5"/>
          <p:cNvSpPr txBox="1"/>
          <p:nvPr/>
        </p:nvSpPr>
        <p:spPr>
          <a:xfrm>
            <a:off x="832104" y="1920240"/>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nắm sáu nguyên tắc trích dẫn và bốn nguyên tắc APA cốt lõi, biết đối chiếu trích dẫn với danh mục tham khảo</a:t>
            </a:r>
            <a:endParaRPr lang="en-US" sz="1600" dirty="0"/>
          </a:p>
        </p:txBody>
      </p:sp>
      <p:sp>
        <p:nvSpPr>
          <p:cNvPr id="8" name="Shape 6"/>
          <p:cNvSpPr/>
          <p:nvPr/>
        </p:nvSpPr>
        <p:spPr>
          <a:xfrm>
            <a:off x="502920" y="2532888"/>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9" name="Text 7"/>
          <p:cNvSpPr txBox="1"/>
          <p:nvPr/>
        </p:nvSpPr>
        <p:spPr>
          <a:xfrm>
            <a:off x="832104" y="2487168"/>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biết cách đánh số đề mục 4 cấp, đánh số bảng và hình và khi nào được dùng chữ viết tắt</a:t>
            </a:r>
            <a:endParaRPr lang="en-US" sz="1600" dirty="0"/>
          </a:p>
        </p:txBody>
      </p:sp>
      <p:sp>
        <p:nvSpPr>
          <p:cNvPr id="10" name="Shape 8"/>
          <p:cNvSpPr/>
          <p:nvPr/>
        </p:nvSpPr>
        <p:spPr>
          <a:xfrm>
            <a:off x="502920" y="3099816"/>
            <a:ext cx="201168" cy="201168"/>
          </a:xfrm>
          <a:prstGeom prst="roundRect">
            <a:avLst>
              <a:gd name="adj" fmla="val 18182"/>
            </a:avLst>
          </a:prstGeom>
          <a:solidFill>
            <a:srgbClr val="FFFFFF"/>
          </a:solidFill>
          <a:ln w="22225">
            <a:solidFill>
              <a:srgbClr val="12253F"/>
            </a:solidFill>
            <a:prstDash val="solid"/>
          </a:ln>
        </p:spPr>
        <p:txBody>
          <a:bodyPr/>
          <a:lstStyle/>
          <a:p>
            <a:endParaRPr lang="en-US"/>
          </a:p>
        </p:txBody>
      </p:sp>
      <p:sp>
        <p:nvSpPr>
          <p:cNvPr id="11" name="Text 9"/>
          <p:cNvSpPr txBox="1"/>
          <p:nvPr/>
        </p:nvSpPr>
        <p:spPr>
          <a:xfrm>
            <a:off x="832104" y="3054096"/>
            <a:ext cx="10838383" cy="566928"/>
          </a:xfrm>
          <a:prstGeom prst="rect">
            <a:avLst/>
          </a:prstGeom>
          <a:noFill/>
          <a:ln/>
        </p:spPr>
        <p:txBody>
          <a:bodyPr wrap="square" lIns="0" tIns="0" rIns="0" bIns="0" rtlCol="0" anchor="t"/>
          <a:lstStyle/>
          <a:p>
            <a:pPr marL="0" indent="0">
              <a:buNone/>
            </a:pPr>
            <a:r>
              <a:rPr lang="en-US" sz="1600" dirty="0">
                <a:solidFill>
                  <a:srgbClr val="000000"/>
                </a:solidFill>
                <a:latin typeface="Times New Roman" pitchFamily="34" charset="0"/>
                <a:ea typeface="Times New Roman" pitchFamily="34" charset="-122"/>
                <a:cs typeface="Times New Roman" pitchFamily="34" charset="-120"/>
              </a:rPr>
              <a:t>Tôi biết quy trình bảy bước từ đăng ký đề tài đến khi nhận kết quả chấm điểm</a:t>
            </a:r>
            <a:endParaRPr lang="en-US" sz="1600" dirty="0"/>
          </a:p>
        </p:txBody>
      </p:sp>
      <p:sp>
        <p:nvSpPr>
          <p:cNvPr id="12" name="Shape 10"/>
          <p:cNvSpPr/>
          <p:nvPr/>
        </p:nvSpPr>
        <p:spPr>
          <a:xfrm>
            <a:off x="502920" y="4023360"/>
            <a:ext cx="11185855" cy="1280160"/>
          </a:xfrm>
          <a:prstGeom prst="rect">
            <a:avLst/>
          </a:prstGeom>
          <a:solidFill>
            <a:srgbClr val="F0F2F5"/>
          </a:solidFill>
          <a:ln w="9525">
            <a:solidFill>
              <a:srgbClr val="12253F"/>
            </a:solidFill>
            <a:prstDash val="solid"/>
          </a:ln>
        </p:spPr>
        <p:txBody>
          <a:bodyPr/>
          <a:lstStyle/>
          <a:p>
            <a:endParaRPr lang="en-US"/>
          </a:p>
        </p:txBody>
      </p:sp>
      <p:sp>
        <p:nvSpPr>
          <p:cNvPr id="13" name="Text 11"/>
          <p:cNvSpPr txBox="1"/>
          <p:nvPr/>
        </p:nvSpPr>
        <p:spPr>
          <a:xfrm>
            <a:off x="758952" y="4114800"/>
            <a:ext cx="10728655" cy="1097280"/>
          </a:xfrm>
          <a:prstGeom prst="rect">
            <a:avLst/>
          </a:prstGeom>
          <a:noFill/>
          <a:ln/>
        </p:spPr>
        <p:txBody>
          <a:bodyPr wrap="square" lIns="0" tIns="0" rIns="0" bIns="0" rtlCol="0" anchor="ctr"/>
          <a:lstStyle/>
          <a:p>
            <a:pPr marL="0" indent="0">
              <a:buNone/>
            </a:pPr>
            <a:r>
              <a:rPr lang="en-US" sz="1450" b="1" dirty="0">
                <a:solidFill>
                  <a:srgbClr val="000000"/>
                </a:solidFill>
                <a:latin typeface="Times New Roman" pitchFamily="34" charset="0"/>
                <a:ea typeface="Times New Roman" pitchFamily="34" charset="-122"/>
                <a:cs typeface="Times New Roman" pitchFamily="34" charset="-120"/>
              </a:rPr>
              <a:t>Nếu có bất kỳ mục nào chưa chắc chắn, sinh viên nên đọc lại phần tương ứng trong Core Slide 1 trước khi chuyển sang Core Slide 2.</a:t>
            </a:r>
            <a:endParaRPr lang="en-US" sz="1450" dirty="0"/>
          </a:p>
        </p:txBody>
      </p:sp>
      <p:sp>
        <p:nvSpPr>
          <p:cNvPr id="14" name="Shape 12"/>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15" name="Text 13"/>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XV</a:t>
            </a:r>
            <a:endParaRPr lang="en-US" sz="1000" dirty="0"/>
          </a:p>
        </p:txBody>
      </p:sp>
      <p:sp>
        <p:nvSpPr>
          <p:cNvPr id="16" name="Text 14"/>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3 · Checklist, bốn câu hỏi về đề cương và format</a:t>
            </a:r>
            <a:endParaRPr lang="en-US" sz="10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02920" y="594360"/>
            <a:ext cx="10058400" cy="320040"/>
          </a:xfrm>
          <a:prstGeom prst="rect">
            <a:avLst/>
          </a:prstGeom>
          <a:noFill/>
          <a:ln/>
        </p:spPr>
        <p:txBody>
          <a:bodyPr wrap="square" lIns="0" tIns="0" rIns="0" bIns="0" rtlCol="0" anchor="ctr"/>
          <a:lstStyle/>
          <a:p>
            <a:pPr marL="0" indent="0">
              <a:buNone/>
            </a:pPr>
            <a:r>
              <a:rPr lang="en-US" sz="1900" b="1" kern="0" spc="200" dirty="0">
                <a:solidFill>
                  <a:srgbClr val="3D4552"/>
                </a:solidFill>
                <a:latin typeface="Times New Roman" pitchFamily="34" charset="0"/>
                <a:ea typeface="Times New Roman" pitchFamily="34" charset="-122"/>
                <a:cs typeface="Times New Roman" pitchFamily="34" charset="-120"/>
              </a:rPr>
              <a:t>SƠ ĐỒ TỔNG KẾT CORE SLIDE 1</a:t>
            </a:r>
            <a:endParaRPr lang="en-US" sz="1900" dirty="0"/>
          </a:p>
        </p:txBody>
      </p:sp>
      <p:sp>
        <p:nvSpPr>
          <p:cNvPr id="3" name="Text 1"/>
          <p:cNvSpPr txBox="1"/>
          <p:nvPr/>
        </p:nvSpPr>
        <p:spPr>
          <a:xfrm>
            <a:off x="502920" y="960120"/>
            <a:ext cx="10515600" cy="548640"/>
          </a:xfrm>
          <a:prstGeom prst="rect">
            <a:avLst/>
          </a:prstGeom>
          <a:noFill/>
          <a:ln/>
        </p:spPr>
        <p:txBody>
          <a:bodyPr wrap="square" lIns="0" tIns="0" rIns="0" bIns="0" rtlCol="0" anchor="ctr"/>
          <a:lstStyle/>
          <a:p>
            <a:pPr marL="0" indent="0">
              <a:buNone/>
            </a:pPr>
            <a:r>
              <a:rPr lang="en-US" sz="2600" b="1" dirty="0">
                <a:solidFill>
                  <a:srgbClr val="000000"/>
                </a:solidFill>
                <a:latin typeface="Times New Roman" pitchFamily="34" charset="0"/>
                <a:ea typeface="Times New Roman" pitchFamily="34" charset="-122"/>
                <a:cs typeface="Times New Roman" pitchFamily="34" charset="-120"/>
              </a:rPr>
              <a:t>Từ vấn đề thực tế đến bản hoàn chỉnh nộp bài</a:t>
            </a:r>
            <a:endParaRPr lang="en-US" sz="2600" dirty="0"/>
          </a:p>
        </p:txBody>
      </p:sp>
      <p:sp>
        <p:nvSpPr>
          <p:cNvPr id="4" name="Shape 2"/>
          <p:cNvSpPr/>
          <p:nvPr/>
        </p:nvSpPr>
        <p:spPr>
          <a:xfrm>
            <a:off x="502920" y="178308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5" name="Text 3"/>
          <p:cNvSpPr txBox="1"/>
          <p:nvPr/>
        </p:nvSpPr>
        <p:spPr>
          <a:xfrm>
            <a:off x="557784" y="178308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Vấn đề thực tế</a:t>
            </a:r>
            <a:endParaRPr lang="en-US" sz="1250" dirty="0"/>
          </a:p>
        </p:txBody>
      </p:sp>
      <p:sp>
        <p:nvSpPr>
          <p:cNvPr id="6" name="Shape 4"/>
          <p:cNvSpPr/>
          <p:nvPr/>
        </p:nvSpPr>
        <p:spPr>
          <a:xfrm>
            <a:off x="4109496" y="1988820"/>
            <a:ext cx="158740" cy="274320"/>
          </a:xfrm>
          <a:prstGeom prst="chevron">
            <a:avLst/>
          </a:prstGeom>
          <a:solidFill>
            <a:srgbClr val="1F5C82"/>
          </a:solidFill>
          <a:ln/>
        </p:spPr>
        <p:txBody>
          <a:bodyPr/>
          <a:lstStyle/>
          <a:p>
            <a:endParaRPr lang="en-US"/>
          </a:p>
        </p:txBody>
      </p:sp>
      <p:sp>
        <p:nvSpPr>
          <p:cNvPr id="7" name="Shape 5"/>
          <p:cNvSpPr/>
          <p:nvPr/>
        </p:nvSpPr>
        <p:spPr>
          <a:xfrm>
            <a:off x="4316882" y="178308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8" name="Text 6"/>
          <p:cNvSpPr txBox="1"/>
          <p:nvPr/>
        </p:nvSpPr>
        <p:spPr>
          <a:xfrm>
            <a:off x="4371746" y="178308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Đề tài an toàn</a:t>
            </a:r>
            <a:endParaRPr lang="en-US" sz="1250" dirty="0"/>
          </a:p>
        </p:txBody>
      </p:sp>
      <p:sp>
        <p:nvSpPr>
          <p:cNvPr id="9" name="Shape 7"/>
          <p:cNvSpPr/>
          <p:nvPr/>
        </p:nvSpPr>
        <p:spPr>
          <a:xfrm>
            <a:off x="7923459" y="1988820"/>
            <a:ext cx="158740" cy="274320"/>
          </a:xfrm>
          <a:prstGeom prst="chevron">
            <a:avLst/>
          </a:prstGeom>
          <a:solidFill>
            <a:srgbClr val="1F5C82"/>
          </a:solidFill>
          <a:ln/>
        </p:spPr>
        <p:txBody>
          <a:bodyPr/>
          <a:lstStyle/>
          <a:p>
            <a:endParaRPr lang="en-US"/>
          </a:p>
        </p:txBody>
      </p:sp>
      <p:sp>
        <p:nvSpPr>
          <p:cNvPr id="10" name="Shape 8"/>
          <p:cNvSpPr/>
          <p:nvPr/>
        </p:nvSpPr>
        <p:spPr>
          <a:xfrm>
            <a:off x="8130845" y="178308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11" name="Text 9"/>
          <p:cNvSpPr txBox="1"/>
          <p:nvPr/>
        </p:nvSpPr>
        <p:spPr>
          <a:xfrm>
            <a:off x="8185709" y="178308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Research proposal</a:t>
            </a:r>
            <a:endParaRPr lang="en-US" sz="1250" dirty="0"/>
          </a:p>
        </p:txBody>
      </p:sp>
      <p:sp>
        <p:nvSpPr>
          <p:cNvPr id="12" name="Shape 10"/>
          <p:cNvSpPr/>
          <p:nvPr/>
        </p:nvSpPr>
        <p:spPr>
          <a:xfrm>
            <a:off x="502920" y="260604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13" name="Text 11"/>
          <p:cNvSpPr txBox="1"/>
          <p:nvPr/>
        </p:nvSpPr>
        <p:spPr>
          <a:xfrm>
            <a:off x="557784" y="260604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Năm chương khóa luận</a:t>
            </a:r>
            <a:endParaRPr lang="en-US" sz="1250" dirty="0"/>
          </a:p>
        </p:txBody>
      </p:sp>
      <p:sp>
        <p:nvSpPr>
          <p:cNvPr id="14" name="Shape 12"/>
          <p:cNvSpPr/>
          <p:nvPr/>
        </p:nvSpPr>
        <p:spPr>
          <a:xfrm>
            <a:off x="4109496" y="2811780"/>
            <a:ext cx="158740" cy="274320"/>
          </a:xfrm>
          <a:prstGeom prst="chevron">
            <a:avLst/>
          </a:prstGeom>
          <a:solidFill>
            <a:srgbClr val="1F5C82"/>
          </a:solidFill>
          <a:ln/>
        </p:spPr>
        <p:txBody>
          <a:bodyPr/>
          <a:lstStyle/>
          <a:p>
            <a:endParaRPr lang="en-US"/>
          </a:p>
        </p:txBody>
      </p:sp>
      <p:sp>
        <p:nvSpPr>
          <p:cNvPr id="15" name="Shape 13"/>
          <p:cNvSpPr/>
          <p:nvPr/>
        </p:nvSpPr>
        <p:spPr>
          <a:xfrm>
            <a:off x="4316882" y="260604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16" name="Text 14"/>
          <p:cNvSpPr txBox="1"/>
          <p:nvPr/>
        </p:nvSpPr>
        <p:spPr>
          <a:xfrm>
            <a:off x="4371746" y="260604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Dữ liệu và bằng chứng</a:t>
            </a:r>
            <a:endParaRPr lang="en-US" sz="1250" dirty="0"/>
          </a:p>
        </p:txBody>
      </p:sp>
      <p:sp>
        <p:nvSpPr>
          <p:cNvPr id="17" name="Shape 15"/>
          <p:cNvSpPr/>
          <p:nvPr/>
        </p:nvSpPr>
        <p:spPr>
          <a:xfrm>
            <a:off x="7923459" y="2811780"/>
            <a:ext cx="158740" cy="274320"/>
          </a:xfrm>
          <a:prstGeom prst="chevron">
            <a:avLst/>
          </a:prstGeom>
          <a:solidFill>
            <a:srgbClr val="1F5C82"/>
          </a:solidFill>
          <a:ln/>
        </p:spPr>
        <p:txBody>
          <a:bodyPr/>
          <a:lstStyle/>
          <a:p>
            <a:endParaRPr lang="en-US"/>
          </a:p>
        </p:txBody>
      </p:sp>
      <p:sp>
        <p:nvSpPr>
          <p:cNvPr id="18" name="Shape 16"/>
          <p:cNvSpPr/>
          <p:nvPr/>
        </p:nvSpPr>
        <p:spPr>
          <a:xfrm>
            <a:off x="8130845" y="2606040"/>
            <a:ext cx="3557930"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19" name="Text 17"/>
          <p:cNvSpPr txBox="1"/>
          <p:nvPr/>
        </p:nvSpPr>
        <p:spPr>
          <a:xfrm>
            <a:off x="8185709" y="2606040"/>
            <a:ext cx="3448202"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Kết luận có căn cứ</a:t>
            </a:r>
            <a:endParaRPr lang="en-US" sz="1250" dirty="0"/>
          </a:p>
        </p:txBody>
      </p:sp>
      <p:sp>
        <p:nvSpPr>
          <p:cNvPr id="20" name="Shape 18"/>
          <p:cNvSpPr/>
          <p:nvPr/>
        </p:nvSpPr>
        <p:spPr>
          <a:xfrm>
            <a:off x="502920" y="3429000"/>
            <a:ext cx="5464912"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21" name="Text 19"/>
          <p:cNvSpPr txBox="1"/>
          <p:nvPr/>
        </p:nvSpPr>
        <p:spPr>
          <a:xfrm>
            <a:off x="557784" y="3429000"/>
            <a:ext cx="5355184"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Bản thảo đủ số trang theo chuẩn của loại công trình</a:t>
            </a:r>
            <a:endParaRPr lang="en-US" sz="1250" dirty="0"/>
          </a:p>
        </p:txBody>
      </p:sp>
      <p:sp>
        <p:nvSpPr>
          <p:cNvPr id="22" name="Shape 20"/>
          <p:cNvSpPr/>
          <p:nvPr/>
        </p:nvSpPr>
        <p:spPr>
          <a:xfrm>
            <a:off x="6016478" y="3634740"/>
            <a:ext cx="158740" cy="274320"/>
          </a:xfrm>
          <a:prstGeom prst="chevron">
            <a:avLst/>
          </a:prstGeom>
          <a:solidFill>
            <a:srgbClr val="1F5C82"/>
          </a:solidFill>
          <a:ln/>
        </p:spPr>
        <p:txBody>
          <a:bodyPr/>
          <a:lstStyle/>
          <a:p>
            <a:endParaRPr lang="en-US"/>
          </a:p>
        </p:txBody>
      </p:sp>
      <p:sp>
        <p:nvSpPr>
          <p:cNvPr id="23" name="Shape 21"/>
          <p:cNvSpPr/>
          <p:nvPr/>
        </p:nvSpPr>
        <p:spPr>
          <a:xfrm>
            <a:off x="6223864" y="3429000"/>
            <a:ext cx="5464912" cy="685800"/>
          </a:xfrm>
          <a:prstGeom prst="roundRect">
            <a:avLst>
              <a:gd name="adj" fmla="val 9333"/>
            </a:avLst>
          </a:prstGeom>
          <a:solidFill>
            <a:srgbClr val="12253F"/>
          </a:solidFill>
          <a:ln w="19050">
            <a:solidFill>
              <a:srgbClr val="12253F"/>
            </a:solidFill>
            <a:prstDash val="solid"/>
          </a:ln>
        </p:spPr>
        <p:txBody>
          <a:bodyPr/>
          <a:lstStyle/>
          <a:p>
            <a:endParaRPr lang="en-US"/>
          </a:p>
        </p:txBody>
      </p:sp>
      <p:sp>
        <p:nvSpPr>
          <p:cNvPr id="24" name="Text 22"/>
          <p:cNvSpPr txBox="1"/>
          <p:nvPr/>
        </p:nvSpPr>
        <p:spPr>
          <a:xfrm>
            <a:off x="6278728" y="3429000"/>
            <a:ext cx="5355184"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Times New Roman" pitchFamily="34" charset="0"/>
                <a:ea typeface="Times New Roman" pitchFamily="34" charset="-122"/>
                <a:cs typeface="Times New Roman" pitchFamily="34" charset="-120"/>
              </a:rPr>
              <a:t>Báo cáo tiến độ đầy đủ trong 8 tuần</a:t>
            </a:r>
            <a:endParaRPr lang="en-US" sz="1250" dirty="0"/>
          </a:p>
        </p:txBody>
      </p:sp>
      <p:sp>
        <p:nvSpPr>
          <p:cNvPr id="25" name="Text 23"/>
          <p:cNvSpPr txBox="1"/>
          <p:nvPr/>
        </p:nvSpPr>
        <p:spPr>
          <a:xfrm>
            <a:off x="502920" y="4187952"/>
            <a:ext cx="11185855" cy="365760"/>
          </a:xfrm>
          <a:prstGeom prst="rect">
            <a:avLst/>
          </a:prstGeom>
          <a:noFill/>
          <a:ln/>
        </p:spPr>
        <p:txBody>
          <a:bodyPr wrap="square" lIns="0" tIns="0" rIns="0" bIns="0" rtlCol="0" anchor="ctr"/>
          <a:lstStyle/>
          <a:p>
            <a:pPr marL="0" indent="0" algn="ctr">
              <a:buNone/>
            </a:pPr>
            <a:r>
              <a:rPr lang="en-US" sz="2400" b="1" dirty="0">
                <a:solidFill>
                  <a:srgbClr val="12253F"/>
                </a:solidFill>
                <a:latin typeface="Times New Roman" pitchFamily="34" charset="0"/>
                <a:ea typeface="Times New Roman" pitchFamily="34" charset="-122"/>
                <a:cs typeface="Times New Roman" pitchFamily="34" charset="-120"/>
              </a:rPr>
              <a:t>↓</a:t>
            </a:r>
            <a:endParaRPr lang="en-US" sz="2400" dirty="0"/>
          </a:p>
        </p:txBody>
      </p:sp>
      <p:sp>
        <p:nvSpPr>
          <p:cNvPr id="26" name="Shape 24"/>
          <p:cNvSpPr/>
          <p:nvPr/>
        </p:nvSpPr>
        <p:spPr>
          <a:xfrm>
            <a:off x="3901288" y="4590288"/>
            <a:ext cx="4389120" cy="731520"/>
          </a:xfrm>
          <a:prstGeom prst="roundRect">
            <a:avLst>
              <a:gd name="adj" fmla="val 12500"/>
            </a:avLst>
          </a:prstGeom>
          <a:solidFill>
            <a:srgbClr val="12253F"/>
          </a:solidFill>
          <a:ln w="19050">
            <a:solidFill>
              <a:srgbClr val="12253F"/>
            </a:solidFill>
            <a:prstDash val="solid"/>
          </a:ln>
        </p:spPr>
        <p:txBody>
          <a:bodyPr/>
          <a:lstStyle/>
          <a:p>
            <a:endParaRPr lang="en-US"/>
          </a:p>
        </p:txBody>
      </p:sp>
      <p:sp>
        <p:nvSpPr>
          <p:cNvPr id="27" name="Text 25"/>
          <p:cNvSpPr txBox="1"/>
          <p:nvPr/>
        </p:nvSpPr>
        <p:spPr>
          <a:xfrm>
            <a:off x="3901288" y="4590288"/>
            <a:ext cx="4389120" cy="731520"/>
          </a:xfrm>
          <a:prstGeom prst="rect">
            <a:avLst/>
          </a:prstGeom>
          <a:noFill/>
          <a:ln/>
        </p:spPr>
        <p:txBody>
          <a:bodyPr wrap="square" lIns="0" tIns="0" rIns="0" bIns="0" rtlCol="0" anchor="ctr"/>
          <a:lstStyle/>
          <a:p>
            <a:pPr marL="0" indent="0" algn="ctr">
              <a:buNone/>
            </a:pPr>
            <a:r>
              <a:rPr lang="en-US" sz="2000" b="1" dirty="0">
                <a:solidFill>
                  <a:srgbClr val="FFFFFF"/>
                </a:solidFill>
                <a:latin typeface="Times New Roman" pitchFamily="34" charset="0"/>
                <a:ea typeface="Times New Roman" pitchFamily="34" charset="-122"/>
                <a:cs typeface="Times New Roman" pitchFamily="34" charset="-120"/>
              </a:rPr>
              <a:t>Bản hoàn chỉnh để nộp</a:t>
            </a:r>
            <a:endParaRPr lang="en-US" sz="2000" dirty="0"/>
          </a:p>
        </p:txBody>
      </p:sp>
      <p:sp>
        <p:nvSpPr>
          <p:cNvPr id="28" name="Shape 26"/>
          <p:cNvSpPr/>
          <p:nvPr/>
        </p:nvSpPr>
        <p:spPr>
          <a:xfrm>
            <a:off x="502920" y="5532120"/>
            <a:ext cx="11185855" cy="960120"/>
          </a:xfrm>
          <a:prstGeom prst="rect">
            <a:avLst/>
          </a:prstGeom>
          <a:solidFill>
            <a:srgbClr val="F0F2F5"/>
          </a:solidFill>
          <a:ln w="19050">
            <a:solidFill>
              <a:srgbClr val="12253F"/>
            </a:solidFill>
            <a:prstDash val="solid"/>
          </a:ln>
        </p:spPr>
        <p:txBody>
          <a:bodyPr/>
          <a:lstStyle/>
          <a:p>
            <a:endParaRPr lang="en-US"/>
          </a:p>
        </p:txBody>
      </p:sp>
      <p:sp>
        <p:nvSpPr>
          <p:cNvPr id="29" name="Text 27"/>
          <p:cNvSpPr txBox="1"/>
          <p:nvPr/>
        </p:nvSpPr>
        <p:spPr>
          <a:xfrm>
            <a:off x="649224" y="5641848"/>
            <a:ext cx="10893247" cy="740664"/>
          </a:xfrm>
          <a:prstGeom prst="rect">
            <a:avLst/>
          </a:prstGeom>
          <a:noFill/>
          <a:ln/>
        </p:spPr>
        <p:txBody>
          <a:bodyPr wrap="square" lIns="0" tIns="0" rIns="0" bIns="0" rtlCol="0" anchor="ctr"/>
          <a:lstStyle/>
          <a:p>
            <a:pPr marL="0" indent="0">
              <a:buNone/>
            </a:pPr>
            <a:r>
              <a:rPr lang="en-US" sz="1850" dirty="0">
                <a:solidFill>
                  <a:srgbClr val="000000"/>
                </a:solidFill>
                <a:latin typeface="Times New Roman" pitchFamily="34" charset="0"/>
                <a:ea typeface="Times New Roman" pitchFamily="34" charset="-122"/>
                <a:cs typeface="Times New Roman" pitchFamily="34" charset="-120"/>
              </a:rPr>
              <a:t>Đây là toàn bộ hành trình mà Core Slide 1 đã trình bày. Bước tiếp theo là mang bức tranh này sang Core Slide 2, nơi từng kỹ năng thực hành được hướng dẫn cụ thể.</a:t>
            </a:r>
            <a:endParaRPr lang="en-US" sz="1850" dirty="0"/>
          </a:p>
        </p:txBody>
      </p:sp>
      <p:sp>
        <p:nvSpPr>
          <p:cNvPr id="30" name="Shape 28"/>
          <p:cNvSpPr/>
          <p:nvPr/>
        </p:nvSpPr>
        <p:spPr>
          <a:xfrm>
            <a:off x="502920" y="6473952"/>
            <a:ext cx="11185855" cy="0"/>
          </a:xfrm>
          <a:prstGeom prst="line">
            <a:avLst/>
          </a:prstGeom>
          <a:noFill/>
          <a:ln w="9525">
            <a:solidFill>
              <a:srgbClr val="C7CCD6"/>
            </a:solidFill>
            <a:prstDash val="solid"/>
          </a:ln>
        </p:spPr>
        <p:txBody>
          <a:bodyPr/>
          <a:lstStyle/>
          <a:p>
            <a:endParaRPr lang="en-US"/>
          </a:p>
        </p:txBody>
      </p:sp>
      <p:sp>
        <p:nvSpPr>
          <p:cNvPr id="31" name="Text 29"/>
          <p:cNvSpPr txBox="1"/>
          <p:nvPr/>
        </p:nvSpPr>
        <p:spPr>
          <a:xfrm>
            <a:off x="502920" y="6528816"/>
            <a:ext cx="3657600" cy="256032"/>
          </a:xfrm>
          <a:prstGeom prst="rect">
            <a:avLst/>
          </a:prstGeom>
          <a:noFill/>
          <a:ln/>
        </p:spPr>
        <p:txBody>
          <a:bodyPr wrap="square" lIns="0" tIns="0" rIns="0" bIns="0" rtlCol="0" anchor="ctr"/>
          <a:lstStyle/>
          <a:p>
            <a:pPr marL="0" indent="0">
              <a:buNone/>
            </a:pPr>
            <a:r>
              <a:rPr lang="en-US" sz="1000" dirty="0">
                <a:solidFill>
                  <a:srgbClr val="3D4552"/>
                </a:solidFill>
                <a:latin typeface="Times New Roman" pitchFamily="34" charset="0"/>
                <a:ea typeface="Times New Roman" pitchFamily="34" charset="-122"/>
                <a:cs typeface="Times New Roman" pitchFamily="34" charset="-120"/>
              </a:rPr>
              <a:t>PHẦN XV</a:t>
            </a:r>
            <a:endParaRPr lang="en-US" sz="1000" dirty="0"/>
          </a:p>
        </p:txBody>
      </p:sp>
      <p:sp>
        <p:nvSpPr>
          <p:cNvPr id="32" name="Text 30"/>
          <p:cNvSpPr txBox="1"/>
          <p:nvPr/>
        </p:nvSpPr>
        <p:spPr>
          <a:xfrm>
            <a:off x="7116775" y="6528816"/>
            <a:ext cx="4572000" cy="256032"/>
          </a:xfrm>
          <a:prstGeom prst="rect">
            <a:avLst/>
          </a:prstGeom>
          <a:noFill/>
          <a:ln/>
        </p:spPr>
        <p:txBody>
          <a:bodyPr wrap="square" lIns="0" tIns="0" rIns="0" bIns="0" rtlCol="0" anchor="ctr"/>
          <a:lstStyle/>
          <a:p>
            <a:pPr marL="0" indent="0" algn="r">
              <a:buNone/>
            </a:pPr>
            <a:r>
              <a:rPr lang="en-US" sz="1000" dirty="0">
                <a:solidFill>
                  <a:srgbClr val="3D4552"/>
                </a:solidFill>
                <a:latin typeface="Times New Roman" pitchFamily="34" charset="0"/>
                <a:ea typeface="Times New Roman" pitchFamily="34" charset="-122"/>
                <a:cs typeface="Times New Roman" pitchFamily="34" charset="-120"/>
              </a:rPr>
              <a:t>Mục 4 · Sơ đồ tổng kết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69</TotalTime>
  <Words>15299</Words>
  <Application>Microsoft Macintosh PowerPoint</Application>
  <PresentationFormat>Widescreen</PresentationFormat>
  <Paragraphs>1290</Paragraphs>
  <Slides>98</Slides>
  <Notes>98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98</vt:i4>
      </vt:variant>
    </vt:vector>
  </HeadingPairs>
  <TitlesOfParts>
    <vt:vector size="101" baseType="lpstr">
      <vt:lpstr>Arial</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Alex Le Dinh Thang</cp:lastModifiedBy>
  <cp:revision>21</cp:revision>
  <dcterms:created xsi:type="dcterms:W3CDTF">2026-09-23T19:02:07Z</dcterms:created>
  <dcterms:modified xsi:type="dcterms:W3CDTF">2026-09-24T05:08:52Z</dcterms:modified>
</cp:coreProperties>
</file>