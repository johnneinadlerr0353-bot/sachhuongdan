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371600" cy="73152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Hướng dẫn chuyên đề và khóa luận tốt nghiệp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D6E4F0"/>
                </a:solidFill>
                <a:latin typeface="Calibri"/>
              </a:rPr>
              <a:t>Core Slide 2: từ phần mở đầu đến buổi bảo vệ, thực hành với dữ liệu Ngân hàng X và Trường Tiểu học Y (giả định)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PHẦN 1. BỨC TRANH CHUNG VÀ PHẦN MỞ ĐẦU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5C28E"/>
                </a:solidFill>
                <a:latin typeface="Calibri"/>
              </a:rPr>
              <a:t>Thời lượng ước tính: 12 phút | 5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Khóa luận là một chuỗi logic nối liền từ câu hỏi đến 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Mở đầu đặt câu hỏi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Chương 1 đến 3 chuẩn bị cách trả lời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Chương 4 trả lời bằng dữ liệu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Chương 5 và Kết luận khép lại câu hỏi</a:t>
            </a:r>
          </a:p>
        </p:txBody>
      </p:sp>
      <p:pic>
        <p:nvPicPr>
          <p:cNvPr id="6" name="Picture 5" descr="01_p3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275" y="1463040"/>
            <a:ext cx="6312969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Bảy mục của phần mở đầu trả lời bảy câu hỏi của người đọc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Lý do chọn đề tài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Mục tiêu nghiên cứu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Câu hỏi nghiên cứu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Đối tượng và phạm vi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Phương pháp nghiên cứu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Ý nghĩa đề tài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Kết cấu khóa luận</a:t>
            </a:r>
          </a:p>
        </p:txBody>
      </p:sp>
      <p:pic>
        <p:nvPicPr>
          <p:cNvPr id="6" name="Picture 5" descr="02_p3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68236"/>
            <a:ext cx="6858000" cy="34359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Lý do chọn đề tài đi theo hình phễu: từ bối cảnh rộng hẹp dần về vấn đề của đơn vị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Bối cảnh chung của ngành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Tình hình tại đơn vị nghiên cứu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Vấn đề cụ thể còn tồn tại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Lý do phải nghiên cứu ngay</a:t>
            </a:r>
          </a:p>
        </p:txBody>
      </p:sp>
      <p:pic>
        <p:nvPicPr>
          <p:cNvPr id="6" name="Picture 5" descr="06_p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07622"/>
            <a:ext cx="6858000" cy="35571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Mục tiêu, câu hỏi, phương pháp và chương phải ghép thành từng cặp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Mỗi mục tiêu có một câu hỏi tương ứng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Mỗi câu hỏi có phương pháp trả lời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Mỗi câu hỏi được trả lời ở một chương xác định</a:t>
            </a:r>
          </a:p>
        </p:txBody>
      </p:sp>
      <p:pic>
        <p:nvPicPr>
          <p:cNvPr id="6" name="Picture 5" descr="04_p4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583872"/>
            <a:ext cx="6858000" cy="26046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Đối tượng là cái được nghiên cứu còn khách thể là người cung cấp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Đối tượng: các yếu tố và ý định sử dụng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Khách thể khảo sát: khách hàng cá nhân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Phạm vi không gian, thời gian, nội dung</a:t>
            </a:r>
          </a:p>
        </p:txBody>
      </p:sp>
      <p:pic>
        <p:nvPicPr>
          <p:cNvPr id="6" name="Picture 5" descr="10_p5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743200"/>
            <a:ext cx="68580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PHẦN 2. CHƯƠNG 1: GIỚI THIỆU ĐƠN VỊ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5C28E"/>
                </a:solidFill>
                <a:latin typeface="Calibri"/>
              </a:rPr>
              <a:t>Thời lượng ước tính: 6 phút | 2 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Chương 1 chỉ giữ thông tin giúp người đọc hiểu vì sao câu hỏi xuất 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Câu hỏi nghiên cứu là sợi chỉ xuyên suốt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Giới thiệu đơn vị có chọn lọc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Số liệu hoạt động gắn với vấn đề</a:t>
            </a:r>
          </a:p>
        </p:txBody>
      </p:sp>
      <p:pic>
        <p:nvPicPr>
          <p:cNvPr id="6" name="Picture 5" descr="16_p7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124200"/>
            <a:ext cx="6858000" cy="152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Cấu trúc Chương 1 đi từ tổng quan đơn vị đến thực trạng của vấn đề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Tổng quan về đơn vị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Hoạt động liên quan trực tiếp đến đề tài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Thực trạng và tồn tại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Tiểu kết chương</a:t>
            </a:r>
          </a:p>
        </p:txBody>
      </p:sp>
      <p:pic>
        <p:nvPicPr>
          <p:cNvPr id="6" name="Picture 5" descr="17_p7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177" y="1463040"/>
            <a:ext cx="4995165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PHẦN 3. CHƯƠNG 2: CƠ SỞ LÝ THUYẾT VÀ MÔ HÌNH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5C28E"/>
                </a:solidFill>
                <a:latin typeface="Calibri"/>
              </a:rPr>
              <a:t>Thời lượng ước tính: 15 phút | 6 slide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Chương 2 đi từ khái niệm đến giả thuyết theo một cây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Khái niệm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Tổng quan nghiên cứu theo chủ đề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Khoảng trống nghiên cứu (research gap)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Lý thuyết nền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Mô hình và giả thuyết</a:t>
            </a:r>
          </a:p>
        </p:txBody>
      </p:sp>
      <p:pic>
        <p:nvPicPr>
          <p:cNvPr id="6" name="Picture 5" descr="25_p9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37063"/>
            <a:ext cx="6858000" cy="34982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Tổng quan tài liệu phải tổng hợp theo chủ đề chứ không liệt kê từng bài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Liệt kê: tác giả A nói, tác giả B nói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Tổng hợp: nhiều tác giả cùng thấy một yếu tố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Chỉ ra chỗ các nghiên cứu khác nhau</a:t>
            </a:r>
          </a:p>
        </p:txBody>
      </p:sp>
      <p:pic>
        <p:nvPicPr>
          <p:cNvPr id="6" name="Picture 5" descr="31_p11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488622"/>
            <a:ext cx="6858000" cy="27951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Ma trận tài liệu trên Excel giúp nhìn ra khoảng trống nghiên cứu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Hàng: từng nghiên cứu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Cột: yếu tố, bối cảnh, phương pháp, kết quả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Ô trống lặp lại là khoảng trống nghiên cứu</a:t>
            </a:r>
          </a:p>
        </p:txBody>
      </p:sp>
      <p:pic>
        <p:nvPicPr>
          <p:cNvPr id="6" name="Picture 5" descr="32_p11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755322"/>
            <a:ext cx="6858000" cy="22617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Lý thuyết nền là lý do để đưa mỗi biến vào mô hình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Ba lý thuyết nền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Bốn biến độc lập được suy ra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Biến nào cũng có nguồn gốc lý thuyết</a:t>
            </a:r>
          </a:p>
        </p:txBody>
      </p:sp>
      <p:pic>
        <p:nvPicPr>
          <p:cNvPr id="6" name="Picture 5" descr="27_p1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781300"/>
            <a:ext cx="6858000" cy="220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Mô hình nghiên cứu thể hiện các giả thuyết bằng mũi tên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Ngân hàng X: HI, SD, NT, XH ảnh hưởng đến YD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Trường Y: CSVC, TDNV, QTHC ảnh hưởng đến HL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Mỗi mũi tên là một giả thuyết</a:t>
            </a:r>
          </a:p>
        </p:txBody>
      </p:sp>
      <p:pic>
        <p:nvPicPr>
          <p:cNvPr id="6" name="Picture 5" descr="28_p10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654877"/>
            <a:ext cx="6858000" cy="24626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Câu giả thuyết phải nêu đủ biến, chiều tác động và đối tượng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Biến độc lập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Chiều tác động (cùng chiều hoặc ngược chiều)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Biến phụ thuộc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Bối cảnh cụ thể</a:t>
            </a:r>
          </a:p>
        </p:txBody>
      </p:sp>
      <p:pic>
        <p:nvPicPr>
          <p:cNvPr id="6" name="Picture 5" descr="34_p12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628900"/>
            <a:ext cx="6858000" cy="2514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PHẦN 4. CHƯƠNG 3: PHƯƠNG PHÁP NGHIÊN CỨU VỚI FILE EXCEL THỰC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5C28E"/>
                </a:solidFill>
                <a:latin typeface="Calibri"/>
              </a:rPr>
              <a:t>Thời lượng ước tính: 18 phút | 9 slide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Chương 3 trả lời câu hỏi: kết quả Chương 4 có đáng tin không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Thiết kế và quy trình nghiên cứu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Mẫu và cách chọn mẫu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Bảng hỏi và thang đo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Thu thập và làm sạch dữ liệu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Phương pháp phân tích</a:t>
            </a:r>
          </a:p>
        </p:txBody>
      </p:sp>
      <p:pic>
        <p:nvPicPr>
          <p:cNvPr id="6" name="Picture 5" descr="35_p13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953" y="1463040"/>
            <a:ext cx="4979612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Quy trình nghiên cứu là bản đồ các bước từ vấn đề đến 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Xác định vấn đề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Tổng quan và mô hình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Thiết kế thang đo và khảo sát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Phân tích dữ liệu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Thảo luận và hàm ý</a:t>
            </a:r>
          </a:p>
        </p:txBody>
      </p:sp>
      <p:pic>
        <p:nvPicPr>
          <p:cNvPr id="6" name="Picture 5" descr="38_p14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426277"/>
            <a:ext cx="6858000" cy="29198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Cách chọn mẫu quyết định kết quả được khái quát tới đâu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Chọn mẫu xác suất và phi xác suất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Chọn mẫu thuận tiện phải nói rõ giới hạn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Cỡ mẫu tối thiểu theo số biến quan sát</a:t>
            </a:r>
          </a:p>
        </p:txBody>
      </p:sp>
      <p:pic>
        <p:nvPicPr>
          <p:cNvPr id="6" name="Picture 5" descr="40_p15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79913"/>
            <a:ext cx="6858000" cy="3612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Mỗi khái niệm được đo bằng nhiều câu hỏi có mã hóa rõ ràng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Khái niệm → biến → câu hỏi đo lường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Mã hóa: HI1 đến HI4, NT1 đến NT4...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Thang Likert 5 mức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Nguồn gốc thang đo</a:t>
            </a:r>
          </a:p>
        </p:txBody>
      </p:sp>
      <p:pic>
        <p:nvPicPr>
          <p:cNvPr id="6" name="Picture 5" descr="42_p16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978727"/>
            <a:ext cx="6858000" cy="18149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Sheet BangMa trong file Excel là từ điển của toàn bộ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Mã biến và nội dung câu hỏi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Giá trị mã hóa của câu nhân khẩu học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Dùng thống nhất từ bảng hỏi đến kết quả</a:t>
            </a:r>
          </a:p>
        </p:txBody>
      </p:sp>
      <p:pic>
        <p:nvPicPr>
          <p:cNvPr id="6" name="Picture 5" descr="41_p16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724593"/>
            <a:ext cx="6858000" cy="23232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Làm sạch dữ liệu: từ 165 phiếu thô còn 150 phiếu hợp lệ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Ngân hàng X: loại 5 phiếu trùng và 10 phiếu bỏ trống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Trường Y: 131 phiếu còn 120, loại 7 bỏ trống và 4 chọn cùng một mức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Ghi rõ số phiếu loại và lý do</a:t>
            </a:r>
          </a:p>
        </p:txBody>
      </p:sp>
      <p:pic>
        <p:nvPicPr>
          <p:cNvPr id="6" name="Picture 5" descr="47_p17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393372"/>
            <a:ext cx="6858000" cy="29856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Quy trình phân tích trên Excel gồm bốn bước theo thứ tự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Thống kê mô tả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Kiểm định Cronbach Alpha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Phân tích tương quan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Hồi quy tuyến tính bằng Data Analysis ToolPak</a:t>
            </a:r>
          </a:p>
        </p:txBody>
      </p:sp>
      <p:pic>
        <p:nvPicPr>
          <p:cNvPr id="6" name="Picture 5" descr="49_p17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44386"/>
            <a:ext cx="6858000" cy="40836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Cronbach Alpha trên 0,7 cho thấy các câu hỏi cùng đo một khái niệm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HI 0,792; SD 0,803; NT 0,798; XH 0,802; YD 0,776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CSVC 0,766; TDNV 0,791; QTHC 0,740; HL 0,809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Tất cả thang đo đều đạt</a:t>
            </a:r>
          </a:p>
        </p:txBody>
      </p:sp>
      <p:pic>
        <p:nvPicPr>
          <p:cNvPr id="6" name="Picture 5" descr="53_p18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31422"/>
            <a:ext cx="6858000" cy="37095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Hồi quy trên Excel dùng Data Analysis ToolPak với các bước cố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Bật Data Analysis ToolPak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Input Y: biến phụ thuộc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Input X: các biến độc lập đặt liền nhau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Chọn Residuals để kiểm tra phần dư</a:t>
            </a:r>
          </a:p>
        </p:txBody>
      </p:sp>
      <p:pic>
        <p:nvPicPr>
          <p:cNvPr id="6" name="Picture 5" descr="55_p1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346" y="1463040"/>
            <a:ext cx="6518827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22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PHẦN 5. CHƯƠNG 4: KẾT QUẢ NGHIÊN CỨU VÀ THẢO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5C28E"/>
                </a:solidFill>
                <a:latin typeface="Calibri"/>
              </a:rPr>
              <a:t>Thời lượng ước tính: 18 phút | 9 slide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Mỗi bảng kết quả được diễn giải theo bốn bước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Giới thiệu bảng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Nêu con số nổi bật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Giải thích ý nghĩa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Liên hệ với câu hỏi hoặc giả thuyết</a:t>
            </a:r>
          </a:p>
        </p:txBody>
      </p:sp>
      <p:pic>
        <p:nvPicPr>
          <p:cNvPr id="6" name="Picture 5" descr="60_p2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983922"/>
            <a:ext cx="6858000" cy="18045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Đặc điểm mẫu cho biết kết quả đang nói về nhóm người nào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Ngân hàng X: nam 57,3%, tuổi 26 đến 35 chiếm 32,7%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Thu nhập 10 đến 20 triệu 40,7%, dùng 1 đến 3 năm 46,7%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Trường Y: mẹ 51,7%, làm thủ tục 2 đến 3 lần 42,5%</a:t>
            </a:r>
          </a:p>
        </p:txBody>
      </p:sp>
      <p:pic>
        <p:nvPicPr>
          <p:cNvPr id="6" name="Picture 5" descr="61_p21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273300"/>
            <a:ext cx="6858000" cy="322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Tương quan cho thấy biến nào đi cùng chiều với biến phụ thuộc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Với YD: HI 0,587; NT 0,538; XH 0,469; SD 0,356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Với HL: TDNV 0,599; CSVC 0,551; QTHC 0,329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Tương quan chưa phải là tác động</a:t>
            </a:r>
          </a:p>
        </p:txBody>
      </p:sp>
      <p:pic>
        <p:nvPicPr>
          <p:cNvPr id="6" name="Picture 5" descr="64_p23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436648"/>
            <a:ext cx="6857999" cy="28991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Kết quả hồi quy: mô hình giải thích 53,7% ý định sử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R² = 0,537; R² hiệu chỉnh = 0,524; F = 42,04; Sig = 0,000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HI: B 0,443, Beta 0,394, p 0,000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NT: Beta 0,328; XH: Beta 0,227 (p 0,000)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SD: B 0,067, p 0,31 không có ý nghĩa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VIF từ 1,19 đến 1,25</a:t>
            </a:r>
          </a:p>
        </p:txBody>
      </p:sp>
      <p:pic>
        <p:nvPicPr>
          <p:cNvPr id="6" name="Picture 5" descr="67_p2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663536"/>
            <a:ext cx="6858000" cy="24453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Mỗi giả thuyết đi qua cây quyết định trước khi 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p nhỏ hơn 0,05?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Dấu hệ số đúng như dự đoán?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Kết luận: ủng hộ hoặc không ủng hộ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Ngân hàng X: H1, H3, H4 được ủng hộ; H2 không</a:t>
            </a:r>
          </a:p>
        </p:txBody>
      </p:sp>
      <p:pic>
        <p:nvPicPr>
          <p:cNvPr id="6" name="Picture 5" descr="70_p2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13213"/>
            <a:ext cx="6858000" cy="41459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Câu hỏi mở giải thích vì sao các con số lại như vậy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98 câu trả lời mở ở Trường Y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Thời gian chờ 42,9%; thủ tục 31,6%; thái độ 25,5%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Nhóm nêu thái độ chấm TDNV 3,28 so với 4,117 toàn mẫu</a:t>
            </a:r>
          </a:p>
        </p:txBody>
      </p:sp>
      <p:pic>
        <p:nvPicPr>
          <p:cNvPr id="6" name="Picture 5" descr="72_p24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310095"/>
            <a:ext cx="6858000" cy="31522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28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Thảo luận là so sánh kết quả với lý thuyết và nghiên cứu trước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Kết quả giống nghiên cứu trước: nêu tên và giải thích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Kết quả khác: tìm lý do từ bối cảnh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Không chỉ nhắc lại con số</a:t>
            </a:r>
          </a:p>
        </p:txBody>
      </p:sp>
      <p:pic>
        <p:nvPicPr>
          <p:cNvPr id="6" name="Picture 5" descr="73_p24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358736"/>
            <a:ext cx="6858000" cy="30549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Kết quả bất ngờ cần được giải thích chứ không cần che giấu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SD không có ý nghĩa ở Ngân hàng X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Giải thích bằng đặc điểm mẫu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Đề xuất kiểm chứng ở nghiên cứu sau</a:t>
            </a:r>
          </a:p>
        </p:txBody>
      </p:sp>
      <p:pic>
        <p:nvPicPr>
          <p:cNvPr id="6" name="Picture 5" descr="74_p25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578677"/>
            <a:ext cx="6858000" cy="26150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30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R² thấp thường báo hiệu mô hình còn thiếu biến quan trọng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Sheet 12_TinhHuong: R² giảm khi bỏ biến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Không có ngưỡng R² chung cho mọi lĩnh vực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Giải thích R² trong bối cảnh đề tài</a:t>
            </a:r>
          </a:p>
        </p:txBody>
      </p:sp>
      <p:pic>
        <p:nvPicPr>
          <p:cNvPr id="6" name="Picture 5" descr="76_p25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245395"/>
            <a:ext cx="6858000" cy="32816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31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PHẦN 6. CHƯƠNG 5: HÀM Ý QUẢN TRỊ VÀ 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5C28E"/>
                </a:solidFill>
                <a:latin typeface="Calibri"/>
              </a:rPr>
              <a:t>Thời lượng ước tính: 12 phút | 5 slide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Chương 5 trả lời lần lượt từng câu hỏi nghiên cứu đã đặt 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Mỗi câu hỏi có một đoạn trả lời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Trả lời bằng kết quả đã có ở Chương 4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Không đưa thêm phân tích mới</a:t>
            </a:r>
          </a:p>
        </p:txBody>
      </p:sp>
      <p:pic>
        <p:nvPicPr>
          <p:cNvPr id="6" name="Picture 5" descr="80_p27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758786"/>
            <a:ext cx="6858000" cy="22548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32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Ma trận IPA chỉ ra yếu tố cần ưu tiên cải thiện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Trục ngang: mức thực hiện (điểm trung bình)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Trục dọc: mức quan trọng (Beta)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Trường Y: TDNV quan trọng nhất, 4,117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QTHC thực hiện thấp nhất, 3,475</a:t>
            </a:r>
          </a:p>
        </p:txBody>
      </p:sp>
      <p:pic>
        <p:nvPicPr>
          <p:cNvPr id="6" name="Picture 5" descr="84_p27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402" y="1463040"/>
            <a:ext cx="6648715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33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Mỗi hàm ý quản trị phải xuất phát từ một kết quả cụ thể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Kết quả → hàm ý → hành động cụ thể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Ví dụ: NT có Beta 0,328 → tăng minh bạch bảo mật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Tránh giải pháp chung chung không gắn dữ liệu</a:t>
            </a:r>
          </a:p>
        </p:txBody>
      </p:sp>
      <p:pic>
        <p:nvPicPr>
          <p:cNvPr id="6" name="Picture 5" descr="83_p27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682586"/>
            <a:ext cx="6858000" cy="24072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34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Hạn chế của nghiên cứu mở ra hướng nghiên cứu tiếp theo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Hạn chế về mẫu, phương pháp, phạm vi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Mỗi hạn chế đi kèm một hướng khắc phục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Viết trung thực và cụ thể</a:t>
            </a:r>
          </a:p>
        </p:txBody>
      </p:sp>
      <p:pic>
        <p:nvPicPr>
          <p:cNvPr id="6" name="Picture 5" descr="85_p28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736272"/>
            <a:ext cx="6858000" cy="22998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35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Kết luận khóa luận khép lại vòng tròn mở ra từ phần mở đầu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Nhắc lại vấn đề và mục tiêu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Tóm tắt câu trả lời chính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Đóng góp và ý nghĩa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Phân biệt kết luận, đóng góp, hàm ý, kiến nghị, hạn chế</a:t>
            </a:r>
          </a:p>
        </p:txBody>
      </p:sp>
      <p:pic>
        <p:nvPicPr>
          <p:cNvPr id="6" name="Picture 5" descr="86_p29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21477"/>
            <a:ext cx="6858000" cy="35294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36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PHẦN 7. TRÌNH BÀY, KIỂM TRA VÀ BẢO VỆ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5C28E"/>
                </a:solidFill>
                <a:latin typeface="Calibri"/>
              </a:rPr>
              <a:t>Thời lượng ước tính: 10 phút | 3 slide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Khóa luận gồm ba khối và mỗi khối có quy định trình bày riêng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Phần đầu: bìa, lời cam đoan, mục lục, danh mục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Phần chính: mở đầu đến kết luận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Phần cuối: tài liệu tham khảo và phụ lục</a:t>
            </a:r>
          </a:p>
        </p:txBody>
      </p:sp>
      <p:pic>
        <p:nvPicPr>
          <p:cNvPr id="6" name="Picture 5" descr="87_p3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98963"/>
            <a:ext cx="6858000" cy="3574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37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Slide bảo vệ nên dùng tiêu đề là một câu khẳng định kèm bằng chứng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Tiêu đề là kết luận của slide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Nội dung là bằng chứng: bảng, biểu đồ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Mỗi slide một thông điệp</a:t>
            </a:r>
          </a:p>
        </p:txBody>
      </p:sp>
      <p:pic>
        <p:nvPicPr>
          <p:cNvPr id="6" name="Picture 5" descr="88_p32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552700"/>
            <a:ext cx="6858000" cy="266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38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Trả lời hội đồng theo bốn bước bình tĩnh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Lắng nghe hết câu hỏi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Cảm ơn và xác nhận lại ý hỏi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Trả lời có căn cứ từ khóa luận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07A1F"/>
                </a:solidFill>
              </a:rPr>
              <a:t>■  </a:t>
            </a:r>
            <a:r>
              <a:rPr sz="1800">
                <a:solidFill>
                  <a:srgbClr val="333333"/>
                </a:solidFill>
              </a:rPr>
              <a:t>Thừa nhận giới hạn nếu có</a:t>
            </a:r>
          </a:p>
        </p:txBody>
      </p:sp>
      <p:pic>
        <p:nvPicPr>
          <p:cNvPr id="6" name="Picture 5" descr="89_p33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288722"/>
            <a:ext cx="6858000" cy="11949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08080"/>
                </a:solidFill>
                <a:latin typeface="Calibri"/>
              </a:rPr>
              <a:t>Nguồn hình: Tài liệu Hướng dẫn chuyên đề và khóa luận tốt nghiệp | Slide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