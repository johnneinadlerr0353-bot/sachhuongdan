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Giới thiệu: bộ tài liệu viết cho người chưa từng dùng AI. Góc dưới mỗi slide có ô ghi bài và trang trong sách để học viên mở ra làm theo.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Bốn nhóm việc, tương ứng các phần trong sách.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Bộ tài liệu đối chiếu với văn bản pháp luật và hướng dẫn chuyên môn. Sách là tài liệu tham khảo của tác giả, không thay thế văn bản gốc.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Vòng làm việc Hỏi, Đọc, Sửa, Kiểm. Nhấn mạnh bước Kiểm. Học viên mở tệp 01, Bài 1, trang 10.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Sáu vị trí trên màn hình trò chuyện với AI. Cho học viên mở chatgpt.com và tìm đủ 6 vị trí. Học viên mở tệp 01, Bài 2, trang 11.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Sáu mảnh ghép của câu lệnh tốt. Học viên mở tệp 01, Bài 3, trang 13.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Phần 2 trong sách.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Bốn cách hỏi từ dễ đến đủ. Học viên thử lần lượt 4 câu lệnh trên cùng một bài dạy. Học viên mở tệp 01, Bài 4 (trang 16) đến Bài 7 (trang 20).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Tự chấm câu lệnh theo 6 mảnh ghép, thiếu gì thêm nấy. Học viên mở tệp 01, Bài 8, trang 22.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TPACK: điền đủ 3 dòng CK, PK, TK. Học viên mở tệp 01, Bài 10, trang 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Phần 3 trong sách.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Câu lệnh dài chia 4 ngăn có tiêu đề #. Học viên mở tệp 01, Bài 15, trang 32.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Dán nguyên văn định nghĩa 4 mức độ nhận thức vào câu lệnh. Học viên mở tệp 01, Bài 16, trang 34.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 kẻ bảng tiêu chí 4 mức, giáo viên duyệt. Học viên mở tệp 01, Bài 17, trang 36.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Phần 4 trong sách.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Chọn công cụ theo sản phẩm muốn làm. Học viên mở tệp 01, Phần 4, trang 40.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Câu lệnh tạo ảnh: Nội dung + Phong cách. Học viên mở tệp 01, Bài 20, trang 41.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Phần 5 và Phần 6 trong sách.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Deep Research: giao đề bài, duyệt kế hoạch, chờ báo cáo, tự mở từng link để kiểm. Học viên mở tệp 01, Bài 28, trang 56.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Tạo trợ giảng ảo 4 bước. Câu quan trọng nhất: không đưa ra ngay đáp án. Học viên mở tệp 01, Bài 31, trang 60.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Khung năng lực AI cho giáo viên của UNESCO: 5 lĩnh vực, 3 cấp độ. Học viên mở tệp 01, Bài 34, trang 67.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 màu đèn trước khi dán thông tin vào AI. Học viên mở tệp 01, Bài 35, trang 69.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Gợi ý bắt đầu theo cấp học. Học viên mở tệp 01, Phụ lục 1, trang 72.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Giao bài về nhà: chạy 1 câu lệnh cho bài dạy tuần này.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E3A6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2194560" cy="365760"/>
          </a:xfrm>
          <a:prstGeom prst="roundRect">
            <a:avLst>
              <a:gd name="adj" fmla="val 50000"/>
            </a:avLst>
          </a:prstGeom>
          <a:solidFill>
            <a:srgbClr val="CFE8E0"/>
          </a:solidFill>
          <a:ln w="12700">
            <a:solidFill>
              <a:srgbClr val="CFE8E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5486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SỔ TAY THỰC HÀNH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Dạy cùng AI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2402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FE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Cầm tay chỉ việc: từ câu lệnh đầu tiên đến trợ giảng ảo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8404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Dành cho giáo viên Mầm non · Tiểu học · THCS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25196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slide ghi rõ bài và trang để đọc kỹ trong sách (tệp 01).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Sau khóa học, thầy cô tự làm được 4 việc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1874520" cy="3246120"/>
          </a:xfrm>
          <a:prstGeom prst="roundRect">
            <a:avLst>
              <a:gd name="adj" fmla="val 5854"/>
            </a:avLst>
          </a:prstGeom>
          <a:solidFill>
            <a:srgbClr val="EAF5F1"/>
          </a:solidFill>
          <a:ln w="12700">
            <a:solidFill>
              <a:srgbClr val="EAF5F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554480"/>
            <a:ext cx="548640" cy="548640"/>
          </a:xfrm>
          <a:prstGeom prst="ellipse">
            <a:avLst/>
          </a:prstGeom>
          <a:solidFill>
            <a:srgbClr val="CFE8E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28600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Soạn bài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017520"/>
            <a:ext cx="1508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Giáo án góc trạm, STEM, bài giảng 10 slide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40690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Sách: Phần 3, trang 27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606040" y="1325880"/>
            <a:ext cx="1874520" cy="3246120"/>
          </a:xfrm>
          <a:prstGeom prst="roundRect">
            <a:avLst>
              <a:gd name="adj" fmla="val 5854"/>
            </a:avLst>
          </a:prstGeom>
          <a:solidFill>
            <a:srgbClr val="EAF5F1"/>
          </a:solidFill>
          <a:ln w="12700">
            <a:solidFill>
              <a:srgbClr val="EAF5F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834640" y="1554480"/>
            <a:ext cx="548640" cy="548640"/>
          </a:xfrm>
          <a:prstGeom prst="ellipse">
            <a:avLst/>
          </a:prstGeom>
          <a:solidFill>
            <a:srgbClr val="CFE8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83464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2834640" y="228600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 đề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2834640" y="3017520"/>
            <a:ext cx="1508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Tự luận, trắc nghiệm theo ma trận, bảng tiêu chí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2834640" y="40690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Sách: Phần 3, trang 27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663440" y="1325880"/>
            <a:ext cx="1874520" cy="3246120"/>
          </a:xfrm>
          <a:prstGeom prst="roundRect">
            <a:avLst>
              <a:gd name="adj" fmla="val 5854"/>
            </a:avLst>
          </a:prstGeom>
          <a:solidFill>
            <a:srgbClr val="EAF5F1"/>
          </a:solidFill>
          <a:ln w="12700">
            <a:solidFill>
              <a:srgbClr val="EAF5F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892040" y="1554480"/>
            <a:ext cx="548640" cy="548640"/>
          </a:xfrm>
          <a:prstGeom prst="ellipse">
            <a:avLst/>
          </a:prstGeom>
          <a:solidFill>
            <a:srgbClr val="CFE8E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228600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học liệu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4892040" y="3017520"/>
            <a:ext cx="1508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Ảnh, trò chơi, truyện tranh, bài hát, giọng đọc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892040" y="40690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Sách: Phần 4, trang 40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720840" y="1325880"/>
            <a:ext cx="1874520" cy="3246120"/>
          </a:xfrm>
          <a:prstGeom prst="roundRect">
            <a:avLst>
              <a:gd name="adj" fmla="val 5854"/>
            </a:avLst>
          </a:prstGeom>
          <a:solidFill>
            <a:srgbClr val="2E3A67"/>
          </a:solidFill>
          <a:ln w="12700">
            <a:solidFill>
              <a:srgbClr val="2E3A6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949440" y="1554480"/>
            <a:ext cx="548640" cy="548640"/>
          </a:xfrm>
          <a:prstGeom prst="ellipse">
            <a:avLst/>
          </a:prstGeom>
          <a:solidFill>
            <a:srgbClr val="CFE8E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94944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6949440" y="228600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Tạo trợ giảng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6949440" y="3017520"/>
            <a:ext cx="1508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Chatbot ôn bài, không đưa đáp án ngay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949440" y="40690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CFE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Sách: Phần 5, trang 55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CĂN CỨ BIÊN SOẠN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Soạn theo văn bản mới nhất của Bộ GDĐT năm 2026</a:t>
            </a:r>
            <a:endParaRPr lang="en-US" sz="26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804672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2468880"/>
                <a:gridCol w="27432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3A6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Khung năng lực số của giáo viên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5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E3A6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TT 18/2026/TT-BGDĐT · hiệu lực 12/5/2026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5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E3A6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là một miền năng lực riêng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5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3A6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Nhiệm vụ Mầm non 2026-2027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E3A6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CV 5385/BGDĐT-GDMN · 12/8/2026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E3A6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Bồi dưỡng giáo viên ứng dụng 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3A6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Nhiệm vụ Phổ thông 2026-2027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5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E3A6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CV 5208/BGDĐT-GDPT · 07/8/2026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5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E3A6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Học sinh dùng AI an toàn, trung thực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5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3A6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Khung nội dung giáo dục AI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E3A6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QĐ 2422/QĐ-BGDĐT · 18/8/2026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E3A6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Giáo dục AI cho học sinh phổ thông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3A6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Triển khai giáo dục AI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5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E3A6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CV 5588/BGDĐT-GDPT · 19/8/2026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5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E3A6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 tiết/lớp/năm học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5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3A6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Nhiệm vụ trọng tâm năm học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E3A6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Chỉ thị 31/CT-TTg · 05/8/2026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E3A6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Ứng dụng AI có kiểm soát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3A6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Luật Trí tuệ nhân tạo · Bảo vệ dữ liệu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5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E3A6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134/2025/QH15 · 91/2025/QH15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5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E3A6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 người quyết định, bảo vệ dữ liệu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5F1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989320" y="4736592"/>
            <a:ext cx="2971800" cy="274320"/>
          </a:xfrm>
          <a:prstGeom prst="roundRect">
            <a:avLst>
              <a:gd name="adj" fmla="val 50000"/>
            </a:avLst>
          </a:prstGeom>
          <a:solidFill>
            <a:srgbClr val="CFE8E0"/>
          </a:solidFill>
          <a:ln w="12700">
            <a:solidFill>
              <a:srgbClr val="CFE8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989320" y="4736592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Đầy đủ 20 văn bản: sách, trang 6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Vòng làm việc Hỏi, Đọc, Sửa, Kiể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89320" y="4736592"/>
            <a:ext cx="2971800" cy="274320"/>
          </a:xfrm>
          <a:prstGeom prst="roundRect">
            <a:avLst>
              <a:gd name="adj" fmla="val 50000"/>
            </a:avLst>
          </a:prstGeom>
          <a:solidFill>
            <a:srgbClr val="CFE8E0"/>
          </a:solidFill>
          <a:ln w="12700">
            <a:solidFill>
              <a:srgbClr val="CFE8E0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5989320" y="4736592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trong sách: Bài 1, trang 10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áu vị trí trên màn hình trò chuyện với A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89320" y="4736592"/>
            <a:ext cx="2971800" cy="274320"/>
          </a:xfrm>
          <a:prstGeom prst="roundRect">
            <a:avLst>
              <a:gd name="adj" fmla="val 50000"/>
            </a:avLst>
          </a:prstGeom>
          <a:solidFill>
            <a:srgbClr val="CFE8E0"/>
          </a:solidFill>
          <a:ln w="12700">
            <a:solidFill>
              <a:srgbClr val="CFE8E0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5989320" y="4736592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trong sách: Bài 2, trang 11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áu mảnh ghép của câu lệnh tố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89320" y="4736592"/>
            <a:ext cx="2971800" cy="274320"/>
          </a:xfrm>
          <a:prstGeom prst="roundRect">
            <a:avLst>
              <a:gd name="adj" fmla="val 50000"/>
            </a:avLst>
          </a:prstGeom>
          <a:solidFill>
            <a:srgbClr val="CFE8E0"/>
          </a:solidFill>
          <a:ln w="12700">
            <a:solidFill>
              <a:srgbClr val="CFE8E0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5989320" y="4736592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trong sách: Bài 3, trang 13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FE8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0" y="1097280"/>
            <a:ext cx="2743200" cy="2743200"/>
          </a:xfrm>
          <a:prstGeom prst="ellipse">
            <a:avLst/>
          </a:prstGeom>
          <a:solidFill>
            <a:srgbClr val="2E3A6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126480" y="1097280"/>
            <a:ext cx="2743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9728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2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508760"/>
            <a:ext cx="5303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Viết câu lệnh cho AI hiểu ý mình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926080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Hỏi thẳng · Nhập vai · Đảo ngược · Kết hợp · TPACK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56616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Bài 4 đến Bài 10 · sách trang 16 đến 26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ốn cách hỏi từ dễ đến đủ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89320" y="4736592"/>
            <a:ext cx="2971800" cy="274320"/>
          </a:xfrm>
          <a:prstGeom prst="roundRect">
            <a:avLst>
              <a:gd name="adj" fmla="val 50000"/>
            </a:avLst>
          </a:prstGeom>
          <a:solidFill>
            <a:srgbClr val="CFE8E0"/>
          </a:solidFill>
          <a:ln w="12700">
            <a:solidFill>
              <a:srgbClr val="CFE8E0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5989320" y="4736592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trong sách: Bài 4 (trang 16) đến Bài 7 (trang 20)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Tự chấm câu lệnh theo 6 mảnh ghép, thiếu gì thêm nấ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89320" y="4736592"/>
            <a:ext cx="2971800" cy="274320"/>
          </a:xfrm>
          <a:prstGeom prst="roundRect">
            <a:avLst>
              <a:gd name="adj" fmla="val 50000"/>
            </a:avLst>
          </a:prstGeom>
          <a:solidFill>
            <a:srgbClr val="CFE8E0"/>
          </a:solidFill>
          <a:ln w="12700">
            <a:solidFill>
              <a:srgbClr val="CFE8E0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5989320" y="4736592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trong sách: Bài 8, trang 22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TPACK: điền đủ 3 dòng CK, PK, T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89320" y="4736592"/>
            <a:ext cx="2971800" cy="274320"/>
          </a:xfrm>
          <a:prstGeom prst="roundRect">
            <a:avLst>
              <a:gd name="adj" fmla="val 50000"/>
            </a:avLst>
          </a:prstGeom>
          <a:solidFill>
            <a:srgbClr val="CFE8E0"/>
          </a:solidFill>
          <a:ln w="12700">
            <a:solidFill>
              <a:srgbClr val="CFE8E0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5989320" y="4736592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trong sách: Bài 10, trang 25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FE8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0" y="1097280"/>
            <a:ext cx="2743200" cy="2743200"/>
          </a:xfrm>
          <a:prstGeom prst="ellipse">
            <a:avLst/>
          </a:prstGeom>
          <a:solidFill>
            <a:srgbClr val="2E3A6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126480" y="1097280"/>
            <a:ext cx="2743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9728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3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508760"/>
            <a:ext cx="5303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Soạn bài và ra đề cùng AI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926080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trạm · STEM · Đề tự luận · Trắc nghiệm theo ma trận · Rubric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56616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Bài 11 đến Bài 19 · sách trang 28 đến 39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âu lệnh dài chia 4 ngăn có tiêu đề #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89320" y="4736592"/>
            <a:ext cx="2971800" cy="274320"/>
          </a:xfrm>
          <a:prstGeom prst="roundRect">
            <a:avLst>
              <a:gd name="adj" fmla="val 50000"/>
            </a:avLst>
          </a:prstGeom>
          <a:solidFill>
            <a:srgbClr val="CFE8E0"/>
          </a:solidFill>
          <a:ln w="12700">
            <a:solidFill>
              <a:srgbClr val="CFE8E0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5989320" y="4736592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trong sách: Bài 15, trang 32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án nguyên văn định nghĩa 4 mức độ nhận thức vào câu lện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89320" y="4736592"/>
            <a:ext cx="2971800" cy="274320"/>
          </a:xfrm>
          <a:prstGeom prst="roundRect">
            <a:avLst>
              <a:gd name="adj" fmla="val 50000"/>
            </a:avLst>
          </a:prstGeom>
          <a:solidFill>
            <a:srgbClr val="CFE8E0"/>
          </a:solidFill>
          <a:ln w="12700">
            <a:solidFill>
              <a:srgbClr val="CFE8E0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5989320" y="4736592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trong sách: Bài 16, trang 34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I kẻ bảng tiêu chí 4 mức, giáo viên duyệ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89320" y="4736592"/>
            <a:ext cx="2971800" cy="274320"/>
          </a:xfrm>
          <a:prstGeom prst="roundRect">
            <a:avLst>
              <a:gd name="adj" fmla="val 50000"/>
            </a:avLst>
          </a:prstGeom>
          <a:solidFill>
            <a:srgbClr val="CFE8E0"/>
          </a:solidFill>
          <a:ln w="12700">
            <a:solidFill>
              <a:srgbClr val="CFE8E0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5989320" y="4736592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trong sách: Bài 17, trang 36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FE8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0" y="1097280"/>
            <a:ext cx="2743200" cy="2743200"/>
          </a:xfrm>
          <a:prstGeom prst="ellipse">
            <a:avLst/>
          </a:prstGeom>
          <a:solidFill>
            <a:srgbClr val="2E3A6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126480" y="1097280"/>
            <a:ext cx="2743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9728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4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508760"/>
            <a:ext cx="5303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ảnh, trò chơi, bài hát, giọng đọc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926080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 · Trò chơi · Truyện tranh · Bài hát · Giọng đọc · Hội thoại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56616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Bài 20 đến Bài 27 · sách trang 41 đến 54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họn công cụ theo sản phẩm muốn là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89320" y="4736592"/>
            <a:ext cx="2971800" cy="274320"/>
          </a:xfrm>
          <a:prstGeom prst="roundRect">
            <a:avLst>
              <a:gd name="adj" fmla="val 50000"/>
            </a:avLst>
          </a:prstGeom>
          <a:solidFill>
            <a:srgbClr val="CFE8E0"/>
          </a:solidFill>
          <a:ln w="12700">
            <a:solidFill>
              <a:srgbClr val="CFE8E0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5989320" y="4736592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trong sách: Phần 4, trang 40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âu lệnh tạo ảnh: Nội dung + Phong cá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89320" y="4736592"/>
            <a:ext cx="2971800" cy="274320"/>
          </a:xfrm>
          <a:prstGeom prst="roundRect">
            <a:avLst>
              <a:gd name="adj" fmla="val 50000"/>
            </a:avLst>
          </a:prstGeom>
          <a:solidFill>
            <a:srgbClr val="CFE8E0"/>
          </a:solidFill>
          <a:ln w="12700">
            <a:solidFill>
              <a:srgbClr val="CFE8E0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5989320" y="4736592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trong sách: Bài 20, trang 41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FE8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0" y="1097280"/>
            <a:ext cx="2743200" cy="2743200"/>
          </a:xfrm>
          <a:prstGeom prst="ellipse">
            <a:avLst/>
          </a:prstGeom>
          <a:solidFill>
            <a:srgbClr val="2E3A6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126480" y="1097280"/>
            <a:ext cx="2743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9728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5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508760"/>
            <a:ext cx="5303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Tìm tài liệu, trợ giảng ảo và dùng AI an toàn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926080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 Research · Gem · Poe · Magic School · An toàn, đúng luật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56616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Bài 28 đến Bài 36 · sách trang 56 đến 70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ep Research: giao đề bài, duyệt kế hoạch, chờ báo cáo, tự mở từng link để kiể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89320" y="4736592"/>
            <a:ext cx="2971800" cy="274320"/>
          </a:xfrm>
          <a:prstGeom prst="roundRect">
            <a:avLst>
              <a:gd name="adj" fmla="val 50000"/>
            </a:avLst>
          </a:prstGeom>
          <a:solidFill>
            <a:srgbClr val="CFE8E0"/>
          </a:solidFill>
          <a:ln w="12700">
            <a:solidFill>
              <a:srgbClr val="CFE8E0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5989320" y="4736592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trong sách: Bài 28, trang 56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Tạo trợ giảng ảo 4 bước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89320" y="4736592"/>
            <a:ext cx="2971800" cy="274320"/>
          </a:xfrm>
          <a:prstGeom prst="roundRect">
            <a:avLst>
              <a:gd name="adj" fmla="val 50000"/>
            </a:avLst>
          </a:prstGeom>
          <a:solidFill>
            <a:srgbClr val="CFE8E0"/>
          </a:solidFill>
          <a:ln w="12700">
            <a:solidFill>
              <a:srgbClr val="CFE8E0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5989320" y="4736592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trong sách: Bài 31, trang 60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Khung năng lực AI cho giáo viên của UNESCO: 5 lĩnh vực, 3 cấp độ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89320" y="4736592"/>
            <a:ext cx="2971800" cy="274320"/>
          </a:xfrm>
          <a:prstGeom prst="roundRect">
            <a:avLst>
              <a:gd name="adj" fmla="val 50000"/>
            </a:avLst>
          </a:prstGeom>
          <a:solidFill>
            <a:srgbClr val="CFE8E0"/>
          </a:solidFill>
          <a:ln w="12700">
            <a:solidFill>
              <a:srgbClr val="CFE8E0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5989320" y="4736592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trong sách: Bài 34, trang 67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a màu đèn trước khi dán thông tin vào A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89320" y="4736592"/>
            <a:ext cx="2971800" cy="274320"/>
          </a:xfrm>
          <a:prstGeom prst="roundRect">
            <a:avLst>
              <a:gd name="adj" fmla="val 50000"/>
            </a:avLst>
          </a:prstGeom>
          <a:solidFill>
            <a:srgbClr val="CFE8E0"/>
          </a:solidFill>
          <a:ln w="12700">
            <a:solidFill>
              <a:srgbClr val="CFE8E0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5989320" y="4736592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trong sách: Bài 35, trang 69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ợi ý bắt đầu theo cấp học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89320" y="4736592"/>
            <a:ext cx="2971800" cy="274320"/>
          </a:xfrm>
          <a:prstGeom prst="roundRect">
            <a:avLst>
              <a:gd name="adj" fmla="val 50000"/>
            </a:avLst>
          </a:prstGeom>
          <a:solidFill>
            <a:srgbClr val="CFE8E0"/>
          </a:solidFill>
          <a:ln w="12700">
            <a:solidFill>
              <a:srgbClr val="CFE8E0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5989320" y="4736592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trong sách: Phụ lục 1, trang 72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2E3A6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Bắt đầu ngay hôm nay với một câu lệnh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8046720" cy="1188720"/>
          </a:xfrm>
          <a:prstGeom prst="roundRect">
            <a:avLst>
              <a:gd name="adj" fmla="val 7692"/>
            </a:avLst>
          </a:prstGeom>
          <a:solidFill>
            <a:srgbClr val="CFE8E0"/>
          </a:solidFill>
          <a:ln w="12700">
            <a:solidFill>
              <a:srgbClr val="CFE8E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325880"/>
            <a:ext cx="7498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 tôi gợi ý bài giảng về chủ đề [bài thầy cô dạy tuần này] cho học sinh [lớp mấy].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6974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FE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theo sách: Bài 2, trang 11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4747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Sản phẩm cá nhân của tác giả · Mua chính thức trên The Builder (thebuilder.work), thanh toán quét VietQR, không giao dịch ngoài.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1148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Đào tạo riêng online cho trường, tổ chuyên môn: [EMAIL CỦA BẠN]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Dạy cùng AI · Slide tập huấn</dc:title>
  <dc:subject>PptxGenJS Presentation</dc:subject>
  <dc:creator>PptxGenJS</dc:creator>
  <cp:lastModifiedBy>PptxGenJS</cp:lastModifiedBy>
  <cp:revision>1</cp:revision>
  <dcterms:created xsi:type="dcterms:W3CDTF">2026-09-30T05:42:38Z</dcterms:created>
  <dcterms:modified xsi:type="dcterms:W3CDTF">2026-09-30T05:42:38Z</dcterms:modified>
</cp:coreProperties>
</file>